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NYC Reservoir Optimization — Objective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257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Many-objective optimization (MM Borg MOEA) of New York City reservoir release and diversion policy in the Delaware River Basin, evaluated with the Pywr-DRB simulation model.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Each candidate policy (FFMP rule parameters, 24 decision variables) is simulated; objectives are computed from the resulting daily timeseries after dropping the first 365 days (model warm-up).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Seven active objectives span every DRB stakeholder axis: NYC water supply (2), Montague flow Decree (2), Trenton flow Decree (1), downstream flood exposure (1), and NYC storage resilience (1).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Two evaluation modes: (a) a single historic streamflow trace (manuscript baseline), and (b) a stochastic ensemble of N short synthetic scenarios scored by satisficing across realizations.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Goalposts are the static 1954 U.S. Supreme Court Decree quantities, never the time-varying FFMP drought step-down targets — scoring against a live target would reward a policy for lowering its own goalpost.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Conventions: reliabilities are fractions from 0 to 1; deficits and storage are percentages from 0 to 100; “higher is better” for maximize objectives, “lower is better” for minimize objectives.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Notation — Plain-Language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shortfall:   (gap)₊  =  max(gap, 0)      —  the part of a miss below the goal; never negative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weekly value  =  the average of that week’s daily values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reliability  =  (weeks that meet the goal)  ÷  (total weeks)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CVaR₉₀(series)  =  the average of the worst 10% of the weekly values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P₅(series)  =  the 5th-percentile value  (only 5% of days fall below 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64240" cy="288035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Flows and demands are in MGD (million gallons per day); storage in MG; percentages are 0–100.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Decree goalposts (fixed): NYC diversion cap 800 MGD; Montague 1131.05 MGD (= 1750 cfs); Trenton 1938.95 MGD. NYC system capacity = 270,837 MG (Cannonsville + Pepacton + Neversink).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Ensemble terms: a scenario is one synthetic streamflow realization; N is the number of scenarios; the threshold is the analyst-chosen “acceptable” level for each objective.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Ensemble Evaluation — Satisficing Across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14447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>
                <a:solidFill>
                  <a:srgbClr val="000000"/>
                </a:solidFill>
                <a:latin typeface="Cambria"/>
              </a:rPr>
              <a:t>score  =  (scenarios that pass)  ÷  (total scenarios N)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>
                <a:solidFill>
                  <a:srgbClr val="000000"/>
                </a:solidFill>
                <a:latin typeface="Cambria"/>
              </a:rPr>
              <a:t>pass  =  metric ≥ threshold     for reliability and storage  (higher is better)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>
                <a:solidFill>
                  <a:srgbClr val="000000"/>
                </a:solidFill>
                <a:latin typeface="Cambria"/>
              </a:rPr>
              <a:t>pass  =  metric ≤ threshold     for deficits and flood days  (lower is better)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62072"/>
            <a:ext cx="11064240" cy="3721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Each single-trace metric is computed on every scenario, then collapsed to the fraction of scenarios that clear that objective’s acceptable threshold.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All ensemble scores are framed as “higher is better” (a fraction from 0 to 1), whether the underlying metric is a reliability or a deficit / flood count.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A scenario that produces an invalid (non-finite) value counts as a failure, so a broken run cannot masquerade as acceptable.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Thresholds are acceptability levels chosen by the analyst, separate from the Decree goalposts inside each metric. Current values are placeholders pending the sensitivity experiment (override via NYCOPT_SAT_THRESHOLDS).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 Satisficing is a stable, fast-converging robustness form for many-objective search under deep uncertainty.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555555"/>
                </a:solidFill>
                <a:latin typeface="Calibri"/>
              </a:rPr>
              <a:t>Kasprzyk et al. 2013; Herman et al. 2015; McPhail et al. 2018.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Objective 1 — NYC Delivery Reliability  (higher is better)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demand  =  min(NYC demand, 800 MGD)      [capped at the Decree right]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f₁  =  (weeks with delivery ≥ 99% of demand)  ÷  (total weeks)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24328"/>
            <a:ext cx="11064240" cy="3959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How often NYC actually receives essentially all of the water it is entitled to draw — a simple success rate over weeks. Compares weekly totals of delivery and demand.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Demand is capped at the 800 MGD Decree right so voluntary winter low-takes are not counted as shortfalls; only forced failures to meet the right count against the policy.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Why this form: a success rate is a stable, fast-converging signal for the optimizer, unlike noisier magnitude statistics.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Ensemble (threshold 0.95): fraction of scenarios whose weekly reliability is at least 0.95.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555555"/>
                </a:solidFill>
                <a:latin typeface="Calibri"/>
              </a:rPr>
              <a:t>Hashimoto et al. 1982; Herman et al. 2015; Bonham et al.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Objective 2 — NYC Delivery Deficit  (lower is better)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weekly deficit  =  max(demand − delivery, 0)  ÷  800 MGD  × 100%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f₂  =  average of the worst 10% of weekly deficits      (CVaR₉₀)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24328"/>
            <a:ext cx="11064240" cy="3959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How bad the shortfalls get, not just how often they happen: the average size of the worst 10% of weekly supply gaps, as a percent of the 800 MGD cap. Uses weekly averages.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Each weekly deficit is the amount delivery falls short of capped demand, scaled to the fixed cap so a 50 MGD shortfall reads the same in any season.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Why the worst-10% average instead of the single worst week: one extreme week is noisy and hard to reproduce; averaging the tail keeps the focus on bad outcomes but is far more stable.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Ensemble (threshold 10%): fraction of scenarios whose worst-10% deficit is 10% or less.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555555"/>
                </a:solidFill>
                <a:latin typeface="Calibri"/>
              </a:rPr>
              <a:t>Rockafellar &amp; Uryasev 2000; Quinn et al. 2017; Fairbrother et al. 2022.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Objective 3 — Montague Flow Reliability  (higher is better)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f₃  =  (weeks with Montague flow ≥ 1131.05 MGD)  ÷  (total weeks)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1131.05 MGD  =  1750 cfs  (1954 Decree target)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24328"/>
            <a:ext cx="11064240" cy="3959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How often the river flow at Montague meets NYC’s downstream obligation — again a weekly success rate (using weekly-average flow).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This will not reach 100%: FFMP drought rules deliberately cut releases below target during droughts, so the achievable ceiling depends on the policy.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Scored against the fixed Decree target, never the live FFMP target, to avoid rewarding self-lowering drought step-downs.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Ensemble (threshold 0.85): fraction of scenarios whose weekly reliability is at least 0.85.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555555"/>
                </a:solidFill>
                <a:latin typeface="Calibri"/>
              </a:rPr>
              <a:t>Hashimoto et al. 1982; Herman et al. 2015.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Objective 4 — Montague Flow Deficit  (lower is better)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weekly deficit  =  max(1131.05 − flow, 0)  ÷  1131.05  × 100%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f₄  =  average of the worst 10% of weekly deficits      (CVaR₉₀)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24328"/>
            <a:ext cx="11064240" cy="3959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How far Montague flow falls below its target in the bad weeks: the average size of the worst 10% of weekly flow gaps, as a percent of the target.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Montague flow is driven largely by storms, so its single worst week is mostly exogenous noise — the worst-10% average is especially preferable to the single maximum here.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Each weekly deficit is the shortfall of weekly-average flow below the fixed target, scaled to that target.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Ensemble (threshold 25%): fraction of scenarios whose worst-10% deficit is 25% or less.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555555"/>
                </a:solidFill>
                <a:latin typeface="Calibri"/>
              </a:rPr>
              <a:t>Rockafellar &amp; Uryasev 2000; Quinn et al. 2017.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Objective 5 — Trenton Flow Reliability  (higher is better)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6035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f₅  =  (weeks with Trenton flow ≥ 1938.95 MGD)  ÷  (total weeks)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03703"/>
            <a:ext cx="11064240" cy="437997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How often flow at Trenton meets the lower-basin / New Jersey obligation — a weekly success rate against the fixed target.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Replaces an explicit salt-front objective: the Trenton target exists largely to push back salt intrusion (so the two are physically redundant), and Trenton flow is a clean signal whereas the salt-front model is unreliable in extreme drought.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Ensemble (threshold 0.85): fraction of scenarios whose weekly reliability is at least 0.85.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555555"/>
                </a:solidFill>
                <a:latin typeface="Calibri"/>
              </a:rPr>
              <a:t>Hashimoto et al. 1982; Herman et al. 2015.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Objective 6 — Downstream Flood Days  (lower is better)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f₆  =  number of days that any tail gauge reaches its NWS minor flood stage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tail gauges:  Hale Eddy, Fishs Eddy, Bridgeville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24328"/>
            <a:ext cx="11064240" cy="3959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A simple count of flood-onset days just below the reservoirs: a day counts if any of the three tail gauges hits its minor (flood-onset) stage.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These gauges respond to NYC’s release decisions — unlike storm-dominated mainstem flow — so flooding here can be attributed to operations.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Why a day-count: counting threshold exceedances avoids the “expected-damage” trap of multiplying probabilities by an assumed damage curve.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Ensemble (threshold 10 days): fraction of scenarios with 10 or fewer flood days.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555555"/>
                </a:solidFill>
                <a:latin typeface="Calibri"/>
              </a:rPr>
              <a:t>Quinn et al. 2017.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mbria"/>
              </a:rPr>
              <a:t>Objective 7 — NYC Storage Resilience  (higher is better)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1024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storage%  =  combined NYC storage  ÷  270,837 MG  × 100%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>
                <a:solidFill>
                  <a:srgbClr val="000000"/>
                </a:solidFill>
                <a:latin typeface="Cambria"/>
              </a:rPr>
              <a:t>f₇  =  the 5th percentile of daily storage%      (P₅)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24328"/>
            <a:ext cx="11064240" cy="39593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How low NYC storage routinely gets: the level that daily combined storage (Cannonsville + Pepacton + Neversink) stays above 95% of the time, as a percent of full capacity.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A low percentile is a stable measure of “how depleted the system normally runs,” without the single-day minimum’s dependence on one drought event.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Why the 5th percentile instead of the minimum: the minimum is dominated by a single event and is noisy; a low percentile is reproducible across scenarios.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Ensemble (threshold 25%): fraction of scenarios whose 5th-percentile storage is at least 25%.</a:t>
            </a:r>
          </a:p>
          <a:p>
            <a:pPr>
              <a:spcBef>
                <a:spcPts val="400"/>
              </a:spcBef>
            </a:pPr>
            <a:r>
              <a:rPr sz="1150" i="1">
                <a:solidFill>
                  <a:srgbClr val="555555"/>
                </a:solidFill>
                <a:latin typeface="Calibri"/>
              </a:rPr>
              <a:t>Quinn et al.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