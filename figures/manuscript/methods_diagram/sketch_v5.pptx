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11247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C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253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0534E-4813-4E0E-B576-9C167DD91EA3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2400" y="1143000"/>
            <a:ext cx="4013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606EC-F5B7-47A1-BA52-44F5292B0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09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606EC-F5B7-47A1-BA52-44F5292B0D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42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65760"/>
            <a:ext cx="2743200" cy="6126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600" b="0" i="0">
                <a:solidFill>
                  <a:srgbClr val="222222"/>
                </a:solidFill>
                <a:latin typeface="Arial"/>
              </a:rPr>
              <a:t>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603504"/>
            <a:ext cx="201168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Arial"/>
              </a:rPr>
              <a:t>Streamflow</a:t>
            </a:r>
          </a:p>
          <a:p>
            <a:pPr algn="l"/>
            <a:r>
              <a:rPr sz="2200" b="0" i="0">
                <a:solidFill>
                  <a:srgbClr val="222222"/>
                </a:solidFill>
                <a:latin typeface="Arial"/>
              </a:rPr>
              <a:t>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1737360" cy="6858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923544" y="2323490"/>
            <a:ext cx="1627632" cy="371246"/>
          </a:xfrm>
          <a:custGeom>
            <a:avLst/>
            <a:gdLst/>
            <a:ahLst/>
            <a:cxnLst/>
            <a:rect l="l" t="t" r="r" b="b"/>
            <a:pathLst>
              <a:path w="1780" h="406">
                <a:moveTo>
                  <a:pt x="0" y="104"/>
                </a:moveTo>
                <a:lnTo>
                  <a:pt x="30" y="57"/>
                </a:lnTo>
                <a:lnTo>
                  <a:pt x="59" y="23"/>
                </a:lnTo>
                <a:lnTo>
                  <a:pt x="89" y="5"/>
                </a:lnTo>
                <a:lnTo>
                  <a:pt x="119" y="0"/>
                </a:lnTo>
                <a:lnTo>
                  <a:pt x="148" y="7"/>
                </a:lnTo>
                <a:lnTo>
                  <a:pt x="178" y="21"/>
                </a:lnTo>
                <a:lnTo>
                  <a:pt x="208" y="38"/>
                </a:lnTo>
                <a:lnTo>
                  <a:pt x="237" y="54"/>
                </a:lnTo>
                <a:lnTo>
                  <a:pt x="267" y="66"/>
                </a:lnTo>
                <a:lnTo>
                  <a:pt x="297" y="73"/>
                </a:lnTo>
                <a:lnTo>
                  <a:pt x="326" y="76"/>
                </a:lnTo>
                <a:lnTo>
                  <a:pt x="356" y="77"/>
                </a:lnTo>
                <a:lnTo>
                  <a:pt x="386" y="80"/>
                </a:lnTo>
                <a:lnTo>
                  <a:pt x="415" y="88"/>
                </a:lnTo>
                <a:lnTo>
                  <a:pt x="445" y="104"/>
                </a:lnTo>
                <a:lnTo>
                  <a:pt x="475" y="130"/>
                </a:lnTo>
                <a:lnTo>
                  <a:pt x="504" y="167"/>
                </a:lnTo>
                <a:lnTo>
                  <a:pt x="534" y="213"/>
                </a:lnTo>
                <a:lnTo>
                  <a:pt x="564" y="263"/>
                </a:lnTo>
                <a:lnTo>
                  <a:pt x="593" y="313"/>
                </a:lnTo>
                <a:lnTo>
                  <a:pt x="623" y="358"/>
                </a:lnTo>
                <a:lnTo>
                  <a:pt x="653" y="390"/>
                </a:lnTo>
                <a:lnTo>
                  <a:pt x="682" y="406"/>
                </a:lnTo>
                <a:lnTo>
                  <a:pt x="712" y="403"/>
                </a:lnTo>
                <a:lnTo>
                  <a:pt x="742" y="380"/>
                </a:lnTo>
                <a:lnTo>
                  <a:pt x="771" y="339"/>
                </a:lnTo>
                <a:lnTo>
                  <a:pt x="801" y="286"/>
                </a:lnTo>
                <a:lnTo>
                  <a:pt x="831" y="224"/>
                </a:lnTo>
                <a:lnTo>
                  <a:pt x="860" y="161"/>
                </a:lnTo>
                <a:lnTo>
                  <a:pt x="890" y="104"/>
                </a:lnTo>
                <a:lnTo>
                  <a:pt x="920" y="57"/>
                </a:lnTo>
                <a:lnTo>
                  <a:pt x="949" y="23"/>
                </a:lnTo>
                <a:lnTo>
                  <a:pt x="979" y="5"/>
                </a:lnTo>
                <a:lnTo>
                  <a:pt x="1009" y="0"/>
                </a:lnTo>
                <a:lnTo>
                  <a:pt x="1038" y="7"/>
                </a:lnTo>
                <a:lnTo>
                  <a:pt x="1068" y="21"/>
                </a:lnTo>
                <a:lnTo>
                  <a:pt x="1098" y="38"/>
                </a:lnTo>
                <a:lnTo>
                  <a:pt x="1127" y="54"/>
                </a:lnTo>
                <a:lnTo>
                  <a:pt x="1157" y="66"/>
                </a:lnTo>
                <a:lnTo>
                  <a:pt x="1187" y="73"/>
                </a:lnTo>
                <a:lnTo>
                  <a:pt x="1216" y="76"/>
                </a:lnTo>
                <a:lnTo>
                  <a:pt x="1246" y="77"/>
                </a:lnTo>
                <a:lnTo>
                  <a:pt x="1276" y="80"/>
                </a:lnTo>
                <a:lnTo>
                  <a:pt x="1305" y="88"/>
                </a:lnTo>
                <a:lnTo>
                  <a:pt x="1335" y="104"/>
                </a:lnTo>
                <a:lnTo>
                  <a:pt x="1365" y="130"/>
                </a:lnTo>
                <a:lnTo>
                  <a:pt x="1394" y="167"/>
                </a:lnTo>
                <a:lnTo>
                  <a:pt x="1424" y="213"/>
                </a:lnTo>
                <a:lnTo>
                  <a:pt x="1454" y="263"/>
                </a:lnTo>
                <a:lnTo>
                  <a:pt x="1483" y="313"/>
                </a:lnTo>
                <a:lnTo>
                  <a:pt x="1513" y="358"/>
                </a:lnTo>
                <a:lnTo>
                  <a:pt x="1543" y="390"/>
                </a:lnTo>
                <a:lnTo>
                  <a:pt x="1572" y="406"/>
                </a:lnTo>
                <a:lnTo>
                  <a:pt x="1602" y="403"/>
                </a:lnTo>
                <a:lnTo>
                  <a:pt x="1632" y="380"/>
                </a:lnTo>
                <a:lnTo>
                  <a:pt x="1661" y="339"/>
                </a:lnTo>
                <a:lnTo>
                  <a:pt x="1691" y="286"/>
                </a:lnTo>
                <a:lnTo>
                  <a:pt x="1721" y="224"/>
                </a:lnTo>
                <a:lnTo>
                  <a:pt x="1750" y="161"/>
                </a:lnTo>
                <a:lnTo>
                  <a:pt x="1780" y="104"/>
                </a:lnTo>
              </a:path>
            </a:pathLst>
          </a:cu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377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historical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3891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1737360" cy="9144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Arial"/>
              </a:rPr>
              <a:t>stochastic</a:t>
            </a:r>
          </a:p>
          <a:p>
            <a:pPr algn="ctr"/>
            <a:r>
              <a:rPr sz="1800" b="0" i="0">
                <a:solidFill>
                  <a:srgbClr val="222222"/>
                </a:solidFill>
                <a:latin typeface="Arial"/>
              </a:rPr>
              <a:t>generator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3172968"/>
            <a:ext cx="0" cy="1188720"/>
          </a:xfrm>
          <a:prstGeom prst="line">
            <a:avLst/>
          </a:prstGeom>
          <a:ln w="1905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10512" y="3383280"/>
            <a:ext cx="5486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fit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441448"/>
            <a:ext cx="1234440" cy="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06040" y="4645152"/>
            <a:ext cx="617220" cy="0"/>
          </a:xfrm>
          <a:prstGeom prst="line">
            <a:avLst/>
          </a:prstGeom>
          <a:ln w="25400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23260" y="3840480"/>
            <a:ext cx="0" cy="804672"/>
          </a:xfrm>
          <a:prstGeom prst="line">
            <a:avLst/>
          </a:prstGeom>
          <a:ln w="25400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23260" y="3840480"/>
            <a:ext cx="617220" cy="0"/>
          </a:xfrm>
          <a:prstGeom prst="line">
            <a:avLst/>
          </a:prstGeom>
          <a:ln w="25400">
            <a:solidFill>
              <a:srgbClr val="0072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06040" y="5047488"/>
            <a:ext cx="617220" cy="0"/>
          </a:xfrm>
          <a:prstGeom prst="line">
            <a:avLst/>
          </a:prstGeom>
          <a:ln w="25400">
            <a:solidFill>
              <a:srgbClr val="D5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23260" y="5047488"/>
            <a:ext cx="0" cy="438912"/>
          </a:xfrm>
          <a:prstGeom prst="line">
            <a:avLst/>
          </a:prstGeom>
          <a:ln w="25400">
            <a:solidFill>
              <a:srgbClr val="D5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23260" y="5486400"/>
            <a:ext cx="617220" cy="0"/>
          </a:xfrm>
          <a:prstGeom prst="line">
            <a:avLst/>
          </a:prstGeom>
          <a:ln w="2540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66160" y="365760"/>
            <a:ext cx="4297680" cy="6126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94760" y="548640"/>
            <a:ext cx="548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600" b="0" i="0">
                <a:solidFill>
                  <a:srgbClr val="222222"/>
                </a:solidFill>
                <a:latin typeface="Arial"/>
              </a:rPr>
              <a:t>(b)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603504"/>
            <a:ext cx="27432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Arial"/>
              </a:rPr>
              <a:t>Search ensembles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40080"/>
            <a:ext cx="1005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700" b="0" i="1">
                <a:solidFill>
                  <a:srgbClr val="222222"/>
                </a:solidFill>
                <a:latin typeface="Arial"/>
              </a:rPr>
              <a:t>varied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1645920"/>
            <a:ext cx="9144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i="0">
                <a:solidFill>
                  <a:srgbClr val="808080"/>
                </a:solidFill>
                <a:latin typeface="Arial"/>
              </a:rPr>
              <a:t>HIST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039112"/>
            <a:ext cx="9144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1 ×</a:t>
            </a:r>
          </a:p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78 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291839"/>
            <a:ext cx="9144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i="0">
                <a:solidFill>
                  <a:srgbClr val="0072B2"/>
                </a:solidFill>
                <a:latin typeface="Arial"/>
              </a:rPr>
              <a:t>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685031"/>
            <a:ext cx="9144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100 ×</a:t>
            </a:r>
          </a:p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10 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937760"/>
            <a:ext cx="9144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i="0">
                <a:solidFill>
                  <a:srgbClr val="D55E00"/>
                </a:solidFill>
                <a:latin typeface="Arial"/>
              </a:rPr>
              <a:t>HF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330952"/>
            <a:ext cx="9144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100 ×</a:t>
            </a:r>
          </a:p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10 yr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554480"/>
            <a:ext cx="1417320" cy="118872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943600" y="2743200"/>
            <a:ext cx="1417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943600" y="1554480"/>
            <a:ext cx="0" cy="11887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0" y="2770632"/>
            <a:ext cx="1965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1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4645152" y="201168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2</a:t>
            </a:r>
          </a:p>
        </p:txBody>
      </p:sp>
      <p:sp>
        <p:nvSpPr>
          <p:cNvPr id="34" name="Oval 33"/>
          <p:cNvSpPr/>
          <p:nvPr/>
        </p:nvSpPr>
        <p:spPr>
          <a:xfrm>
            <a:off x="6195242" y="2390424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73185" y="2473817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271503" y="2202789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0" y="3200400"/>
            <a:ext cx="1417320" cy="118872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943600" y="4389120"/>
            <a:ext cx="1417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943600" y="3200400"/>
            <a:ext cx="0" cy="11887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69280" y="4416552"/>
            <a:ext cx="1965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1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4645152" y="365760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2</a:t>
            </a:r>
          </a:p>
        </p:txBody>
      </p:sp>
      <p:sp>
        <p:nvSpPr>
          <p:cNvPr id="42" name="Oval 41"/>
          <p:cNvSpPr/>
          <p:nvPr/>
        </p:nvSpPr>
        <p:spPr>
          <a:xfrm>
            <a:off x="6030010" y="4182282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118981" y="4213555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068141" y="4057192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195242" y="4119737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284214" y="4192706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157112" y="3952951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347764" y="4057192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246083" y="3900830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449446" y="4140586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538417" y="3994647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220663" y="4036344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729069" y="4078041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118981" y="3431743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43600" y="4846320"/>
            <a:ext cx="1417320" cy="118872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5943600" y="6035040"/>
            <a:ext cx="1417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943600" y="4846320"/>
            <a:ext cx="0" cy="11887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69280" y="6062472"/>
            <a:ext cx="1965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1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4645152" y="530352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2</a:t>
            </a:r>
          </a:p>
        </p:txBody>
      </p:sp>
      <p:sp>
        <p:nvSpPr>
          <p:cNvPr id="60" name="Oval 59"/>
          <p:cNvSpPr/>
          <p:nvPr/>
        </p:nvSpPr>
        <p:spPr>
          <a:xfrm>
            <a:off x="6220663" y="5557174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398605" y="5765657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601968" y="5244449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830750" y="5578022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805330" y="5035966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034113" y="5390388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347764" y="4952573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173925" y="5703112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385895" y="5202753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030010" y="5828202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110374" y="5129784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500286" y="5442508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792620" y="5338267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365760"/>
            <a:ext cx="2651760" cy="6126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49640" y="548640"/>
            <a:ext cx="548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600" b="0" i="0">
                <a:solidFill>
                  <a:srgbClr val="222222"/>
                </a:solidFill>
                <a:latin typeface="Arial"/>
              </a:rPr>
              <a:t>(c)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16567" y="603504"/>
            <a:ext cx="27432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Arial"/>
              </a:rPr>
              <a:t>Search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909560" y="3840480"/>
            <a:ext cx="365759" cy="0"/>
          </a:xfrm>
          <a:prstGeom prst="line">
            <a:avLst/>
          </a:prstGeom>
          <a:ln w="317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8869680" y="2926080"/>
            <a:ext cx="1828800" cy="18288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8869680" y="4754880"/>
            <a:ext cx="182880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869680" y="2926080"/>
            <a:ext cx="0" cy="18288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595359" y="4782312"/>
            <a:ext cx="2377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Objective a</a:t>
            </a:r>
          </a:p>
        </p:txBody>
      </p:sp>
      <p:sp>
        <p:nvSpPr>
          <p:cNvPr id="81" name="TextBox 80"/>
          <p:cNvSpPr txBox="1"/>
          <p:nvPr/>
        </p:nvSpPr>
        <p:spPr>
          <a:xfrm rot="16200000">
            <a:off x="7571231" y="370332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Objective b</a:t>
            </a:r>
          </a:p>
        </p:txBody>
      </p:sp>
      <p:sp>
        <p:nvSpPr>
          <p:cNvPr id="82" name="Oval 81"/>
          <p:cNvSpPr/>
          <p:nvPr/>
        </p:nvSpPr>
        <p:spPr>
          <a:xfrm>
            <a:off x="9034993" y="3161335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246749" y="3487403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458505" y="3778023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670261" y="4031224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882017" y="4244446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0093772" y="4414126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0305528" y="4534654"/>
            <a:ext cx="100584" cy="100584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9098520" y="3074117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9310276" y="3358170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522032" y="3609831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9733788" y="3827190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9945543" y="4007728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0157299" y="4147829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369055" y="4241458"/>
            <a:ext cx="100584" cy="100584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9162047" y="2964142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9373803" y="3208150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9585558" y="3422899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9797314" y="3606557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0009070" y="3756651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0220826" y="3869518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0432582" y="3938515"/>
            <a:ext cx="100584" cy="100584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412480" y="5212080"/>
            <a:ext cx="2468879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MM Borg, 500k NFE</a:t>
            </a:r>
          </a:p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3 draws × 2 seeds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430000" y="365760"/>
            <a:ext cx="3017520" cy="6126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1658600" y="548640"/>
            <a:ext cx="548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600" b="0" i="0">
                <a:solidFill>
                  <a:srgbClr val="222222"/>
                </a:solidFill>
                <a:latin typeface="Arial"/>
              </a:rPr>
              <a:t>(d)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25528" y="603504"/>
            <a:ext cx="27432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Arial"/>
              </a:rPr>
              <a:t>Re-evaluation</a:t>
            </a:r>
          </a:p>
        </p:txBody>
      </p:sp>
      <p:cxnSp>
        <p:nvCxnSpPr>
          <p:cNvPr id="107" name="Connector 106"/>
          <p:cNvCxnSpPr>
            <a:cxnSpLocks/>
          </p:cNvCxnSpPr>
          <p:nvPr/>
        </p:nvCxnSpPr>
        <p:spPr>
          <a:xfrm>
            <a:off x="7909559" y="3840480"/>
            <a:ext cx="365760" cy="0"/>
          </a:xfrm>
          <a:prstGeom prst="line">
            <a:avLst/>
          </a:prstGeom>
          <a:ln w="317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F98B3461-2E6C-76B3-89C8-B6F71E19493F}"/>
              </a:ext>
            </a:extLst>
          </p:cNvPr>
          <p:cNvGrpSpPr/>
          <p:nvPr/>
        </p:nvGrpSpPr>
        <p:grpSpPr>
          <a:xfrm>
            <a:off x="11658079" y="2369848"/>
            <a:ext cx="2326458" cy="2163919"/>
            <a:chOff x="11824339" y="2369848"/>
            <a:chExt cx="2326458" cy="2163919"/>
          </a:xfrm>
        </p:grpSpPr>
        <p:sp>
          <p:nvSpPr>
            <p:cNvPr id="108" name="Rectangle 107"/>
            <p:cNvSpPr/>
            <p:nvPr/>
          </p:nvSpPr>
          <p:spPr>
            <a:xfrm>
              <a:off x="12357659" y="2817904"/>
              <a:ext cx="1280160" cy="12801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5B3A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2357659" y="2369848"/>
              <a:ext cx="1728216" cy="448056"/>
            </a:xfrm>
            <a:custGeom>
              <a:avLst/>
              <a:gdLst/>
              <a:ahLst/>
              <a:cxnLst/>
              <a:rect l="l" t="t" r="r" b="b"/>
              <a:pathLst>
                <a:path w="1890" h="490">
                  <a:moveTo>
                    <a:pt x="0" y="490"/>
                  </a:moveTo>
                  <a:lnTo>
                    <a:pt x="490" y="0"/>
                  </a:lnTo>
                  <a:lnTo>
                    <a:pt x="1890" y="0"/>
                  </a:lnTo>
                  <a:lnTo>
                    <a:pt x="1400" y="490"/>
                  </a:lnTo>
                  <a:close/>
                </a:path>
              </a:pathLst>
            </a:custGeom>
            <a:solidFill>
              <a:srgbClr val="F4F0FA"/>
            </a:solidFill>
            <a:ln w="15875">
              <a:solidFill>
                <a:srgbClr val="5B3A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3637819" y="2369848"/>
              <a:ext cx="448056" cy="1728216"/>
            </a:xfrm>
            <a:custGeom>
              <a:avLst/>
              <a:gdLst/>
              <a:ahLst/>
              <a:cxnLst/>
              <a:rect l="l" t="t" r="r" b="b"/>
              <a:pathLst>
                <a:path w="490" h="1890">
                  <a:moveTo>
                    <a:pt x="0" y="490"/>
                  </a:moveTo>
                  <a:lnTo>
                    <a:pt x="490" y="0"/>
                  </a:lnTo>
                  <a:lnTo>
                    <a:pt x="490" y="1400"/>
                  </a:lnTo>
                  <a:lnTo>
                    <a:pt x="0" y="1890"/>
                  </a:lnTo>
                  <a:close/>
                </a:path>
              </a:pathLst>
            </a:custGeom>
            <a:solidFill>
              <a:srgbClr val="EBE4F5"/>
            </a:solidFill>
            <a:ln w="15875">
              <a:solidFill>
                <a:srgbClr val="5B3A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Oval 110"/>
            <p:cNvSpPr/>
            <p:nvPr/>
          </p:nvSpPr>
          <p:spPr>
            <a:xfrm>
              <a:off x="12663612" y="3482319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Oval 111"/>
            <p:cNvSpPr/>
            <p:nvPr/>
          </p:nvSpPr>
          <p:spPr>
            <a:xfrm>
              <a:off x="12818098" y="3552183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Oval 112"/>
            <p:cNvSpPr/>
            <p:nvPr/>
          </p:nvSpPr>
          <p:spPr>
            <a:xfrm>
              <a:off x="13117454" y="2922033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Oval 113"/>
            <p:cNvSpPr/>
            <p:nvPr/>
          </p:nvSpPr>
          <p:spPr>
            <a:xfrm>
              <a:off x="12400503" y="3825536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Oval 114"/>
            <p:cNvSpPr/>
            <p:nvPr/>
          </p:nvSpPr>
          <p:spPr>
            <a:xfrm>
              <a:off x="12688647" y="3119604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Oval 115"/>
            <p:cNvSpPr/>
            <p:nvPr/>
          </p:nvSpPr>
          <p:spPr>
            <a:xfrm>
              <a:off x="13550425" y="3395747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Oval 116"/>
            <p:cNvSpPr/>
            <p:nvPr/>
          </p:nvSpPr>
          <p:spPr>
            <a:xfrm>
              <a:off x="13364112" y="3402875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Oval 117"/>
            <p:cNvSpPr/>
            <p:nvPr/>
          </p:nvSpPr>
          <p:spPr>
            <a:xfrm>
              <a:off x="13133076" y="3021622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Oval 118"/>
            <p:cNvSpPr/>
            <p:nvPr/>
          </p:nvSpPr>
          <p:spPr>
            <a:xfrm>
              <a:off x="13128152" y="3861324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Oval 119"/>
            <p:cNvSpPr/>
            <p:nvPr/>
          </p:nvSpPr>
          <p:spPr>
            <a:xfrm>
              <a:off x="12997439" y="3712920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Oval 120"/>
            <p:cNvSpPr/>
            <p:nvPr/>
          </p:nvSpPr>
          <p:spPr>
            <a:xfrm>
              <a:off x="13170932" y="2920280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Oval 121"/>
            <p:cNvSpPr/>
            <p:nvPr/>
          </p:nvSpPr>
          <p:spPr>
            <a:xfrm>
              <a:off x="13272547" y="3537177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Oval 122"/>
            <p:cNvSpPr/>
            <p:nvPr/>
          </p:nvSpPr>
          <p:spPr>
            <a:xfrm>
              <a:off x="12737704" y="2881633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Oval 123"/>
            <p:cNvSpPr/>
            <p:nvPr/>
          </p:nvSpPr>
          <p:spPr>
            <a:xfrm>
              <a:off x="13398131" y="3398656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Oval 124"/>
            <p:cNvSpPr/>
            <p:nvPr/>
          </p:nvSpPr>
          <p:spPr>
            <a:xfrm>
              <a:off x="13226425" y="3873926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Oval 125"/>
            <p:cNvSpPr/>
            <p:nvPr/>
          </p:nvSpPr>
          <p:spPr>
            <a:xfrm>
              <a:off x="13220930" y="3923419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Oval 126"/>
            <p:cNvSpPr/>
            <p:nvPr/>
          </p:nvSpPr>
          <p:spPr>
            <a:xfrm>
              <a:off x="12847368" y="3782745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Oval 127"/>
            <p:cNvSpPr/>
            <p:nvPr/>
          </p:nvSpPr>
          <p:spPr>
            <a:xfrm>
              <a:off x="12905489" y="3940376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Oval 128"/>
            <p:cNvSpPr/>
            <p:nvPr/>
          </p:nvSpPr>
          <p:spPr>
            <a:xfrm>
              <a:off x="13413744" y="2959399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Oval 129"/>
            <p:cNvSpPr/>
            <p:nvPr/>
          </p:nvSpPr>
          <p:spPr>
            <a:xfrm>
              <a:off x="12544233" y="3099304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Oval 130"/>
            <p:cNvSpPr/>
            <p:nvPr/>
          </p:nvSpPr>
          <p:spPr>
            <a:xfrm>
              <a:off x="13515119" y="3355833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Oval 131"/>
            <p:cNvSpPr/>
            <p:nvPr/>
          </p:nvSpPr>
          <p:spPr>
            <a:xfrm>
              <a:off x="13118540" y="3197666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Oval 132"/>
            <p:cNvSpPr/>
            <p:nvPr/>
          </p:nvSpPr>
          <p:spPr>
            <a:xfrm>
              <a:off x="12978784" y="3296966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Oval 133"/>
            <p:cNvSpPr/>
            <p:nvPr/>
          </p:nvSpPr>
          <p:spPr>
            <a:xfrm>
              <a:off x="12795807" y="3530125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134"/>
            <p:cNvSpPr/>
            <p:nvPr/>
          </p:nvSpPr>
          <p:spPr>
            <a:xfrm>
              <a:off x="13068917" y="3903642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Oval 135"/>
            <p:cNvSpPr/>
            <p:nvPr/>
          </p:nvSpPr>
          <p:spPr>
            <a:xfrm>
              <a:off x="13183304" y="3932603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Oval 136"/>
            <p:cNvSpPr/>
            <p:nvPr/>
          </p:nvSpPr>
          <p:spPr>
            <a:xfrm>
              <a:off x="13387449" y="4005221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Oval 137"/>
            <p:cNvSpPr/>
            <p:nvPr/>
          </p:nvSpPr>
          <p:spPr>
            <a:xfrm>
              <a:off x="13170771" y="3036233"/>
              <a:ext cx="54864" cy="54864"/>
            </a:xfrm>
            <a:prstGeom prst="ellipse">
              <a:avLst/>
            </a:prstGeom>
            <a:solidFill>
              <a:srgbClr val="5B3A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9" name="Connector 138"/>
            <p:cNvCxnSpPr>
              <a:cxnSpLocks/>
            </p:cNvCxnSpPr>
            <p:nvPr/>
          </p:nvCxnSpPr>
          <p:spPr>
            <a:xfrm>
              <a:off x="12247931" y="4207792"/>
              <a:ext cx="1024128" cy="0"/>
            </a:xfrm>
            <a:prstGeom prst="line">
              <a:avLst/>
            </a:prstGeom>
            <a:ln w="19050">
              <a:solidFill>
                <a:srgbClr val="55555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39"/>
            <p:cNvCxnSpPr>
              <a:cxnSpLocks/>
            </p:cNvCxnSpPr>
            <p:nvPr/>
          </p:nvCxnSpPr>
          <p:spPr>
            <a:xfrm flipV="1">
              <a:off x="12247931" y="3183664"/>
              <a:ext cx="0" cy="1024128"/>
            </a:xfrm>
            <a:prstGeom prst="line">
              <a:avLst/>
            </a:prstGeom>
            <a:ln w="19050">
              <a:solidFill>
                <a:srgbClr val="55555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11973611" y="4235224"/>
              <a:ext cx="1828800" cy="298543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ctr"/>
              <a:r>
                <a:rPr sz="1700" b="0" i="1">
                  <a:solidFill>
                    <a:srgbClr val="222222"/>
                  </a:solidFill>
                  <a:latin typeface="Arial"/>
                </a:rPr>
                <a:t>Uncertainty 1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 rot="16200000">
              <a:off x="11196371" y="3189841"/>
              <a:ext cx="1554480" cy="298543"/>
            </a:xfrm>
            <a:prstGeom prst="rect">
              <a:avLst/>
            </a:prstGeom>
            <a:noFill/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sz="1700" b="0" i="1">
                  <a:solidFill>
                    <a:srgbClr val="222222"/>
                  </a:solidFill>
                  <a:latin typeface="Arial"/>
                </a:rPr>
                <a:t>Uncertainty 2</a:t>
              </a:r>
            </a:p>
          </p:txBody>
        </p:sp>
        <p:cxnSp>
          <p:nvCxnSpPr>
            <p:cNvPr id="143" name="Connector 142"/>
            <p:cNvCxnSpPr>
              <a:cxnSpLocks/>
            </p:cNvCxnSpPr>
            <p:nvPr/>
          </p:nvCxnSpPr>
          <p:spPr>
            <a:xfrm flipV="1">
              <a:off x="13747547" y="3804541"/>
              <a:ext cx="403250" cy="403251"/>
            </a:xfrm>
            <a:prstGeom prst="line">
              <a:avLst/>
            </a:prstGeom>
            <a:ln w="19050">
              <a:solidFill>
                <a:srgbClr val="55555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4" name="TextBox 143"/>
          <p:cNvSpPr txBox="1"/>
          <p:nvPr/>
        </p:nvSpPr>
        <p:spPr>
          <a:xfrm rot="18703636">
            <a:off x="13159488" y="4092122"/>
            <a:ext cx="1463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 i="1" dirty="0">
                <a:solidFill>
                  <a:srgbClr val="222222"/>
                </a:solidFill>
                <a:latin typeface="Arial"/>
              </a:rPr>
              <a:t>Uncertainty 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521440" y="5161788"/>
            <a:ext cx="2834639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1,000 climate states</a:t>
            </a:r>
          </a:p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spanning CMIP6</a:t>
            </a:r>
          </a:p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× 25 realizations × 50 yr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321040" y="6949440"/>
            <a:ext cx="6126479" cy="3840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549640" y="7132320"/>
            <a:ext cx="548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600" b="0" i="0">
                <a:solidFill>
                  <a:srgbClr val="222222"/>
                </a:solidFill>
                <a:latin typeface="Arial"/>
              </a:rPr>
              <a:t>(e)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16567" y="7187184"/>
            <a:ext cx="27432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Arial"/>
              </a:rPr>
              <a:t>Robustness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2938760" y="6537960"/>
            <a:ext cx="0" cy="365760"/>
          </a:xfrm>
          <a:prstGeom prst="line">
            <a:avLst/>
          </a:prstGeom>
          <a:ln w="317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8641080" y="7772400"/>
            <a:ext cx="31089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Satisficing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89719" y="8183880"/>
            <a:ext cx="1463040" cy="1463040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2" name="Freeform 151"/>
          <p:cNvSpPr/>
          <p:nvPr/>
        </p:nvSpPr>
        <p:spPr>
          <a:xfrm>
            <a:off x="9189720" y="81838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600" h="1600">
                <a:moveTo>
                  <a:pt x="0" y="1600"/>
                </a:moveTo>
                <a:lnTo>
                  <a:pt x="0" y="928"/>
                </a:lnTo>
                <a:lnTo>
                  <a:pt x="352" y="928"/>
                </a:lnTo>
                <a:lnTo>
                  <a:pt x="352" y="608"/>
                </a:lnTo>
                <a:lnTo>
                  <a:pt x="800" y="608"/>
                </a:lnTo>
                <a:lnTo>
                  <a:pt x="800" y="320"/>
                </a:lnTo>
                <a:lnTo>
                  <a:pt x="1248" y="320"/>
                </a:lnTo>
                <a:lnTo>
                  <a:pt x="1248" y="0"/>
                </a:lnTo>
                <a:lnTo>
                  <a:pt x="1600" y="0"/>
                </a:lnTo>
                <a:lnTo>
                  <a:pt x="1600" y="1600"/>
                </a:lnTo>
                <a:close/>
              </a:path>
            </a:pathLst>
          </a:custGeom>
          <a:solidFill>
            <a:srgbClr val="9EC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9189719" y="8183880"/>
            <a:ext cx="1463040" cy="1463040"/>
          </a:xfrm>
          <a:prstGeom prst="rect">
            <a:avLst/>
          </a:prstGeom>
          <a:noFill/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4" name="Connector 153"/>
          <p:cNvCxnSpPr/>
          <p:nvPr/>
        </p:nvCxnSpPr>
        <p:spPr>
          <a:xfrm>
            <a:off x="9189719" y="9646920"/>
            <a:ext cx="14630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189719" y="8183880"/>
            <a:ext cx="0" cy="146304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8915399" y="9674352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Uncertainty 1</a:t>
            </a:r>
          </a:p>
        </p:txBody>
      </p:sp>
      <p:sp>
        <p:nvSpPr>
          <p:cNvPr id="157" name="TextBox 156"/>
          <p:cNvSpPr txBox="1"/>
          <p:nvPr/>
        </p:nvSpPr>
        <p:spPr>
          <a:xfrm rot="16200000">
            <a:off x="8119871" y="8778240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Uncertainty 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835639" y="8366760"/>
            <a:ext cx="219456" cy="219456"/>
          </a:xfrm>
          <a:prstGeom prst="rect">
            <a:avLst/>
          </a:prstGeom>
          <a:solidFill>
            <a:srgbClr val="9EC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1091672" y="8293608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pass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835639" y="8778240"/>
            <a:ext cx="219456" cy="219456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1091672" y="8705088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fail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521440" y="7772400"/>
            <a:ext cx="31089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"/>
              </a:rPr>
              <a:t>Regret vs. current rules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2070080" y="8183880"/>
            <a:ext cx="1463040" cy="1463040"/>
          </a:xfrm>
          <a:prstGeom prst="rect">
            <a:avLst/>
          </a:prstGeom>
          <a:solidFill>
            <a:srgbClr val="8C2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reeform 163"/>
          <p:cNvSpPr/>
          <p:nvPr/>
        </p:nvSpPr>
        <p:spPr>
          <a:xfrm>
            <a:off x="12070080" y="8183880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600" h="1600">
                <a:moveTo>
                  <a:pt x="0" y="1600"/>
                </a:moveTo>
                <a:lnTo>
                  <a:pt x="0" y="1200"/>
                </a:lnTo>
                <a:lnTo>
                  <a:pt x="560" y="1200"/>
                </a:lnTo>
                <a:lnTo>
                  <a:pt x="560" y="800"/>
                </a:lnTo>
                <a:lnTo>
                  <a:pt x="880" y="800"/>
                </a:lnTo>
                <a:lnTo>
                  <a:pt x="880" y="480"/>
                </a:lnTo>
                <a:lnTo>
                  <a:pt x="1280" y="480"/>
                </a:lnTo>
                <a:lnTo>
                  <a:pt x="1280" y="0"/>
                </a:lnTo>
                <a:lnTo>
                  <a:pt x="1600" y="0"/>
                </a:lnTo>
                <a:lnTo>
                  <a:pt x="1600" y="1600"/>
                </a:lnTo>
                <a:close/>
              </a:path>
            </a:pathLst>
          </a:custGeom>
          <a:solidFill>
            <a:srgbClr val="FD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12070080" y="8183880"/>
            <a:ext cx="1463040" cy="1463040"/>
          </a:xfrm>
          <a:prstGeom prst="rect">
            <a:avLst/>
          </a:prstGeom>
          <a:noFill/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6" name="Connector 165"/>
          <p:cNvCxnSpPr/>
          <p:nvPr/>
        </p:nvCxnSpPr>
        <p:spPr>
          <a:xfrm>
            <a:off x="12070080" y="9646920"/>
            <a:ext cx="1463039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2070080" y="8183880"/>
            <a:ext cx="0" cy="146304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1795759" y="9674352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Uncertainty 1</a:t>
            </a:r>
          </a:p>
        </p:txBody>
      </p:sp>
      <p:sp>
        <p:nvSpPr>
          <p:cNvPr id="169" name="TextBox 168"/>
          <p:cNvSpPr txBox="1"/>
          <p:nvPr/>
        </p:nvSpPr>
        <p:spPr>
          <a:xfrm rot="16200000">
            <a:off x="11000232" y="8778240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Uncertainty 2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3715999" y="8366760"/>
            <a:ext cx="219456" cy="219456"/>
          </a:xfrm>
          <a:prstGeom prst="rect">
            <a:avLst/>
          </a:prstGeom>
          <a:solidFill>
            <a:srgbClr val="FDD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3972032" y="8293608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low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5999" y="8778240"/>
            <a:ext cx="219456" cy="219456"/>
          </a:xfrm>
          <a:prstGeom prst="rect">
            <a:avLst/>
          </a:prstGeom>
          <a:solidFill>
            <a:srgbClr val="8C2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3972032" y="8705088"/>
            <a:ext cx="8229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high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65760" y="6949440"/>
            <a:ext cx="7498079" cy="38404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94360" y="7132320"/>
            <a:ext cx="548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600" b="0" i="0">
                <a:solidFill>
                  <a:srgbClr val="222222"/>
                </a:solidFill>
                <a:latin typeface="Arial"/>
              </a:rPr>
              <a:t>(f)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61288" y="7187184"/>
            <a:ext cx="41148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Arial"/>
              </a:rPr>
              <a:t>Hazard-filling selection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6652260" y="6492240"/>
            <a:ext cx="0" cy="457200"/>
          </a:xfrm>
          <a:prstGeom prst="line">
            <a:avLst/>
          </a:prstGeom>
          <a:ln w="15875">
            <a:solidFill>
              <a:srgbClr val="44444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822960" y="7589520"/>
            <a:ext cx="292608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Latin hypercube anchors</a:t>
            </a:r>
          </a:p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over a 10⁶-realization pool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371600" y="8366760"/>
            <a:ext cx="1828800" cy="18288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0" name="Connector 179"/>
          <p:cNvCxnSpPr/>
          <p:nvPr/>
        </p:nvCxnSpPr>
        <p:spPr>
          <a:xfrm>
            <a:off x="1371600" y="10195560"/>
            <a:ext cx="182880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371600" y="8366760"/>
            <a:ext cx="0" cy="18288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1097280" y="10222992"/>
            <a:ext cx="2377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1 (of 6)</a:t>
            </a:r>
          </a:p>
        </p:txBody>
      </p:sp>
      <p:sp>
        <p:nvSpPr>
          <p:cNvPr id="183" name="TextBox 182"/>
          <p:cNvSpPr txBox="1"/>
          <p:nvPr/>
        </p:nvSpPr>
        <p:spPr>
          <a:xfrm rot="16200000">
            <a:off x="73151" y="914400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2 (of 6)</a:t>
            </a:r>
          </a:p>
        </p:txBody>
      </p:sp>
      <p:sp>
        <p:nvSpPr>
          <p:cNvPr id="184" name="Oval 183"/>
          <p:cNvSpPr/>
          <p:nvPr/>
        </p:nvSpPr>
        <p:spPr>
          <a:xfrm>
            <a:off x="1483156" y="99420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00931" y="9992563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533631" y="97401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701881" y="98411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819656" y="9958913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651406" y="95719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903780" y="97401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769181" y="948781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567281" y="93700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2038380" y="98747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987905" y="95382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870130" y="923544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156155" y="96392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240280" y="99420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105680" y="931956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1701881" y="910084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408529" y="97738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324404" y="94036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1954255" y="893259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576779" y="95719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492654" y="9151315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206630" y="886529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745028" y="98747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1600931" y="87306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829153" y="931956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374879" y="8646566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913278" y="8814815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903780" y="85287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997403" y="97401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660904" y="85287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1735531" y="97065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1499981" y="95382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072030" y="100093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1853305" y="962241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1735531" y="95046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1971080" y="98411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240280" y="899989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543129" y="95382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509479" y="86633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812328" y="923544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511808" y="9348216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1792224" y="99090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2072640" y="8787384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2353056" y="9628632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2633472" y="85069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2913888" y="9067800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4480560" y="7589520"/>
            <a:ext cx="292608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each anchor assigned</a:t>
            </a:r>
          </a:p>
          <a:p>
            <a:pPr algn="ctr"/>
            <a:r>
              <a:rPr sz="1700" b="0" i="0">
                <a:solidFill>
                  <a:srgbClr val="222222"/>
                </a:solidFill>
                <a:latin typeface="Arial"/>
              </a:rPr>
              <a:t>its nearest pool member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029200" y="8366760"/>
            <a:ext cx="1828800" cy="18288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2" name="Connector 231"/>
          <p:cNvCxnSpPr/>
          <p:nvPr/>
        </p:nvCxnSpPr>
        <p:spPr>
          <a:xfrm>
            <a:off x="5029200" y="10195560"/>
            <a:ext cx="182880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5029200" y="8366760"/>
            <a:ext cx="0" cy="18288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4754880" y="10222992"/>
            <a:ext cx="2377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1 (of 6)</a:t>
            </a:r>
          </a:p>
        </p:txBody>
      </p:sp>
      <p:sp>
        <p:nvSpPr>
          <p:cNvPr id="235" name="TextBox 234"/>
          <p:cNvSpPr txBox="1"/>
          <p:nvPr/>
        </p:nvSpPr>
        <p:spPr>
          <a:xfrm rot="16200000">
            <a:off x="3730752" y="914400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700" b="0" i="1">
                <a:solidFill>
                  <a:srgbClr val="222222"/>
                </a:solidFill>
                <a:latin typeface="Arial"/>
              </a:rPr>
              <a:t>Hazard 2 (of 6)</a:t>
            </a:r>
          </a:p>
        </p:txBody>
      </p:sp>
      <p:sp>
        <p:nvSpPr>
          <p:cNvPr id="236" name="Oval 235"/>
          <p:cNvSpPr/>
          <p:nvPr/>
        </p:nvSpPr>
        <p:spPr>
          <a:xfrm>
            <a:off x="5140756" y="99420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5258531" y="9992563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5191231" y="97401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5359481" y="98411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5477256" y="9958913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5309006" y="95719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5561380" y="97401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5426781" y="948781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5224881" y="93700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5695980" y="98747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5645505" y="95382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5527730" y="923544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5813755" y="96392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5897880" y="99420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5763280" y="931956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5359481" y="910084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6066129" y="97738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5982004" y="94036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5611855" y="893259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6234379" y="95719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6150254" y="9151315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5864230" y="886529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6402628" y="98747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5258531" y="87306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6486753" y="931956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6032479" y="8646566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6570878" y="8814815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5561380" y="85287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6655003" y="97401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6318504" y="85287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5393131" y="97065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5157581" y="95382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5729630" y="1000938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5510905" y="9622414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5393131" y="950463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5628680" y="9841138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5897880" y="899989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6200729" y="9538289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6167079" y="8663391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6469928" y="9235440"/>
            <a:ext cx="91440" cy="91440"/>
          </a:xfrm>
          <a:prstGeom prst="ellipse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5169408" y="9348216"/>
            <a:ext cx="146304" cy="146304"/>
          </a:xfrm>
          <a:prstGeom prst="rect">
            <a:avLst/>
          </a:prstGeom>
          <a:noFill/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7" name="Connector 276"/>
          <p:cNvCxnSpPr/>
          <p:nvPr/>
        </p:nvCxnSpPr>
        <p:spPr>
          <a:xfrm>
            <a:off x="5242560" y="9421368"/>
            <a:ext cx="196291" cy="128991"/>
          </a:xfrm>
          <a:prstGeom prst="line">
            <a:avLst/>
          </a:prstGeom>
          <a:ln w="1905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Rectangle 277"/>
          <p:cNvSpPr/>
          <p:nvPr/>
        </p:nvSpPr>
        <p:spPr>
          <a:xfrm>
            <a:off x="5449824" y="9909048"/>
            <a:ext cx="146304" cy="146304"/>
          </a:xfrm>
          <a:prstGeom prst="rect">
            <a:avLst/>
          </a:prstGeom>
          <a:noFill/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5522976" y="9886858"/>
            <a:ext cx="151424" cy="95342"/>
          </a:xfrm>
          <a:prstGeom prst="line">
            <a:avLst/>
          </a:prstGeom>
          <a:ln w="1905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tangle 279"/>
          <p:cNvSpPr/>
          <p:nvPr/>
        </p:nvSpPr>
        <p:spPr>
          <a:xfrm>
            <a:off x="5730240" y="8787384"/>
            <a:ext cx="146304" cy="146304"/>
          </a:xfrm>
          <a:prstGeom prst="rect">
            <a:avLst/>
          </a:prstGeom>
          <a:noFill/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1" name="Connector 280"/>
          <p:cNvCxnSpPr/>
          <p:nvPr/>
        </p:nvCxnSpPr>
        <p:spPr>
          <a:xfrm>
            <a:off x="5803392" y="8860536"/>
            <a:ext cx="140208" cy="185074"/>
          </a:xfrm>
          <a:prstGeom prst="line">
            <a:avLst/>
          </a:prstGeom>
          <a:ln w="1905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Rectangle 281"/>
          <p:cNvSpPr/>
          <p:nvPr/>
        </p:nvSpPr>
        <p:spPr>
          <a:xfrm>
            <a:off x="6010656" y="9628632"/>
            <a:ext cx="146304" cy="146304"/>
          </a:xfrm>
          <a:prstGeom prst="rect">
            <a:avLst/>
          </a:prstGeom>
          <a:noFill/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3" name="Connector 282"/>
          <p:cNvCxnSpPr/>
          <p:nvPr/>
        </p:nvCxnSpPr>
        <p:spPr>
          <a:xfrm flipV="1">
            <a:off x="6083808" y="9584009"/>
            <a:ext cx="162641" cy="117775"/>
          </a:xfrm>
          <a:prstGeom prst="line">
            <a:avLst/>
          </a:prstGeom>
          <a:ln w="1905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Rectangle 283"/>
          <p:cNvSpPr/>
          <p:nvPr/>
        </p:nvSpPr>
        <p:spPr>
          <a:xfrm>
            <a:off x="6291072" y="8506968"/>
            <a:ext cx="146304" cy="146304"/>
          </a:xfrm>
          <a:prstGeom prst="rect">
            <a:avLst/>
          </a:prstGeom>
          <a:noFill/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5" name="Connector 284"/>
          <p:cNvCxnSpPr/>
          <p:nvPr/>
        </p:nvCxnSpPr>
        <p:spPr>
          <a:xfrm flipH="1">
            <a:off x="6212799" y="8580120"/>
            <a:ext cx="151425" cy="128991"/>
          </a:xfrm>
          <a:prstGeom prst="line">
            <a:avLst/>
          </a:prstGeom>
          <a:ln w="1905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/>
          <p:cNvSpPr/>
          <p:nvPr/>
        </p:nvSpPr>
        <p:spPr>
          <a:xfrm>
            <a:off x="6571488" y="9067800"/>
            <a:ext cx="146304" cy="146304"/>
          </a:xfrm>
          <a:prstGeom prst="rect">
            <a:avLst/>
          </a:prstGeom>
          <a:noFill/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7" name="Connector 286"/>
          <p:cNvCxnSpPr/>
          <p:nvPr/>
        </p:nvCxnSpPr>
        <p:spPr>
          <a:xfrm flipH="1">
            <a:off x="6515648" y="9140952"/>
            <a:ext cx="128992" cy="140208"/>
          </a:xfrm>
          <a:prstGeom prst="line">
            <a:avLst/>
          </a:prstGeom>
          <a:ln w="1905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Oval 287"/>
          <p:cNvSpPr/>
          <p:nvPr/>
        </p:nvSpPr>
        <p:spPr>
          <a:xfrm>
            <a:off x="5374843" y="9486351"/>
            <a:ext cx="128016" cy="128016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5610392" y="9822850"/>
            <a:ext cx="128016" cy="128016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5879592" y="8981602"/>
            <a:ext cx="128016" cy="128016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6182441" y="9520001"/>
            <a:ext cx="128016" cy="128016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6148791" y="8645103"/>
            <a:ext cx="128016" cy="128016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6451640" y="9217152"/>
            <a:ext cx="128016" cy="128016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4" name="Connector 293"/>
          <p:cNvCxnSpPr/>
          <p:nvPr/>
        </p:nvCxnSpPr>
        <p:spPr>
          <a:xfrm>
            <a:off x="3474720" y="9281160"/>
            <a:ext cx="868680" cy="0"/>
          </a:xfrm>
          <a:prstGeom prst="line">
            <a:avLst/>
          </a:prstGeom>
          <a:ln w="317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106">
            <a:extLst>
              <a:ext uri="{FF2B5EF4-FFF2-40B4-BE49-F238E27FC236}">
                <a16:creationId xmlns:a16="http://schemas.microsoft.com/office/drawing/2014/main" id="{AB59A279-1470-4C68-AA41-D58BB171FB1B}"/>
              </a:ext>
            </a:extLst>
          </p:cNvPr>
          <p:cNvCxnSpPr>
            <a:cxnSpLocks/>
          </p:cNvCxnSpPr>
          <p:nvPr/>
        </p:nvCxnSpPr>
        <p:spPr>
          <a:xfrm>
            <a:off x="11041240" y="3840480"/>
            <a:ext cx="365760" cy="0"/>
          </a:xfrm>
          <a:prstGeom prst="line">
            <a:avLst/>
          </a:prstGeom>
          <a:ln w="317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151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Trevor Amestoy</cp:lastModifiedBy>
  <cp:revision>4</cp:revision>
  <dcterms:created xsi:type="dcterms:W3CDTF">2013-01-27T09:14:16Z</dcterms:created>
  <dcterms:modified xsi:type="dcterms:W3CDTF">2026-08-21T05:51:35Z</dcterms:modified>
  <cp:category/>
</cp:coreProperties>
</file>