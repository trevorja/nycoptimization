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Working title - two alternates to consider: 'Designing the Scenarios We Optimize Over' or 'Hazard-Space Scenario Design for Many-Objective Reservoir Policy Search'. Framing: this is a dissertation-paper proposal; no results yet. The deliverable today is the scope, the gap, and the planned experiment.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Roadmap. Part 1 motivates the problem and states the gap; Part 2 is the proposal proper (hypothesis, RQs, contributions); Part 3 is the planned experiment; close with status and the specific decisions where committee input is most valuable.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committee to the system before any methodology. Key facts: three NYC Delaware reservoirs; the 1954 Supreme Court Decree fixes the diversion cap and the downstream flow targets; day-to-day operations follow the FFMP. All simulation is in Pywr-DRB. The schematic is deliberately minimal - reservoirs, diversion, two Decree flow targets.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up the general MORDM-style workflow so the object of study is unambiguous: the evaluation ensemble inside the search loop. Emphasize the asymmetry: the optimizer only ever 'sees' hydrology through this ensemble. Re-evaluation happens after search, on broader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linked points: (1) the historical record undersamples extremes, so synthetic ensembles are standard; (2) but naive large ensembles spend most of their simulated years in unremarkable conditions - the 84-93% figure is from our current DRB stochastic ensembles. The search signal comes from the rare stress 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inefficiency argument. Prevailing DMDU practice samples the input space (generator / climate-change parameters). But the mapping from parameters to realized hydrologic stress is many-to-one and noisy: distinct parameter vectors yield overlapping hazard conditions. Our preliminary DRB diagnostic found an input-vs-hazard coverage gap (~1.3x discrepancy) that survives even enriched input sampling. Diagram: spread points in parameter space collapse to overlapping regions in hazard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vocabulary is load-bearing for the whole talk. Input space = what defines generation. Hazard space = metrics measured on each realized sequence BEFORE any system simulation (drought intensity/duration/severity, low/high-flow indices). Outcome space = simulated objectives. Because hazard coordinates exist before any policy is evaluated, subsampling in hazard space is a pre-optimization design step - simulation-free.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honest gap statement. Not 'nobody asked whether composition matters' - Cohen et al. 2021 did, affirmatively, and we cite it as motivation. Each adjacent literature stops short: Cohen (problem-driven regret selection, 97 GCM traces, split-half testing); Bonham (space-filling but post-hoc ranking); Zaniolo (hazard control at generation, discrete types); Zatarain Salazar (1-D magnitude stratification). The delta: scalable, simulation-free, coverage-designed construction of the SEARCH ensemble, tested under genuinely held-out deep-uncertainty re-evaluation.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idea in one picture, and the argument behind it. Hazard coordinates are EMERGENT properties of a realized flow sequence -- no generator can be asked to produce a realization at a prescribed drought severity. Forcing parameters theta ARE a knob. So input-space designs GENERATE TO their design points (LHS alone, nothing to snap to), while hazard-space designs must SELECT FROM a finite candidate pool (LHS anchors + nearest-neighbour snap). That asymmetry is intrinsic, not an implementation shortcut. Each hazard-filling design generates and owns its candidate pool; nothing is shared between designs. Be explicit about the probability distortion -- deliberate, and compared only on the held-out re-evaluation.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divider.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falsifiable hypothesis, then the contributions contingent on results. Note contribution 1 stands even under a null result - the controlled comparison itself is new. Frame relative to Cohen 2021: they established composition matters; we contribute the scalable, simulation-free, coverage-designed construction and the held-out deep-uncertainty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RQ1 is the core methodological question and drives the experimental design; RQ2 and RQ3 are the domain questions the same campaign answers along the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divider.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whole experiment in one diagram. Top row: two populations (stationary Kirsch-Nowak at theta_hist; DU-forced theta from the CMIP6 hypercube). Bottom row: the comparison (each design builds its OWN ensemble -&gt; independent searches at identical N, L and NFE -&gt; common held-out re-evaluation). KEY CONTROL: there is no shared pool. Every design generates its own realizations from its own namespaced seed stream -- no published study builds a search ensemble by subsampling a common pool, and claiming so would misdescribe every method the comparison represents. Only the two hazard-filling designs need a pool, and each owns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Concrete machinery. FFMP parameterization = 24 decision variables; ffmp_N variants add storage zones for RQ3. Search uses a trimmed Pywr-DRB (non-NYC reservoir releases pre-simulated) for speed; the full model is used for baselines and re-evaluation. MM-Borg on Anvil; a scaling experiment currently running sets the production geometry and SU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slide for all seven objectives; full formulations and rationale per objective live in the supplement. Two framing points: goalposts are the STATIC 1954 Decree quantities, never the live FFMP drought step-down targets (a policy must not lower its own goalpost); and noisy worst-case extremes were replaced with stable tail forms (CVaR / percentiles / counts) per Quinn et al. 2017.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a (realizations x time) simulation becomes one scalar per objective during ensemble search. Two-layer annual-unit scheme, decided July 2026: stage 1 computes each objective's annual metric on every (realization x water-year) unit; stage 2 applies a per-objective operator across the pooled unit-years. Every operator follows published search-time practice (WaterPaths lineage; Quinn's 1000 annual units). Same scheme for every ensemble design -&gt; identical unit denominator; the historic design keeps its single-trace metrics. Failure criteria / epsilons come from the sensitivity experiment.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heart of RQ1: six designs across TWO populations, each built by its OWN published recipe from its OWN seed stream. Hazard-filling runs in both populations, which is what makes every contrast exactly controlled: fixed_probabilistic -&gt; hazard_filling_stationary varies only the selection RULE; input_stratified -&gt; hazard_filling_du varies only the selection SPACE (theta vs hazard) and is the central claim. A stationary-only pool would leave input_stratified with no input space to stratify; a DU-only pool would leave hazard-filling with no exact random-selection control. resampled_probabilistic: Brodeur 2020 is the primary anchor; Trindade/Gold are cited only for the PRINCIPLE of per-evaluation re-randomization (their theta is paired with the flows and re-shuffled; ours is fused in at generation, so there is no pairing to re-randomize). Historic can't be size-matched; it is a prevailing-practice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the two candidate pools are built. Forcing space: CMIP6-anchored hypercube over fixed-phase harmonic amplitudes of monthly change factors (annual volume, seasonal amplitude, shoulder shape) - Quinn et al. 2018 lineage, bounded by the empirical 90% CMIP6 envelope. CRITICAL: the pools are sampled i.i.d., NEVER by LHS. A uniform random size-N subset of an i.i.d. pool has exactly the law of N fresh i.i.d. draws, which is what makes fixed_probabilistic the EXACT control for hazard_filling_stationary; a random subset of an LHS design is not i.i.d., so an LHS pool would silently void the control. input_stratified is the only design that uses LHS, and it uses it to GENERATE. Storage trick: keep only the hazard image + seeds; realizations regenerate deterministically (~440 GB avoided). Scope caveat: historical interannual persistence is retained; claims scoped accordingly.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Hazard axes: SSI-6 drought event metrics (run theory) plus peaks-over-threshold flood metrics. A redundancy screen (Spearman clustering at |rho|&gt;=0.7, tail-balanced) selects 3-4 low-collinearity axes on each production pool's hazard image. Selector: normalize each axis by its empirical CDF, draw N Latin-hypercube anchors, snap each to the nearest not-yet-selected pool member. Deterministic given the anchor seed. NO annealing, no tuning, no discrepancy objective -- which is exactly why L2-star discrepancy stays an INDEPENDENT diagnostic of the achieved design rather than the quantity being minimized, so coverage is reported as a RESULT and not merely as a build-verification gate. Be upfront: this deliberately distorts scenario probabilities; that is the design choice under study, and the held-out re-evaluation is the corrective.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credibility slide. The budget control is a CONSEQUENCE of the sizing choice, not something imposed: because N = 100 and L = 10 yr are common to every matched design, per-evaluation cost, warm-up, scenario-years and wall-clock are identical, so equal-NFE and equal-scenario-years coincide. ONE budget condition, no arms, no composition-vs-search-effort confound. A common (N, L) is REQUIRED, not convenient: with different L the selection rule would be confounded with record length. Replication: a draw re-rolls EVERYTHING random about building the ensemble, including the pool -- otherwise a hazard-filling draw would vary only its anchor plan while a fixed_probabilistic draw re-rolls its whole sample, and hazard-filling would look more stable by construction rather than as a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single point of cross-design comparison, and the finalized metric set (src/robustness.py). PRIMARY: the multivariate Starr (1962) domain criterion -- realization-level, the standard unit of the Herman/Trindade/Gold lineage, and it converges at 50-300 scenarios (Bonham 2024). Everything else is free from the same persisted (solution x realization x objective) cube. Regret is NOT computed, and no perfect-foresight optimization appears anywhere in the study: Cohen (2021) baseline regret needs one perfect-foresight MOEA run per scenario (97 optimizations, ~3,233 CPU-h), and regret-from-best is set-relative and design-coupled -- dropping one design changes every other design's score -- and never converges on a tail objective. Pooled-reference-set hypervolume is likewise not a cross-design yardstick (Zatarain Salazar 2017 sec 5.3).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things stand as of July 2026. Built and verified: the full pipeline runs end-to-end at test scale; per-design generation with disjoint seed domains; deterministic pools with single-realization regeneration; the LHS + nearest-neighbour hazard-filling selector is wired; the Anvil scaling experiment is running now and gates the campaign scope. The sensitivity experiments finalize thresholds/epsilons before the campaign.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asking for input on the genuinely open decisions, in priority order. (1) Campaign scope vs compute budget - the SU table lands when the scaling experiment finishes. (2) Test-ensemble design, including whether one construction should use a structurally different generator. (3) The hazard-axis set after the redundancy screen. (4) Flood unit operator and annual failure criteria from the sensitivity experiment. (5) The centre and span of the satisficing-threshold grid, which the main-text threshold sweep is run 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Supplemental divider.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Plain-language building blocks used by every objective slide that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Weekly satisficing frequency; Decree-capped demand; annual failure-year frequency in ensemble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CVaR90 tail deficit; ensemble mode uses worst-P99 unit-year.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Weekly reliability vs static Decree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CVaR90 of Montague deficit.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Trenton reliability replacing salt-front objective.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Flood day count at minor stage; ensemble operator pending sensitivity experiment.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Storage P5; ensemble mode uses P01 of annual minima.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Condensed version of the four-family taxonomy (working note). The proposed design sits in family III (bottom-up coverage), sub-family 'coverage-based subset selection from realized sequences' - distinguished by scale (a 10^5-10^6 candidate pool), multi-dimensional hazard coordinates, and destination (the search ensemble). Family IV is where Cohen (2021) sits: it selects by decision relevance, which costs an optimization per scenario -- we cite that finding as motivation and do not compute any such quantity.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 for the forcing hypercube. Each CMIP6 (GCM x SSP x period) run gives a 12-month multiplicative change-factor profile for NYC inflows; its log profile is decomposed into a low-order harmonic with phases FIXED at the canonical CMIP6 seasonal shape; only amplitudes (annual mean m, annual r1, semiannual r2) are sampled, by LHS, within the empirical 90% envelope. Factors adjust the Kirsch generator's log-space monthly mean/SD via Kirsch et al. 2013 eqs. 10-11. An optional CV axis perturbs variance independently.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Supplemental: the scaling experiment currently running on Anvil that sets the production geometry and SU budget. Two parts: a packing sweep over ensemble-evaluation parallelism (realizations per Pywr-DRB simulation) and a Borg strong-scaling ladder (islands x workers).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659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i="0" b="0">
                <a:solidFill>
                  <a:srgbClr val="212529"/>
                </a:solidFill>
                <a:latin typeface="Cambria"/>
              </a:rPr>
              <a:t>Hazard-Informed Scenario Design for
Many-Objective Reservoir Policy 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310128"/>
            <a:ext cx="2377440" cy="38100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i="0" b="0">
                <a:solidFill>
                  <a:srgbClr val="5F6B7A"/>
                </a:solidFill>
                <a:latin typeface="Calibri"/>
              </a:rPr>
              <a:t>Re-optimizing NYC reservoir operations in the Delaware River Basin under hydrologic uncertainty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92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i="0" b="0">
                <a:solidFill>
                  <a:srgbClr val="212529"/>
                </a:solidFill>
                <a:latin typeface="Calibri"/>
              </a:rPr>
              <a:t>Research proposal  |  Trevor Amestoy
Reed Research Group, Cornell University  |  Summer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i="0" b="0">
                <a:solidFill>
                  <a:srgbClr val="212529"/>
                </a:solidFill>
                <a:latin typeface="Cambria"/>
              </a:rPr>
              <a:t>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78992"/>
            <a:ext cx="1737360" cy="33020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167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1">
                <a:solidFill>
                  <a:srgbClr val="212529"/>
                </a:solidFill>
                <a:latin typeface="Calibri"/>
              </a:rPr>
              <a:t>1.  Motivation &amp; gap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How the streamflow scenarios used during policy search are chosen today, and why that choice matters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1">
                <a:solidFill>
                  <a:srgbClr val="212529"/>
                </a:solidFill>
                <a:latin typeface="Calibri"/>
              </a:rPr>
              <a:t>2.  Proposal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Hypothesis, research questions, and planned contributions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1">
                <a:solidFill>
                  <a:srgbClr val="212529"/>
                </a:solidFill>
                <a:latin typeface="Calibri"/>
              </a:rPr>
              <a:t>3.  Planned experiment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Testbed, scenario designs, objectives, comparison controls, evaluation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1">
                <a:solidFill>
                  <a:srgbClr val="212529"/>
                </a:solidFill>
                <a:latin typeface="Calibri"/>
              </a:rPr>
              <a:t>4.  Status, open decisions &amp; requested feedback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800" i="1" b="0">
                <a:solidFill>
                  <a:srgbClr val="5F6B7A"/>
                </a:solidFill>
                <a:latin typeface="Calibri"/>
              </a:rPr>
              <a:t>Supplemental: objective formulations, ensemble aggregation, forcing parameterization, HPC scaling.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i="0" b="0">
                <a:solidFill>
                  <a:srgbClr val="212529"/>
                </a:solidFill>
                <a:latin typeface="Cambria"/>
              </a:rPr>
              <a:t>Testbed — NYC reservoirs in the Delaware River Basin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78992"/>
            <a:ext cx="1737360" cy="33020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76072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Cannonsville, Pepacton &amp; Neversink supply roughly half of NYC's water and control flows into the upper Delaware mainstem.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1954 U.S. Supreme Court Decree: NYC diversion capped at 800 MGD; minimum-flow obligations at Montague (1,750 cfs) and Trenton protect New Jersey and Philadelphia (salinity repulsion).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Operations follow the Flexible Flow Management Program (FFMP): releases set by storage zone, with drought step-downs.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Simulated with Pywr-DRB, an open-source daily water-availability model of the full basin.</a:t>
            </a:r>
          </a:p>
          <a:p>
            <a:pPr>
              <a:lnSpc>
                <a:spcPct val="104000"/>
              </a:lnSpc>
              <a:spcAft>
                <a:spcPts val="200"/>
              </a:spcAft>
            </a:pP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800" i="1" b="0">
                <a:solidFill>
                  <a:srgbClr val="5F6B7A"/>
                </a:solidFill>
                <a:latin typeface="Calibri"/>
              </a:rPr>
              <a:t>Hamilton et al. 2024; Kolesar &amp; Serio 2011.</a:t>
            </a:r>
          </a:p>
        </p:txBody>
      </p:sp>
      <p:sp>
        <p:nvSpPr>
          <p:cNvPr id="5" name="Rectangle 4"/>
          <p:cNvSpPr/>
          <p:nvPr/>
        </p:nvSpPr>
        <p:spPr>
          <a:xfrm>
            <a:off x="7818120" y="1554480"/>
            <a:ext cx="1371600" cy="566928"/>
          </a:xfrm>
          <a:prstGeom prst="rect">
            <a:avLst/>
          </a:prstGeom>
          <a:solidFill>
            <a:srgbClr val="E9EFF5"/>
          </a:solidFill>
          <a:ln w="12700">
            <a:solidFill>
              <a:srgbClr val="5F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800" i="0" b="0">
                <a:solidFill>
                  <a:srgbClr val="212529"/>
                </a:solidFill>
                <a:latin typeface="Calibri"/>
              </a:rPr>
              <a:t>Cannonsville</a:t>
            </a:r>
          </a:p>
        </p:txBody>
      </p:sp>
      <p:sp>
        <p:nvSpPr>
          <p:cNvPr id="6" name="Rectangle 5"/>
          <p:cNvSpPr/>
          <p:nvPr/>
        </p:nvSpPr>
        <p:spPr>
          <a:xfrm>
            <a:off x="9299448" y="1554480"/>
            <a:ext cx="1371600" cy="566928"/>
          </a:xfrm>
          <a:prstGeom prst="rect">
            <a:avLst/>
          </a:prstGeom>
          <a:solidFill>
            <a:srgbClr val="E9EFF5"/>
          </a:solidFill>
          <a:ln w="12700">
            <a:solidFill>
              <a:srgbClr val="5F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800" i="0" b="0">
                <a:solidFill>
                  <a:srgbClr val="212529"/>
                </a:solidFill>
                <a:latin typeface="Calibri"/>
              </a:rPr>
              <a:t>Pepacton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80776" y="1554480"/>
            <a:ext cx="1371600" cy="566928"/>
          </a:xfrm>
          <a:prstGeom prst="rect">
            <a:avLst/>
          </a:prstGeom>
          <a:solidFill>
            <a:srgbClr val="E9EFF5"/>
          </a:solidFill>
          <a:ln w="12700">
            <a:solidFill>
              <a:srgbClr val="5F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800" i="0" b="0">
                <a:solidFill>
                  <a:srgbClr val="212529"/>
                </a:solidFill>
                <a:latin typeface="Calibri"/>
              </a:rPr>
              <a:t>Neversink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503920" y="2121408"/>
            <a:ext cx="1325880" cy="758952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985248" y="2121408"/>
            <a:ext cx="0" cy="758952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0149840" y="2121408"/>
            <a:ext cx="1316736" cy="758952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9144000" y="2926080"/>
            <a:ext cx="1737360" cy="548640"/>
          </a:xfrm>
          <a:prstGeom prst="rect">
            <a:avLst/>
          </a:prstGeom>
          <a:noFill/>
          <a:ln w="12700">
            <a:solidFill>
              <a:srgbClr val="9AA4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800" i="0" b="0">
                <a:solidFill>
                  <a:srgbClr val="212529"/>
                </a:solidFill>
                <a:latin typeface="Calibri"/>
              </a:rPr>
              <a:t>Delaware mainstem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012680" y="3474720"/>
            <a:ext cx="0" cy="502919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915400" y="4023360"/>
            <a:ext cx="2103120" cy="658368"/>
          </a:xfrm>
          <a:prstGeom prst="rect">
            <a:avLst/>
          </a:prstGeom>
          <a:solidFill>
            <a:srgbClr val="E9EFF5"/>
          </a:solidFill>
          <a:ln w="12700">
            <a:solidFill>
              <a:srgbClr val="5F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800" i="0" b="0">
                <a:solidFill>
                  <a:srgbClr val="212529"/>
                </a:solidFill>
                <a:latin typeface="Calibri"/>
              </a:rPr>
              <a:t>Montague target
1,750 cfs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66960" y="4681728"/>
            <a:ext cx="0" cy="484632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8915400" y="5212080"/>
            <a:ext cx="2103120" cy="658368"/>
          </a:xfrm>
          <a:prstGeom prst="rect">
            <a:avLst/>
          </a:prstGeom>
          <a:solidFill>
            <a:srgbClr val="E9EFF5"/>
          </a:solidFill>
          <a:ln w="12700">
            <a:solidFill>
              <a:srgbClr val="5F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800" i="0" b="0">
                <a:solidFill>
                  <a:srgbClr val="212529"/>
                </a:solidFill>
                <a:latin typeface="Calibri"/>
              </a:rPr>
              <a:t>Trenton target
3,000 cfs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2514600"/>
            <a:ext cx="1463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800" i="0" b="0">
                <a:solidFill>
                  <a:srgbClr val="212529"/>
                </a:solidFill>
                <a:latin typeface="Calibri"/>
              </a:rPr>
              <a:t>NYC diversion
≤ 800 MGD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7589520" y="2148840"/>
            <a:ext cx="685800" cy="41148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i="0" b="0">
                <a:solidFill>
                  <a:srgbClr val="212529"/>
                </a:solidFill>
                <a:latin typeface="Cambria"/>
              </a:rPr>
              <a:t>Policy search under uncertainty — where scenarios enter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78992"/>
            <a:ext cx="1737360" cy="33020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1672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Many-objective search: the MOEA proposes candidate operating policies; each is simulated over an </a:t>
            </a:r>
            <a:r>
              <a:rPr sz="2000" i="0" b="1">
                <a:solidFill>
                  <a:srgbClr val="212529"/>
                </a:solidFill>
                <a:latin typeface="Calibri"/>
              </a:rPr>
              <a:t>evaluation ensemble</a:t>
            </a:r>
            <a:r>
              <a:rPr sz="2000" i="0" b="0">
                <a:solidFill>
                  <a:srgbClr val="212529"/>
                </a:solidFill>
                <a:latin typeface="Calibri"/>
              </a:rPr>
              <a:t> of streamflow scenarios to compute its objectives.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The evaluation ensemble is the optimizer's entire view of hydrology — policies are only rewarded for handling conditions that the ensemble actually contains.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After search, Pareto-approximate policies are re-evaluated on broader, out-of-sample conditions to measure robustness.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</a:t>
            </a:r>
            <a:r>
              <a:rPr sz="2000" i="0" b="1">
                <a:solidFill>
                  <a:srgbClr val="212529"/>
                </a:solidFill>
                <a:latin typeface="Calibri"/>
              </a:rPr>
              <a:t>This proposal asks: how should the search-time evaluation ensemble be designed?</a:t>
            </a:r>
          </a:p>
          <a:p>
            <a:pPr>
              <a:lnSpc>
                <a:spcPct val="104000"/>
              </a:lnSpc>
              <a:spcAft>
                <a:spcPts val="200"/>
              </a:spcAft>
            </a:pP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800" i="1" b="0">
                <a:solidFill>
                  <a:srgbClr val="5F6B7A"/>
                </a:solidFill>
                <a:latin typeface="Calibri"/>
              </a:rPr>
              <a:t>Kasprzyk et al. 2013; Herman et al. 2015, 2020.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846320"/>
            <a:ext cx="2286000" cy="777240"/>
          </a:xfrm>
          <a:prstGeom prst="rect">
            <a:avLst/>
          </a:prstGeom>
          <a:solidFill>
            <a:srgbClr val="E9EFF5"/>
          </a:solidFill>
          <a:ln w="12700">
            <a:solidFill>
              <a:srgbClr val="5F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800" i="0" b="0">
                <a:solidFill>
                  <a:srgbClr val="212529"/>
                </a:solidFill>
                <a:latin typeface="Calibri"/>
              </a:rPr>
              <a:t>MM-Borg MOEA
candidate policy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26080" y="5230368"/>
            <a:ext cx="548640" cy="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474720" y="4846320"/>
            <a:ext cx="3108960" cy="777240"/>
          </a:xfrm>
          <a:prstGeom prst="rect">
            <a:avLst/>
          </a:prstGeom>
          <a:solidFill>
            <a:srgbClr val="E9EFF5"/>
          </a:solidFill>
          <a:ln w="12700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800" i="0" b="0">
                <a:solidFill>
                  <a:srgbClr val="212529"/>
                </a:solidFill>
                <a:latin typeface="Calibri"/>
              </a:rPr>
              <a:t>Pywr-DRB simulation over
</a:t>
            </a:r>
            <a:r>
              <a:rPr sz="1800" i="0" b="1">
                <a:solidFill>
                  <a:srgbClr val="212529"/>
                </a:solidFill>
                <a:latin typeface="Calibri"/>
              </a:rPr>
              <a:t>evaluation ensemble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0" y="5230368"/>
            <a:ext cx="548640" cy="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7132320" y="4846320"/>
            <a:ext cx="2103120" cy="777240"/>
          </a:xfrm>
          <a:prstGeom prst="rect">
            <a:avLst/>
          </a:prstGeom>
          <a:solidFill>
            <a:srgbClr val="E9EFF5"/>
          </a:solidFill>
          <a:ln w="12700">
            <a:solidFill>
              <a:srgbClr val="5F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800" i="0" b="0">
                <a:solidFill>
                  <a:srgbClr val="212529"/>
                </a:solidFill>
                <a:latin typeface="Calibri"/>
              </a:rPr>
              <a:t>objective values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235440" y="5230368"/>
            <a:ext cx="548640" cy="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9784080" y="4846320"/>
            <a:ext cx="1920240" cy="777240"/>
          </a:xfrm>
          <a:prstGeom prst="rect">
            <a:avLst/>
          </a:prstGeom>
          <a:noFill/>
          <a:ln w="12700">
            <a:solidFill>
              <a:srgbClr val="9AA4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800" i="0" b="0">
                <a:solidFill>
                  <a:srgbClr val="212529"/>
                </a:solidFill>
                <a:latin typeface="Calibri"/>
              </a:rPr>
              <a:t>re-evaluation
(after search)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1783080" y="5806440"/>
            <a:ext cx="6355080" cy="0"/>
          </a:xfrm>
          <a:prstGeom prst="line">
            <a:avLst/>
          </a:prstGeom>
          <a:ln w="15240">
            <a:solidFill>
              <a:srgbClr val="9AA4A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657600" y="587044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0" b="0">
                <a:solidFill>
                  <a:srgbClr val="5F6B7A"/>
                </a:solidFill>
                <a:latin typeface="Calibri"/>
              </a:rPr>
              <a:t>search loop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i="0" b="0">
                <a:solidFill>
                  <a:srgbClr val="212529"/>
                </a:solidFill>
                <a:latin typeface="Cambria"/>
              </a:rPr>
              <a:t>Motivation — ensembles are necessary, but inefficient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78992"/>
            <a:ext cx="1737360" cy="33020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1672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The historical record is one short draw from a variable climate: it undersamples droughts and floods beyond experience, so search over the record alone overfits to one hydrologic history.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Synthetic streamflow ensembles are the standard remedy — they expand the range of variability a policy is tested against.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But large stochastic ensembles are dominated by unremarkable hydrology: </a:t>
            </a:r>
            <a:r>
              <a:rPr sz="2000" i="0" b="1">
                <a:solidFill>
                  <a:srgbClr val="212529"/>
                </a:solidFill>
                <a:latin typeface="Calibri"/>
              </a:rPr>
              <a:t>84–93% of years in our current DRB ensembles fall in normal conditions</a:t>
            </a:r>
            <a:r>
              <a:rPr sz="2000" i="0" b="0">
                <a:solidFill>
                  <a:srgbClr val="212529"/>
                </a:solidFill>
                <a:latin typeface="Calibri"/>
              </a:rPr>
              <a:t> — simulated years that add cost, not search signal.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Rare, severe events drive the consequential outcomes; the optimizer learns from the few scenarios that contain them.</a:t>
            </a:r>
          </a:p>
          <a:p>
            <a:pPr>
              <a:lnSpc>
                <a:spcPct val="104000"/>
              </a:lnSpc>
              <a:spcAft>
                <a:spcPts val="200"/>
              </a:spcAft>
            </a:pP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800" i="1" b="0">
                <a:solidFill>
                  <a:srgbClr val="5F6B7A"/>
                </a:solidFill>
                <a:latin typeface="Calibri"/>
              </a:rPr>
              <a:t>Kirsch et al. 2013; Herman et al. 2016; Cohen et al. 2021; Zaniolo et al. 2023.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i="0" b="0">
                <a:solidFill>
                  <a:srgbClr val="212529"/>
                </a:solidFill>
                <a:latin typeface="Cambria"/>
              </a:rPr>
              <a:t>Motivation — input-space sampling gives redundant scenarios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78992"/>
            <a:ext cx="1737360" cy="33020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1672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Prevailing deep-uncertainty practice samples the </a:t>
            </a:r>
            <a:r>
              <a:rPr sz="2000" i="0" b="1">
                <a:solidFill>
                  <a:srgbClr val="212529"/>
                </a:solidFill>
                <a:latin typeface="Calibri"/>
              </a:rPr>
              <a:t>input space</a:t>
            </a:r>
            <a:r>
              <a:rPr sz="2000" i="0" b="0">
                <a:solidFill>
                  <a:srgbClr val="212529"/>
                </a:solidFill>
                <a:latin typeface="Calibri"/>
              </a:rPr>
              <a:t>: Latin hypercube designs over generator / climate parameters, one 'state of the world' per sample.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Distinct parameter sets frequently produce hydrologically redundant realizations — uniform coverage of inputs does not give uniform coverage of the hazard conditions that stress the system.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Preliminary DRB diagnostic: hazard-space coverage gap of input-space designs persists (~1.3× discrepancy) even after enriching the input sample.</a:t>
            </a:r>
          </a:p>
          <a:p>
            <a:pPr>
              <a:lnSpc>
                <a:spcPct val="104000"/>
              </a:lnSpc>
              <a:spcAft>
                <a:spcPts val="200"/>
              </a:spcAft>
            </a:pP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800" i="1" b="0">
                <a:solidFill>
                  <a:srgbClr val="5F6B7A"/>
                </a:solidFill>
                <a:latin typeface="Calibri"/>
              </a:rPr>
              <a:t>Quinn et al. 2018; Bartholomew &amp; Kwakkel 2020; Guo et al. 2018; Quinn et al. 2020.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377440" y="6126480"/>
            <a:ext cx="2377440" cy="0"/>
          </a:xfrm>
          <a:prstGeom prst="line">
            <a:avLst/>
          </a:prstGeom>
          <a:ln w="15240">
            <a:solidFill>
              <a:srgbClr val="9AA4A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2377440" y="4709160"/>
            <a:ext cx="0" cy="1417320"/>
          </a:xfrm>
          <a:prstGeom prst="line">
            <a:avLst/>
          </a:prstGeom>
          <a:ln w="15240">
            <a:solidFill>
              <a:srgbClr val="9AA4A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377440" y="615391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0" b="0">
                <a:solidFill>
                  <a:srgbClr val="5F6B7A"/>
                </a:solidFill>
                <a:latin typeface="Calibri"/>
              </a:rPr>
              <a:t>generator parameter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26237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i="0" b="0">
                <a:solidFill>
                  <a:srgbClr val="5F6B7A"/>
                </a:solidFill>
                <a:latin typeface="Calibri"/>
              </a:rPr>
              <a:t>parameter 2</a:t>
            </a:r>
          </a:p>
        </p:txBody>
      </p:sp>
      <p:sp>
        <p:nvSpPr>
          <p:cNvPr id="9" name="Oval 8"/>
          <p:cNvSpPr/>
          <p:nvPr/>
        </p:nvSpPr>
        <p:spPr>
          <a:xfrm>
            <a:off x="2754630" y="5001768"/>
            <a:ext cx="100584" cy="100584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06724" y="5655564"/>
            <a:ext cx="100584" cy="100584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51376" y="5180076"/>
            <a:ext cx="100584" cy="100584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076956" y="5417820"/>
            <a:ext cx="100584" cy="100584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829050" y="4906670"/>
            <a:ext cx="100584" cy="100584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66259" y="5715000"/>
            <a:ext cx="100584" cy="100584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690164" y="5774436"/>
            <a:ext cx="100584" cy="100584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5257800" y="5417820"/>
            <a:ext cx="1097280" cy="0"/>
          </a:xfrm>
          <a:prstGeom prst="line">
            <a:avLst/>
          </a:prstGeom>
          <a:ln w="22860">
            <a:solidFill>
              <a:srgbClr val="5F6B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846320" y="4668012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0" b="0">
                <a:solidFill>
                  <a:srgbClr val="5F6B7A"/>
                </a:solidFill>
                <a:latin typeface="Calibri"/>
              </a:rPr>
              <a:t>generate
streamflow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138160" y="6126480"/>
            <a:ext cx="2377440" cy="0"/>
          </a:xfrm>
          <a:prstGeom prst="line">
            <a:avLst/>
          </a:prstGeom>
          <a:ln w="15240">
            <a:solidFill>
              <a:srgbClr val="9AA4A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138160" y="4709160"/>
            <a:ext cx="0" cy="1417320"/>
          </a:xfrm>
          <a:prstGeom prst="line">
            <a:avLst/>
          </a:prstGeom>
          <a:ln w="15240">
            <a:solidFill>
              <a:srgbClr val="9AA4A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138160" y="615391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0" b="0">
                <a:solidFill>
                  <a:srgbClr val="5F6B7A"/>
                </a:solidFill>
                <a:latin typeface="Calibri"/>
              </a:rPr>
              <a:t>hazard metric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526237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i="0" b="0">
                <a:solidFill>
                  <a:srgbClr val="5F6B7A"/>
                </a:solidFill>
                <a:latin typeface="Calibri"/>
              </a:rPr>
              <a:t>metric 2</a:t>
            </a:r>
          </a:p>
        </p:txBody>
      </p:sp>
      <p:sp>
        <p:nvSpPr>
          <p:cNvPr id="22" name="Oval 21"/>
          <p:cNvSpPr/>
          <p:nvPr/>
        </p:nvSpPr>
        <p:spPr>
          <a:xfrm>
            <a:off x="8641080" y="4983480"/>
            <a:ext cx="1188720" cy="658368"/>
          </a:xfrm>
          <a:prstGeom prst="ellipse">
            <a:avLst/>
          </a:prstGeom>
          <a:solidFill>
            <a:srgbClr val="E9EFF5"/>
          </a:solidFill>
          <a:ln w="12700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823960" y="4846320"/>
            <a:ext cx="1188720" cy="658368"/>
          </a:xfrm>
          <a:prstGeom prst="ellipse">
            <a:avLst/>
          </a:prstGeom>
          <a:solidFill>
            <a:srgbClr val="E9EFF5"/>
          </a:solidFill>
          <a:ln w="12700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49640" y="5138928"/>
            <a:ext cx="1188720" cy="658368"/>
          </a:xfrm>
          <a:prstGeom prst="ellipse">
            <a:avLst/>
          </a:prstGeom>
          <a:solidFill>
            <a:srgbClr val="E9EFF5"/>
          </a:solidFill>
          <a:ln w="12700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1000" y="4325112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0" b="0">
                <a:solidFill>
                  <a:srgbClr val="A45929"/>
                </a:solidFill>
                <a:latin typeface="Calibri"/>
              </a:rPr>
              <a:t>overlapping = redundant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i="0" b="0">
                <a:solidFill>
                  <a:srgbClr val="212529"/>
                </a:solidFill>
                <a:latin typeface="Cambria"/>
              </a:rPr>
              <a:t>Terminology — three spaces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78992"/>
            <a:ext cx="1737360" cy="33020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3200400" cy="914400"/>
          </a:xfrm>
          <a:prstGeom prst="rect">
            <a:avLst/>
          </a:prstGeom>
          <a:solidFill>
            <a:srgbClr val="E9EFF5"/>
          </a:solidFill>
          <a:ln w="12700">
            <a:solidFill>
              <a:srgbClr val="5F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800" i="0" b="1">
                <a:solidFill>
                  <a:srgbClr val="212529"/>
                </a:solidFill>
                <a:latin typeface="Calibri"/>
              </a:rPr>
              <a:t>Input space</a:t>
            </a:r>
            <a:r>
              <a:rPr sz="1800" i="0" b="0">
                <a:solidFill>
                  <a:srgbClr val="212529"/>
                </a:solidFill>
                <a:latin typeface="Calibri"/>
              </a:rPr>
              <a:t>
generator &amp; climate-forcing parameters 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40480" y="2057400"/>
            <a:ext cx="685800" cy="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364992" y="2560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0" b="0">
                <a:solidFill>
                  <a:srgbClr val="5F6B7A"/>
                </a:solidFill>
                <a:latin typeface="Calibri"/>
              </a:rPr>
              <a:t>generate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1600200"/>
            <a:ext cx="3200400" cy="914400"/>
          </a:xfrm>
          <a:prstGeom prst="rect">
            <a:avLst/>
          </a:prstGeom>
          <a:solidFill>
            <a:srgbClr val="E9EFF5"/>
          </a:solidFill>
          <a:ln w="22225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800" i="0" b="1">
                <a:solidFill>
                  <a:srgbClr val="212529"/>
                </a:solidFill>
                <a:latin typeface="Calibri"/>
              </a:rPr>
              <a:t>Hazard space</a:t>
            </a:r>
            <a:r>
              <a:rPr sz="1800" i="0" b="0">
                <a:solidFill>
                  <a:srgbClr val="212529"/>
                </a:solidFill>
                <a:latin typeface="Calibri"/>
              </a:rPr>
              <a:t>
hazard metrics measured on each realized sequence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26679" y="2057400"/>
            <a:ext cx="685801" cy="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251192" y="2560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0" b="0">
                <a:solidFill>
                  <a:srgbClr val="5F6B7A"/>
                </a:solidFill>
                <a:latin typeface="Calibri"/>
              </a:rPr>
              <a:t>simulate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1600200"/>
            <a:ext cx="3200400" cy="914400"/>
          </a:xfrm>
          <a:prstGeom prst="rect">
            <a:avLst/>
          </a:prstGeom>
          <a:solidFill>
            <a:srgbClr val="E9EFF5"/>
          </a:solidFill>
          <a:ln w="12700">
            <a:solidFill>
              <a:srgbClr val="5F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800" i="0" b="1">
                <a:solidFill>
                  <a:srgbClr val="212529"/>
                </a:solidFill>
                <a:latin typeface="Calibri"/>
              </a:rPr>
              <a:t>Outcome space</a:t>
            </a:r>
            <a:r>
              <a:rPr sz="1800" i="0" b="0">
                <a:solidFill>
                  <a:srgbClr val="212529"/>
                </a:solidFill>
                <a:latin typeface="Calibri"/>
              </a:rPr>
              <a:t>
objective values of a policy under a 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63240"/>
            <a:ext cx="1109167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</a:t>
            </a:r>
            <a:r>
              <a:rPr sz="2000" i="0" b="1">
                <a:solidFill>
                  <a:srgbClr val="212529"/>
                </a:solidFill>
                <a:latin typeface="Calibri"/>
              </a:rPr>
              <a:t>Input space</a:t>
            </a:r>
            <a:r>
              <a:rPr sz="2000" i="0" b="0">
                <a:solidFill>
                  <a:srgbClr val="212529"/>
                </a:solidFill>
                <a:latin typeface="Calibri"/>
              </a:rPr>
              <a:t> — factors that define scenario generation (generator parameters, monthly climate change factors). A sampled point is a 'state of the world' in the MORDM literature.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</a:t>
            </a:r>
            <a:r>
              <a:rPr sz="2000" i="0" b="1">
                <a:solidFill>
                  <a:srgbClr val="212529"/>
                </a:solidFill>
                <a:latin typeface="Calibri"/>
              </a:rPr>
              <a:t>Hazard space</a:t>
            </a:r>
            <a:r>
              <a:rPr sz="2000" i="0" b="0">
                <a:solidFill>
                  <a:srgbClr val="212529"/>
                </a:solidFill>
                <a:latin typeface="Calibri"/>
              </a:rPr>
              <a:t> — drought event metrics (SSI intensity / duration / severity), low-flow and high-flow indices, computed on each streamflow sequence </a:t>
            </a:r>
            <a:r>
              <a:rPr sz="2000" i="0" b="1">
                <a:solidFill>
                  <a:srgbClr val="212529"/>
                </a:solidFill>
                <a:latin typeface="Calibri"/>
              </a:rPr>
              <a:t>before any system simulation</a:t>
            </a:r>
            <a:r>
              <a:rPr sz="2000" i="0" b="0">
                <a:solidFill>
                  <a:srgbClr val="212529"/>
                </a:solidFill>
                <a:latin typeface="Calibri"/>
              </a:rPr>
              <a:t>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</a:t>
            </a:r>
            <a:r>
              <a:rPr sz="2000" i="0" b="1">
                <a:solidFill>
                  <a:srgbClr val="212529"/>
                </a:solidFill>
                <a:latin typeface="Calibri"/>
              </a:rPr>
              <a:t>Outcome space</a:t>
            </a:r>
            <a:r>
              <a:rPr sz="2000" i="0" b="0">
                <a:solidFill>
                  <a:srgbClr val="212529"/>
                </a:solidFill>
                <a:latin typeface="Calibri"/>
              </a:rPr>
              <a:t> — simulated performance; reserved strictly for objectives.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Hazard coordinates exist before any policy is evaluated → designing the ensemble in hazard space is a </a:t>
            </a:r>
            <a:r>
              <a:rPr sz="2000" i="0" b="1">
                <a:solidFill>
                  <a:srgbClr val="212529"/>
                </a:solidFill>
                <a:latin typeface="Calibri"/>
              </a:rPr>
              <a:t>simulation-free, pre-optimization step</a:t>
            </a:r>
            <a:r>
              <a:rPr sz="2000" i="0" b="0">
                <a:solidFill>
                  <a:srgbClr val="212529"/>
                </a:solidFill>
                <a:latin typeface="Calibri"/>
              </a:rPr>
              <a:t>.</a:t>
            </a:r>
          </a:p>
          <a:p>
            <a:pPr>
              <a:lnSpc>
                <a:spcPct val="104000"/>
              </a:lnSpc>
              <a:spcAft>
                <a:spcPts val="200"/>
              </a:spcAft>
            </a:pP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800" i="1" b="0">
                <a:solidFill>
                  <a:srgbClr val="5F6B7A"/>
                </a:solidFill>
                <a:latin typeface="Calibri"/>
              </a:rPr>
              <a:t>Yevjevich 1967; Vicente-Serrano et al. 2012; Richter et al. 1996; Kasprzyk et al. 2013.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i="0" b="0">
                <a:solidFill>
                  <a:srgbClr val="212529"/>
                </a:solidFill>
                <a:latin typeface="Cambria"/>
              </a:rPr>
              <a:t>The gap — adjacent literatures stop short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78992"/>
            <a:ext cx="1737360" cy="33020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1672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</a:t>
            </a:r>
            <a:r>
              <a:rPr sz="2000" i="0" b="1">
                <a:solidFill>
                  <a:srgbClr val="212529"/>
                </a:solidFill>
                <a:latin typeface="Calibri"/>
              </a:rPr>
              <a:t>Search-set composition matters</a:t>
            </a:r>
            <a:r>
              <a:rPr sz="2000" i="0" b="0">
                <a:solidFill>
                  <a:srgbClr val="212529"/>
                </a:solidFill>
                <a:latin typeface="Calibri"/>
              </a:rPr>
              <a:t> — training-scenario properties drive out-of-sample policy robustness (Cohen et al. 2021) — but their selection is problem-driven (a perfect-foresight optimization per scenario) over 97 GCM traces.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</a:t>
            </a:r>
            <a:r>
              <a:rPr sz="2000" i="0" b="1">
                <a:solidFill>
                  <a:srgbClr val="212529"/>
                </a:solidFill>
                <a:latin typeface="Calibri"/>
              </a:rPr>
              <a:t>Space-filling subset selection</a:t>
            </a:r>
            <a:r>
              <a:rPr sz="2000" i="0" b="0">
                <a:solidFill>
                  <a:srgbClr val="212529"/>
                </a:solidFill>
                <a:latin typeface="Calibri"/>
              </a:rPr>
              <a:t> entered water resources for </a:t>
            </a:r>
            <a:r>
              <a:rPr sz="2000" i="0" b="1">
                <a:solidFill>
                  <a:srgbClr val="212529"/>
                </a:solidFill>
                <a:latin typeface="Calibri"/>
              </a:rPr>
              <a:t>post-hoc robustness ranking</a:t>
            </a:r>
            <a:r>
              <a:rPr sz="2000" i="0" b="0">
                <a:solidFill>
                  <a:srgbClr val="212529"/>
                </a:solidFill>
                <a:latin typeface="Calibri"/>
              </a:rPr>
              <a:t>, not the search ensemble (Bonham et al. 2024).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</a:t>
            </a:r>
            <a:r>
              <a:rPr sz="2000" i="0" b="1">
                <a:solidFill>
                  <a:srgbClr val="212529"/>
                </a:solidFill>
                <a:latin typeface="Calibri"/>
              </a:rPr>
              <a:t>Hazard-targeted ensembles</a:t>
            </a:r>
            <a:r>
              <a:rPr sz="2000" i="0" b="0">
                <a:solidFill>
                  <a:srgbClr val="212529"/>
                </a:solidFill>
                <a:latin typeface="Calibri"/>
              </a:rPr>
              <a:t> are generated to a few discrete drought types — control at generation, not selection from realized sequences (Zaniolo et al. 2023; Borgomeo et al. 2015).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Nearest search-phase stratification is </a:t>
            </a:r>
            <a:r>
              <a:rPr sz="2000" i="0" b="1">
                <a:solidFill>
                  <a:srgbClr val="212529"/>
                </a:solidFill>
                <a:latin typeface="Calibri"/>
              </a:rPr>
              <a:t>one-dimensional</a:t>
            </a:r>
            <a:r>
              <a:rPr sz="2000" i="0" b="0">
                <a:solidFill>
                  <a:srgbClr val="212529"/>
                </a:solidFill>
                <a:latin typeface="Calibri"/>
              </a:rPr>
              <a:t> (flow magnitude; Zatarain Salazar et al. 2017).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1">
                <a:solidFill>
                  <a:srgbClr val="212529"/>
                </a:solidFill>
                <a:latin typeface="Calibri"/>
              </a:rPr>
              <a:t>No published study designs the MOEA evaluation ensemble as a space-filling sample of a multi-dimensional hazard space and tests it under a genuinely held-out, deeply uncertain re-evaluation.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i="0" b="0">
                <a:solidFill>
                  <a:srgbClr val="212529"/>
                </a:solidFill>
                <a:latin typeface="Cambria"/>
              </a:rPr>
              <a:t>Proposed design — hazard-filling evaluation ensembles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78992"/>
            <a:ext cx="1737360" cy="33020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1672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</a:t>
            </a:r>
            <a:r>
              <a:rPr sz="2000" i="0" b="1">
                <a:solidFill>
                  <a:srgbClr val="212529"/>
                </a:solidFill>
                <a:latin typeface="Calibri"/>
              </a:rPr>
              <a:t>θ is a knob on the generator; hazard is not</a:t>
            </a:r>
            <a:r>
              <a:rPr sz="2000" i="0" b="0">
                <a:solidFill>
                  <a:srgbClr val="212529"/>
                </a:solidFill>
                <a:latin typeface="Calibri"/>
              </a:rPr>
              <a:t> — it is emergent, measured on a realized sequence. So input-space designs </a:t>
            </a:r>
            <a:r>
              <a:rPr sz="2000" i="0" b="1">
                <a:solidFill>
                  <a:srgbClr val="212529"/>
                </a:solidFill>
                <a:latin typeface="Calibri"/>
              </a:rPr>
              <a:t>generate to</a:t>
            </a:r>
            <a:r>
              <a:rPr sz="2000" i="0" b="0">
                <a:solidFill>
                  <a:srgbClr val="212529"/>
                </a:solidFill>
                <a:latin typeface="Calibri"/>
              </a:rPr>
              <a:t> their design points, while hazard-space designs must </a:t>
            </a:r>
            <a:r>
              <a:rPr sz="2000" i="0" b="1">
                <a:solidFill>
                  <a:srgbClr val="212529"/>
                </a:solidFill>
                <a:latin typeface="Calibri"/>
              </a:rPr>
              <a:t>select from</a:t>
            </a:r>
            <a:r>
              <a:rPr sz="2000" i="0" b="0">
                <a:solidFill>
                  <a:srgbClr val="212529"/>
                </a:solidFill>
                <a:latin typeface="Calibri"/>
              </a:rPr>
              <a:t> a pool.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Each hazard-filling design generates and owns a </a:t>
            </a:r>
            <a:r>
              <a:rPr sz="2000" i="0" b="1">
                <a:solidFill>
                  <a:srgbClr val="212529"/>
                </a:solidFill>
                <a:latin typeface="Calibri"/>
              </a:rPr>
              <a:t>candidate pool</a:t>
            </a:r>
            <a:r>
              <a:rPr sz="2000" i="0" b="0">
                <a:solidFill>
                  <a:srgbClr val="212529"/>
                </a:solidFill>
                <a:latin typeface="Calibri"/>
              </a:rPr>
              <a:t> of ~10⁵–10⁶ short (10-yr) i.i.d. sequences, and computes each sequence's hazard coordinates.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</a:t>
            </a:r>
            <a:r>
              <a:rPr sz="2000" i="0" b="1">
                <a:solidFill>
                  <a:srgbClr val="212529"/>
                </a:solidFill>
                <a:latin typeface="Calibri"/>
              </a:rPr>
              <a:t>Select</a:t>
            </a:r>
            <a:r>
              <a:rPr sz="2000" i="0" b="0">
                <a:solidFill>
                  <a:srgbClr val="212529"/>
                </a:solidFill>
                <a:latin typeface="Calibri"/>
              </a:rPr>
              <a:t> the evaluation ensemble by </a:t>
            </a:r>
            <a:r>
              <a:rPr sz="2000" i="0" b="1">
                <a:solidFill>
                  <a:srgbClr val="212529"/>
                </a:solidFill>
                <a:latin typeface="Calibri"/>
              </a:rPr>
              <a:t>Latin-hypercube anchors in hazard space, snapped to the nearest unused pool member</a:t>
            </a:r>
            <a:r>
              <a:rPr sz="2000" i="0" b="0">
                <a:solidFill>
                  <a:srgbClr val="212529"/>
                </a:solidFill>
                <a:latin typeface="Calibri"/>
              </a:rPr>
              <a:t> — deterministic, no tuning. The snap is intrinsic, not an approximation of something better.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Simulation-free selection → scalable to the full pool, reusable across formulations.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Deliberately distorts scenario probabilities toward severe corners; the held-out re-evaluation is the probability-faithful corrective.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377440" y="6126480"/>
            <a:ext cx="2377440" cy="0"/>
          </a:xfrm>
          <a:prstGeom prst="line">
            <a:avLst/>
          </a:prstGeom>
          <a:ln w="15240">
            <a:solidFill>
              <a:srgbClr val="9AA4A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2377440" y="4572000"/>
            <a:ext cx="0" cy="1554480"/>
          </a:xfrm>
          <a:prstGeom prst="line">
            <a:avLst/>
          </a:prstGeom>
          <a:ln w="15240">
            <a:solidFill>
              <a:srgbClr val="9AA4A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377440" y="615391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0" b="0">
                <a:solidFill>
                  <a:srgbClr val="5F6B7A"/>
                </a:solidFill>
                <a:latin typeface="Calibri"/>
              </a:rPr>
              <a:t>hazard metric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19379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i="0" b="0">
                <a:solidFill>
                  <a:srgbClr val="5F6B7A"/>
                </a:solidFill>
                <a:latin typeface="Calibri"/>
              </a:rPr>
              <a:t>metric 2</a:t>
            </a:r>
          </a:p>
        </p:txBody>
      </p:sp>
      <p:sp>
        <p:nvSpPr>
          <p:cNvPr id="9" name="Oval 8"/>
          <p:cNvSpPr/>
          <p:nvPr/>
        </p:nvSpPr>
        <p:spPr>
          <a:xfrm>
            <a:off x="2808247" y="5496627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775328" y="5236572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913307" y="5623610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30959" y="5277748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08040" y="4936549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75423" y="5103186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73204" y="4730655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01943" y="4931854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47626" y="4697412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1262" y="5557017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69186" y="5405431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538975" y="5051195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492544" y="4788112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27450" y="5099977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87392" y="5654318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725802" y="5790643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401144" y="5326566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174406" y="5243489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853426" y="4690998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50353" y="4935080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074185" y="4902609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62025" y="5748699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021789" y="5586773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663747" y="5545993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720865" y="5233147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170387" y="4893372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368204" y="5740791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311594" y="5095994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397429" y="5121371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515669" y="5122378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524091" y="4760279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946283" y="5870732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489372" y="5251928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601336" y="5568730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25690" y="5396804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613796" y="5413742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840605" y="4855120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185281" y="5789568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182002" y="5382404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099707" y="4772636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603935" y="5649610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067518" y="5107913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874807" y="5479512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317860" y="5828091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306271" y="5866148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446925" y="5374112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285913" y="5251153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241557" y="4950315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271459" y="4845492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611530" y="5639224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061136" y="5241599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190921" y="4709557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999641" y="5002984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332064" y="4855784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611769" y="5062494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318781" y="5859158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003387" y="5236415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987786" y="5828828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550306" y="5544575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527103" y="4906966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193523" y="5626801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4282380" y="5387489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345502" y="5362533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216316" y="5025331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568220" y="4985834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049489" y="4657784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878813" y="5822776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2517230" y="5378022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793555" y="5696502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671101" y="4962645"/>
            <a:ext cx="50292" cy="5029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828800" y="41605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0" b="0">
                <a:solidFill>
                  <a:srgbClr val="5F6B7A"/>
                </a:solidFill>
                <a:latin typeface="Calibri"/>
              </a:rPr>
              <a:t>candidate pool (own, i.i.d., ~10⁶)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5303520" y="5349240"/>
            <a:ext cx="1097280" cy="0"/>
          </a:xfrm>
          <a:prstGeom prst="line">
            <a:avLst/>
          </a:prstGeom>
          <a:ln w="22860">
            <a:solidFill>
              <a:srgbClr val="5F6B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4709160" y="4526279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0" b="0">
                <a:solidFill>
                  <a:srgbClr val="5F6B7A"/>
                </a:solidFill>
                <a:latin typeface="Calibri"/>
              </a:rPr>
              <a:t>LHS anchors +
nearest-neighbour snap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8229600" y="6126480"/>
            <a:ext cx="2377440" cy="0"/>
          </a:xfrm>
          <a:prstGeom prst="line">
            <a:avLst/>
          </a:prstGeom>
          <a:ln w="15240">
            <a:solidFill>
              <a:srgbClr val="9AA4A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8229600" y="4572000"/>
            <a:ext cx="0" cy="1554480"/>
          </a:xfrm>
          <a:prstGeom prst="line">
            <a:avLst/>
          </a:prstGeom>
          <a:ln w="15240">
            <a:solidFill>
              <a:srgbClr val="9AA4A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8229600" y="615391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0" b="0">
                <a:solidFill>
                  <a:srgbClr val="5F6B7A"/>
                </a:solidFill>
                <a:latin typeface="Calibri"/>
              </a:rPr>
              <a:t>hazard metric 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55080" y="519379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i="0" b="0">
                <a:solidFill>
                  <a:srgbClr val="5F6B7A"/>
                </a:solidFill>
                <a:latin typeface="Calibri"/>
              </a:rPr>
              <a:t>metric 2</a:t>
            </a:r>
          </a:p>
        </p:txBody>
      </p:sp>
      <p:sp>
        <p:nvSpPr>
          <p:cNvPr id="86" name="Oval 85"/>
          <p:cNvSpPr/>
          <p:nvPr/>
        </p:nvSpPr>
        <p:spPr>
          <a:xfrm>
            <a:off x="8526780" y="4830318"/>
            <a:ext cx="91440" cy="91440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349740" y="4768596"/>
            <a:ext cx="91440" cy="91440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0172700" y="4830318"/>
            <a:ext cx="91440" cy="91440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8526780" y="5262372"/>
            <a:ext cx="91440" cy="91440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9349740" y="5262372"/>
            <a:ext cx="91440" cy="91440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0131552" y="5287060"/>
            <a:ext cx="91440" cy="91440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8567928" y="5694426"/>
            <a:ext cx="91440" cy="91440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349740" y="5731459"/>
            <a:ext cx="91440" cy="91440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172700" y="5694426"/>
            <a:ext cx="91440" cy="91440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8938260" y="5015484"/>
            <a:ext cx="91440" cy="91440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9761219" y="5040172"/>
            <a:ext cx="91440" cy="91440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8938260" y="5509260"/>
            <a:ext cx="91440" cy="91440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9761219" y="5509260"/>
            <a:ext cx="91440" cy="91440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863840" y="4160520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0" b="0">
                <a:solidFill>
                  <a:srgbClr val="5F6B7A"/>
                </a:solidFill>
                <a:latin typeface="Calibri"/>
              </a:rPr>
              <a:t>evaluation ensemble (N ≈ 10²)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E9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i="0" b="0">
                <a:solidFill>
                  <a:srgbClr val="212529"/>
                </a:solidFill>
                <a:latin typeface="Cambria"/>
              </a:rPr>
              <a:t>Proposal:</a:t>
            </a:r>
          </a:p>
          <a:p>
            <a:pPr algn="ctr"/>
            <a:r>
              <a:rPr sz="3200" i="0" b="1">
                <a:solidFill>
                  <a:srgbClr val="212529"/>
                </a:solidFill>
                <a:latin typeface="Cambria"/>
              </a:rPr>
              <a:t>Hypothesis, Research Questions &amp; Contributions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i="0" b="0">
                <a:solidFill>
                  <a:srgbClr val="212529"/>
                </a:solidFill>
                <a:latin typeface="Cambria"/>
              </a:rPr>
              <a:t>Hypothesis &amp; planned contributions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78992"/>
            <a:ext cx="1737360" cy="33020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109960" cy="1371600"/>
          </a:xfrm>
          <a:prstGeom prst="rect">
            <a:avLst/>
          </a:prstGeom>
          <a:solidFill>
            <a:srgbClr val="E9EFF5"/>
          </a:solidFill>
          <a:ln w="15875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000" i="0" b="1">
                <a:solidFill>
                  <a:srgbClr val="212529"/>
                </a:solidFill>
                <a:latin typeface="Calibri"/>
              </a:rPr>
              <a:t>Hypothesis.</a:t>
            </a:r>
            <a:r>
              <a:rPr sz="2000" i="0" b="0">
                <a:solidFill>
                  <a:srgbClr val="212529"/>
                </a:solidFill>
                <a:latin typeface="Calibri"/>
              </a:rPr>
              <a:t>  Evaluation ensembles that uniformly cover hazard space yield Pareto-approximate policies that are more robust under held-out re-evaluation than probabilistic or input-space designs, at equal simulation budget.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1109167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1">
                <a:solidFill>
                  <a:srgbClr val="212529"/>
                </a:solidFill>
                <a:latin typeface="Calibri"/>
              </a:rPr>
              <a:t>Planned contributions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</a:t>
            </a:r>
            <a:r>
              <a:rPr sz="2000" i="0" b="1">
                <a:solidFill>
                  <a:srgbClr val="212529"/>
                </a:solidFill>
                <a:latin typeface="Calibri"/>
              </a:rPr>
              <a:t>First controlled comparison of scenario designs</a:t>
            </a:r>
            <a:r>
              <a:rPr sz="2000" i="0" b="0">
                <a:solidFill>
                  <a:srgbClr val="212529"/>
                </a:solidFill>
                <a:latin typeface="Calibri"/>
              </a:rPr>
              <a:t> for MOEA evaluation ensembles: six designs spanning the literature's main families, at matched computational budget, judged on one common held-out test ensemble.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</a:t>
            </a:r>
            <a:r>
              <a:rPr sz="2000" i="0" b="1">
                <a:solidFill>
                  <a:srgbClr val="212529"/>
                </a:solidFill>
                <a:latin typeface="Calibri"/>
              </a:rPr>
              <a:t>A scalable, simulation-free, coverage-designed construction</a:t>
            </a:r>
            <a:r>
              <a:rPr sz="2000" i="0" b="0">
                <a:solidFill>
                  <a:srgbClr val="212529"/>
                </a:solidFill>
                <a:latin typeface="Calibri"/>
              </a:rPr>
              <a:t> of the search ensemble (hazard-filling), with its probability distortion made explicit and its effect measured.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Evidence on whether </a:t>
            </a:r>
            <a:r>
              <a:rPr sz="2000" i="0" b="1">
                <a:solidFill>
                  <a:srgbClr val="212529"/>
                </a:solidFill>
                <a:latin typeface="Calibri"/>
              </a:rPr>
              <a:t>re-optimizing the FFMP rule structure</a:t>
            </a:r>
            <a:r>
              <a:rPr sz="2000" i="0" b="0">
                <a:solidFill>
                  <a:srgbClr val="212529"/>
                </a:solidFill>
                <a:latin typeface="Calibri"/>
              </a:rPr>
              <a:t> can improve NYC and basin outcomes, including a variable-resolution variant with more storage zones.</a:t>
            </a:r>
          </a:p>
          <a:p>
            <a:pPr>
              <a:lnSpc>
                <a:spcPct val="104000"/>
              </a:lnSpc>
              <a:spcAft>
                <a:spcPts val="200"/>
              </a:spcAft>
            </a:pP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800" i="1" b="0">
                <a:solidFill>
                  <a:srgbClr val="5F6B7A"/>
                </a:solidFill>
                <a:latin typeface="Calibri"/>
              </a:rPr>
              <a:t>Positioning: Cohen et al. 2021 showed composition matters; the contribution here is the construction and its test.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i="0" b="0">
                <a:solidFill>
                  <a:srgbClr val="212529"/>
                </a:solidFill>
                <a:latin typeface="Cambria"/>
              </a:rPr>
              <a:t>Research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78992"/>
            <a:ext cx="1737360" cy="33020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1672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1">
                <a:solidFill>
                  <a:srgbClr val="212529"/>
                </a:solidFill>
                <a:latin typeface="Calibri"/>
              </a:rPr>
              <a:t>RQ1 (core).  Does the composition of the search-time scenario ensemble change the robustness of the resulting Pareto-approximate policies under held-out re-evaluation?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1">
                <a:solidFill>
                  <a:srgbClr val="212529"/>
                </a:solidFill>
                <a:latin typeface="Calibri"/>
              </a:rPr>
              <a:t>RQ2.  Can re-optimizing the FFMP parameters improve NYC and basin outcomes?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Supply reliability, Montague / Trenton Decree targets, downstream flooding, storage resilience.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1">
                <a:solidFill>
                  <a:srgbClr val="212529"/>
                </a:solidFill>
                <a:latin typeface="Calibri"/>
              </a:rPr>
              <a:t>RQ3.  Does a variable-resolution FFMP structure (more storage zones) improve performance or robustness?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FFMP with N ∈ {8, 10, 12} storage-zone layers vs the standard 24-variable structure.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E9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i="0" b="1">
                <a:solidFill>
                  <a:srgbClr val="212529"/>
                </a:solidFill>
                <a:latin typeface="Cambria"/>
              </a:rPr>
              <a:t>Planned Experiment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i="0" b="0">
                <a:solidFill>
                  <a:srgbClr val="212529"/>
                </a:solidFill>
                <a:latin typeface="Cambria"/>
              </a:rPr>
              <a:t>The experiment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78992"/>
            <a:ext cx="1737360" cy="33020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554480"/>
            <a:ext cx="3429000" cy="914400"/>
          </a:xfrm>
          <a:prstGeom prst="rect">
            <a:avLst/>
          </a:prstGeom>
          <a:solidFill>
            <a:srgbClr val="E9EFF5"/>
          </a:solidFill>
          <a:ln w="12700">
            <a:solidFill>
              <a:srgbClr val="5F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800" i="0" b="0">
                <a:solidFill>
                  <a:srgbClr val="212529"/>
                </a:solidFill>
                <a:latin typeface="Calibri"/>
              </a:rPr>
              <a:t>Stationary population
(Kirsch–Nowak at θ_hist)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023360" y="2011680"/>
            <a:ext cx="365760" cy="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389120" y="1554480"/>
            <a:ext cx="3429000" cy="914400"/>
          </a:xfrm>
          <a:prstGeom prst="rect">
            <a:avLst/>
          </a:prstGeom>
          <a:solidFill>
            <a:srgbClr val="E9EFF5"/>
          </a:solidFill>
          <a:ln w="12700">
            <a:solidFill>
              <a:srgbClr val="5F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800" i="0" b="0">
                <a:solidFill>
                  <a:srgbClr val="212529"/>
                </a:solidFill>
                <a:latin typeface="Calibri"/>
              </a:rPr>
              <a:t>DU-forced population
(θ ~ CMIP6 harmonic hypercube)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818120" y="2011680"/>
            <a:ext cx="365760" cy="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183880" y="1554480"/>
            <a:ext cx="3429000" cy="914400"/>
          </a:xfrm>
          <a:prstGeom prst="rect">
            <a:avLst/>
          </a:prstGeom>
          <a:solidFill>
            <a:srgbClr val="E9EFF5"/>
          </a:solidFill>
          <a:ln w="12700">
            <a:solidFill>
              <a:srgbClr val="5F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800" i="0" b="0">
                <a:solidFill>
                  <a:srgbClr val="212529"/>
                </a:solidFill>
                <a:latin typeface="Calibri"/>
              </a:rPr>
              <a:t>Hazard metrics + redundancy
screen → 3–4 hazard axes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3166110" y="2468880"/>
            <a:ext cx="2937510" cy="41148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94360" y="2880360"/>
            <a:ext cx="3429000" cy="914400"/>
          </a:xfrm>
          <a:prstGeom prst="rect">
            <a:avLst/>
          </a:prstGeom>
          <a:solidFill>
            <a:srgbClr val="E9EFF5"/>
          </a:solidFill>
          <a:ln w="22225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800" i="0" b="0">
                <a:solidFill>
                  <a:srgbClr val="212529"/>
                </a:solidFill>
                <a:latin typeface="Calibri"/>
              </a:rPr>
              <a:t>6 scenario designs, each
generating its OWN ensemble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23360" y="3337560"/>
            <a:ext cx="365760" cy="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389120" y="2880360"/>
            <a:ext cx="3429000" cy="914400"/>
          </a:xfrm>
          <a:prstGeom prst="rect">
            <a:avLst/>
          </a:prstGeom>
          <a:solidFill>
            <a:srgbClr val="E9EFF5"/>
          </a:solidFill>
          <a:ln w="12700">
            <a:solidFill>
              <a:srgbClr val="5F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800" i="0" b="0">
                <a:solidFill>
                  <a:srgbClr val="212529"/>
                </a:solidFill>
                <a:latin typeface="Calibri"/>
              </a:rPr>
              <a:t>Independent MM-Borg searches
N = 100 × L = 10 yr, equal NFE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18120" y="3337560"/>
            <a:ext cx="365760" cy="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183880" y="2880360"/>
            <a:ext cx="3429000" cy="914400"/>
          </a:xfrm>
          <a:prstGeom prst="rect">
            <a:avLst/>
          </a:prstGeom>
          <a:solidFill>
            <a:srgbClr val="E9EFF5"/>
          </a:solidFill>
          <a:ln w="12700">
            <a:solidFill>
              <a:srgbClr val="5F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800" i="0" b="0">
                <a:solidFill>
                  <a:srgbClr val="212529"/>
                </a:solidFill>
                <a:latin typeface="Calibri"/>
              </a:rPr>
              <a:t>Common held-out re-evaluation
→ multivariate satisficing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43400"/>
            <a:ext cx="1109167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900" i="0" b="0">
                <a:solidFill>
                  <a:srgbClr val="212529"/>
                </a:solidFill>
                <a:latin typeface="Calibri"/>
              </a:rPr>
              <a:t>•  </a:t>
            </a:r>
            <a:r>
              <a:rPr sz="1900" i="0" b="1">
                <a:solidFill>
                  <a:srgbClr val="212529"/>
                </a:solidFill>
                <a:latin typeface="Calibri"/>
              </a:rPr>
              <a:t>No design subsamples a shared pool</a:t>
            </a:r>
            <a:r>
              <a:rPr sz="1900" i="0" b="0">
                <a:solidFill>
                  <a:srgbClr val="212529"/>
                </a:solidFill>
                <a:latin typeface="Calibri"/>
              </a:rPr>
              <a:t> — each generates its own realizations from its own namespaced seed stream, so no two designs ever share a realization. Only the hazard-filling designs need a pool, and each owns its own.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900" i="0" b="0">
                <a:solidFill>
                  <a:srgbClr val="212529"/>
                </a:solidFill>
                <a:latin typeface="Calibri"/>
              </a:rPr>
              <a:t>•  Cross-design comparison happens </a:t>
            </a:r>
            <a:r>
              <a:rPr sz="1900" i="0" b="1">
                <a:solidFill>
                  <a:srgbClr val="212529"/>
                </a:solidFill>
                <a:latin typeface="Calibri"/>
              </a:rPr>
              <a:t>once</a:t>
            </a:r>
            <a:r>
              <a:rPr sz="1900" i="0" b="0">
                <a:solidFill>
                  <a:srgbClr val="212529"/>
                </a:solidFill>
                <a:latin typeface="Calibri"/>
              </a:rPr>
              <a:t>, on the held-out test ensemble — search-time objective values are never compared across designs.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900" i="0" b="0">
                <a:solidFill>
                  <a:srgbClr val="212529"/>
                </a:solidFill>
                <a:latin typeface="Calibri"/>
              </a:rPr>
              <a:t>•  Replication separates ensemble-draw variance from MOEA-seed variance; a draw re-rolls everything, including the pool.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i="0" b="0">
                <a:solidFill>
                  <a:srgbClr val="212529"/>
                </a:solidFill>
                <a:latin typeface="Cambria"/>
              </a:rPr>
              <a:t>Optimization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78992"/>
            <a:ext cx="1737360" cy="33020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9167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</a:t>
            </a:r>
            <a:r>
              <a:rPr sz="2000" i="0" b="1">
                <a:solidFill>
                  <a:srgbClr val="212529"/>
                </a:solidFill>
                <a:latin typeface="Calibri"/>
              </a:rPr>
              <a:t>Policy:</a:t>
            </a:r>
            <a:r>
              <a:rPr sz="2000" i="0" b="0">
                <a:solidFill>
                  <a:srgbClr val="212529"/>
                </a:solidFill>
                <a:latin typeface="Calibri"/>
              </a:rPr>
              <a:t> FFMP rule structure, 24 decision variables (zone-based release schedules + drought step-downs); variable-resolution variants ffmp_N add storage zones (RQ3).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</a:t>
            </a:r>
            <a:r>
              <a:rPr sz="2000" i="0" b="1">
                <a:solidFill>
                  <a:srgbClr val="212529"/>
                </a:solidFill>
                <a:latin typeface="Calibri"/>
              </a:rPr>
              <a:t>Simulation:</a:t>
            </a:r>
            <a:r>
              <a:rPr sz="2000" i="0" b="0">
                <a:solidFill>
                  <a:srgbClr val="212529"/>
                </a:solidFill>
                <a:latin typeface="Calibri"/>
              </a:rPr>
              <a:t> trimmed Pywr-DRB (non-NYC reservoir releases pre-simulated) during search; full model for baselines and re-evaluation.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</a:t>
            </a:r>
            <a:r>
              <a:rPr sz="2000" i="0" b="1">
                <a:solidFill>
                  <a:srgbClr val="212529"/>
                </a:solidFill>
                <a:latin typeface="Calibri"/>
              </a:rPr>
              <a:t>Optimizer:</a:t>
            </a:r>
            <a:r>
              <a:rPr sz="2000" i="0" b="0">
                <a:solidFill>
                  <a:srgbClr val="212529"/>
                </a:solidFill>
                <a:latin typeface="Calibri"/>
              </a:rPr>
              <a:t> multi-master Borg MOEA — auto-adaptive operators, ε-dominance archive; islands × workers via MPI on Purdue Anvil.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</a:t>
            </a:r>
            <a:r>
              <a:rPr sz="2000" i="0" b="1">
                <a:solidFill>
                  <a:srgbClr val="212529"/>
                </a:solidFill>
                <a:latin typeface="Calibri"/>
              </a:rPr>
              <a:t>7 objectives</a:t>
            </a:r>
            <a:r>
              <a:rPr sz="2000" i="0" b="0">
                <a:solidFill>
                  <a:srgbClr val="212529"/>
                </a:solidFill>
                <a:latin typeface="Calibri"/>
              </a:rPr>
              <a:t> spanning the basin's stakeholder axes (next slide); ε-dominance keeps 7-objective search tractable.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Scaling experiment (running) sets the campaign's parallel geometry and compute budget.</a:t>
            </a:r>
          </a:p>
          <a:p>
            <a:pPr>
              <a:lnSpc>
                <a:spcPct val="104000"/>
              </a:lnSpc>
              <a:spcAft>
                <a:spcPts val="200"/>
              </a:spcAft>
            </a:pP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800" i="1" b="0">
                <a:solidFill>
                  <a:srgbClr val="5F6B7A"/>
                </a:solidFill>
                <a:latin typeface="Calibri"/>
              </a:rPr>
              <a:t>Hadka &amp; Reed 2013, 2015; Reed et al. 2013; Hamilton et al. 2024.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i="0" b="0">
                <a:solidFill>
                  <a:srgbClr val="212529"/>
                </a:solidFill>
                <a:latin typeface="Cambria"/>
              </a:rPr>
              <a:t>Objectives — seven, spanning basin stakeholders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78992"/>
            <a:ext cx="1737360" cy="33020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3364992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457200"/>
                <a:gridCol w="3200400"/>
                <a:gridCol w="6537960"/>
                <a:gridCol w="868680"/>
              </a:tblGrid>
              <a:tr h="420624">
                <a:tc>
                  <a:txBody>
                    <a:bodyPr wrap="square"/>
                    <a:lstStyle/>
                    <a:p/>
                  </a:txBody>
                  <a:tcPr marL="73152" marR="73152" marT="27432" marB="27432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1">
                          <a:solidFill>
                            <a:srgbClr val="212529"/>
                          </a:solidFill>
                          <a:latin typeface="Calibri"/>
                        </a:rPr>
                        <a:t>Objective</a:t>
                      </a:r>
                    </a:p>
                  </a:txBody>
                  <a:tcPr marL="73152" marR="73152" marT="27432" marB="27432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1">
                          <a:solidFill>
                            <a:srgbClr val="212529"/>
                          </a:solidFill>
                          <a:latin typeface="Calibri"/>
                        </a:rPr>
                        <a:t>Temporal metric (single trace)</a:t>
                      </a:r>
                    </a:p>
                  </a:txBody>
                  <a:tcPr marL="73152" marR="73152" marT="27432" marB="27432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1">
                          <a:solidFill>
                            <a:srgbClr val="212529"/>
                          </a:solidFill>
                          <a:latin typeface="Calibri"/>
                        </a:rPr>
                        <a:t>Dir</a:t>
                      </a:r>
                    </a:p>
                  </a:txBody>
                  <a:tcPr marL="73152" marR="73152" marT="27432" marB="27432" anchor="ctr">
                    <a:solidFill>
                      <a:srgbClr val="E9EFF5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NYC delivery reliability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fraction of weeks delivery ≥ 99% of Decree-capped demand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max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NYC delivery deficit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CVaR₉₀ of weekly deficit (% of 800 MGD)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min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Montague flow reliability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fraction of weeks ≥ 1,750 cfs Decree target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max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Montague flow deficit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CVaR₉₀ of weekly deficit (% of target)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min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Trenton flow reliability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fraction of weeks ≥ Decree target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max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Downstream flood days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days any tail gauge ≥ NWS minor flood stage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min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NYC storage resilience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5th percentile of daily storage (% capacity)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max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892040"/>
            <a:ext cx="1109167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900" i="0" b="0">
                <a:solidFill>
                  <a:srgbClr val="212529"/>
                </a:solidFill>
                <a:latin typeface="Calibri"/>
              </a:rPr>
              <a:t>•  Goalposts are the </a:t>
            </a:r>
            <a:r>
              <a:rPr sz="1900" i="0" b="1">
                <a:solidFill>
                  <a:srgbClr val="212529"/>
                </a:solidFill>
                <a:latin typeface="Calibri"/>
              </a:rPr>
              <a:t>static 1954 Decree quantities</a:t>
            </a:r>
            <a:r>
              <a:rPr sz="1900" i="0" b="0">
                <a:solidFill>
                  <a:srgbClr val="212529"/>
                </a:solidFill>
                <a:latin typeface="Calibri"/>
              </a:rPr>
              <a:t> — never the live FFMP step-down targets, which a policy could lower for itself.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900" i="0" b="0">
                <a:solidFill>
                  <a:srgbClr val="212529"/>
                </a:solidFill>
                <a:latin typeface="Calibri"/>
              </a:rPr>
              <a:t>•  Stable tail / count forms replace noisy worst-case extremes; Trenton flow stands in for salt-front position (physically redundant, cleaner signal).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800" i="1" b="0">
                <a:solidFill>
                  <a:srgbClr val="5F6B7A"/>
                </a:solidFill>
                <a:latin typeface="Calibri"/>
              </a:rPr>
              <a:t>Hashimoto et al. 1982; Quinn et al. 2017; Rockafellar &amp; Uryasev 2000; full definitions in supplement.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i="0" b="0">
                <a:solidFill>
                  <a:srgbClr val="212529"/>
                </a:solidFill>
                <a:latin typeface="Cambria"/>
              </a:rPr>
              <a:t>Scoring a policy on an ensemble — two-layer aggregation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78992"/>
            <a:ext cx="1737360" cy="33020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463040"/>
            <a:ext cx="2834640" cy="868680"/>
          </a:xfrm>
          <a:prstGeom prst="rect">
            <a:avLst/>
          </a:prstGeom>
          <a:solidFill>
            <a:srgbClr val="E9EFF5"/>
          </a:solidFill>
          <a:ln w="12700">
            <a:solidFill>
              <a:srgbClr val="5F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800" i="0" b="0">
                <a:solidFill>
                  <a:srgbClr val="212529"/>
                </a:solidFill>
                <a:latin typeface="Calibri"/>
              </a:rPr>
              <a:t>simulate N realizations
× L water-years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29000" y="1897380"/>
            <a:ext cx="502920" cy="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931920" y="1463040"/>
            <a:ext cx="3063240" cy="868680"/>
          </a:xfrm>
          <a:prstGeom prst="rect">
            <a:avLst/>
          </a:prstGeom>
          <a:solidFill>
            <a:srgbClr val="E9EFF5"/>
          </a:solidFill>
          <a:ln w="12700">
            <a:solidFill>
              <a:srgbClr val="5F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800" i="0" b="0">
                <a:solidFill>
                  <a:srgbClr val="212529"/>
                </a:solidFill>
                <a:latin typeface="Calibri"/>
              </a:rPr>
              <a:t>stage 1: annual metric per
(realization × year) unit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995160" y="1897380"/>
            <a:ext cx="502919" cy="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7498079" y="1463040"/>
            <a:ext cx="3063240" cy="868680"/>
          </a:xfrm>
          <a:prstGeom prst="rect">
            <a:avLst/>
          </a:prstGeom>
          <a:solidFill>
            <a:srgbClr val="E9EFF5"/>
          </a:solidFill>
          <a:ln w="12700">
            <a:solidFill>
              <a:srgbClr val="5F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800" i="0" b="0">
                <a:solidFill>
                  <a:srgbClr val="212529"/>
                </a:solidFill>
                <a:latin typeface="Calibri"/>
              </a:rPr>
              <a:t>stage 2: unit operator over
pooled N·L unit-years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561320" y="1897380"/>
            <a:ext cx="411480" cy="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0972800" y="1463040"/>
            <a:ext cx="685800" cy="868680"/>
          </a:xfrm>
          <a:prstGeom prst="rect">
            <a:avLst/>
          </a:prstGeom>
          <a:solidFill>
            <a:srgbClr val="E9EFF5"/>
          </a:solidFill>
          <a:ln w="12700">
            <a:solidFill>
              <a:srgbClr val="5F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2000" i="0" b="0">
                <a:solidFill>
                  <a:srgbClr val="212529"/>
                </a:solidFill>
                <a:latin typeface="Cambria"/>
              </a:rPr>
              <a:t>fᵢ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11091672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</a:t>
            </a:r>
            <a:r>
              <a:rPr sz="2000" i="0" b="1">
                <a:solidFill>
                  <a:srgbClr val="212529"/>
                </a:solidFill>
                <a:latin typeface="Calibri"/>
              </a:rPr>
              <a:t>Reliability objectives</a:t>
            </a:r>
            <a:r>
              <a:rPr sz="2000" i="0" b="0">
                <a:solidFill>
                  <a:srgbClr val="212529"/>
                </a:solidFill>
                <a:latin typeface="Calibri"/>
              </a:rPr>
              <a:t> → frequency of non-failure years (a year fails if any week misses its Decree criterion) — the satisficing form used in search throughout the WaterPaths lineage.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</a:t>
            </a:r>
            <a:r>
              <a:rPr sz="2000" i="0" b="1">
                <a:solidFill>
                  <a:srgbClr val="212529"/>
                </a:solidFill>
                <a:latin typeface="Calibri"/>
              </a:rPr>
              <a:t>Deficit / storage objectives</a:t>
            </a:r>
            <a:r>
              <a:rPr sz="2000" i="0" b="0">
                <a:solidFill>
                  <a:srgbClr val="212529"/>
                </a:solidFill>
                <a:latin typeface="Calibri"/>
              </a:rPr>
              <a:t> → worst 1st-percentile unit-year — stable tail emphasis over ~10³ pooled units.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</a:t>
            </a:r>
            <a:r>
              <a:rPr sz="2000" i="0" b="1">
                <a:solidFill>
                  <a:srgbClr val="212529"/>
                </a:solidFill>
                <a:latin typeface="Calibri"/>
              </a:rPr>
              <a:t>Flood days</a:t>
            </a:r>
            <a:r>
              <a:rPr sz="2000" i="0" b="0">
                <a:solidFill>
                  <a:srgbClr val="212529"/>
                </a:solidFill>
                <a:latin typeface="Calibri"/>
              </a:rPr>
              <a:t> → mean annual count (P99 variant registered; expectation can mask floods).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One scheme for </a:t>
            </a:r>
            <a:r>
              <a:rPr sz="2000" i="0" b="1">
                <a:solidFill>
                  <a:srgbClr val="212529"/>
                </a:solidFill>
                <a:latin typeface="Calibri"/>
              </a:rPr>
              <a:t>every</a:t>
            </a:r>
            <a:r>
              <a:rPr sz="2000" i="0" b="0">
                <a:solidFill>
                  <a:srgbClr val="212529"/>
                </a:solidFill>
                <a:latin typeface="Calibri"/>
              </a:rPr>
              <a:t> ensemble design → identical unit denominator; the historic trace keeps its single-record metrics. Failure criteria &amp; ε values set by a sensitivity experiment (in progress).</a:t>
            </a:r>
          </a:p>
          <a:p>
            <a:pPr>
              <a:lnSpc>
                <a:spcPct val="104000"/>
              </a:lnSpc>
              <a:spcAft>
                <a:spcPts val="200"/>
              </a:spcAft>
            </a:pP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800" i="1" b="0">
                <a:solidFill>
                  <a:srgbClr val="5F6B7A"/>
                </a:solidFill>
                <a:latin typeface="Calibri"/>
              </a:rPr>
              <a:t>Zeff et al. 2014; Trindade et al. 2017; Quinn et al. 2017, 2018; Hamilton et al. 2022; Gold et al. 2023.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i="0" b="0">
                <a:solidFill>
                  <a:srgbClr val="212529"/>
                </a:solidFill>
                <a:latin typeface="Cambria"/>
              </a:rPr>
              <a:t>Scenario designs compared (RQ1)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78992"/>
            <a:ext cx="1737360" cy="33020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109960" cy="4224528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234440"/>
                <a:gridCol w="2606040"/>
                <a:gridCol w="4343400"/>
                <a:gridCol w="2926080"/>
              </a:tblGrid>
              <a:tr h="603504">
                <a:tc>
                  <a:txBody>
                    <a:bodyPr wrap="square"/>
                    <a:lstStyle/>
                    <a:p>
                      <a:r>
                        <a:rPr sz="1800" i="0" b="1">
                          <a:solidFill>
                            <a:srgbClr val="212529"/>
                          </a:solidFill>
                          <a:latin typeface="Calibri"/>
                        </a:rPr>
                        <a:t>Population</a:t>
                      </a:r>
                    </a:p>
                  </a:txBody>
                  <a:tcPr marL="73152" marR="73152" marT="27432" marB="27432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1">
                          <a:solidFill>
                            <a:srgbClr val="212529"/>
                          </a:solidFill>
                          <a:latin typeface="Calibri"/>
                        </a:rPr>
                        <a:t>Design</a:t>
                      </a:r>
                    </a:p>
                  </a:txBody>
                  <a:tcPr marL="73152" marR="73152" marT="27432" marB="27432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1">
                          <a:solidFill>
                            <a:srgbClr val="212529"/>
                          </a:solidFill>
                          <a:latin typeface="Calibri"/>
                        </a:rPr>
                        <a:t>Construction of the search ensemble</a:t>
                      </a:r>
                    </a:p>
                  </a:txBody>
                  <a:tcPr marL="73152" marR="73152" marT="27432" marB="27432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1">
                          <a:solidFill>
                            <a:srgbClr val="212529"/>
                          </a:solidFill>
                          <a:latin typeface="Calibri"/>
                        </a:rPr>
                        <a:t>Precedent</a:t>
                      </a:r>
                    </a:p>
                  </a:txBody>
                  <a:tcPr marL="73152" marR="73152" marT="27432" marB="27432" anchor="ctr">
                    <a:solidFill>
                      <a:srgbClr val="E9EFF5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stationary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historic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the observed record as one continuous trace (N = 1)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Giuliani et al. 2016; Herman et al. 2020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stationary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fixed_probabilistic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N × L realizations generated i.i.d.; frozen across the search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Quinn et al. 2017; Zatarain Salazar et al. 2017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stationary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resampled_probabilistic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its own pool; N redrawn at every function evaluation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Brodeur et al. 2020 (Trindade 2017 / Gold 2023: principle only)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stationary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1">
                          <a:solidFill>
                            <a:srgbClr val="212529"/>
                          </a:solidFill>
                          <a:latin typeface="Calibri"/>
                        </a:rPr>
                        <a:t>hazard_filling_stationary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LHS + nearest-neighbour snap in hazard space, over its own stationary pool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1">
                          <a:solidFill>
                            <a:srgbClr val="212529"/>
                          </a:solidFill>
                          <a:latin typeface="Calibri"/>
                        </a:rPr>
                        <a:t>proposed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DU-forced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input_stratified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LHS over the harmonic forcing parameters; R realizations generated per design point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Quinn et al. 2020; Bartholomew &amp; Kwakkel 2020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DU-forced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1">
                          <a:solidFill>
                            <a:srgbClr val="212529"/>
                          </a:solidFill>
                          <a:latin typeface="Calibri"/>
                        </a:rPr>
                        <a:t>hazard_filling_du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the same selector, over its own DU-forced pool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1">
                          <a:solidFill>
                            <a:srgbClr val="212529"/>
                          </a:solidFill>
                          <a:latin typeface="Calibri"/>
                        </a:rPr>
                        <a:t>proposed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53212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1800" i="0" b="0">
                <a:solidFill>
                  <a:srgbClr val="212529"/>
                </a:solidFill>
                <a:latin typeface="Calibri"/>
              </a:rPr>
              <a:t>•  Every design generates its own realizations from its own seed stream; </a:t>
            </a:r>
            <a:r>
              <a:rPr sz="1800" i="0" b="1">
                <a:solidFill>
                  <a:srgbClr val="212529"/>
                </a:solidFill>
                <a:latin typeface="Calibri"/>
              </a:rPr>
              <a:t>no design is subsampled from a shared pool</a:t>
            </a:r>
            <a:r>
              <a:rPr sz="1800" i="0" b="0">
                <a:solidFill>
                  <a:srgbClr val="212529"/>
                </a:solidFill>
                <a:latin typeface="Calibri"/>
              </a:rPr>
              <a:t>.</a:t>
            </a:r>
          </a:p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1800" i="0" b="0">
                <a:solidFill>
                  <a:srgbClr val="212529"/>
                </a:solidFill>
                <a:latin typeface="Calibri"/>
              </a:rPr>
              <a:t>•  Running hazard-filling in </a:t>
            </a:r>
            <a:r>
              <a:rPr sz="1800" i="0" b="1">
                <a:solidFill>
                  <a:srgbClr val="212529"/>
                </a:solidFill>
                <a:latin typeface="Calibri"/>
              </a:rPr>
              <a:t>both</a:t>
            </a:r>
            <a:r>
              <a:rPr sz="1800" i="0" b="0">
                <a:solidFill>
                  <a:srgbClr val="212529"/>
                </a:solidFill>
                <a:latin typeface="Calibri"/>
              </a:rPr>
              <a:t> populations gives every contrast an exact within-population control; all matched designs run at </a:t>
            </a:r>
            <a:r>
              <a:rPr sz="1800" i="0" b="1">
                <a:solidFill>
                  <a:srgbClr val="212529"/>
                </a:solidFill>
                <a:latin typeface="Calibri"/>
              </a:rPr>
              <a:t>N = 100, L = 10 yr</a:t>
            </a:r>
            <a:r>
              <a:rPr sz="1800" i="0" b="0">
                <a:solidFill>
                  <a:srgbClr val="212529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i="0" b="0">
                <a:solidFill>
                  <a:srgbClr val="212529"/>
                </a:solidFill>
                <a:latin typeface="Cambria"/>
              </a:rPr>
              <a:t>Candidate pools &amp; the deeply uncertain forcing space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78992"/>
            <a:ext cx="1737360" cy="33020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9167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900" i="0" b="0">
                <a:solidFill>
                  <a:srgbClr val="212529"/>
                </a:solidFill>
                <a:latin typeface="Calibri"/>
              </a:rPr>
              <a:t>•  </a:t>
            </a:r>
            <a:r>
              <a:rPr sz="1900" i="0" b="1">
                <a:solidFill>
                  <a:srgbClr val="212529"/>
                </a:solidFill>
                <a:latin typeface="Calibri"/>
              </a:rPr>
              <a:t>Forcing space:</a:t>
            </a:r>
            <a:r>
              <a:rPr sz="1900" i="0" b="0">
                <a:solidFill>
                  <a:srgbClr val="212529"/>
                </a:solidFill>
                <a:latin typeface="Calibri"/>
              </a:rPr>
              <a:t> CMIP6-anchored hypercube over harmonic amplitudes of monthly streamflow change factors — annual volume, seasonal amplitude, shoulder shape — bounded by the empirical 90% CMIP6 envelope (fixed seasonal phases).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900" i="0" b="0">
                <a:solidFill>
                  <a:srgbClr val="212529"/>
                </a:solidFill>
                <a:latin typeface="Calibri"/>
              </a:rPr>
              <a:t>•  </a:t>
            </a:r>
            <a:r>
              <a:rPr sz="1900" i="0" b="1">
                <a:solidFill>
                  <a:srgbClr val="212529"/>
                </a:solidFill>
                <a:latin typeface="Calibri"/>
              </a:rPr>
              <a:t>Two pools, one per hazard-filling design:</a:t>
            </a:r>
            <a:r>
              <a:rPr sz="1900" i="0" b="0">
                <a:solidFill>
                  <a:srgbClr val="212529"/>
                </a:solidFill>
                <a:latin typeface="Calibri"/>
              </a:rPr>
              <a:t> stationary (Kirsch–Nowak at the historic fit) and DU-forced (θ from the hypercube) → ~10⁵–10⁶ sequences each. Each design owns its pool; the pool is re-drawn on every ensemble draw.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900" i="0" b="0">
                <a:solidFill>
                  <a:srgbClr val="212529"/>
                </a:solidFill>
                <a:latin typeface="Calibri"/>
              </a:rPr>
              <a:t>•  </a:t>
            </a:r>
            <a:r>
              <a:rPr sz="1900" i="0" b="1">
                <a:solidFill>
                  <a:srgbClr val="212529"/>
                </a:solidFill>
                <a:latin typeface="Calibri"/>
              </a:rPr>
              <a:t>Pools are sampled i.i.d., never by LHS</a:t>
            </a:r>
            <a:r>
              <a:rPr sz="1900" i="0" b="0">
                <a:solidFill>
                  <a:srgbClr val="212529"/>
                </a:solidFill>
                <a:latin typeface="Calibri"/>
              </a:rPr>
              <a:t> — a random subset of an LHS design is not i.i.d., which would silently void the exact control. Only input_stratified uses LHS, and it uses it to *generate*, never to build a pool.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900" i="0" b="0">
                <a:solidFill>
                  <a:srgbClr val="212529"/>
                </a:solidFill>
                <a:latin typeface="Calibri"/>
              </a:rPr>
              <a:t>•  </a:t>
            </a:r>
            <a:r>
              <a:rPr sz="1900" i="0" b="1">
                <a:solidFill>
                  <a:srgbClr val="212529"/>
                </a:solidFill>
                <a:latin typeface="Calibri"/>
              </a:rPr>
              <a:t>Windows:</a:t>
            </a:r>
            <a:r>
              <a:rPr sz="1900" i="0" b="0">
                <a:solidFill>
                  <a:srgbClr val="212529"/>
                </a:solidFill>
                <a:latin typeface="Calibri"/>
              </a:rPr>
              <a:t> disjoint 10-yr scenarios — long enough to contain the 1960s drought of record plus onset and recovery; fixed initial storage with a 1-yr warm-up.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900" i="0" b="0">
                <a:solidFill>
                  <a:srgbClr val="212529"/>
                </a:solidFill>
                <a:latin typeface="Calibri"/>
              </a:rPr>
              <a:t>•  </a:t>
            </a:r>
            <a:r>
              <a:rPr sz="1900" i="0" b="1">
                <a:solidFill>
                  <a:srgbClr val="212529"/>
                </a:solidFill>
                <a:latin typeface="Calibri"/>
              </a:rPr>
              <a:t>Storage:</a:t>
            </a:r>
            <a:r>
              <a:rPr sz="1900" i="0" b="0">
                <a:solidFill>
                  <a:srgbClr val="212529"/>
                </a:solidFill>
                <a:latin typeface="Calibri"/>
              </a:rPr>
              <a:t> only hazard coordinates + seeds persist; any realization regenerates deterministically on demand (verified) — avoids ~440 GB of traces. Seed domains are disjoint across designs, draws, and the test ensemble.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900" i="0" b="0">
                <a:solidFill>
                  <a:srgbClr val="212529"/>
                </a:solidFill>
                <a:latin typeface="Calibri"/>
              </a:rPr>
              <a:t>•  </a:t>
            </a:r>
            <a:r>
              <a:rPr sz="1900" i="0" b="1">
                <a:solidFill>
                  <a:srgbClr val="212529"/>
                </a:solidFill>
                <a:latin typeface="Calibri"/>
              </a:rPr>
              <a:t>Scope:</a:t>
            </a:r>
            <a:r>
              <a:rPr sz="1900" i="0" b="0">
                <a:solidFill>
                  <a:srgbClr val="212529"/>
                </a:solidFill>
                <a:latin typeface="Calibri"/>
              </a:rPr>
              <a:t> historical interannual persistence retained; claims scoped accordingly.</a:t>
            </a:r>
          </a:p>
          <a:p>
            <a:pPr>
              <a:lnSpc>
                <a:spcPct val="104000"/>
              </a:lnSpc>
              <a:spcAft>
                <a:spcPts val="200"/>
              </a:spcAft>
            </a:pP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800" i="1" b="0">
                <a:solidFill>
                  <a:srgbClr val="5F6B7A"/>
                </a:solidFill>
                <a:latin typeface="Calibri"/>
              </a:rPr>
              <a:t>Kirsch et al. 2013; Nowak et al. 2010; Quinn et al. 2018.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i="0" b="0">
                <a:solidFill>
                  <a:srgbClr val="212529"/>
                </a:solidFill>
                <a:latin typeface="Cambria"/>
              </a:rPr>
              <a:t>Hazard axes &amp; the hazard-filling selector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78992"/>
            <a:ext cx="1737360" cy="33020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9167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900" i="0" b="0">
                <a:solidFill>
                  <a:srgbClr val="212529"/>
                </a:solidFill>
                <a:latin typeface="Calibri"/>
              </a:rPr>
              <a:t>•  </a:t>
            </a:r>
            <a:r>
              <a:rPr sz="1900" i="0" b="1">
                <a:solidFill>
                  <a:srgbClr val="212529"/>
                </a:solidFill>
                <a:latin typeface="Calibri"/>
              </a:rPr>
              <a:t>Candidate axes:</a:t>
            </a:r>
            <a:r>
              <a:rPr sz="1900" i="0" b="0">
                <a:solidFill>
                  <a:srgbClr val="212529"/>
                </a:solidFill>
                <a:latin typeface="Calibri"/>
              </a:rPr>
              <a:t> SSI-6 drought-event metrics (deficit volume, duration, peak depth, onset and recovery rate) and peaks-over-threshold flood metrics (peak magnitude, pulse duration, rise rate) — computed per sequence.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900" i="0" b="0">
                <a:solidFill>
                  <a:srgbClr val="212529"/>
                </a:solidFill>
                <a:latin typeface="Calibri"/>
              </a:rPr>
              <a:t>•  </a:t>
            </a:r>
            <a:r>
              <a:rPr sz="1900" i="0" b="1">
                <a:solidFill>
                  <a:srgbClr val="212529"/>
                </a:solidFill>
                <a:latin typeface="Calibri"/>
              </a:rPr>
              <a:t>Redundancy screen</a:t>
            </a:r>
            <a:r>
              <a:rPr sz="1900" i="0" b="0">
                <a:solidFill>
                  <a:srgbClr val="212529"/>
                </a:solidFill>
                <a:latin typeface="Calibri"/>
              </a:rPr>
              <a:t> on each pool's hazard image — Spearman clustering (|ρ| ≥ 0.7 = redundant), tail-balanced across the dry and wet concepts → </a:t>
            </a:r>
            <a:r>
              <a:rPr sz="1900" i="0" b="1">
                <a:solidFill>
                  <a:srgbClr val="212529"/>
                </a:solidFill>
                <a:latin typeface="Calibri"/>
              </a:rPr>
              <a:t>3–4</a:t>
            </a:r>
            <a:r>
              <a:rPr sz="1900" i="0" b="0">
                <a:solidFill>
                  <a:srgbClr val="212529"/>
                </a:solidFill>
                <a:latin typeface="Calibri"/>
              </a:rPr>
              <a:t> low-collinearity axes.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900" i="0" b="0">
                <a:solidFill>
                  <a:srgbClr val="212529"/>
                </a:solidFill>
                <a:latin typeface="Calibri"/>
              </a:rPr>
              <a:t>•  </a:t>
            </a:r>
            <a:r>
              <a:rPr sz="1900" i="0" b="1">
                <a:solidFill>
                  <a:srgbClr val="212529"/>
                </a:solidFill>
                <a:latin typeface="Calibri"/>
              </a:rPr>
              <a:t>Selector:</a:t>
            </a:r>
            <a:r>
              <a:rPr sz="1900" i="0" b="0">
                <a:solidFill>
                  <a:srgbClr val="212529"/>
                </a:solidFill>
                <a:latin typeface="Calibri"/>
              </a:rPr>
              <a:t> normalize each axis by its empirical CDF, draw </a:t>
            </a:r>
            <a:r>
              <a:rPr sz="1900" i="0" b="1">
                <a:solidFill>
                  <a:srgbClr val="212529"/>
                </a:solidFill>
                <a:latin typeface="Calibri"/>
              </a:rPr>
              <a:t>N Latin-hypercube anchors</a:t>
            </a:r>
            <a:r>
              <a:rPr sz="1900" i="0" b="0">
                <a:solidFill>
                  <a:srgbClr val="212529"/>
                </a:solidFill>
                <a:latin typeface="Calibri"/>
              </a:rPr>
              <a:t>, snap each to the </a:t>
            </a:r>
            <a:r>
              <a:rPr sz="1900" i="0" b="1">
                <a:solidFill>
                  <a:srgbClr val="212529"/>
                </a:solidFill>
                <a:latin typeface="Calibri"/>
              </a:rPr>
              <a:t>nearest unused pool member</a:t>
            </a:r>
            <a:r>
              <a:rPr sz="1900" i="0" b="0">
                <a:solidFill>
                  <a:srgbClr val="212529"/>
                </a:solidFill>
                <a:latin typeface="Calibri"/>
              </a:rPr>
              <a:t>. Deterministic given the anchor seed; </a:t>
            </a:r>
            <a:r>
              <a:rPr sz="1900" i="0" b="1">
                <a:solidFill>
                  <a:srgbClr val="212529"/>
                </a:solidFill>
                <a:latin typeface="Calibri"/>
              </a:rPr>
              <a:t>no annealing, no tuning</a:t>
            </a:r>
            <a:r>
              <a:rPr sz="1900" i="0" b="0">
                <a:solidFill>
                  <a:srgbClr val="212529"/>
                </a:solidFill>
                <a:latin typeface="Calibri"/>
              </a:rPr>
              <a:t>. The snap is intrinsic — hazard coordinates cannot be prescribed at generation.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900" i="0" b="0">
                <a:solidFill>
                  <a:srgbClr val="212529"/>
                </a:solidFill>
                <a:latin typeface="Calibri"/>
              </a:rPr>
              <a:t>•  Because the selector does </a:t>
            </a:r>
            <a:r>
              <a:rPr sz="1900" i="0" b="1">
                <a:solidFill>
                  <a:srgbClr val="212529"/>
                </a:solidFill>
                <a:latin typeface="Calibri"/>
              </a:rPr>
              <a:t>not</a:t>
            </a:r>
            <a:r>
              <a:rPr sz="1900" i="0" b="0">
                <a:solidFill>
                  <a:srgbClr val="212529"/>
                </a:solidFill>
                <a:latin typeface="Calibri"/>
              </a:rPr>
              <a:t> optimize a discrepancy objective, </a:t>
            </a:r>
            <a:r>
              <a:rPr sz="1900" i="0" b="1">
                <a:solidFill>
                  <a:srgbClr val="212529"/>
                </a:solidFill>
                <a:latin typeface="Calibri"/>
              </a:rPr>
              <a:t>L2-star discrepancy stays an independent diagnostic</a:t>
            </a:r>
            <a:r>
              <a:rPr sz="1900" i="0" b="0">
                <a:solidFill>
                  <a:srgbClr val="212529"/>
                </a:solidFill>
                <a:latin typeface="Calibri"/>
              </a:rPr>
              <a:t> of the achieved design — coverage is a </a:t>
            </a:r>
            <a:r>
              <a:rPr sz="1900" i="0" b="1">
                <a:solidFill>
                  <a:srgbClr val="212529"/>
                </a:solidFill>
                <a:latin typeface="Calibri"/>
              </a:rPr>
              <a:t>result</a:t>
            </a:r>
            <a:r>
              <a:rPr sz="1900" i="0" b="0">
                <a:solidFill>
                  <a:srgbClr val="212529"/>
                </a:solidFill>
                <a:latin typeface="Calibri"/>
              </a:rPr>
              <a:t>, reported against a random design at the same (N, m), not a build-verification gate.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900" i="0" b="0">
                <a:solidFill>
                  <a:srgbClr val="212529"/>
                </a:solidFill>
                <a:latin typeface="Calibri"/>
              </a:rPr>
              <a:t>•  </a:t>
            </a:r>
            <a:r>
              <a:rPr sz="1900" i="0" b="1">
                <a:solidFill>
                  <a:srgbClr val="212529"/>
                </a:solidFill>
                <a:latin typeface="Calibri"/>
              </a:rPr>
              <a:t>Deliberate probability distortion:</a:t>
            </a:r>
            <a:r>
              <a:rPr sz="1900" i="0" b="0">
                <a:solidFill>
                  <a:srgbClr val="212529"/>
                </a:solidFill>
                <a:latin typeface="Calibri"/>
              </a:rPr>
              <a:t> severe corners are over-represented relative to their frequency — this is the design choice under study; the held-out re-evaluation is the probability-faithful corrective.</a:t>
            </a:r>
          </a:p>
          <a:p>
            <a:pPr>
              <a:lnSpc>
                <a:spcPct val="104000"/>
              </a:lnSpc>
              <a:spcAft>
                <a:spcPts val="200"/>
              </a:spcAft>
            </a:pP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800" i="1" b="0">
                <a:solidFill>
                  <a:srgbClr val="5F6B7A"/>
                </a:solidFill>
                <a:latin typeface="Calibri"/>
              </a:rPr>
              <a:t>Yevjevich 1967; Vicente-Serrano et al. 2012; Richter et al. 1996; Olden &amp; Poff 2003; Fang et al. 2000; Bonham et al. 2024.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i="0" b="0">
                <a:solidFill>
                  <a:srgbClr val="212529"/>
                </a:solidFill>
                <a:latin typeface="Cambria"/>
              </a:rPr>
              <a:t>Controls for a fair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78992"/>
            <a:ext cx="1737360" cy="33020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9167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800" i="0" b="0">
                <a:solidFill>
                  <a:srgbClr val="212529"/>
                </a:solidFill>
                <a:latin typeface="Calibri"/>
              </a:rPr>
              <a:t>•  </a:t>
            </a:r>
            <a:r>
              <a:rPr sz="1800" i="0" b="1">
                <a:solidFill>
                  <a:srgbClr val="212529"/>
                </a:solidFill>
                <a:latin typeface="Calibri"/>
              </a:rPr>
              <a:t>Budget:</a:t>
            </a:r>
            <a:r>
              <a:rPr sz="1800" i="0" b="0">
                <a:solidFill>
                  <a:srgbClr val="212529"/>
                </a:solidFill>
                <a:latin typeface="Calibri"/>
              </a:rPr>
              <a:t> every matched design runs at </a:t>
            </a:r>
            <a:r>
              <a:rPr sz="1800" i="0" b="1">
                <a:solidFill>
                  <a:srgbClr val="212529"/>
                </a:solidFill>
                <a:latin typeface="Calibri"/>
              </a:rPr>
              <a:t>N = 100, L = 10 yr</a:t>
            </a:r>
            <a:r>
              <a:rPr sz="1800" i="0" b="0">
                <a:solidFill>
                  <a:srgbClr val="212529"/>
                </a:solidFill>
                <a:latin typeface="Calibri"/>
              </a:rPr>
              <a:t> → 1,000 scenario-years per evaluation, at </a:t>
            </a:r>
            <a:r>
              <a:rPr sz="1800" i="0" b="1">
                <a:solidFill>
                  <a:srgbClr val="212529"/>
                </a:solidFill>
                <a:latin typeface="Calibri"/>
              </a:rPr>
              <a:t>equal NFE</a:t>
            </a:r>
            <a:r>
              <a:rPr sz="1800" i="0" b="0">
                <a:solidFill>
                  <a:srgbClr val="212529"/>
                </a:solidFill>
                <a:latin typeface="Calibri"/>
              </a:rPr>
              <a:t>. Because N and L are common, per-evaluation cost, warm-up, scenario-years and wall-clock are *identical* — equal-NFE and equal-scenario-years </a:t>
            </a:r>
            <a:r>
              <a:rPr sz="1800" i="0" b="1">
                <a:solidFill>
                  <a:srgbClr val="212529"/>
                </a:solidFill>
                <a:latin typeface="Calibri"/>
              </a:rPr>
              <a:t>coincide</a:t>
            </a:r>
            <a:r>
              <a:rPr sz="1800" i="0" b="0">
                <a:solidFill>
                  <a:srgbClr val="212529"/>
                </a:solidFill>
                <a:latin typeface="Calibri"/>
              </a:rPr>
              <a:t>. One budget condition, no arms, no confound between composition and search effort.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800" i="0" b="0">
                <a:solidFill>
                  <a:srgbClr val="212529"/>
                </a:solidFill>
                <a:latin typeface="Calibri"/>
              </a:rPr>
              <a:t>•  The common (N, L) is </a:t>
            </a:r>
            <a:r>
              <a:rPr sz="1800" i="0" b="1">
                <a:solidFill>
                  <a:srgbClr val="212529"/>
                </a:solidFill>
                <a:latin typeface="Calibri"/>
              </a:rPr>
              <a:t>required, not convenient</a:t>
            </a:r>
            <a:r>
              <a:rPr sz="1800" i="0" b="0">
                <a:solidFill>
                  <a:srgbClr val="212529"/>
                </a:solidFill>
                <a:latin typeface="Calibri"/>
              </a:rPr>
              <a:t>: if L differed across designs, the selection rule would be confounded with record length. N is bounded below by the fill requirement (~3.2 points per dimension at m = 4).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800" i="0" b="0">
                <a:solidFill>
                  <a:srgbClr val="212529"/>
                </a:solidFill>
                <a:latin typeface="Calibri"/>
              </a:rPr>
              <a:t>•  </a:t>
            </a:r>
            <a:r>
              <a:rPr sz="1800" i="0" b="1">
                <a:solidFill>
                  <a:srgbClr val="212529"/>
                </a:solidFill>
                <a:latin typeface="Calibri"/>
              </a:rPr>
              <a:t>Replication:</a:t>
            </a:r>
            <a:r>
              <a:rPr sz="1800" i="0" b="0">
                <a:solidFill>
                  <a:srgbClr val="212529"/>
                </a:solidFill>
                <a:latin typeface="Calibri"/>
              </a:rPr>
              <a:t> K ≈ 10 independent ensemble draws × S = 2–3 MOEA seeds per design; a </a:t>
            </a:r>
            <a:r>
              <a:rPr sz="1800" i="0" b="1">
                <a:solidFill>
                  <a:srgbClr val="212529"/>
                </a:solidFill>
                <a:latin typeface="Calibri"/>
              </a:rPr>
              <a:t>draw</a:t>
            </a:r>
            <a:r>
              <a:rPr sz="1800" i="0" b="0">
                <a:solidFill>
                  <a:srgbClr val="212529"/>
                </a:solidFill>
                <a:latin typeface="Calibri"/>
              </a:rPr>
              <a:t> is the design's construction re-run from scratch with a fresh seed, </a:t>
            </a:r>
            <a:r>
              <a:rPr sz="1800" i="0" b="1">
                <a:solidFill>
                  <a:srgbClr val="212529"/>
                </a:solidFill>
                <a:latin typeface="Calibri"/>
              </a:rPr>
              <a:t>including its pool</a:t>
            </a:r>
            <a:r>
              <a:rPr sz="1800" i="0" b="0">
                <a:solidFill>
                  <a:srgbClr val="212529"/>
                </a:solidFill>
                <a:latin typeface="Calibri"/>
              </a:rPr>
              <a:t>. The draw is the </a:t>
            </a:r>
            <a:r>
              <a:rPr sz="1800" i="0" b="1">
                <a:solidFill>
                  <a:srgbClr val="212529"/>
                </a:solidFill>
                <a:latin typeface="Calibri"/>
              </a:rPr>
              <a:t>unit of analysis</a:t>
            </a:r>
            <a:r>
              <a:rPr sz="1800" i="0" b="0">
                <a:solidFill>
                  <a:srgbClr val="212529"/>
                </a:solidFill>
                <a:latin typeface="Calibri"/>
              </a:rPr>
              <a:t> (effective n ≈ K, not K·S).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800" i="0" b="0">
                <a:solidFill>
                  <a:srgbClr val="212529"/>
                </a:solidFill>
                <a:latin typeface="Calibri"/>
              </a:rPr>
              <a:t>•  </a:t>
            </a:r>
            <a:r>
              <a:rPr sz="1800" i="0" b="1">
                <a:solidFill>
                  <a:srgbClr val="212529"/>
                </a:solidFill>
                <a:latin typeface="Calibri"/>
              </a:rPr>
              <a:t>Seed-stream disjointness:</a:t>
            </a:r>
            <a:r>
              <a:rPr sz="1800" i="0" b="0">
                <a:solidFill>
                  <a:srgbClr val="212529"/>
                </a:solidFill>
                <a:latin typeface="Calibri"/>
              </a:rPr>
              <a:t> every design, every draw, and the test ensemble generate from a namespaced seed domain, so no two ever share a realization.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800" i="0" b="0">
                <a:solidFill>
                  <a:srgbClr val="212529"/>
                </a:solidFill>
                <a:latin typeface="Calibri"/>
              </a:rPr>
              <a:t>•  Search-time objective values are </a:t>
            </a:r>
            <a:r>
              <a:rPr sz="1800" i="0" b="1">
                <a:solidFill>
                  <a:srgbClr val="212529"/>
                </a:solidFill>
                <a:latin typeface="Calibri"/>
              </a:rPr>
              <a:t>never compared across designs</a:t>
            </a:r>
            <a:r>
              <a:rPr sz="1800" i="0" b="0">
                <a:solidFill>
                  <a:srgbClr val="212529"/>
                </a:solidFill>
                <a:latin typeface="Calibri"/>
              </a:rPr>
              <a:t> — they are computed on different ensembles; convergence diagnostics are reported per design only.</a:t>
            </a:r>
          </a:p>
          <a:p>
            <a:pPr>
              <a:lnSpc>
                <a:spcPct val="104000"/>
              </a:lnSpc>
              <a:spcAft>
                <a:spcPts val="200"/>
              </a:spcAft>
            </a:pP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800" i="1" b="0">
                <a:solidFill>
                  <a:srgbClr val="5F6B7A"/>
                </a:solidFill>
                <a:latin typeface="Calibri"/>
              </a:rPr>
              <a:t>Zatarain Salazar et al. 2017 (size–fidelity–cost); Kaut &amp; Wallace 2007 (stability criteria).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i="0" b="0">
                <a:solidFill>
                  <a:srgbClr val="212529"/>
                </a:solidFill>
                <a:latin typeface="Cambria"/>
              </a:rPr>
              <a:t>Evaluation — one common held-out test ensemble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78992"/>
            <a:ext cx="1737360" cy="33020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9167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800" i="0" b="0">
                <a:solidFill>
                  <a:srgbClr val="212529"/>
                </a:solidFill>
                <a:latin typeface="Calibri"/>
              </a:rPr>
              <a:t>•  </a:t>
            </a:r>
            <a:r>
              <a:rPr sz="1800" i="0" b="1">
                <a:solidFill>
                  <a:srgbClr val="212529"/>
                </a:solidFill>
                <a:latin typeface="Calibri"/>
              </a:rPr>
              <a:t>Test ensemble:</a:t>
            </a:r>
            <a:r>
              <a:rPr sz="1800" i="0" b="0">
                <a:solidFill>
                  <a:srgbClr val="212529"/>
                </a:solidFill>
                <a:latin typeface="Calibri"/>
              </a:rPr>
              <a:t> ≥1,000 long (≥30-yr) realizations spanning the full forcing space; never used during any search and </a:t>
            </a:r>
            <a:r>
              <a:rPr sz="1800" i="0" b="1">
                <a:solidFill>
                  <a:srgbClr val="212529"/>
                </a:solidFill>
                <a:latin typeface="Calibri"/>
              </a:rPr>
              <a:t>never the source of any search ensemble</a:t>
            </a:r>
            <a:r>
              <a:rPr sz="1800" i="0" b="0">
                <a:solidFill>
                  <a:srgbClr val="212529"/>
                </a:solidFill>
                <a:latin typeface="Calibri"/>
              </a:rPr>
              <a:t>; ≥2 constructions (one from a structurally different generator) bound how rankings depend on its design.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800" i="0" b="0">
                <a:solidFill>
                  <a:srgbClr val="212529"/>
                </a:solidFill>
                <a:latin typeface="Calibri"/>
              </a:rPr>
              <a:t>•  Every design's final Pareto-approximate set is re-simulated on this ensemble; nondominated sets are recomputed from re-evaluated values for all designs alike.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800" i="0" b="0">
                <a:solidFill>
                  <a:srgbClr val="212529"/>
                </a:solidFill>
                <a:latin typeface="Calibri"/>
              </a:rPr>
              <a:t>•  </a:t>
            </a:r>
            <a:r>
              <a:rPr sz="1800" i="0" b="1">
                <a:solidFill>
                  <a:srgbClr val="212529"/>
                </a:solidFill>
                <a:latin typeface="Calibri"/>
              </a:rPr>
              <a:t>Primary metric: multivariate satisficing</a:t>
            </a:r>
            <a:r>
              <a:rPr sz="1800" i="0" b="0">
                <a:solidFill>
                  <a:srgbClr val="212529"/>
                </a:solidFill>
                <a:latin typeface="Calibri"/>
              </a:rPr>
              <a:t> (Starr 1962 domain criterion) — the fraction of test realizations meeting </a:t>
            </a:r>
            <a:r>
              <a:rPr sz="1800" i="0" b="1">
                <a:solidFill>
                  <a:srgbClr val="212529"/>
                </a:solidFill>
                <a:latin typeface="Calibri"/>
              </a:rPr>
              <a:t>all</a:t>
            </a:r>
            <a:r>
              <a:rPr sz="1800" i="0" b="0">
                <a:solidFill>
                  <a:srgbClr val="212529"/>
                </a:solidFill>
                <a:latin typeface="Calibri"/>
              </a:rPr>
              <a:t> criteria jointly; the realization is the unit.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800" i="0" b="0">
                <a:solidFill>
                  <a:srgbClr val="212529"/>
                </a:solidFill>
                <a:latin typeface="Calibri"/>
              </a:rPr>
              <a:t>•  </a:t>
            </a:r>
            <a:r>
              <a:rPr sz="1800" i="0" b="1">
                <a:solidFill>
                  <a:srgbClr val="212529"/>
                </a:solidFill>
                <a:latin typeface="Calibri"/>
              </a:rPr>
              <a:t>Secondary, all free from the same cube:</a:t>
            </a:r>
            <a:r>
              <a:rPr sz="1800" i="0" b="0">
                <a:solidFill>
                  <a:srgbClr val="212529"/>
                </a:solidFill>
                <a:latin typeface="Calibri"/>
              </a:rPr>
              <a:t> univariate satisficing; Laplace/mean and maximin (risk-neutral and risk-averse anchors); improvement over the status quo (vs the current FFMP policy — a fixed external reference, no optimization); an attainability screen for realizations no policy can win.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800" i="0" b="0">
                <a:solidFill>
                  <a:srgbClr val="212529"/>
                </a:solidFill>
                <a:latin typeface="Calibri"/>
              </a:rPr>
              <a:t>•  </a:t>
            </a:r>
            <a:r>
              <a:rPr sz="1800" i="0" b="1">
                <a:solidFill>
                  <a:srgbClr val="212529"/>
                </a:solidFill>
                <a:latin typeface="Calibri"/>
              </a:rPr>
              <a:t>Not used: regret, and no perfect-foresight optimization anywhere</a:t>
            </a:r>
            <a:r>
              <a:rPr sz="1800" i="0" b="0">
                <a:solidFill>
                  <a:srgbClr val="212529"/>
                </a:solidFill>
                <a:latin typeface="Calibri"/>
              </a:rPr>
              <a:t> — regret-from-best is set-relative and design-coupled, and does not converge on a tail objective. </a:t>
            </a:r>
            <a:r>
              <a:rPr sz="1800" i="0" b="1">
                <a:solidFill>
                  <a:srgbClr val="212529"/>
                </a:solidFill>
                <a:latin typeface="Calibri"/>
              </a:rPr>
              <a:t>Not used: pooled-reference-set hypervolume</a:t>
            </a:r>
            <a:r>
              <a:rPr sz="1800" i="0" b="0">
                <a:solidFill>
                  <a:srgbClr val="212529"/>
                </a:solidFill>
                <a:latin typeface="Calibri"/>
              </a:rPr>
              <a:t> as a cross-design measure.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800" i="0" b="0">
                <a:solidFill>
                  <a:srgbClr val="212529"/>
                </a:solidFill>
                <a:latin typeface="Calibri"/>
              </a:rPr>
              <a:t>•  Ranking agreement via Kendall's τ_b </a:t>
            </a:r>
            <a:r>
              <a:rPr sz="1800" i="0" b="1">
                <a:solidFill>
                  <a:srgbClr val="212529"/>
                </a:solidFill>
                <a:latin typeface="Calibri"/>
              </a:rPr>
              <a:t>across the design rankings</a:t>
            </a:r>
            <a:r>
              <a:rPr sz="1800" i="0" b="0">
                <a:solidFill>
                  <a:srgbClr val="212529"/>
                </a:solidFill>
                <a:latin typeface="Calibri"/>
              </a:rPr>
              <a:t>; raw performance distributions co-reported with every robustness number (the degeneracy check).</a:t>
            </a:r>
          </a:p>
          <a:p>
            <a:pPr>
              <a:lnSpc>
                <a:spcPct val="104000"/>
              </a:lnSpc>
              <a:spcAft>
                <a:spcPts val="200"/>
              </a:spcAft>
            </a:pP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800" i="1" b="0">
                <a:solidFill>
                  <a:srgbClr val="5F6B7A"/>
                </a:solidFill>
                <a:latin typeface="Calibri"/>
              </a:rPr>
              <a:t>Starr 1962; Herman et al. 2015; McPhail et al. 2018, 2020; Kasprzyk et al. 2013; Shavazipour et al. 2021; Bonham et al. 2024; Zatarain Salazar et al. 2017.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i="0" b="0">
                <a:solidFill>
                  <a:srgbClr val="212529"/>
                </a:solidFill>
                <a:latin typeface="Cambria"/>
              </a:rPr>
              <a:t>Status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78992"/>
            <a:ext cx="1737360" cy="33020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9167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1">
                <a:solidFill>
                  <a:srgbClr val="212529"/>
                </a:solidFill>
                <a:latin typeface="Calibri"/>
              </a:rPr>
              <a:t>Built and verified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End-to-end pipeline (generation → staging → MM-Borg search → re-evaluation) runs at test scale; historic-design production runs launchable on Anvil.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Per-design generation with disjoint seed domains; deterministic candidate pools with on-demand single-realization regeneration; hazard-filling selector (LHS + nearest-neighbour) wired; Anvil scaling experiment currently running.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1">
                <a:solidFill>
                  <a:srgbClr val="212529"/>
                </a:solidFill>
                <a:latin typeface="Calibri"/>
              </a:rPr>
              <a:t>Next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Generate the production candidate pools (stationary and DU-forced); run the hazard-axis redundancy screen.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Objective-sensitivity experiments → finalize failure criteria, flood operator, ε values.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Stage the held-out test ensemble; run the HPC campaign (designs × draws × seeds); re-evaluate and analyze.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i="0" b="0">
                <a:solidFill>
                  <a:srgbClr val="212529"/>
                </a:solidFill>
                <a:latin typeface="Cambria"/>
              </a:rPr>
              <a:t>Open decisions — committee input requested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78992"/>
            <a:ext cx="1737360" cy="33020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1672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</a:t>
            </a:r>
            <a:r>
              <a:rPr sz="2000" i="0" b="1">
                <a:solidFill>
                  <a:srgbClr val="212529"/>
                </a:solidFill>
                <a:latin typeface="Calibri"/>
              </a:rPr>
              <a:t>Campaign scope vs compute budget</a:t>
            </a:r>
            <a:r>
              <a:rPr sz="2000" i="0" b="0">
                <a:solidFill>
                  <a:srgbClr val="212529"/>
                </a:solidFill>
                <a:latin typeface="Calibri"/>
              </a:rPr>
              <a:t> — how many designs × draws × seeds to run (SU costs pending the Anvil scaling results).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</a:t>
            </a:r>
            <a:r>
              <a:rPr sz="2000" i="0" b="1">
                <a:solidFill>
                  <a:srgbClr val="212529"/>
                </a:solidFill>
                <a:latin typeface="Calibri"/>
              </a:rPr>
              <a:t>Test-ensemble design</a:t>
            </a:r>
            <a:r>
              <a:rPr sz="2000" i="0" b="0">
                <a:solidFill>
                  <a:srgbClr val="212529"/>
                </a:solidFill>
                <a:latin typeface="Calibri"/>
              </a:rPr>
              <a:t> — breadth of the deeply uncertain envelope; which structurally different streamflow generator for the second construction?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</a:t>
            </a:r>
            <a:r>
              <a:rPr sz="2000" i="0" b="1">
                <a:solidFill>
                  <a:srgbClr val="212529"/>
                </a:solidFill>
                <a:latin typeface="Calibri"/>
              </a:rPr>
              <a:t>Hazard-axis set</a:t>
            </a:r>
            <a:r>
              <a:rPr sz="2000" i="0" b="0">
                <a:solidFill>
                  <a:srgbClr val="212529"/>
                </a:solidFill>
                <a:latin typeface="Calibri"/>
              </a:rPr>
              <a:t> — which 3–4 axes after the redundancy screen on the production candidate pools; the N_θ / R split for input_stratified.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</a:t>
            </a:r>
            <a:r>
              <a:rPr sz="2000" i="0" b="1">
                <a:solidFill>
                  <a:srgbClr val="212529"/>
                </a:solidFill>
                <a:latin typeface="Calibri"/>
              </a:rPr>
              <a:t>Objective details</a:t>
            </a:r>
            <a:r>
              <a:rPr sz="2000" i="0" b="0">
                <a:solidFill>
                  <a:srgbClr val="212529"/>
                </a:solidFill>
                <a:latin typeface="Calibri"/>
              </a:rPr>
              <a:t> — flood unit operator (mean vs P99) and annual failure criteria, from the objective-sensitivity experiment.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</a:t>
            </a:r>
            <a:r>
              <a:rPr sz="2000" i="0" b="1">
                <a:solidFill>
                  <a:srgbClr val="212529"/>
                </a:solidFill>
                <a:latin typeface="Calibri"/>
              </a:rPr>
              <a:t>The satisficing-threshold grid</a:t>
            </a:r>
            <a:r>
              <a:rPr sz="2000" i="0" b="0">
                <a:solidFill>
                  <a:srgbClr val="212529"/>
                </a:solidFill>
                <a:latin typeface="Calibri"/>
              </a:rPr>
              <a:t> — its centre and span, fixed before any cross-design comparison.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Thank you — discussion welcome.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E9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i="0" b="1">
                <a:solidFill>
                  <a:srgbClr val="212529"/>
                </a:solidFill>
                <a:latin typeface="Cambria"/>
              </a:rPr>
              <a:t>Supplemental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i="0" b="0">
                <a:solidFill>
                  <a:srgbClr val="212529"/>
                </a:solidFill>
                <a:latin typeface="Cambria"/>
              </a:rPr>
              <a:t>Notation — plain-language building blocks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78992"/>
            <a:ext cx="1737360" cy="33020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1672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2000" i="0" b="0">
                <a:solidFill>
                  <a:srgbClr val="212529"/>
                </a:solidFill>
                <a:latin typeface="Cambria"/>
              </a:rPr>
              <a:t>shortfall:  (gap)₊ = max(gap, 0) — the part of a miss below the goal; never negative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2000" i="0" b="0">
                <a:solidFill>
                  <a:srgbClr val="212529"/>
                </a:solidFill>
                <a:latin typeface="Cambria"/>
              </a:rPr>
              <a:t>weekly value = the average (or total) of that week's daily values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2000" i="0" b="0">
                <a:solidFill>
                  <a:srgbClr val="212529"/>
                </a:solidFill>
                <a:latin typeface="Cambria"/>
              </a:rPr>
              <a:t>reliability = (weeks that meet the goal) ÷ (total weeks)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2000" i="0" b="0">
                <a:solidFill>
                  <a:srgbClr val="212529"/>
                </a:solidFill>
                <a:latin typeface="Cambria"/>
              </a:rPr>
              <a:t>CVaR₉₀(series) = the average of the worst 10% of the weekly values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2000" i="0" b="0">
                <a:solidFill>
                  <a:srgbClr val="212529"/>
                </a:solidFill>
                <a:latin typeface="Cambria"/>
              </a:rPr>
              <a:t>P₅(series) = the 5th-percentile value (only 5% of days fall below it)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77639"/>
            <a:ext cx="1109167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900" i="0" b="0">
                <a:solidFill>
                  <a:srgbClr val="212529"/>
                </a:solidFill>
                <a:latin typeface="Calibri"/>
              </a:rPr>
              <a:t>•  Flows and demands in MGD (million gallons per day); storage in MG.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900" i="0" b="0">
                <a:solidFill>
                  <a:srgbClr val="212529"/>
                </a:solidFill>
                <a:latin typeface="Calibri"/>
              </a:rPr>
              <a:t>•  Decree goalposts (fixed): NYC diversion cap 800 MGD; Montague 1,131.05 MGD (= 1,750 cfs); Trenton 1,938.95 MGD. NYC system capacity = 270,837 MG (Cannonsville + Pepacton + Neversink).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900" i="0" b="0">
                <a:solidFill>
                  <a:srgbClr val="212529"/>
                </a:solidFill>
                <a:latin typeface="Calibri"/>
              </a:rPr>
              <a:t>•  Objectives are computed on the daily series after dropping the first 365 days (model warm-up).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i="0" b="0">
                <a:solidFill>
                  <a:srgbClr val="212529"/>
                </a:solidFill>
                <a:latin typeface="Cambria"/>
              </a:rPr>
              <a:t>Objective 1 — NYC delivery reliability  (higher is better)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78992"/>
            <a:ext cx="1737360" cy="33020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1672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2000" i="0" b="0">
                <a:solidFill>
                  <a:srgbClr val="212529"/>
                </a:solidFill>
                <a:latin typeface="Cambria"/>
              </a:rPr>
              <a:t>demand = min(NYC demand, 800 MGD)      [capped at the Decree right]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2000" i="0" b="0">
                <a:solidFill>
                  <a:srgbClr val="212529"/>
                </a:solidFill>
                <a:latin typeface="Cambria"/>
              </a:rPr>
              <a:t>f₁ = (weeks with delivery ≥ 99% of demand) ÷ (total weeks)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14600"/>
            <a:ext cx="1109167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900" i="0" b="0">
                <a:solidFill>
                  <a:srgbClr val="212529"/>
                </a:solidFill>
                <a:latin typeface="Calibri"/>
              </a:rPr>
              <a:t>•  How often NYC receives essentially all the water it is entitled to draw — a weekly success rate comparing weekly totals of delivery and demand.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900" i="0" b="0">
                <a:solidFill>
                  <a:srgbClr val="212529"/>
                </a:solidFill>
                <a:latin typeface="Calibri"/>
              </a:rPr>
              <a:t>•  Demand is capped at the 800 MGD Decree right so voluntary winter low-takes are not counted as shortfalls; only forced failures count against the policy.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900" i="0" b="0">
                <a:solidFill>
                  <a:srgbClr val="212529"/>
                </a:solidFill>
                <a:latin typeface="Calibri"/>
              </a:rPr>
              <a:t>•  A success rate is a stable, fast-converging signal for the optimizer, unlike noisier magnitude statistics.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900" i="0" b="0">
                <a:solidFill>
                  <a:srgbClr val="212529"/>
                </a:solidFill>
                <a:latin typeface="Calibri"/>
              </a:rPr>
              <a:t>•  Ensemble search form: frequency of non-failure years (a year fails if any week misses the criterion).</a:t>
            </a:r>
          </a:p>
          <a:p>
            <a:pPr>
              <a:lnSpc>
                <a:spcPct val="104000"/>
              </a:lnSpc>
              <a:spcAft>
                <a:spcPts val="200"/>
              </a:spcAft>
            </a:pP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800" i="1" b="0">
                <a:solidFill>
                  <a:srgbClr val="5F6B7A"/>
                </a:solidFill>
                <a:latin typeface="Calibri"/>
              </a:rPr>
              <a:t>Hashimoto et al. 1982; Herman et al. 2015; Zeff et al. 2014; Bonham et al. 2024.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i="0" b="0">
                <a:solidFill>
                  <a:srgbClr val="212529"/>
                </a:solidFill>
                <a:latin typeface="Cambria"/>
              </a:rPr>
              <a:t>Objective 2 — NYC delivery deficit  (lower is better)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78992"/>
            <a:ext cx="1737360" cy="33020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1672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2000" i="0" b="0">
                <a:solidFill>
                  <a:srgbClr val="212529"/>
                </a:solidFill>
                <a:latin typeface="Cambria"/>
              </a:rPr>
              <a:t>weekly deficit = max(demand − delivery, 0) ÷ 800 MGD × 100%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2000" i="0" b="0">
                <a:solidFill>
                  <a:srgbClr val="212529"/>
                </a:solidFill>
                <a:latin typeface="Cambria"/>
              </a:rPr>
              <a:t>f₂ = average of the worst 10% of weekly deficits      (CVaR₉₀)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14600"/>
            <a:ext cx="1109167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900" i="0" b="0">
                <a:solidFill>
                  <a:srgbClr val="212529"/>
                </a:solidFill>
                <a:latin typeface="Calibri"/>
              </a:rPr>
              <a:t>•  How bad shortfalls get, not just how often: the average size of the worst 10% of weekly supply gaps, as a percent of the 800 MGD cap.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900" i="0" b="0">
                <a:solidFill>
                  <a:srgbClr val="212529"/>
                </a:solidFill>
                <a:latin typeface="Calibri"/>
              </a:rPr>
              <a:t>•  Scaling to the fixed cap makes a 50 MGD shortfall read the same in any season.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900" i="0" b="0">
                <a:solidFill>
                  <a:srgbClr val="212529"/>
                </a:solidFill>
                <a:latin typeface="Calibri"/>
              </a:rPr>
              <a:t>•  Worst-10% average instead of the single worst week: one extreme week is noisy and irreproducible; averaging the tail keeps the focus on bad outcomes while staying stable.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900" i="0" b="0">
                <a:solidFill>
                  <a:srgbClr val="212529"/>
                </a:solidFill>
                <a:latin typeface="Calibri"/>
              </a:rPr>
              <a:t>•  Ensemble search form: worst 1st-percentile unit-year of the within-year CVaR₉₀.</a:t>
            </a:r>
          </a:p>
          <a:p>
            <a:pPr>
              <a:lnSpc>
                <a:spcPct val="104000"/>
              </a:lnSpc>
              <a:spcAft>
                <a:spcPts val="200"/>
              </a:spcAft>
            </a:pP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800" i="1" b="0">
                <a:solidFill>
                  <a:srgbClr val="5F6B7A"/>
                </a:solidFill>
                <a:latin typeface="Calibri"/>
              </a:rPr>
              <a:t>Rockafellar &amp; Uryasev 2000; Quinn et al. 2017; Fairbrother et al. 2022.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i="0" b="0">
                <a:solidFill>
                  <a:srgbClr val="212529"/>
                </a:solidFill>
                <a:latin typeface="Cambria"/>
              </a:rPr>
              <a:t>Objective 3 — Montague flow reliability  (higher is better)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78992"/>
            <a:ext cx="1737360" cy="33020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1672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2000" i="0" b="0">
                <a:solidFill>
                  <a:srgbClr val="212529"/>
                </a:solidFill>
                <a:latin typeface="Cambria"/>
              </a:rPr>
              <a:t>f₃ = (weeks with Montague flow ≥ 1,131.05 MGD) ÷ (total weeks)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2000" i="0" b="0">
                <a:solidFill>
                  <a:srgbClr val="212529"/>
                </a:solidFill>
                <a:latin typeface="Cambria"/>
              </a:rPr>
              <a:t>1,131.05 MGD = 1,750 cfs      (1954 Decree target)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14600"/>
            <a:ext cx="1109167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900" i="0" b="0">
                <a:solidFill>
                  <a:srgbClr val="212529"/>
                </a:solidFill>
                <a:latin typeface="Calibri"/>
              </a:rPr>
              <a:t>•  How often flow at Montague meets NYC's downstream obligation — a weekly success rate on weekly-average flow.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900" i="0" b="0">
                <a:solidFill>
                  <a:srgbClr val="212529"/>
                </a:solidFill>
                <a:latin typeface="Calibri"/>
              </a:rPr>
              <a:t>•  Will not reach 100%: FFMP drought rules deliberately cut releases below target in drought, so the achievable ceiling depends on the policy — the signal stays continuous.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900" i="0" b="0">
                <a:solidFill>
                  <a:srgbClr val="212529"/>
                </a:solidFill>
                <a:latin typeface="Calibri"/>
              </a:rPr>
              <a:t>•  Scored against the fixed Decree target, never the live FFMP target, to avoid rewarding self-lowering drought step-downs.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900" i="0" b="0">
                <a:solidFill>
                  <a:srgbClr val="212529"/>
                </a:solidFill>
                <a:latin typeface="Calibri"/>
              </a:rPr>
              <a:t>•  Ensemble search form: frequency of non-failure years.</a:t>
            </a:r>
          </a:p>
          <a:p>
            <a:pPr>
              <a:lnSpc>
                <a:spcPct val="104000"/>
              </a:lnSpc>
              <a:spcAft>
                <a:spcPts val="200"/>
              </a:spcAft>
            </a:pP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800" i="1" b="0">
                <a:solidFill>
                  <a:srgbClr val="5F6B7A"/>
                </a:solidFill>
                <a:latin typeface="Calibri"/>
              </a:rPr>
              <a:t>Hashimoto et al. 1982; Herman et al. 2015; Zeff et al. 2014.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i="0" b="0">
                <a:solidFill>
                  <a:srgbClr val="212529"/>
                </a:solidFill>
                <a:latin typeface="Cambria"/>
              </a:rPr>
              <a:t>Objective 4 — Montague flow deficit  (lower is better)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78992"/>
            <a:ext cx="1737360" cy="33020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1672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2000" i="0" b="0">
                <a:solidFill>
                  <a:srgbClr val="212529"/>
                </a:solidFill>
                <a:latin typeface="Cambria"/>
              </a:rPr>
              <a:t>weekly deficit = max(1,131.05 − flow, 0) ÷ 1,131.05 × 100%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2000" i="0" b="0">
                <a:solidFill>
                  <a:srgbClr val="212529"/>
                </a:solidFill>
                <a:latin typeface="Cambria"/>
              </a:rPr>
              <a:t>f₄ = average of the worst 10% of weekly deficits      (CVaR₉₀)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14600"/>
            <a:ext cx="1109167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900" i="0" b="0">
                <a:solidFill>
                  <a:srgbClr val="212529"/>
                </a:solidFill>
                <a:latin typeface="Calibri"/>
              </a:rPr>
              <a:t>•  How far Montague flow falls below target in the bad weeks, as a percent of the target.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900" i="0" b="0">
                <a:solidFill>
                  <a:srgbClr val="212529"/>
                </a:solidFill>
                <a:latin typeface="Calibri"/>
              </a:rPr>
              <a:t>•  Montague flow is storm-dominated, so its single worst week is mostly exogenous noise — the tail average matters most here.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900" i="0" b="0">
                <a:solidFill>
                  <a:srgbClr val="212529"/>
                </a:solidFill>
                <a:latin typeface="Calibri"/>
              </a:rPr>
              <a:t>•  Ensemble search form: worst 1st-percentile unit-year of the within-year CVaR₉₀.</a:t>
            </a:r>
          </a:p>
          <a:p>
            <a:pPr>
              <a:lnSpc>
                <a:spcPct val="104000"/>
              </a:lnSpc>
              <a:spcAft>
                <a:spcPts val="200"/>
              </a:spcAft>
            </a:pP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800" i="1" b="0">
                <a:solidFill>
                  <a:srgbClr val="5F6B7A"/>
                </a:solidFill>
                <a:latin typeface="Calibri"/>
              </a:rPr>
              <a:t>Rockafellar &amp; Uryasev 2000; Quinn et al. 2017.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i="0" b="0">
                <a:solidFill>
                  <a:srgbClr val="212529"/>
                </a:solidFill>
                <a:latin typeface="Cambria"/>
              </a:rPr>
              <a:t>Objective 5 — Trenton flow reliability  (higher is better)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78992"/>
            <a:ext cx="1737360" cy="33020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1672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2000" i="0" b="0">
                <a:solidFill>
                  <a:srgbClr val="212529"/>
                </a:solidFill>
                <a:latin typeface="Cambria"/>
              </a:rPr>
              <a:t>f₅ = (weeks with Trenton flow ≥ 1,938.95 MGD) ÷ (total weeks)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109167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900" i="0" b="0">
                <a:solidFill>
                  <a:srgbClr val="212529"/>
                </a:solidFill>
                <a:latin typeface="Calibri"/>
              </a:rPr>
              <a:t>•  How often flow at Trenton meets the lower-basin / New Jersey obligation — a weekly success rate against the fixed target.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900" i="0" b="0">
                <a:solidFill>
                  <a:srgbClr val="212529"/>
                </a:solidFill>
                <a:latin typeface="Calibri"/>
              </a:rPr>
              <a:t>•  Replaces an explicit salt-front objective: the Trenton target exists largely to repel salt intrusion (physically redundant), and Trenton flow is a clean signal where the salt-front model is unreliable in extreme drought.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900" i="0" b="0">
                <a:solidFill>
                  <a:srgbClr val="212529"/>
                </a:solidFill>
                <a:latin typeface="Calibri"/>
              </a:rPr>
              <a:t>•  Gives New Jersey, a co-equal Decree party, direct representation so the search can discover NYC ↔ NJ conflicts.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900" i="0" b="0">
                <a:solidFill>
                  <a:srgbClr val="212529"/>
                </a:solidFill>
                <a:latin typeface="Calibri"/>
              </a:rPr>
              <a:t>•  Ensemble search form: frequency of non-failure years.</a:t>
            </a:r>
          </a:p>
          <a:p>
            <a:pPr>
              <a:lnSpc>
                <a:spcPct val="104000"/>
              </a:lnSpc>
              <a:spcAft>
                <a:spcPts val="200"/>
              </a:spcAft>
            </a:pP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800" i="1" b="0">
                <a:solidFill>
                  <a:srgbClr val="5F6B7A"/>
                </a:solidFill>
                <a:latin typeface="Calibri"/>
              </a:rPr>
              <a:t>Hashimoto et al. 1982; Herman et al. 2015; Trindade et al. 2017; Hadjimichael et al. 2020.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i="0" b="0">
                <a:solidFill>
                  <a:srgbClr val="212529"/>
                </a:solidFill>
                <a:latin typeface="Cambria"/>
              </a:rPr>
              <a:t>Objective 6 — Downstream flood days  (lower is better)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78992"/>
            <a:ext cx="1737360" cy="33020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1672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2000" i="0" b="0">
                <a:solidFill>
                  <a:srgbClr val="212529"/>
                </a:solidFill>
                <a:latin typeface="Cambria"/>
              </a:rPr>
              <a:t>f₆ = days on which any tail gauge reaches its NWS minor flood stage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2000" i="0" b="0">
                <a:solidFill>
                  <a:srgbClr val="212529"/>
                </a:solidFill>
                <a:latin typeface="Cambria"/>
              </a:rPr>
              <a:t>tail gauges:  Hale Eddy, Fishs Eddy, Bridgeville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14600"/>
            <a:ext cx="1109167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900" i="0" b="0">
                <a:solidFill>
                  <a:srgbClr val="212529"/>
                </a:solidFill>
                <a:latin typeface="Calibri"/>
              </a:rPr>
              <a:t>•  A simple count of flood-onset days just below the reservoirs: a day counts if any of the three tail gauges hits its minor (flood-onset) stage.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900" i="0" b="0">
                <a:solidFill>
                  <a:srgbClr val="212529"/>
                </a:solidFill>
                <a:latin typeface="Calibri"/>
              </a:rPr>
              <a:t>•  These gauges respond to NYC's release decisions — unlike storm-dominated mainstem flow — so flooding here is attributable to operations.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900" i="0" b="0">
                <a:solidFill>
                  <a:srgbClr val="212529"/>
                </a:solidFill>
                <a:latin typeface="Calibri"/>
              </a:rPr>
              <a:t>•  Counting threshold exceedances avoids the expected-damage trap of multiplying probabilities by an assumed damage curve.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900" i="0" b="0">
                <a:solidFill>
                  <a:srgbClr val="212529"/>
                </a:solidFill>
                <a:latin typeface="Calibri"/>
              </a:rPr>
              <a:t>•  Ensemble search form: mean annual flood days (P99 variant registered — expectation can mask floods).</a:t>
            </a:r>
          </a:p>
          <a:p>
            <a:pPr>
              <a:lnSpc>
                <a:spcPct val="104000"/>
              </a:lnSpc>
              <a:spcAft>
                <a:spcPts val="200"/>
              </a:spcAft>
            </a:pP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800" i="1" b="0">
                <a:solidFill>
                  <a:srgbClr val="5F6B7A"/>
                </a:solidFill>
                <a:latin typeface="Calibri"/>
              </a:rPr>
              <a:t>Quinn et al. 2017.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i="0" b="0">
                <a:solidFill>
                  <a:srgbClr val="212529"/>
                </a:solidFill>
                <a:latin typeface="Cambria"/>
              </a:rPr>
              <a:t>Objective 7 — NYC storage resilience  (higher is better)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78992"/>
            <a:ext cx="1737360" cy="33020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1672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2000" i="0" b="0">
                <a:solidFill>
                  <a:srgbClr val="212529"/>
                </a:solidFill>
                <a:latin typeface="Cambria"/>
              </a:rPr>
              <a:t>storage% = combined NYC storage ÷ 270,837 MG × 100%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2000" i="0" b="0">
                <a:solidFill>
                  <a:srgbClr val="212529"/>
                </a:solidFill>
                <a:latin typeface="Cambria"/>
              </a:rPr>
              <a:t>f₇ = the 5th percentile of daily storage%      (P₅)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14600"/>
            <a:ext cx="1109167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900" i="0" b="0">
                <a:solidFill>
                  <a:srgbClr val="212529"/>
                </a:solidFill>
                <a:latin typeface="Calibri"/>
              </a:rPr>
              <a:t>•  How low NYC storage routinely gets: the level combined storage stays above 95% of the time, as a percent of full capacity.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900" i="0" b="0">
                <a:solidFill>
                  <a:srgbClr val="212529"/>
                </a:solidFill>
                <a:latin typeface="Calibri"/>
              </a:rPr>
              <a:t>•  The single-day minimum is dominated by one drought event and is noisy; a low percentile is reproducible across scenarios.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900" i="0" b="0">
                <a:solidFill>
                  <a:srgbClr val="212529"/>
                </a:solidFill>
                <a:latin typeface="Calibri"/>
              </a:rPr>
              <a:t>•  Ensemble search form: 1st-percentile unit-year of the annual minimum storage.</a:t>
            </a:r>
          </a:p>
          <a:p>
            <a:pPr>
              <a:lnSpc>
                <a:spcPct val="104000"/>
              </a:lnSpc>
              <a:spcAft>
                <a:spcPts val="200"/>
              </a:spcAft>
            </a:pP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800" i="1" b="0">
                <a:solidFill>
                  <a:srgbClr val="5F6B7A"/>
                </a:solidFill>
                <a:latin typeface="Calibri"/>
              </a:rPr>
              <a:t>Quinn et al. 2017.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i="0" b="0">
                <a:solidFill>
                  <a:srgbClr val="212529"/>
                </a:solidFill>
                <a:latin typeface="Cambria"/>
              </a:rPr>
              <a:t>Supplemental — taxonomy of scenario-design families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78992"/>
            <a:ext cx="1737360" cy="33020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1109960" cy="283464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4114800"/>
                <a:gridCol w="4892040"/>
                <a:gridCol w="210312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800" i="0" b="1">
                          <a:solidFill>
                            <a:srgbClr val="212529"/>
                          </a:solidFill>
                          <a:latin typeface="Calibri"/>
                        </a:rPr>
                        <a:t>Family (criterion)</a:t>
                      </a:r>
                    </a:p>
                  </a:txBody>
                  <a:tcPr marL="73152" marR="73152" marT="27432" marB="27432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1">
                          <a:solidFill>
                            <a:srgbClr val="212529"/>
                          </a:solidFill>
                          <a:latin typeface="Calibri"/>
                        </a:rPr>
                        <a:t>Examples</a:t>
                      </a:r>
                    </a:p>
                  </a:txBody>
                  <a:tcPr marL="73152" marR="73152" marT="27432" marB="27432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1">
                          <a:solidFill>
                            <a:srgbClr val="212529"/>
                          </a:solidFill>
                          <a:latin typeface="Calibri"/>
                        </a:rPr>
                        <a:t>Design space</a:t>
                      </a:r>
                    </a:p>
                  </a:txBody>
                  <a:tcPr marL="73152" marR="73152" marT="27432" marB="27432" anchor="ctr">
                    <a:solidFill>
                      <a:srgbClr val="E9EF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I. Judgment-based (expert precedent)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historical trace; design droughts; storylines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single traces / events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II. Distribution-driven (fidelity to a distribution)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SAA random sampling; LHS on inputs; scenario reduction; distribution-matching subset selection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input / probability space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III. Bottom-up coverage (span a condition space)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exposure-space grids; SOW ensembles; controlled generation; </a:t>
                      </a:r>
                      <a:r>
                        <a:rPr sz="1800" i="0" b="1">
                          <a:solidFill>
                            <a:srgbClr val="212529"/>
                          </a:solidFill>
                          <a:latin typeface="Calibri"/>
                        </a:rPr>
                        <a:t>coverage-based subset selection ← this study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forcing attributes → realized flow metrics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IV. Problem-driven (relevance to the decision)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importance sampling; decision-relevance selection (Cohen 2021 — cited as motivation, never computed here); adaptive selection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i="0" b="0">
                          <a:solidFill>
                            <a:srgbClr val="212529"/>
                          </a:solidFill>
                          <a:latin typeface="Calibri"/>
                        </a:rPr>
                        <a:t>outcome-informed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486400"/>
            <a:ext cx="1109167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800" i="1" b="0">
                <a:solidFill>
                  <a:srgbClr val="5F6B7A"/>
                </a:solidFill>
                <a:latin typeface="Calibri"/>
              </a:rPr>
              <a:t>Brown et al. 2012; Fairbrother et al. 2022; Fowler et al. 2024; full taxonomy in working notes.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i="0" b="0">
                <a:solidFill>
                  <a:srgbClr val="212529"/>
                </a:solidFill>
                <a:latin typeface="Cambria"/>
              </a:rPr>
              <a:t>Supplemental — forcing-space parameterization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78992"/>
            <a:ext cx="1737360" cy="33020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9167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Each CMIP6 run (GCM × SSP × period) → a 12-month multiplicative change-factor profile for NYC inflow gages.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Log-profile decomposed into a low-order harmonic; </a:t>
            </a:r>
            <a:r>
              <a:rPr sz="2000" i="0" b="1">
                <a:solidFill>
                  <a:srgbClr val="212529"/>
                </a:solidFill>
                <a:latin typeface="Calibri"/>
              </a:rPr>
              <a:t>phases fixed at the canonical CMIP6 seasonal shape</a:t>
            </a:r>
            <a:r>
              <a:rPr sz="2000" i="0" b="0">
                <a:solidFill>
                  <a:srgbClr val="212529"/>
                </a:solidFill>
                <a:latin typeface="Calibri"/>
              </a:rPr>
              <a:t> (correct winter peak + asymmetry), amplitudes sampled.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Sampled axes: annual-mean level m, annual amplitude r₁, semiannual amplitude r₂ (volume / seasonal amplitude / shoulder shape) + optional variance axis.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LHS within the empirical 90% CMIP6 envelope → deeply uncertain magnitude combinations the GCMs did not jointly produce, with a physically plausible seasonal shape.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Factors applied to the Kirsch generator's log-space monthly mean / SD (Kirsch et al. 2013, eqs. 10–11) before generation.</a:t>
            </a:r>
          </a:p>
          <a:p>
            <a:pPr>
              <a:lnSpc>
                <a:spcPct val="104000"/>
              </a:lnSpc>
              <a:spcAft>
                <a:spcPts val="200"/>
              </a:spcAft>
            </a:pP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800" i="1" b="0">
                <a:solidFill>
                  <a:srgbClr val="5F6B7A"/>
                </a:solidFill>
                <a:latin typeface="Calibri"/>
              </a:rPr>
              <a:t>Quinn et al. 2018 (harmonic lineage); Kirsch et al. 2013.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i="0" b="0">
                <a:solidFill>
                  <a:srgbClr val="212529"/>
                </a:solidFill>
                <a:latin typeface="Cambria"/>
              </a:rPr>
              <a:t>Supplemental — Anvil scaling experiment (running)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78992"/>
            <a:ext cx="1737360" cy="33020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9167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Purpose: fix the production parallel geometry and the campaign's SU budget before committing the RQ1 campaign.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1">
                <a:solidFill>
                  <a:srgbClr val="212529"/>
                </a:solidFill>
                <a:latin typeface="Calibri"/>
              </a:rPr>
              <a:t>Parallelism levers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Nodes and cores per node; number of MM-Borg islands; workers per island; realizations evaluated in parallel within one Pywr-DRB simulation.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1">
                <a:solidFill>
                  <a:srgbClr val="212529"/>
                </a:solidFill>
                <a:latin typeface="Calibri"/>
              </a:rPr>
              <a:t>Design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Packing sweep: throughput vs realizations-per-simulation (ensemble evaluation path).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Borg strong scaling: fixed problem, island × worker ladder at short NFE.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2000" i="0" b="0">
                <a:solidFill>
                  <a:srgbClr val="212529"/>
                </a:solidFill>
                <a:latin typeface="Calibri"/>
              </a:rPr>
              <a:t>•  Output: SU cost per (design × draw × seed) → campaign scope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