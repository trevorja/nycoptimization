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title; alternates: 'Designing the Scenarios We Optimize Over'. Audience: Pat Reed / committee. No results yet; deliverable is scope, gap, and planned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supplemental holds reference detail (objectives, forcing,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figure (from Jazmine's dissertation): FDC envelope keeps widening with ensemble size. Right (our DRB Kirsch-Nowak diagnostic): max drought magnitude and hazard hull area still growing past 10^4 scenario-years. TODO before presenting: annotate the dashed reference line and un-truncate the y-axis label in the right panels.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current DRB stochastic ensembles: 84-93% of years never leave the Normal/Flood storage zone; simulating them costs the same as stress years but adds little gradient for the supply/drought objectives. If asked: the three legend percentages correspond to the three current stochastic ensemble presets.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ONLY: why hazard space is the interesting space to control, not a campaign contrast. Sampling generator/climate parameters (the prevailing deep-uncertainty design) does not control where realizations land in hazard space: the parameter-to-stress mapping is many-to-one. Right figure: a large forcing modification barely moves the flow distribution. Preliminary DRB diagnostic: input-parameter sampling leaves ~1.3x higher discrepancy (unevenness) in hazard space, surviving input-sample enrichment. This motivates selecting directly in hazard space; input-parameter sampling is NOT one of the three campaign designs.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(ours): fraction of droughts, by severity x magnitude bin, that push NYC into the Drought Emergency zone; consequential outcomes concentrate in rare severe corners. Cohen 2021: high-baseline-regret (stressful) training subsets matched all-scenario training at ~3x less compute -- cited as MOTIVATION only; we never run a perfect-foresight optimization. Zaniolo 2023: policies trained per drought type differ in structure and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Families defined by the criterion of a good scenario set: expert judgment (I), fidelity to a distribution (II), coverage of a condition space (III), relevance to the decision problem (IV). This study sits in family III, coverage-based subset selection, but applies the coverage criterion in hazard space measured on realized sequences. Full taxonomy in the working notes.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gap statement. Cohen 2021 already showed composition matters (cited as motivation, never as a metric we compute); each antecedent stops short on one axis: problem-driven vs simulation-free selection (Cohen), post-hoc vs search-phase (Bonham), generation control vs selection from realized sequences (Zaniolo), 1-D vs multi-dimensional (Zatarain Salazar). 'Genuinely held-out' contrasts with Cohen's complementary-halves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Load-bearing vocabulary. Hazard space: drought event metrics (SSI run theory), low/high-flow indices, measured on each realized sequence before any simulation. Because coordinates exist pre-simulation, hazard-space ensemble design is simulation-free and reusable across formulations; that is what separates it from family IV problem-driven selection, which needs an optimization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conceptual slide. You cannot generate a realization with prescribed hazard coordinates -- hazard is an emergent property of a realized flow sequence, not a knob on the generator. Forcing parameters theta ARE a knob. So input-space designs GENERATE TO their design points (LHS alone, nothing to snap to) while hazard-space designs must SELECT FROM a finite candidate pool (LHS anchors + nearest-neighbour snap). That asymmetry is intrinsic, not an implementation shortcut, and it is why hazard-filling is the only design that needs a pool. The hazard-filling design owns its i.i.d. candidate pool; nothing is shared. The selector fills ABSOLUTE, range-scaled hazard space, deliberately over-representing the severe corners.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Falsifiable hypothesis; contribution 1 stands even under a null result. Positioning vs Cohen 2021: they showed composition matters; we contribute the scalable, simulation-free, coverage-designed construction, an exact statistical control (fixed_probabilistic), and a genuinely held-out deep-uncertainty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context slide so the objectives and RQ2/RQ3 are interpretable to non-DRB readers: three NYC Delaware reservoirs, the 1954 Supreme Court Decree quantities (diversion cap, Montague and Trenton flow targets), and the FFMP acronym expanded. All simulation in Pywr-DRB.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drives the experimental design; RQ2/RQ3 answered by the same campaign.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 style follows staged method figures (Bonham et al. 2024 Fig. 1; Cohen et al. 2021 Fig. 3). ONE stationary population (Kirsch-Nowak fit to the record, no climate perturbation). KEY POINT of stage 1: there is NO shared pool. Every design generates its own realizations from its own namespaced seed stream, so no two designs ever share a realization. Only hazard_filling needs a pool, and it owns it. Deep uncertainty enters ONLY in stage 4 (E_test), which spans a CMIP6-forced envelope no search ensemble contains, making re-evaluation a generalization test. Stage 3: identical N, L and NFE for both matched designs. Stage 4: one common held-out evaluation; search-time values are never compared across designs.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campaign designs, from src/scenario_designs.py. ONE stationary population (Kirsch-Nowak fit to the record, no climate perturbation). Each design is built by its own published recipe from its own seed stream. fixed_probabilistic is the EXACT statistical control for hazard_filling (a uniform random size-N subset of an i.i.d. pool = N fresh i.i.d. draws), so the pair differs only in the selection rule. historic is the unmatched prevailing-practice reference (N = 1). Deep uncertainty lives only in E_test. resampled_probabilistic, input_stratified, and a DU-forced hazard_filling variant are out of the campaign (future work at most).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controlled contrast rests on an exact statistical control. A uniform random size-N subset of an i.i.d. pool is distributionally identical to N fresh i.i.d. draws, so fixed_probabilistic is the EXACT control for hazard_filling: same generator, population, N, L, NFE, only the selection rule differs. This requires the pool to be sampled i.i.d. (never by LHS), enforced by an invariant test. Deep uncertainty enters only in E_test, which spans a CMIP6-forced envelope no search ensemble contains, making re-evaluation a generalization test to conditions never seen in search. This upgrades the Eker &amp; Kwakkel (2018) null benchmark (diversity selection did not beat random) to hazard space, a real system, and draw-based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experimental core, in one picture. ONE controlled contrast: fixed_probabilistic -&gt; hazard_filling. Same stationary generator, same population, same N = 100, same L = 10 yr, same NFE; only the selection RULE differs (i.i.d. sampling vs absolute hazard-space filling). Because the pool is i.i.d., fixed_probabilistic is the exact statistical control. historic is the unmatched prevailing-practice reference. RQ1: does hazard coverage beat random sampling?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stationary candidate pool is built. The pool is sampled i.i.d., NEVER by LHS -- a random subset of an LHS design is not i.i.d., which would silently void the exact control. The pool is re-drawn on every ensemble draw: generating the pool IS part of hazard_filling's construction, so pinning it would make hazard-filling look more stable by construction. Storage: only hazard image + seeds persisted; realizations regenerate deterministically. The CMIP6 harmonic forcing box is NOT a search design; it is the envelope for the held-out E_test (shown later). Caveat: historical interannual persistence retained; claims scoped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Selector: range-scale each hazard axis to [0,1] by its pool min-max (ABSOLUTE space, NOT empirical-CDF / rank space), draw N Latin-hypercube anchors, snap each to the nearest not-yet-selected pool member. Deterministic given the anchor seed. NO simulated annealing, no tuning, no discrepancy objective. Absolute-space filling deliberately OVER-REPRESENTS the severe (rare) hazard corners relative to their pool frequency -- that is the genuine distribution shift under study. Because the selector does not minimize a discrepancy objective, L2-star discrepancy / MST / snap distance are BUILD-QC that the intervention was administered at strength (vs a random design at the same N, m), NOT a comparison result. Axes chosen by a redundancy screen on the production pool's hazard image. A rank-space ECDF variant is a non-campaign sensitivity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1954 Decree goalposts, never the live FFMP step-down targets (a policy must not lower its own goalpost). Stable tail/count forms replace worst-case extremes. Trenton stands in for the salt front (physically redundant target, cleaner signal). Full formulations and rationale per objective in supplement.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(realizations x time) simulation becomes one scalar per objective during ensemble search. Stage 1: annual metric on every (realization x water-year) unit. Stage 2: per-objective operator over the pooled N*L unit-years. Every operator follows published search-time practice (WaterPaths-lineage frequency; Quinn's percentile over annual units). Identical scheme and unit denominator for every ensemble design; historic keeps single-trace metrics. Failure criteria and epsilons from the sensitivity experiment (in progress).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budget control is a CONSEQUENCE of the sizing choice, not something imposed. Because N and L are common to every matched design, per-evaluation cost, warm-up, scenario-years and wall-clock are identical, so equal-NFE and equal-scenario-years coincide: ONE budget condition, no arms, no composition-vs-search-effort confound. A common (N, L) is REQUIRED, not convenient: with different L the selection rule would be confounded with record length. N is bounded below by the fill requirement. Replication: a draw re-rolls EVERYTHING, including the pool -- otherwise a hazard-filling draw would vary only its anchor plan while a fixed_probabilistic draw re-rolls its whole sample, and hazard-filling would look more stable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finalized metric set (src/robustness.py). PRIMARY: multivariate Starr (1962) domain criterion -- realization-level, the standard unit of the Herman/Trindade/Gold lineage, and it converges at 50-300 scenarios (Bonham 2024). Everything else is FREE from the same persisted (solution x realization x objective) cube. Three deliberate exclusions, each with a reason a reviewer will accept. NO perfect-foresight optimization appears anywhere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MAIN-TEXT figure, not a robustness check. Quinn et al. 2020: robustness-rank agreement ACROSS scenario designs degrades as the satisficing criterion becomes more stringent -- 'the more conservative one wants to be in finding robust policies, the harder it is to choose this consistently across experimental designs.' So the design effect is largest at the conservative end and a single fixed threshold could manufacture or hide the entire result. We sweep a stringency grid and ask whether the DESIGN RANKING is threshold-invariant. Free: the raw cube is re-scored offline, no re-simulation. Nobody in this lineage has done this.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discovery in HAZARD space is the MECHANISM TEST, not decoration. Boosted trees (Gold 2022/2023 configuration) on each design's held-out failures, labelled by the joint satisficing criterion, in hazard space. The falsifiable prediction: if hazard-filling works, its policies should fail in the hazard region that the design UNDER-COVERED. Caveat to state up front: the raw coverage-deficit -&gt; failure AUC is inflated by GEOMETRY -- nearest-neighbour distance grows toward the manifold boundary -- so the verdict is read off AUC minus a random-ensemble null, never raw AUC.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them before a reviewer does. Eker &amp; Kwakkel 2018 is a NULL RESULT and our fixed_probabilistic -&gt; hazard_filling contrast IS that benchmark. Giuliani &amp; Castelletti 2016 Fig. 4 predicts hazard-filling will be PENALIZED for search-measure mismatch -- that is the null this study must beat, and we say so. Bartholomew &amp; Kwakkel 2020 already wrote the reviewer's objection: selection bias is NOT corrected by held-out re-evaluation, and it is precisely what the experiment measures.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point of cross-design comparison, and the SOLE carrier of deep uncertainty. E_test is an LHS over the CMIP6 harmonic forcing box crossed with many realizations per point -- LHS, NOT i.i.d. -- spanning a forced envelope no search ensemble contains. So re-evaluation is a GENERALIZATION test to conditions never seen in search, and E_test is structurally distinct from both designs (it favours neither). No robustness number is an expectation: a satisficing fraction over E_test is a coverage-weighted count over a designed exploration of the deeply uncertain box; the comparison is valid because E_test is identical across designs, not because it is probability-faithful. An optional 2nd construction (multi-site HMM) would test ranking stability across generator families. Nondominated sets recomputed from re-evaluated values for all designs alike.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verified as of July 2026. Right: open decisions in priority order, where committee input is most valuable. SU table lands when the Anvil scaling experiment finishes.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Supplemental divider.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Plain-language building blocks for the objective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failure-year frequency vs the running-average entitlement; same objective for every design.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Within-year CVaR90, then worst-1%-unit-year across the pool.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failure-year frequency vs static Decree target.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Within-year CVaR90, then worst-1%-unit-year.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Trenton reliability replacing salt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annual flood days at minor stage.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minimum storage, then P01 across the pool.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CMIP6 (GCM x SSP x period) run gives a 12-month change-factor profile; the log profile is decomposed into a low-order harmonic with phases FIXED at the canonical CMIP6 seasonal shape; only amplitudes sampled. Left: best fits; right: worst (flat profiles, low R2 but small amplitude, harmless).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DMDU box = empirical 90% range of the CMIP6 fitted parameters (markers). This box is the forcing envelope for the held-out E_test: E_test is an LHS over this box crossed with realizations. It is NOT a search design (search is stationary; no input_stratified design). Panel c: phase held at the canonical winter peak.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Sanity check: the sampled change factors and the resulting monthly NYC inflows span the raw CMIP6 monthly range.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experiment run on Anvil; sets production parallel geometry and the SU budget that gates campaign scope. Measured cost surface: 173.8 s/eval at N=100, L=10 on the trimmed model; full model 1.16x; ~33,300 SU per 500k-NFE search; full campaign ~415,000 of the 750,000-SU allocation; re-evaluation nearly free.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figure sequence for the manuscript: guides narrative and the processing/metrics to build. Inspired by the figure sequences of Cohen et al. 2021 (Figs. 2-6), Trindade et al. 2017 (Figs. 5-8), Bonham et al. 2024 (Fig. 1). Details finalized after the sensitivity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One-line map of the planned figures. Figs 1-2 methods; 3-7 RQ1 (headline, threshold stringency, the controlled contrast, policy differences, mechanism); 8 RQ2; 9 RQ3. There is no robustness-vs-regret figure (regret is not computed) and no budget-interaction figure (there is one budget condition). Leave-one-out reference-set hypervolume stays in the supplement, per Zatarain Salazar 2017. Three designs, one stationary population.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basin schematic (could be a proper map). Panel (b): the 4-stage GENERATE/BUILD/SEARCH/EVALUATE workflow. Processing needs: none beyond existing diagrams.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multiples, one per design, over the SINGLE stationary population's hazard cloud (there is no shared pool, but all designs share the one population's support). Historic shown as its own trace marker. Processing: hazard coordinates for every staged search ensemble; coverage metrics per draw, reported against the random-design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Boxplots (or CDFs) of satisficing robustness per design; hazard-filling highlighted. Processing: per-draw robustness table (design x draw x seed x objective) from the persisted re-eval cube; mixed-effects variance components with the draw as the unit.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robustness vs stringency, one line per design; hazard-filling accented. Panel (b): tau_b of the design ranking vs the default threshold, across the same grid, with the stability band annotated. Replaces the deleted robustness-vs-regret figure: regret is not computed anywhere in this study.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stacked robustness distributions: fixed_probabilistic (top) and hazard_filling (bottom), the vertical contrast annotated 'only the selection RULE differs'. historic drawn as a reference line. Replaces the deleted 2x2 population-by-selection and budget-interaction figures: there is one stationary population and one budget condition.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 coordinates over the 7 re-evaluated objectives; gray cloud = all policies, colored bundles by design, thick lines = per-design compromise policies. A companion DV-space version (decision-variable ranges per design, Trindade Fig. 8 style) may go in supplement. Processing: re-evaluated objective matrix + archived decision variables per design.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failure rate vs coverage deficit, one curve per design, with the random-ensemble null shaded. Panel (b): AUC minus null, per design, with a CI. Replaces the old coverage-vs-robustness scatter, which was correlational; this is the mechanism test.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horizontal bars of change vs baseline per objective (improvement right). Panel (b): time series through a severe drought, current FFMP vs a compromise re-optimized policy, drought window shaded. Processing: current-FFMP run on E_test; trace storage for selected policies and events.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Dot-line plot: x = rule resolution (8, 10, 12, standard), y = re-evaluated satisficing. Any MOEA search metric (hypervolume) is a WITHIN-design convergence diagnostic only, per Zatarain Salazar 2017; it is not a cross-design yardstick. Processing: ffmp_N sweep under the chosen design(s), re-evaluated on E_test.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1463040"/>
          </a:xfrm>
          <a:prstGeom prst="rect">
            <a:avLst/>
          </a:prstGeom>
          <a:noFill/>
        </p:spPr>
        <p:txBody>
          <a:bodyPr wrap="square">
            <a:spAutoFit/>
          </a:bodyPr>
          <a:lstStyle/>
          <a:p>
            <a:pPr algn="l"/>
            <a:r>
              <a:rPr sz="3600" i="0" b="0">
                <a:solidFill>
                  <a:srgbClr val="212529"/>
                </a:solidFill>
                <a:latin typeface="Cambria"/>
              </a:rPr>
              <a:t>Hazard-Informed Scenario Design for
Many-Objective Reservoir Policy Search</a:t>
            </a:r>
          </a:p>
        </p:txBody>
      </p:sp>
      <p:sp>
        <p:nvSpPr>
          <p:cNvPr id="3" name="Rectangle 2"/>
          <p:cNvSpPr/>
          <p:nvPr/>
        </p:nvSpPr>
        <p:spPr>
          <a:xfrm>
            <a:off x="868680" y="3310128"/>
            <a:ext cx="2377440" cy="3810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520440"/>
            <a:ext cx="10515600" cy="457200"/>
          </a:xfrm>
          <a:prstGeom prst="rect">
            <a:avLst/>
          </a:prstGeom>
          <a:noFill/>
        </p:spPr>
        <p:txBody>
          <a:bodyPr wrap="square">
            <a:spAutoFit/>
          </a:bodyPr>
          <a:lstStyle/>
          <a:p>
            <a:pPr algn="l"/>
            <a:r>
              <a:rPr sz="2200" i="0" b="0">
                <a:solidFill>
                  <a:srgbClr val="5F6B7A"/>
                </a:solidFill>
                <a:latin typeface="Calibri"/>
              </a:rPr>
              <a:t>Re-optimizing NYC reservoir operations in the Delaware River Basin under hydrologic uncertainty</a:t>
            </a:r>
          </a:p>
        </p:txBody>
      </p:sp>
      <p:sp>
        <p:nvSpPr>
          <p:cNvPr id="5" name="TextBox 4"/>
          <p:cNvSpPr txBox="1"/>
          <p:nvPr/>
        </p:nvSpPr>
        <p:spPr>
          <a:xfrm>
            <a:off x="822960" y="4892040"/>
            <a:ext cx="10515600" cy="1097280"/>
          </a:xfrm>
          <a:prstGeom prst="rect">
            <a:avLst/>
          </a:prstGeom>
          <a:noFill/>
        </p:spPr>
        <p:txBody>
          <a:bodyPr wrap="square">
            <a:spAutoFit/>
          </a:bodyPr>
          <a:lstStyle/>
          <a:p>
            <a:pPr algn="l"/>
            <a:r>
              <a:rPr sz="2000" i="0" b="0">
                <a:solidFill>
                  <a:srgbClr val="212529"/>
                </a:solidFill>
                <a:latin typeface="Calibri"/>
              </a:rPr>
              <a:t>Research proposal  |  Trevor Amestoy
Reed Research Group, Cornell University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Contents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212080" cy="5074920"/>
          </a:xfrm>
          <a:prstGeom prst="rect">
            <a:avLst/>
          </a:prstGeom>
          <a:noFill/>
        </p:spPr>
        <p:txBody>
          <a:bodyPr wrap="square">
            <a:spAutoFit/>
          </a:bodyPr>
          <a:lstStyle/>
          <a:p>
            <a:pPr>
              <a:lnSpc>
                <a:spcPct val="104000"/>
              </a:lnSpc>
              <a:spcAft>
                <a:spcPts val="1000"/>
              </a:spcAft>
            </a:pPr>
            <a:r>
              <a:rPr sz="2200" i="0" b="1">
                <a:solidFill>
                  <a:srgbClr val="212529"/>
                </a:solidFill>
                <a:latin typeface="Calibri"/>
              </a:rPr>
              <a:t>Motivation &amp; literature framing</a:t>
            </a:r>
          </a:p>
          <a:p>
            <a:pPr>
              <a:lnSpc>
                <a:spcPct val="104000"/>
              </a:lnSpc>
              <a:spcAft>
                <a:spcPts val="1000"/>
              </a:spcAft>
            </a:pPr>
            <a:r>
              <a:rPr sz="2200" i="0" b="1">
                <a:solidFill>
                  <a:srgbClr val="212529"/>
                </a:solidFill>
                <a:latin typeface="Calibri"/>
              </a:rPr>
              <a:t>The gap</a:t>
            </a:r>
          </a:p>
          <a:p>
            <a:pPr>
              <a:lnSpc>
                <a:spcPct val="104000"/>
              </a:lnSpc>
              <a:spcAft>
                <a:spcPts val="1000"/>
              </a:spcAft>
            </a:pPr>
            <a:r>
              <a:rPr sz="2200" i="0" b="1">
                <a:solidFill>
                  <a:srgbClr val="212529"/>
                </a:solidFill>
                <a:latin typeface="Calibri"/>
              </a:rPr>
              <a:t>Proposal</a:t>
            </a:r>
          </a:p>
          <a:p>
            <a:pPr>
              <a:lnSpc>
                <a:spcPct val="104000"/>
              </a:lnSpc>
              <a:spcAft>
                <a:spcPts val="1000"/>
              </a:spcAft>
            </a:pPr>
            <a:r>
              <a:rPr sz="2200" i="0" b="0">
                <a:solidFill>
                  <a:srgbClr val="212529"/>
                </a:solidFill>
                <a:latin typeface="Calibri"/>
              </a:rPr>
              <a:t>•  hypothesis  ·  research questions  ·  contributions</a:t>
            </a:r>
          </a:p>
          <a:p>
            <a:pPr>
              <a:lnSpc>
                <a:spcPct val="104000"/>
              </a:lnSpc>
              <a:spcAft>
                <a:spcPts val="1000"/>
              </a:spcAft>
            </a:pPr>
            <a:r>
              <a:rPr sz="2200" i="0" b="1">
                <a:solidFill>
                  <a:srgbClr val="212529"/>
                </a:solidFill>
                <a:latin typeface="Calibri"/>
              </a:rPr>
              <a:t>Planned experiment</a:t>
            </a:r>
          </a:p>
          <a:p>
            <a:pPr>
              <a:lnSpc>
                <a:spcPct val="104000"/>
              </a:lnSpc>
              <a:spcAft>
                <a:spcPts val="1000"/>
              </a:spcAft>
            </a:pPr>
            <a:r>
              <a:rPr sz="2200" i="0" b="0">
                <a:solidFill>
                  <a:srgbClr val="212529"/>
                </a:solidFill>
                <a:latin typeface="Calibri"/>
              </a:rPr>
              <a:t>•  three designs, one stationary population  ·  deep uncertainty only in re-evaluation  ·  the controlled contrast  ·  objectives  ·  controls</a:t>
            </a:r>
          </a:p>
          <a:p>
            <a:pPr>
              <a:lnSpc>
                <a:spcPct val="104000"/>
              </a:lnSpc>
              <a:spcAft>
                <a:spcPts val="1000"/>
              </a:spcAft>
            </a:pPr>
            <a:r>
              <a:rPr sz="2200" i="0" b="1">
                <a:solidFill>
                  <a:srgbClr val="212529"/>
                </a:solidFill>
                <a:latin typeface="Calibri"/>
              </a:rPr>
              <a:t>How designs are compared</a:t>
            </a:r>
          </a:p>
          <a:p>
            <a:pPr>
              <a:lnSpc>
                <a:spcPct val="104000"/>
              </a:lnSpc>
              <a:spcAft>
                <a:spcPts val="1000"/>
              </a:spcAft>
            </a:pPr>
            <a:r>
              <a:rPr sz="2200" i="0" b="0">
                <a:solidFill>
                  <a:srgbClr val="212529"/>
                </a:solidFill>
                <a:latin typeface="Calibri"/>
              </a:rPr>
              <a:t>•  held-out metric set  ·  threshold sweep  ·  mechanism test  ·  threats to validity</a:t>
            </a:r>
          </a:p>
          <a:p>
            <a:pPr>
              <a:lnSpc>
                <a:spcPct val="104000"/>
              </a:lnSpc>
              <a:spcAft>
                <a:spcPts val="1000"/>
              </a:spcAft>
            </a:pPr>
            <a:r>
              <a:rPr sz="2200" i="0" b="1">
                <a:solidFill>
                  <a:srgbClr val="212529"/>
                </a:solidFill>
                <a:latin typeface="Calibri"/>
              </a:rPr>
              <a:t>Status &amp; open decisions</a:t>
            </a:r>
          </a:p>
        </p:txBody>
      </p:sp>
      <p:cxnSp>
        <p:nvCxnSpPr>
          <p:cNvPr id="5" name="Connector 4"/>
          <p:cNvCxnSpPr/>
          <p:nvPr/>
        </p:nvCxnSpPr>
        <p:spPr>
          <a:xfrm>
            <a:off x="6309360" y="1554480"/>
            <a:ext cx="0" cy="4206240"/>
          </a:xfrm>
          <a:prstGeom prst="line">
            <a:avLst/>
          </a:prstGeom>
          <a:ln w="1270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0" y="1554480"/>
            <a:ext cx="4846320" cy="5074920"/>
          </a:xfrm>
          <a:prstGeom prst="rect">
            <a:avLst/>
          </a:prstGeom>
          <a:noFill/>
        </p:spPr>
        <p:txBody>
          <a:bodyPr wrap="square">
            <a:spAutoFit/>
          </a:bodyPr>
          <a:lstStyle/>
          <a:p>
            <a:pPr>
              <a:lnSpc>
                <a:spcPct val="104000"/>
              </a:lnSpc>
              <a:spcAft>
                <a:spcPts val="1000"/>
              </a:spcAft>
            </a:pPr>
            <a:r>
              <a:rPr sz="2200" i="0" b="1">
                <a:solidFill>
                  <a:srgbClr val="212529"/>
                </a:solidFill>
                <a:latin typeface="Calibri"/>
              </a:rPr>
              <a:t>Supplemental</a:t>
            </a:r>
          </a:p>
          <a:p>
            <a:pPr>
              <a:lnSpc>
                <a:spcPct val="104000"/>
              </a:lnSpc>
              <a:spcAft>
                <a:spcPts val="1000"/>
              </a:spcAft>
            </a:pPr>
            <a:r>
              <a:rPr sz="2200" i="0" b="0">
                <a:solidFill>
                  <a:srgbClr val="212529"/>
                </a:solidFill>
                <a:latin typeface="Calibri"/>
              </a:rPr>
              <a:t>•  objective formulations (7) and notation</a:t>
            </a:r>
          </a:p>
          <a:p>
            <a:pPr>
              <a:lnSpc>
                <a:spcPct val="104000"/>
              </a:lnSpc>
              <a:spcAft>
                <a:spcPts val="1000"/>
              </a:spcAft>
            </a:pPr>
            <a:r>
              <a:rPr sz="2200" i="0" b="0">
                <a:solidFill>
                  <a:srgbClr val="212529"/>
                </a:solidFill>
                <a:latin typeface="Calibri"/>
              </a:rPr>
              <a:t>•  forcing parameterization (CMIP6 harmonic)</a:t>
            </a:r>
          </a:p>
          <a:p>
            <a:pPr>
              <a:lnSpc>
                <a:spcPct val="104000"/>
              </a:lnSpc>
              <a:spcAft>
                <a:spcPts val="1000"/>
              </a:spcAft>
            </a:pPr>
            <a:r>
              <a:rPr sz="2200" i="0" b="0">
                <a:solidFill>
                  <a:srgbClr val="212529"/>
                </a:solidFill>
                <a:latin typeface="Calibri"/>
              </a:rPr>
              <a:t>•  Anvil scaling experiments</a:t>
            </a:r>
          </a:p>
          <a:p>
            <a:pPr>
              <a:lnSpc>
                <a:spcPct val="104000"/>
              </a:lnSpc>
              <a:spcAft>
                <a:spcPts val="1000"/>
              </a:spcAft>
            </a:pPr>
            <a:r>
              <a:rPr sz="2200" i="0" b="0">
                <a:solidFill>
                  <a:srgbClr val="212529"/>
                </a:solidFill>
                <a:latin typeface="Calibri"/>
              </a:rPr>
              <a:t>•  planned manuscript figure sequence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the observed record undersamples hazard</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New hydrologic extremes keep emerging as stochastic ensembles grow.</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600"/>
              </a:spcAft>
            </a:pPr>
            <a:r>
              <a:rPr sz="2000" i="0" b="0">
                <a:solidFill>
                  <a:srgbClr val="212529"/>
                </a:solidFill>
                <a:latin typeface="Calibri"/>
              </a:rPr>
              <a:t>•  optimizing over one record overfits a single hydrologic history (Brodeur et al. 2020)</a:t>
            </a:r>
          </a:p>
          <a:p>
            <a:pPr>
              <a:lnSpc>
                <a:spcPct val="104000"/>
              </a:lnSpc>
              <a:spcAft>
                <a:spcPts val="600"/>
              </a:spcAft>
            </a:pPr>
            <a:r>
              <a:rPr sz="2000" i="0" b="0">
                <a:solidFill>
                  <a:srgbClr val="212529"/>
                </a:solidFill>
                <a:latin typeface="Calibri"/>
              </a:rPr>
              <a:t>•  synthetic ensembles are the standard remedy (Kirsch et al. 2013; Herman et al. 2016)</a:t>
            </a:r>
          </a:p>
        </p:txBody>
      </p:sp>
      <p:pic>
        <p:nvPicPr>
          <p:cNvPr id="6" name="Picture 5" descr="image1.png"/>
          <p:cNvPicPr>
            <a:picLocks noChangeAspect="1"/>
          </p:cNvPicPr>
          <p:nvPr/>
        </p:nvPicPr>
        <p:blipFill>
          <a:blip r:embed="rId3"/>
          <a:stretch>
            <a:fillRect/>
          </a:stretch>
        </p:blipFill>
        <p:spPr>
          <a:xfrm>
            <a:off x="822960" y="2971800"/>
            <a:ext cx="3017520" cy="3063327"/>
          </a:xfrm>
          <a:prstGeom prst="rect">
            <a:avLst/>
          </a:prstGeom>
        </p:spPr>
      </p:pic>
      <p:sp>
        <p:nvSpPr>
          <p:cNvPr id="7" name="TextBox 6"/>
          <p:cNvSpPr txBox="1"/>
          <p:nvPr/>
        </p:nvSpPr>
        <p:spPr>
          <a:xfrm>
            <a:off x="685800" y="6263640"/>
            <a:ext cx="3291840" cy="365760"/>
          </a:xfrm>
          <a:prstGeom prst="rect">
            <a:avLst/>
          </a:prstGeom>
          <a:noFill/>
        </p:spPr>
        <p:txBody>
          <a:bodyPr wrap="square">
            <a:spAutoFit/>
          </a:bodyPr>
          <a:lstStyle/>
          <a:p>
            <a:pPr algn="ctr"/>
            <a:r>
              <a:rPr sz="1800" i="0" b="0">
                <a:solidFill>
                  <a:srgbClr val="5F6B7A"/>
                </a:solidFill>
                <a:latin typeface="Calibri"/>
              </a:rPr>
              <a:t>FDC range vs ensemble size</a:t>
            </a:r>
          </a:p>
        </p:txBody>
      </p:sp>
      <p:pic>
        <p:nvPicPr>
          <p:cNvPr id="8" name="Picture 7" descr="image2.png"/>
          <p:cNvPicPr>
            <a:picLocks noChangeAspect="1"/>
          </p:cNvPicPr>
          <p:nvPr/>
        </p:nvPicPr>
        <p:blipFill>
          <a:blip r:embed="rId4"/>
          <a:stretch>
            <a:fillRect/>
          </a:stretch>
        </p:blipFill>
        <p:spPr>
          <a:xfrm>
            <a:off x="4709160" y="3291840"/>
            <a:ext cx="6858000" cy="3015355"/>
          </a:xfrm>
          <a:prstGeom prst="rect">
            <a:avLst/>
          </a:prstGeom>
        </p:spPr>
      </p:pic>
      <p:sp>
        <p:nvSpPr>
          <p:cNvPr id="9" name="TextBox 8"/>
          <p:cNvSpPr txBox="1"/>
          <p:nvPr/>
        </p:nvSpPr>
        <p:spPr>
          <a:xfrm>
            <a:off x="4709160" y="6263640"/>
            <a:ext cx="6858000" cy="365760"/>
          </a:xfrm>
          <a:prstGeom prst="rect">
            <a:avLst/>
          </a:prstGeom>
          <a:noFill/>
        </p:spPr>
        <p:txBody>
          <a:bodyPr wrap="square">
            <a:spAutoFit/>
          </a:bodyPr>
          <a:lstStyle/>
          <a:p>
            <a:pPr algn="ctr"/>
            <a:r>
              <a:rPr sz="1800" i="0" b="0">
                <a:solidFill>
                  <a:srgbClr val="5F6B7A"/>
                </a:solidFill>
                <a:latin typeface="Calibri"/>
              </a:rPr>
              <a:t>drought extremes and hazard diversity vs scenario-years (this study)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most simulated years carry little search signal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84–93% of stochastic-ensemble years sit in Normal / Flood conditions.</a:t>
            </a:r>
          </a:p>
        </p:txBody>
      </p:sp>
      <p:sp>
        <p:nvSpPr>
          <p:cNvPr id="5" name="TextBox 4"/>
          <p:cNvSpPr txBox="1"/>
          <p:nvPr/>
        </p:nvSpPr>
        <p:spPr>
          <a:xfrm>
            <a:off x="548640" y="2286000"/>
            <a:ext cx="5852160" cy="434340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ensemble size trades off directly against evaluation cost in search (Zatarain Salazar et al. 2017)</a:t>
            </a:r>
          </a:p>
          <a:p>
            <a:pPr>
              <a:lnSpc>
                <a:spcPct val="104000"/>
              </a:lnSpc>
              <a:spcAft>
                <a:spcPts val="1000"/>
              </a:spcAft>
            </a:pPr>
            <a:r>
              <a:rPr sz="2000" i="0" b="0">
                <a:solidFill>
                  <a:srgbClr val="212529"/>
                </a:solidFill>
                <a:latin typeface="Calibri"/>
              </a:rPr>
              <a:t>•  supply and drought objectives draw signal only from the rare stress years</a:t>
            </a:r>
          </a:p>
          <a:p>
            <a:pPr>
              <a:lnSpc>
                <a:spcPct val="104000"/>
              </a:lnSpc>
              <a:spcAft>
                <a:spcPts val="1000"/>
              </a:spcAft>
            </a:pPr>
            <a:r>
              <a:rPr sz="2000" i="0" b="0">
                <a:solidFill>
                  <a:srgbClr val="212529"/>
                </a:solidFill>
                <a:latin typeface="Calibri"/>
              </a:rPr>
              <a:t>•  high-flow years are sparse in a complementary way; both motivate designed coverage</a:t>
            </a:r>
          </a:p>
        </p:txBody>
      </p:sp>
      <p:pic>
        <p:nvPicPr>
          <p:cNvPr id="6" name="Picture 5" descr="image3.png"/>
          <p:cNvPicPr>
            <a:picLocks noChangeAspect="1"/>
          </p:cNvPicPr>
          <p:nvPr/>
        </p:nvPicPr>
        <p:blipFill>
          <a:blip r:embed="rId3"/>
          <a:stretch>
            <a:fillRect/>
          </a:stretch>
        </p:blipFill>
        <p:spPr>
          <a:xfrm>
            <a:off x="6675120" y="1783080"/>
            <a:ext cx="4937760" cy="4146719"/>
          </a:xfrm>
          <a:prstGeom prst="rect">
            <a:avLst/>
          </a:prstGeom>
        </p:spPr>
      </p:pic>
      <p:sp>
        <p:nvSpPr>
          <p:cNvPr id="7" name="TextBox 6"/>
          <p:cNvSpPr txBox="1"/>
          <p:nvPr/>
        </p:nvSpPr>
        <p:spPr>
          <a:xfrm>
            <a:off x="6537960" y="5806440"/>
            <a:ext cx="5212080" cy="685800"/>
          </a:xfrm>
          <a:prstGeom prst="rect">
            <a:avLst/>
          </a:prstGeom>
          <a:noFill/>
        </p:spPr>
        <p:txBody>
          <a:bodyPr wrap="square">
            <a:spAutoFit/>
          </a:bodyPr>
          <a:lstStyle/>
          <a:p>
            <a:pPr algn="ctr"/>
            <a:r>
              <a:rPr sz="1800" i="0" b="0">
                <a:solidFill>
                  <a:srgbClr val="5F6B7A"/>
                </a:solidFill>
                <a:latin typeface="Calibri"/>
              </a:rPr>
              <a:t>share of years whose lowest NYC storage stays in the Normal / Flood FFMP zones, three ensembles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input-parameter sampling leaves hazard-space gaps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Distinct generator parameters produce overlapping hazard conditions.</a:t>
            </a:r>
          </a:p>
        </p:txBody>
      </p:sp>
      <p:sp>
        <p:nvSpPr>
          <p:cNvPr id="5" name="TextBox 4"/>
          <p:cNvSpPr txBox="1"/>
          <p:nvPr/>
        </p:nvSpPr>
        <p:spPr>
          <a:xfrm>
            <a:off x="548640" y="1920240"/>
            <a:ext cx="11091672" cy="470916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sampling generator / climate parameters is the prevailing deep-uncertainty design (Quinn et al. 2020; Bartholomew &amp; Kwakkel 2020)</a:t>
            </a:r>
          </a:p>
          <a:p>
            <a:pPr>
              <a:lnSpc>
                <a:spcPct val="104000"/>
              </a:lnSpc>
              <a:spcAft>
                <a:spcPts val="1000"/>
              </a:spcAft>
            </a:pPr>
            <a:r>
              <a:rPr sz="2000" i="0" b="0">
                <a:solidFill>
                  <a:srgbClr val="212529"/>
                </a:solidFill>
                <a:latin typeface="Calibri"/>
              </a:rPr>
              <a:t>•  distinct parameter sets often yield hydrologically redundant realizations (Guo et al. 2018; Quinn et al. 2020)</a:t>
            </a:r>
          </a:p>
          <a:p>
            <a:pPr>
              <a:lnSpc>
                <a:spcPct val="104000"/>
              </a:lnSpc>
              <a:spcAft>
                <a:spcPts val="1000"/>
              </a:spcAft>
            </a:pPr>
            <a:r>
              <a:rPr sz="2000" i="0" b="0">
                <a:solidFill>
                  <a:srgbClr val="212529"/>
                </a:solidFill>
                <a:latin typeface="Calibri"/>
              </a:rPr>
              <a:t>•  preliminary DRB diagnostic: sampling input parameters leaves about 1.3× higher discrepancy (unevenness) in hazard space, surviving input enrichment (this study)</a:t>
            </a:r>
          </a:p>
          <a:p>
            <a:pPr>
              <a:lnSpc>
                <a:spcPct val="104000"/>
              </a:lnSpc>
              <a:spcAft>
                <a:spcPts val="1000"/>
              </a:spcAft>
            </a:pPr>
            <a:r>
              <a:rPr sz="2000" i="0" b="0">
                <a:solidFill>
                  <a:srgbClr val="212529"/>
                </a:solidFill>
                <a:latin typeface="Calibri"/>
              </a:rPr>
              <a:t>•  this motivates controlling coverage </a:t>
            </a:r>
            <a:r>
              <a:rPr sz="2000" i="0" b="1">
                <a:solidFill>
                  <a:srgbClr val="212529"/>
                </a:solidFill>
                <a:latin typeface="Calibri"/>
              </a:rPr>
              <a:t>directly in hazard space</a:t>
            </a:r>
            <a:r>
              <a:rPr sz="2000" i="0" b="0">
                <a:solidFill>
                  <a:srgbClr val="212529"/>
                </a:solidFill>
                <a:latin typeface="Calibri"/>
              </a:rPr>
              <a:t> — the point of the proposed selector, not a campaign design of its own</a:t>
            </a:r>
          </a:p>
        </p:txBody>
      </p:sp>
      <p:cxnSp>
        <p:nvCxnSpPr>
          <p:cNvPr id="6" name="Connector 5"/>
          <p:cNvCxnSpPr/>
          <p:nvPr/>
        </p:nvCxnSpPr>
        <p:spPr>
          <a:xfrm>
            <a:off x="2286000" y="5852159"/>
            <a:ext cx="22860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286000" y="4434840"/>
            <a:ext cx="0" cy="14173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286000" y="5879592"/>
            <a:ext cx="2286000" cy="292608"/>
          </a:xfrm>
          <a:prstGeom prst="rect">
            <a:avLst/>
          </a:prstGeom>
          <a:noFill/>
        </p:spPr>
        <p:txBody>
          <a:bodyPr wrap="square">
            <a:spAutoFit/>
          </a:bodyPr>
          <a:lstStyle/>
          <a:p>
            <a:pPr algn="ctr"/>
            <a:r>
              <a:rPr sz="1800" i="0" b="0">
                <a:solidFill>
                  <a:srgbClr val="5F6B7A"/>
                </a:solidFill>
                <a:latin typeface="Calibri"/>
              </a:rPr>
              <a:t>forcing parameter 1</a:t>
            </a:r>
          </a:p>
        </p:txBody>
      </p:sp>
      <p:sp>
        <p:nvSpPr>
          <p:cNvPr id="9" name="TextBox 8"/>
          <p:cNvSpPr txBox="1"/>
          <p:nvPr/>
        </p:nvSpPr>
        <p:spPr>
          <a:xfrm rot="16200000">
            <a:off x="1234440" y="4983480"/>
            <a:ext cx="1463040" cy="320040"/>
          </a:xfrm>
          <a:prstGeom prst="rect">
            <a:avLst/>
          </a:prstGeom>
          <a:noFill/>
        </p:spPr>
        <p:txBody>
          <a:bodyPr wrap="square">
            <a:spAutoFit/>
          </a:bodyPr>
          <a:lstStyle/>
          <a:p>
            <a:pPr algn="ctr"/>
            <a:r>
              <a:rPr sz="1800" i="0" b="0">
                <a:solidFill>
                  <a:srgbClr val="5F6B7A"/>
                </a:solidFill>
                <a:latin typeface="Calibri"/>
              </a:rPr>
              <a:t>parameter 2</a:t>
            </a:r>
          </a:p>
        </p:txBody>
      </p:sp>
      <p:sp>
        <p:nvSpPr>
          <p:cNvPr id="10" name="Oval 9"/>
          <p:cNvSpPr/>
          <p:nvPr/>
        </p:nvSpPr>
        <p:spPr>
          <a:xfrm>
            <a:off x="2649474" y="4727447"/>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369564" y="5381243"/>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986783" y="4905755"/>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58084" y="5143499"/>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78174" y="463235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192524" y="5440679"/>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587752" y="5500116"/>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846320" y="5143500"/>
            <a:ext cx="731520" cy="0"/>
          </a:xfrm>
          <a:prstGeom prst="line">
            <a:avLst/>
          </a:prstGeom>
          <a:ln w="2286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06440" y="5852159"/>
            <a:ext cx="22860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06440" y="4434840"/>
            <a:ext cx="0" cy="14173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806440" y="5879592"/>
            <a:ext cx="228600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21" name="Oval 20"/>
          <p:cNvSpPr/>
          <p:nvPr/>
        </p:nvSpPr>
        <p:spPr>
          <a:xfrm>
            <a:off x="6263640" y="470915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46520" y="457199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172200" y="484631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5.png"/>
          <p:cNvPicPr>
            <a:picLocks noChangeAspect="1"/>
          </p:cNvPicPr>
          <p:nvPr/>
        </p:nvPicPr>
        <p:blipFill>
          <a:blip r:embed="rId3"/>
          <a:stretch>
            <a:fillRect/>
          </a:stretch>
        </p:blipFill>
        <p:spPr>
          <a:xfrm>
            <a:off x="8869680" y="3977639"/>
            <a:ext cx="3017520" cy="2306216"/>
          </a:xfrm>
          <a:prstGeom prst="rect">
            <a:avLst/>
          </a:prstGeom>
        </p:spPr>
      </p:pic>
      <p:sp>
        <p:nvSpPr>
          <p:cNvPr id="25" name="TextBox 24"/>
          <p:cNvSpPr txBox="1"/>
          <p:nvPr/>
        </p:nvSpPr>
        <p:spPr>
          <a:xfrm>
            <a:off x="8869680" y="6355080"/>
            <a:ext cx="3017520" cy="365760"/>
          </a:xfrm>
          <a:prstGeom prst="rect">
            <a:avLst/>
          </a:prstGeom>
          <a:noFill/>
        </p:spPr>
        <p:txBody>
          <a:bodyPr wrap="square">
            <a:spAutoFit/>
          </a:bodyPr>
          <a:lstStyle/>
          <a:p>
            <a:pPr algn="ctr"/>
            <a:r>
              <a:rPr sz="1800" i="0" b="0">
                <a:solidFill>
                  <a:srgbClr val="5F6B7A"/>
                </a:solidFill>
                <a:latin typeface="Calibri"/>
              </a:rPr>
              <a:t>modified forcing, similar flows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rare hazard corners drive consequential outcomes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Consequential failures concentrate in rare, severe drought corners.</a:t>
            </a:r>
          </a:p>
        </p:txBody>
      </p:sp>
      <p:sp>
        <p:nvSpPr>
          <p:cNvPr id="5" name="TextBox 4"/>
          <p:cNvSpPr txBox="1"/>
          <p:nvPr/>
        </p:nvSpPr>
        <p:spPr>
          <a:xfrm>
            <a:off x="548640" y="2286000"/>
            <a:ext cx="6766560" cy="434340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policies only learn from scenarios that contain these events</a:t>
            </a:r>
          </a:p>
          <a:p>
            <a:pPr>
              <a:lnSpc>
                <a:spcPct val="104000"/>
              </a:lnSpc>
              <a:spcAft>
                <a:spcPts val="1000"/>
              </a:spcAft>
            </a:pPr>
            <a:r>
              <a:rPr sz="2000" i="0" b="0">
                <a:solidFill>
                  <a:srgbClr val="212529"/>
                </a:solidFill>
                <a:latin typeface="Calibri"/>
              </a:rPr>
              <a:t>•  high-stress training scenarios matched full-ensemble robustness at about 3× less compute (Cohen et al. 2021)</a:t>
            </a:r>
          </a:p>
          <a:p>
            <a:pPr>
              <a:lnSpc>
                <a:spcPct val="104000"/>
              </a:lnSpc>
              <a:spcAft>
                <a:spcPts val="1000"/>
              </a:spcAft>
            </a:pPr>
            <a:r>
              <a:rPr sz="2000" i="0" b="0">
                <a:solidFill>
                  <a:srgbClr val="212529"/>
                </a:solidFill>
                <a:latin typeface="Calibri"/>
              </a:rPr>
              <a:t>•  training on distinct drought types changes the policies found (Zaniolo et al. 2023)</a:t>
            </a:r>
          </a:p>
          <a:p>
            <a:pPr>
              <a:lnSpc>
                <a:spcPct val="104000"/>
              </a:lnSpc>
              <a:spcAft>
                <a:spcPts val="1000"/>
              </a:spcAft>
            </a:pPr>
            <a:r>
              <a:rPr sz="2000" i="0" b="0">
                <a:solidFill>
                  <a:srgbClr val="212529"/>
                </a:solidFill>
                <a:latin typeface="Calibri"/>
              </a:rPr>
              <a:t>•  Cohen selects scenarios by a </a:t>
            </a:r>
            <a:r>
              <a:rPr sz="2000" i="0" b="1">
                <a:solidFill>
                  <a:srgbClr val="212529"/>
                </a:solidFill>
                <a:latin typeface="Calibri"/>
              </a:rPr>
              <a:t>perfect-foresight optimization per scenario</a:t>
            </a:r>
            <a:r>
              <a:rPr sz="2000" i="0" b="0">
                <a:solidFill>
                  <a:srgbClr val="212529"/>
                </a:solidFill>
                <a:latin typeface="Calibri"/>
              </a:rPr>
              <a:t>; we cite the finding, never the machinery</a:t>
            </a:r>
          </a:p>
        </p:txBody>
      </p:sp>
      <p:pic>
        <p:nvPicPr>
          <p:cNvPr id="6" name="Picture 5" descr="image8.png"/>
          <p:cNvPicPr>
            <a:picLocks noChangeAspect="1"/>
          </p:cNvPicPr>
          <p:nvPr/>
        </p:nvPicPr>
        <p:blipFill>
          <a:blip r:embed="rId3"/>
          <a:stretch>
            <a:fillRect/>
          </a:stretch>
        </p:blipFill>
        <p:spPr>
          <a:xfrm>
            <a:off x="7863840" y="1691640"/>
            <a:ext cx="3798327" cy="4526280"/>
          </a:xfrm>
          <a:prstGeom prst="rect">
            <a:avLst/>
          </a:prstGeom>
        </p:spPr>
      </p:pic>
      <p:sp>
        <p:nvSpPr>
          <p:cNvPr id="7" name="TextBox 6"/>
          <p:cNvSpPr txBox="1"/>
          <p:nvPr/>
        </p:nvSpPr>
        <p:spPr>
          <a:xfrm>
            <a:off x="7498079" y="6263640"/>
            <a:ext cx="4572000" cy="365760"/>
          </a:xfrm>
          <a:prstGeom prst="rect">
            <a:avLst/>
          </a:prstGeom>
          <a:noFill/>
        </p:spPr>
        <p:txBody>
          <a:bodyPr wrap="square">
            <a:spAutoFit/>
          </a:bodyPr>
          <a:lstStyle/>
          <a:p>
            <a:pPr algn="ctr"/>
            <a:r>
              <a:rPr sz="1800" i="0" b="0">
                <a:solidFill>
                  <a:srgbClr val="5F6B7A"/>
                </a:solidFill>
                <a:latin typeface="Calibri"/>
              </a:rPr>
              <a:t>this study: DRB stationary stochastic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How the literature designs scenario sets: four families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1091672" cy="411480"/>
          </a:xfrm>
          <a:prstGeom prst="rect">
            <a:avLst/>
          </a:prstGeom>
          <a:noFill/>
        </p:spPr>
        <p:txBody>
          <a:bodyPr wrap="square">
            <a:spAutoFit/>
          </a:bodyPr>
          <a:lstStyle/>
          <a:p>
            <a:pPr algn="l"/>
            <a:r>
              <a:rPr sz="1800" i="0" b="0">
                <a:solidFill>
                  <a:srgbClr val="5F6B7A"/>
                </a:solidFill>
                <a:latin typeface="Calibri"/>
              </a:rPr>
              <a:t>Families defined by the criterion of a good scenario set (working taxonomy, after Fairbrother et al. 2022; Brown et al. 2012)</a:t>
            </a:r>
          </a:p>
        </p:txBody>
      </p:sp>
      <p:cxnSp>
        <p:nvCxnSpPr>
          <p:cNvPr id="5" name="Connector 4"/>
          <p:cNvCxnSpPr/>
          <p:nvPr/>
        </p:nvCxnSpPr>
        <p:spPr>
          <a:xfrm>
            <a:off x="77724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77724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20216" y="2414016"/>
            <a:ext cx="343815" cy="464058"/>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64031" y="2414016"/>
            <a:ext cx="300837" cy="596646"/>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464868" y="2281428"/>
            <a:ext cx="386792" cy="729234"/>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851660" y="2281428"/>
            <a:ext cx="279349" cy="530352"/>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131009" y="2546604"/>
            <a:ext cx="365303" cy="265176"/>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96312" y="2546604"/>
            <a:ext cx="365302" cy="397764"/>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65760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65760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427423" y="264601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81910" y="233448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72876" y="294093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938405" y="274016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65508" y="273660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686528" y="2864798"/>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657614" y="288388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92444" y="290700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6087" y="2671305"/>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730302" y="264558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010528" y="275642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672727" y="2637786"/>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796533" y="288033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3866" y="274677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254914" y="293831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44169" y="290033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44989" y="305189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112240" y="270756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00688" y="273592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676695" y="278875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98181" y="272546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643296" y="272330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59747" y="273667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998137" y="255143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920825" y="270085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812606" y="275511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53796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53796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73912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73912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73912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15060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15060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060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56208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56208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6208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97356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97356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97356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8504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38504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38504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941832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941832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9772650" y="2457450"/>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147554" y="2825496"/>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428732" y="240487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653674" y="2983229"/>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991088" y="261518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960102" y="3035808"/>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03636" y="229971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178540" y="287807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335006" y="266776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084814" y="3140963"/>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48640" y="3584448"/>
            <a:ext cx="2651760" cy="1371600"/>
          </a:xfrm>
          <a:prstGeom prst="rect">
            <a:avLst/>
          </a:prstGeom>
          <a:noFill/>
        </p:spPr>
        <p:txBody>
          <a:bodyPr wrap="square">
            <a:spAutoFit/>
          </a:bodyPr>
          <a:lstStyle/>
          <a:p>
            <a:pPr algn="ctr"/>
            <a:r>
              <a:rPr sz="1800" i="0" b="1">
                <a:solidFill>
                  <a:srgbClr val="212529"/>
                </a:solidFill>
                <a:latin typeface="Calibri"/>
              </a:rPr>
              <a:t>I. Judgment-based</a:t>
            </a:r>
          </a:p>
          <a:p>
            <a:pPr algn="ctr"/>
            <a:r>
              <a:rPr sz="1800" i="0" b="0">
                <a:solidFill>
                  <a:srgbClr val="5F6B7A"/>
                </a:solidFill>
                <a:latin typeface="Calibri"/>
              </a:rPr>
              <a:t>single traces, design events</a:t>
            </a:r>
          </a:p>
          <a:p>
            <a:pPr algn="ctr"/>
            <a:r>
              <a:rPr sz="1800" i="0" b="0">
                <a:solidFill>
                  <a:srgbClr val="5F6B7A"/>
                </a:solidFill>
                <a:latin typeface="Calibri"/>
              </a:rPr>
              <a:t>(Giuliani et al. 2016)</a:t>
            </a:r>
          </a:p>
        </p:txBody>
      </p:sp>
      <p:sp>
        <p:nvSpPr>
          <p:cNvPr id="71" name="TextBox 70"/>
          <p:cNvSpPr txBox="1"/>
          <p:nvPr/>
        </p:nvSpPr>
        <p:spPr>
          <a:xfrm>
            <a:off x="3429000" y="3584448"/>
            <a:ext cx="2651760" cy="1371600"/>
          </a:xfrm>
          <a:prstGeom prst="rect">
            <a:avLst/>
          </a:prstGeom>
          <a:noFill/>
        </p:spPr>
        <p:txBody>
          <a:bodyPr wrap="square">
            <a:spAutoFit/>
          </a:bodyPr>
          <a:lstStyle/>
          <a:p>
            <a:pPr algn="ctr"/>
            <a:r>
              <a:rPr sz="1800" i="0" b="1">
                <a:solidFill>
                  <a:srgbClr val="212529"/>
                </a:solidFill>
                <a:latin typeface="Calibri"/>
              </a:rPr>
              <a:t>II. Distribution-driven</a:t>
            </a:r>
          </a:p>
          <a:p>
            <a:pPr algn="ctr"/>
            <a:r>
              <a:rPr sz="1800" i="0" b="0">
                <a:solidFill>
                  <a:srgbClr val="5F6B7A"/>
                </a:solidFill>
                <a:latin typeface="Calibri"/>
              </a:rPr>
              <a:t>sample an assumed distribution</a:t>
            </a:r>
          </a:p>
          <a:p>
            <a:pPr algn="ctr"/>
            <a:r>
              <a:rPr sz="1800" i="0" b="0">
                <a:solidFill>
                  <a:srgbClr val="5F6B7A"/>
                </a:solidFill>
                <a:latin typeface="Calibri"/>
              </a:rPr>
              <a:t>(Quinn et al. 2017)</a:t>
            </a:r>
          </a:p>
        </p:txBody>
      </p:sp>
      <p:sp>
        <p:nvSpPr>
          <p:cNvPr id="72" name="TextBox 71"/>
          <p:cNvSpPr txBox="1"/>
          <p:nvPr/>
        </p:nvSpPr>
        <p:spPr>
          <a:xfrm>
            <a:off x="6309360" y="3584448"/>
            <a:ext cx="2651760" cy="1371600"/>
          </a:xfrm>
          <a:prstGeom prst="rect">
            <a:avLst/>
          </a:prstGeom>
          <a:noFill/>
        </p:spPr>
        <p:txBody>
          <a:bodyPr wrap="square">
            <a:spAutoFit/>
          </a:bodyPr>
          <a:lstStyle/>
          <a:p>
            <a:pPr algn="ctr"/>
            <a:r>
              <a:rPr sz="1800" i="0" b="1">
                <a:solidFill>
                  <a:srgbClr val="212529"/>
                </a:solidFill>
                <a:latin typeface="Calibri"/>
              </a:rPr>
              <a:t>III. Bottom-up coverage</a:t>
            </a:r>
          </a:p>
          <a:p>
            <a:pPr algn="ctr"/>
            <a:r>
              <a:rPr sz="1800" i="0" b="0">
                <a:solidFill>
                  <a:srgbClr val="5F6B7A"/>
                </a:solidFill>
                <a:latin typeface="Calibri"/>
              </a:rPr>
              <a:t>span a condition space</a:t>
            </a:r>
          </a:p>
          <a:p>
            <a:pPr algn="ctr"/>
            <a:r>
              <a:rPr sz="1800" i="0" b="0">
                <a:solidFill>
                  <a:srgbClr val="5F6B7A"/>
                </a:solidFill>
                <a:latin typeface="Calibri"/>
              </a:rPr>
              <a:t>(Brown et al. 2012; Quinn et al. 2020)</a:t>
            </a:r>
          </a:p>
        </p:txBody>
      </p:sp>
      <p:sp>
        <p:nvSpPr>
          <p:cNvPr id="73" name="TextBox 72"/>
          <p:cNvSpPr txBox="1"/>
          <p:nvPr/>
        </p:nvSpPr>
        <p:spPr>
          <a:xfrm>
            <a:off x="9189720" y="3584448"/>
            <a:ext cx="2651760" cy="1371600"/>
          </a:xfrm>
          <a:prstGeom prst="rect">
            <a:avLst/>
          </a:prstGeom>
          <a:noFill/>
        </p:spPr>
        <p:txBody>
          <a:bodyPr wrap="square">
            <a:spAutoFit/>
          </a:bodyPr>
          <a:lstStyle/>
          <a:p>
            <a:pPr algn="ctr"/>
            <a:r>
              <a:rPr sz="1800" i="0" b="1">
                <a:solidFill>
                  <a:srgbClr val="212529"/>
                </a:solidFill>
                <a:latin typeface="Calibri"/>
              </a:rPr>
              <a:t>IV. Problem-driven</a:t>
            </a:r>
          </a:p>
          <a:p>
            <a:pPr algn="ctr"/>
            <a:r>
              <a:rPr sz="1800" i="0" b="0">
                <a:solidFill>
                  <a:srgbClr val="5F6B7A"/>
                </a:solidFill>
                <a:latin typeface="Calibri"/>
              </a:rPr>
              <a:t>select by decision relevance</a:t>
            </a:r>
          </a:p>
          <a:p>
            <a:pPr algn="ctr"/>
            <a:r>
              <a:rPr sz="1800" i="0" b="0">
                <a:solidFill>
                  <a:srgbClr val="5F6B7A"/>
                </a:solidFill>
                <a:latin typeface="Calibri"/>
              </a:rPr>
              <a:t>(Cohen et al. 2021)</a:t>
            </a:r>
          </a:p>
        </p:txBody>
      </p:sp>
      <p:sp>
        <p:nvSpPr>
          <p:cNvPr id="74" name="TextBox 73"/>
          <p:cNvSpPr txBox="1"/>
          <p:nvPr/>
        </p:nvSpPr>
        <p:spPr>
          <a:xfrm>
            <a:off x="548640" y="5257800"/>
            <a:ext cx="11091672" cy="137160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This study: family III coverage, applied in hazard space measured on realized streamflow 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Closest antecedents and the gap</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109960" cy="3108960"/>
        </p:xfrm>
        <a:graphic>
          <a:graphicData uri="http://schemas.openxmlformats.org/drawingml/2006/table">
            <a:tbl>
              <a:tblPr firstRow="1" bandRow="0">
                <a:tableStyleId>{5940675A-B579-460E-94D1-54222C63F5DA}</a:tableStyleId>
              </a:tblPr>
              <a:tblGrid>
                <a:gridCol w="2514600"/>
                <a:gridCol w="4434840"/>
                <a:gridCol w="4160520"/>
              </a:tblGrid>
              <a:tr h="621792">
                <a:tc>
                  <a:txBody>
                    <a:bodyPr wrap="square"/>
                    <a:lstStyle/>
                    <a:p>
                      <a:r>
                        <a:rPr sz="1800" i="0" b="1">
                          <a:solidFill>
                            <a:srgbClr val="212529"/>
                          </a:solidFill>
                          <a:latin typeface="Calibri"/>
                        </a:rPr>
                        <a:t>Antecedent</a:t>
                      </a:r>
                    </a:p>
                  </a:txBody>
                  <a:tcPr marL="73152" marR="73152" marT="27432" marB="27432" anchor="ctr">
                    <a:solidFill>
                      <a:srgbClr val="E9EFF5"/>
                    </a:solidFill>
                  </a:tcPr>
                </a:tc>
                <a:tc>
                  <a:txBody>
                    <a:bodyPr wrap="square"/>
                    <a:lstStyle/>
                    <a:p>
                      <a:r>
                        <a:rPr sz="1800" i="0" b="1">
                          <a:solidFill>
                            <a:srgbClr val="212529"/>
                          </a:solidFill>
                          <a:latin typeface="Calibri"/>
                        </a:rPr>
                        <a:t>Established</a:t>
                      </a:r>
                    </a:p>
                  </a:txBody>
                  <a:tcPr marL="73152" marR="73152" marT="27432" marB="27432" anchor="ctr">
                    <a:solidFill>
                      <a:srgbClr val="E9EFF5"/>
                    </a:solidFill>
                  </a:tcPr>
                </a:tc>
                <a:tc>
                  <a:txBody>
                    <a:bodyPr wrap="square"/>
                    <a:lstStyle/>
                    <a:p>
                      <a:r>
                        <a:rPr sz="1800" i="0" b="1">
                          <a:solidFill>
                            <a:srgbClr val="212529"/>
                          </a:solidFill>
                          <a:latin typeface="Calibri"/>
                        </a:rPr>
                        <a:t>Stops short at</a:t>
                      </a:r>
                    </a:p>
                  </a:txBody>
                  <a:tcPr marL="73152" marR="73152" marT="27432" marB="27432" anchor="ctr">
                    <a:solidFill>
                      <a:srgbClr val="E9EFF5"/>
                    </a:solidFill>
                  </a:tcPr>
                </a:tc>
              </a:tr>
              <a:tr h="621792">
                <a:tc>
                  <a:txBody>
                    <a:bodyPr wrap="square"/>
                    <a:lstStyle/>
                    <a:p>
                      <a:r>
                        <a:rPr sz="1800" i="0" b="0">
                          <a:solidFill>
                            <a:srgbClr val="212529"/>
                          </a:solidFill>
                          <a:latin typeface="Calibri"/>
                        </a:rPr>
                        <a:t>Cohen et al. 2021</a:t>
                      </a:r>
                    </a:p>
                  </a:txBody>
                  <a:tcPr marL="73152" marR="73152" marT="27432" marB="27432" anchor="ctr">
                    <a:solidFill>
                      <a:srgbClr val="FFFFFF"/>
                    </a:solidFill>
                  </a:tcPr>
                </a:tc>
                <a:tc>
                  <a:txBody>
                    <a:bodyPr wrap="square"/>
                    <a:lstStyle/>
                    <a:p>
                      <a:r>
                        <a:rPr sz="1800" i="0" b="0">
                          <a:solidFill>
                            <a:srgbClr val="212529"/>
                          </a:solidFill>
                          <a:latin typeface="Calibri"/>
                        </a:rPr>
                        <a:t>training-scenario properties drive out-of-sample robustness</a:t>
                      </a:r>
                    </a:p>
                  </a:txBody>
                  <a:tcPr marL="73152" marR="73152" marT="27432" marB="27432" anchor="ctr">
                    <a:solidFill>
                      <a:srgbClr val="FFFFFF"/>
                    </a:solidFill>
                  </a:tcPr>
                </a:tc>
                <a:tc>
                  <a:txBody>
                    <a:bodyPr wrap="square"/>
                    <a:lstStyle/>
                    <a:p>
                      <a:r>
                        <a:rPr sz="1800" i="0" b="0">
                          <a:solidFill>
                            <a:srgbClr val="212529"/>
                          </a:solidFill>
                          <a:latin typeface="Calibri"/>
                        </a:rPr>
                        <a:t>problem-driven regret selection; a perfect-foresight run per scenario; 97 GCM traces</a:t>
                      </a:r>
                    </a:p>
                  </a:txBody>
                  <a:tcPr marL="73152" marR="73152" marT="27432" marB="27432" anchor="ctr">
                    <a:solidFill>
                      <a:srgbClr val="FFFFFF"/>
                    </a:solidFill>
                  </a:tcPr>
                </a:tc>
              </a:tr>
              <a:tr h="621792">
                <a:tc>
                  <a:txBody>
                    <a:bodyPr wrap="square"/>
                    <a:lstStyle/>
                    <a:p>
                      <a:r>
                        <a:rPr sz="1800" i="0" b="0">
                          <a:solidFill>
                            <a:srgbClr val="212529"/>
                          </a:solidFill>
                          <a:latin typeface="Calibri"/>
                        </a:rPr>
                        <a:t>Bonham et al. 2024</a:t>
                      </a:r>
                    </a:p>
                  </a:txBody>
                  <a:tcPr marL="73152" marR="73152" marT="27432" marB="27432" anchor="ctr">
                    <a:solidFill>
                      <a:srgbClr val="FFFFFF"/>
                    </a:solidFill>
                  </a:tcPr>
                </a:tc>
                <a:tc>
                  <a:txBody>
                    <a:bodyPr wrap="square"/>
                    <a:lstStyle/>
                    <a:p>
                      <a:r>
                        <a:rPr sz="1800" i="0" b="0">
                          <a:solidFill>
                            <a:srgbClr val="212529"/>
                          </a:solidFill>
                          <a:latin typeface="Calibri"/>
                        </a:rPr>
                        <a:t>space-filling subsampling + coverage metrics in water resources</a:t>
                      </a:r>
                    </a:p>
                  </a:txBody>
                  <a:tcPr marL="73152" marR="73152" marT="27432" marB="27432" anchor="ctr">
                    <a:solidFill>
                      <a:srgbClr val="FFFFFF"/>
                    </a:solidFill>
                  </a:tcPr>
                </a:tc>
                <a:tc>
                  <a:txBody>
                    <a:bodyPr wrap="square"/>
                    <a:lstStyle/>
                    <a:p>
                      <a:r>
                        <a:rPr sz="1800" i="0" b="0">
                          <a:solidFill>
                            <a:srgbClr val="212529"/>
                          </a:solidFill>
                          <a:latin typeface="Calibri"/>
                        </a:rPr>
                        <a:t>post-hoc robustness ranking, not the search ensemble</a:t>
                      </a:r>
                    </a:p>
                  </a:txBody>
                  <a:tcPr marL="73152" marR="73152" marT="27432" marB="27432" anchor="ctr">
                    <a:solidFill>
                      <a:srgbClr val="FFFFFF"/>
                    </a:solidFill>
                  </a:tcPr>
                </a:tc>
              </a:tr>
              <a:tr h="621792">
                <a:tc>
                  <a:txBody>
                    <a:bodyPr wrap="square"/>
                    <a:lstStyle/>
                    <a:p>
                      <a:r>
                        <a:rPr sz="1800" i="0" b="0">
                          <a:solidFill>
                            <a:srgbClr val="212529"/>
                          </a:solidFill>
                          <a:latin typeface="Calibri"/>
                        </a:rPr>
                        <a:t>Zaniolo et al. 2023</a:t>
                      </a:r>
                    </a:p>
                  </a:txBody>
                  <a:tcPr marL="73152" marR="73152" marT="27432" marB="27432" anchor="ctr">
                    <a:solidFill>
                      <a:srgbClr val="FFFFFF"/>
                    </a:solidFill>
                  </a:tcPr>
                </a:tc>
                <a:tc>
                  <a:txBody>
                    <a:bodyPr wrap="square"/>
                    <a:lstStyle/>
                    <a:p>
                      <a:r>
                        <a:rPr sz="1800" i="0" b="0">
                          <a:solidFill>
                            <a:srgbClr val="212529"/>
                          </a:solidFill>
                          <a:latin typeface="Calibri"/>
                        </a:rPr>
                        <a:t>drought-type training ensembles change the policies found</a:t>
                      </a:r>
                    </a:p>
                  </a:txBody>
                  <a:tcPr marL="73152" marR="73152" marT="27432" marB="27432" anchor="ctr">
                    <a:solidFill>
                      <a:srgbClr val="FFFFFF"/>
                    </a:solidFill>
                  </a:tcPr>
                </a:tc>
                <a:tc>
                  <a:txBody>
                    <a:bodyPr wrap="square"/>
                    <a:lstStyle/>
                    <a:p>
                      <a:r>
                        <a:rPr sz="1800" i="0" b="0">
                          <a:solidFill>
                            <a:srgbClr val="212529"/>
                          </a:solidFill>
                          <a:latin typeface="Calibri"/>
                        </a:rPr>
                        <a:t>imposed at generation; four discrete types</a:t>
                      </a:r>
                    </a:p>
                  </a:txBody>
                  <a:tcPr marL="73152" marR="73152" marT="27432" marB="27432" anchor="ctr">
                    <a:solidFill>
                      <a:srgbClr val="FFFFFF"/>
                    </a:solidFill>
                  </a:tcPr>
                </a:tc>
              </a:tr>
              <a:tr h="621792">
                <a:tc>
                  <a:txBody>
                    <a:bodyPr wrap="square"/>
                    <a:lstStyle/>
                    <a:p>
                      <a:r>
                        <a:rPr sz="1800" i="0" b="0">
                          <a:solidFill>
                            <a:srgbClr val="212529"/>
                          </a:solidFill>
                          <a:latin typeface="Calibri"/>
                        </a:rPr>
                        <a:t>Zatarain Salazar et al. 2017</a:t>
                      </a:r>
                    </a:p>
                  </a:txBody>
                  <a:tcPr marL="73152" marR="73152" marT="27432" marB="27432" anchor="ctr">
                    <a:solidFill>
                      <a:srgbClr val="FFFFFF"/>
                    </a:solidFill>
                  </a:tcPr>
                </a:tc>
                <a:tc>
                  <a:txBody>
                    <a:bodyPr wrap="square"/>
                    <a:lstStyle/>
                    <a:p>
                      <a:r>
                        <a:rPr sz="1800" i="0" b="0">
                          <a:solidFill>
                            <a:srgbClr val="212529"/>
                          </a:solidFill>
                          <a:latin typeface="Calibri"/>
                        </a:rPr>
                        <a:t>search-ensemble size vs fidelity vs cost tradeoff</a:t>
                      </a:r>
                    </a:p>
                  </a:txBody>
                  <a:tcPr marL="73152" marR="73152" marT="27432" marB="27432" anchor="ctr">
                    <a:solidFill>
                      <a:srgbClr val="FFFFFF"/>
                    </a:solidFill>
                  </a:tcPr>
                </a:tc>
                <a:tc>
                  <a:txBody>
                    <a:bodyPr wrap="square"/>
                    <a:lstStyle/>
                    <a:p>
                      <a:r>
                        <a:rPr sz="1800" i="0" b="0">
                          <a:solidFill>
                            <a:srgbClr val="212529"/>
                          </a:solidFill>
                          <a:latin typeface="Calibri"/>
                        </a:rPr>
                        <a:t>one-dimensional flow-magnitude stratification</a:t>
                      </a:r>
                    </a:p>
                  </a:txBody>
                  <a:tcPr marL="73152" marR="73152" marT="27432" marB="27432" anchor="ctr">
                    <a:solidFill>
                      <a:srgbClr val="FFFFFF"/>
                    </a:solidFill>
                  </a:tcPr>
                </a:tc>
              </a:tr>
            </a:tbl>
          </a:graphicData>
        </a:graphic>
      </p:graphicFrame>
      <p:sp>
        <p:nvSpPr>
          <p:cNvPr id="5" name="Rectangle 4"/>
          <p:cNvSpPr/>
          <p:nvPr/>
        </p:nvSpPr>
        <p:spPr>
          <a:xfrm>
            <a:off x="548640" y="4754880"/>
            <a:ext cx="11109960" cy="123444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Gap.</a:t>
            </a:r>
            <a:r>
              <a:rPr sz="2000" i="0" b="0">
                <a:solidFill>
                  <a:srgbClr val="212529"/>
                </a:solidFill>
                <a:latin typeface="Calibri"/>
              </a:rPr>
              <a:t>  No study builds the MOEA search ensemble by space-filling selection in a multi-dimensional hazard space, at candidate-pool scale (10⁵–10⁶ sequences), and tests it on a held-out ensemble spanning deep climate uncertainty.</a:t>
            </a:r>
          </a:p>
        </p:txBody>
      </p:sp>
      <p:sp>
        <p:nvSpPr>
          <p:cNvPr id="6" name="TextBox 5"/>
          <p:cNvSpPr txBox="1"/>
          <p:nvPr/>
        </p:nvSpPr>
        <p:spPr>
          <a:xfrm>
            <a:off x="548640" y="6080760"/>
            <a:ext cx="11109960" cy="502920"/>
          </a:xfrm>
          <a:prstGeom prst="rect">
            <a:avLst/>
          </a:prstGeom>
          <a:noFill/>
        </p:spPr>
        <p:txBody>
          <a:bodyPr wrap="square">
            <a:spAutoFit/>
          </a:bodyPr>
          <a:lstStyle/>
          <a:p>
            <a:pPr algn="l"/>
            <a:r>
              <a:rPr sz="1800" i="1" b="0">
                <a:solidFill>
                  <a:srgbClr val="5F6B7A"/>
                </a:solidFill>
                <a:latin typeface="Calibri"/>
              </a:rPr>
              <a:t>Cohen et al. (2021) showed composition matters; the new element is the scalable, simulation-free construction and its held-out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Terminology: three spaces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103120"/>
            <a:ext cx="3200400" cy="10058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Input space</a:t>
            </a:r>
            <a:r>
              <a:rPr sz="1800" i="0" b="0">
                <a:solidFill>
                  <a:srgbClr val="212529"/>
                </a:solidFill>
                <a:latin typeface="Calibri"/>
              </a:rPr>
              <a:t>
generator &amp; climate-forcing parameters θ</a:t>
            </a:r>
          </a:p>
        </p:txBody>
      </p:sp>
      <p:cxnSp>
        <p:nvCxnSpPr>
          <p:cNvPr id="5" name="Connector 4"/>
          <p:cNvCxnSpPr/>
          <p:nvPr/>
        </p:nvCxnSpPr>
        <p:spPr>
          <a:xfrm>
            <a:off x="3840480" y="2606039"/>
            <a:ext cx="6858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364992" y="3182111"/>
            <a:ext cx="1645920" cy="320040"/>
          </a:xfrm>
          <a:prstGeom prst="rect">
            <a:avLst/>
          </a:prstGeom>
          <a:noFill/>
        </p:spPr>
        <p:txBody>
          <a:bodyPr wrap="square">
            <a:spAutoFit/>
          </a:bodyPr>
          <a:lstStyle/>
          <a:p>
            <a:pPr algn="ctr"/>
            <a:r>
              <a:rPr sz="1800" i="0" b="0">
                <a:solidFill>
                  <a:srgbClr val="5F6B7A"/>
                </a:solidFill>
                <a:latin typeface="Calibri"/>
              </a:rPr>
              <a:t>generate</a:t>
            </a:r>
          </a:p>
        </p:txBody>
      </p:sp>
      <p:sp>
        <p:nvSpPr>
          <p:cNvPr id="7" name="Rectangle 6"/>
          <p:cNvSpPr/>
          <p:nvPr/>
        </p:nvSpPr>
        <p:spPr>
          <a:xfrm>
            <a:off x="4526280" y="2103120"/>
            <a:ext cx="3200400" cy="100584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Hazard space</a:t>
            </a:r>
            <a:r>
              <a:rPr sz="1800" i="0" b="0">
                <a:solidFill>
                  <a:srgbClr val="212529"/>
                </a:solidFill>
                <a:latin typeface="Calibri"/>
              </a:rPr>
              <a:t>
drought / low-flow / high-flow metrics per sequence</a:t>
            </a:r>
          </a:p>
        </p:txBody>
      </p:sp>
      <p:cxnSp>
        <p:nvCxnSpPr>
          <p:cNvPr id="8" name="Connector 7"/>
          <p:cNvCxnSpPr/>
          <p:nvPr/>
        </p:nvCxnSpPr>
        <p:spPr>
          <a:xfrm>
            <a:off x="7726679" y="2606039"/>
            <a:ext cx="685801"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251192" y="3182111"/>
            <a:ext cx="1645920" cy="320040"/>
          </a:xfrm>
          <a:prstGeom prst="rect">
            <a:avLst/>
          </a:prstGeom>
          <a:noFill/>
        </p:spPr>
        <p:txBody>
          <a:bodyPr wrap="square">
            <a:spAutoFit/>
          </a:bodyPr>
          <a:lstStyle/>
          <a:p>
            <a:pPr algn="ctr"/>
            <a:r>
              <a:rPr sz="1800" i="0" b="0">
                <a:solidFill>
                  <a:srgbClr val="5F6B7A"/>
                </a:solidFill>
                <a:latin typeface="Calibri"/>
              </a:rPr>
              <a:t>simulate</a:t>
            </a:r>
          </a:p>
        </p:txBody>
      </p:sp>
      <p:sp>
        <p:nvSpPr>
          <p:cNvPr id="10" name="Rectangle 9"/>
          <p:cNvSpPr/>
          <p:nvPr/>
        </p:nvSpPr>
        <p:spPr>
          <a:xfrm>
            <a:off x="8412480" y="2103120"/>
            <a:ext cx="3200400" cy="10058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Outcome space</a:t>
            </a:r>
            <a:r>
              <a:rPr sz="1800" i="0" b="0">
                <a:solidFill>
                  <a:srgbClr val="212529"/>
                </a:solidFill>
                <a:latin typeface="Calibri"/>
              </a:rPr>
              <a:t>
objective values of a policy under a scenario</a:t>
            </a:r>
          </a:p>
        </p:txBody>
      </p:sp>
      <p:sp>
        <p:nvSpPr>
          <p:cNvPr id="11" name="TextBox 10"/>
          <p:cNvSpPr txBox="1"/>
          <p:nvPr/>
        </p:nvSpPr>
        <p:spPr>
          <a:xfrm>
            <a:off x="548640" y="3931920"/>
            <a:ext cx="11091672" cy="269748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hazard coordinates are </a:t>
            </a:r>
            <a:r>
              <a:rPr sz="2000" i="0" b="1">
                <a:solidFill>
                  <a:srgbClr val="212529"/>
                </a:solidFill>
                <a:latin typeface="Calibri"/>
              </a:rPr>
              <a:t>measured on realized sequences, before any simulation</a:t>
            </a:r>
            <a:r>
              <a:rPr sz="2000" i="0" b="0">
                <a:solidFill>
                  <a:srgbClr val="212529"/>
                </a:solidFill>
                <a:latin typeface="Calibri"/>
              </a:rPr>
              <a:t> (drought event metrics per run theory, Yevjevich 1967; SSI, Vicente-Serrano et al. 2012; flow indices, Richter et al. 1996)</a:t>
            </a:r>
          </a:p>
          <a:p>
            <a:pPr>
              <a:lnSpc>
                <a:spcPct val="104000"/>
              </a:lnSpc>
              <a:spcAft>
                <a:spcPts val="1000"/>
              </a:spcAft>
            </a:pPr>
            <a:r>
              <a:rPr sz="2000" i="0" b="0">
                <a:solidFill>
                  <a:srgbClr val="212529"/>
                </a:solidFill>
                <a:latin typeface="Calibri"/>
              </a:rPr>
              <a:t>•  so hazard-space ensemble design is a </a:t>
            </a:r>
            <a:r>
              <a:rPr sz="2000" i="0" b="1">
                <a:solidFill>
                  <a:srgbClr val="212529"/>
                </a:solidFill>
                <a:latin typeface="Calibri"/>
              </a:rPr>
              <a:t>simulation-free, pre-optimization step</a:t>
            </a:r>
            <a:r>
              <a:rPr sz="2000" i="0" b="0">
                <a:solidFill>
                  <a:srgbClr val="212529"/>
                </a:solidFill>
                <a:latin typeface="Calibri"/>
              </a:rPr>
              <a:t>, reusable across problem formulations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Proposed design: hazard-filling search ensembles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θ is a knob on the generator. Hazard is not — it is emergent, measured after the fact.</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700"/>
              </a:spcAft>
            </a:pPr>
            <a:r>
              <a:rPr sz="2000" i="0" b="0">
                <a:solidFill>
                  <a:srgbClr val="212529"/>
                </a:solidFill>
                <a:latin typeface="Calibri"/>
              </a:rPr>
              <a:t>•  input-parameter designs </a:t>
            </a:r>
            <a:r>
              <a:rPr sz="2000" i="0" b="1">
                <a:solidFill>
                  <a:srgbClr val="212529"/>
                </a:solidFill>
                <a:latin typeface="Calibri"/>
              </a:rPr>
              <a:t>generate to</a:t>
            </a:r>
            <a:r>
              <a:rPr sz="2000" i="0" b="0">
                <a:solidFill>
                  <a:srgbClr val="212529"/>
                </a:solidFill>
                <a:latin typeface="Calibri"/>
              </a:rPr>
              <a:t> their design points: LHS alone, nothing to snap to</a:t>
            </a:r>
          </a:p>
          <a:p>
            <a:pPr>
              <a:lnSpc>
                <a:spcPct val="104000"/>
              </a:lnSpc>
              <a:spcAft>
                <a:spcPts val="700"/>
              </a:spcAft>
            </a:pPr>
            <a:r>
              <a:rPr sz="2000" i="0" b="0">
                <a:solidFill>
                  <a:srgbClr val="212529"/>
                </a:solidFill>
                <a:latin typeface="Calibri"/>
              </a:rPr>
              <a:t>•  hazard-space design must </a:t>
            </a:r>
            <a:r>
              <a:rPr sz="2000" i="0" b="1">
                <a:solidFill>
                  <a:srgbClr val="212529"/>
                </a:solidFill>
                <a:latin typeface="Calibri"/>
              </a:rPr>
              <a:t>select from</a:t>
            </a:r>
            <a:r>
              <a:rPr sz="2000" i="0" b="0">
                <a:solidFill>
                  <a:srgbClr val="212529"/>
                </a:solidFill>
                <a:latin typeface="Calibri"/>
              </a:rPr>
              <a:t> a finite </a:t>
            </a:r>
            <a:r>
              <a:rPr sz="2000" i="0" b="1">
                <a:solidFill>
                  <a:srgbClr val="212529"/>
                </a:solidFill>
                <a:latin typeface="Calibri"/>
              </a:rPr>
              <a:t>candidate pool</a:t>
            </a:r>
            <a:r>
              <a:rPr sz="2000" i="0" b="0">
                <a:solidFill>
                  <a:srgbClr val="212529"/>
                </a:solidFill>
                <a:latin typeface="Calibri"/>
              </a:rPr>
              <a:t> of 10⁵–10⁶ short (10-yr) i.i.d. realizations, which the design generates and owns</a:t>
            </a:r>
          </a:p>
          <a:p>
            <a:pPr>
              <a:lnSpc>
                <a:spcPct val="104000"/>
              </a:lnSpc>
              <a:spcAft>
                <a:spcPts val="700"/>
              </a:spcAft>
            </a:pPr>
            <a:r>
              <a:rPr sz="2000" i="0" b="0">
                <a:solidFill>
                  <a:srgbClr val="212529"/>
                </a:solidFill>
                <a:latin typeface="Calibri"/>
              </a:rPr>
              <a:t>•  selector: </a:t>
            </a:r>
            <a:r>
              <a:rPr sz="2000" i="0" b="1">
                <a:solidFill>
                  <a:srgbClr val="212529"/>
                </a:solidFill>
                <a:latin typeface="Calibri"/>
              </a:rPr>
              <a:t>LHS anchors in ABSOLUTE, range-scaled hazard space, snapped to the nearest unused pool member</a:t>
            </a:r>
            <a:r>
              <a:rPr sz="2000" i="0" b="0">
                <a:solidFill>
                  <a:srgbClr val="212529"/>
                </a:solidFill>
                <a:latin typeface="Calibri"/>
              </a:rPr>
              <a:t> — deliberately over-represents the severe corners; deterministic, no tuning</a:t>
            </a:r>
          </a:p>
          <a:p>
            <a:pPr>
              <a:lnSpc>
                <a:spcPct val="104000"/>
              </a:lnSpc>
              <a:spcAft>
                <a:spcPts val="700"/>
              </a:spcAft>
            </a:pPr>
            <a:r>
              <a:rPr sz="2000" i="0" b="0">
                <a:solidFill>
                  <a:srgbClr val="212529"/>
                </a:solidFill>
                <a:latin typeface="Calibri"/>
              </a:rPr>
              <a:t>•  the nearest-neighbour step is </a:t>
            </a:r>
            <a:r>
              <a:rPr sz="2000" i="0" b="1">
                <a:solidFill>
                  <a:srgbClr val="212529"/>
                </a:solidFill>
                <a:latin typeface="Calibri"/>
              </a:rPr>
              <a:t>intrinsic to hazard-space design</a:t>
            </a:r>
            <a:r>
              <a:rPr sz="2000" i="0" b="0">
                <a:solidFill>
                  <a:srgbClr val="212529"/>
                </a:solidFill>
                <a:latin typeface="Calibri"/>
              </a:rPr>
              <a:t>, not an approximation of something better; the asymmetry is part of the argument</a:t>
            </a:r>
          </a:p>
          <a:p>
            <a:pPr>
              <a:lnSpc>
                <a:spcPct val="104000"/>
              </a:lnSpc>
              <a:spcAft>
                <a:spcPts val="700"/>
              </a:spcAft>
            </a:pPr>
            <a:r>
              <a:rPr sz="2000" i="0" b="0">
                <a:solidFill>
                  <a:srgbClr val="212529"/>
                </a:solidFill>
                <a:latin typeface="Calibri"/>
              </a:rPr>
              <a:t>•  the shift toward the severe corners is the deliberate intervention RQ1 tests; the single comparison point is the held-out, deeply uncertain re-evaluation on E_test</a:t>
            </a:r>
          </a:p>
        </p:txBody>
      </p:sp>
      <p:cxnSp>
        <p:nvCxnSpPr>
          <p:cNvPr id="6" name="Connector 5"/>
          <p:cNvCxnSpPr/>
          <p:nvPr/>
        </p:nvCxnSpPr>
        <p:spPr>
          <a:xfrm>
            <a:off x="2377440" y="6309360"/>
            <a:ext cx="26060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377440" y="4709160"/>
            <a:ext cx="0" cy="160020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377440" y="6336792"/>
            <a:ext cx="260604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9" name="TextBox 8"/>
          <p:cNvSpPr txBox="1"/>
          <p:nvPr/>
        </p:nvSpPr>
        <p:spPr>
          <a:xfrm rot="16200000">
            <a:off x="1325880" y="5349240"/>
            <a:ext cx="1463040" cy="320040"/>
          </a:xfrm>
          <a:prstGeom prst="rect">
            <a:avLst/>
          </a:prstGeom>
          <a:noFill/>
        </p:spPr>
        <p:txBody>
          <a:bodyPr wrap="square">
            <a:spAutoFit/>
          </a:bodyPr>
          <a:lstStyle/>
          <a:p>
            <a:pPr algn="ctr"/>
            <a:r>
              <a:rPr sz="1800" i="0" b="0">
                <a:solidFill>
                  <a:srgbClr val="5F6B7A"/>
                </a:solidFill>
                <a:latin typeface="Calibri"/>
              </a:rPr>
              <a:t>metric 2</a:t>
            </a:r>
          </a:p>
        </p:txBody>
      </p:sp>
      <p:sp>
        <p:nvSpPr>
          <p:cNvPr id="10" name="Oval 9"/>
          <p:cNvSpPr/>
          <p:nvPr/>
        </p:nvSpPr>
        <p:spPr>
          <a:xfrm>
            <a:off x="2845954" y="566532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920489" y="539563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62688" y="579700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15634" y="543833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23502" y="50845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476150" y="525731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807018" y="487098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83394" y="507963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00820" y="483650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749304" y="572795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69220" y="557074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546764" y="520339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06284" y="493056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645069" y="525398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822782" y="582885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54349" y="597022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504729" y="548896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252798" y="540281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6153" y="4829856"/>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448294" y="508297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52552" y="504930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83485" y="592673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194335" y="575880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796510" y="57165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48864" y="539208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359443" y="503972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579240" y="591853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405229" y="524985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500601" y="527616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743090" y="527721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530226" y="490170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110439" y="605328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602760" y="541156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727165" y="574009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976447" y="556180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741009" y="557936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881908" y="5000056"/>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264881" y="596911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261238" y="554687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169799" y="49145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618942" y="58239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245144" y="52622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031022" y="564757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523302" y="600906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399315" y="604853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666708" y="553827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87805" y="541075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327410" y="509877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471746" y="49900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627380" y="58132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238053" y="540085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4382259" y="484910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058614" y="515339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427974" y="500074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627645" y="521511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4524325" y="604128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173887" y="539547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45443" y="600982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670465" y="571504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533572" y="505382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385151" y="58003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483881" y="555214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442904" y="552626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410475" y="51765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690369" y="51356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225112" y="47954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035472" y="600355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522602" y="554232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940741" y="58726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804681" y="511156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920240" y="4297680"/>
            <a:ext cx="3566160" cy="329184"/>
          </a:xfrm>
          <a:prstGeom prst="rect">
            <a:avLst/>
          </a:prstGeom>
          <a:noFill/>
        </p:spPr>
        <p:txBody>
          <a:bodyPr wrap="square">
            <a:spAutoFit/>
          </a:bodyPr>
          <a:lstStyle/>
          <a:p>
            <a:pPr algn="ctr"/>
            <a:r>
              <a:rPr sz="1800" i="0" b="0">
                <a:solidFill>
                  <a:srgbClr val="5F6B7A"/>
                </a:solidFill>
                <a:latin typeface="Calibri"/>
              </a:rPr>
              <a:t>candidate pool (own, i.i.d., ~10⁶)</a:t>
            </a:r>
          </a:p>
        </p:txBody>
      </p:sp>
      <p:cxnSp>
        <p:nvCxnSpPr>
          <p:cNvPr id="81" name="Connector 80"/>
          <p:cNvCxnSpPr/>
          <p:nvPr/>
        </p:nvCxnSpPr>
        <p:spPr>
          <a:xfrm>
            <a:off x="5440680" y="5509260"/>
            <a:ext cx="1097280" cy="0"/>
          </a:xfrm>
          <a:prstGeom prst="line">
            <a:avLst/>
          </a:prstGeom>
          <a:ln w="2286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4892040" y="4668012"/>
            <a:ext cx="2468880" cy="640080"/>
          </a:xfrm>
          <a:prstGeom prst="rect">
            <a:avLst/>
          </a:prstGeom>
          <a:noFill/>
        </p:spPr>
        <p:txBody>
          <a:bodyPr wrap="square">
            <a:spAutoFit/>
          </a:bodyPr>
          <a:lstStyle/>
          <a:p>
            <a:pPr algn="ctr"/>
            <a:r>
              <a:rPr sz="1800" i="0" b="0">
                <a:solidFill>
                  <a:srgbClr val="5F6B7A"/>
                </a:solidFill>
                <a:latin typeface="Calibri"/>
              </a:rPr>
              <a:t>LHS anchors +
nearest-neighbour snap</a:t>
            </a:r>
          </a:p>
        </p:txBody>
      </p:sp>
      <p:cxnSp>
        <p:nvCxnSpPr>
          <p:cNvPr id="83" name="Connector 82"/>
          <p:cNvCxnSpPr/>
          <p:nvPr/>
        </p:nvCxnSpPr>
        <p:spPr>
          <a:xfrm>
            <a:off x="8412480" y="6309360"/>
            <a:ext cx="2606039"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412480" y="4709160"/>
            <a:ext cx="0" cy="160020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8412480" y="6336792"/>
            <a:ext cx="260604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86" name="TextBox 85"/>
          <p:cNvSpPr txBox="1"/>
          <p:nvPr/>
        </p:nvSpPr>
        <p:spPr>
          <a:xfrm rot="16200000">
            <a:off x="7360919" y="5349240"/>
            <a:ext cx="1463040" cy="320040"/>
          </a:xfrm>
          <a:prstGeom prst="rect">
            <a:avLst/>
          </a:prstGeom>
          <a:noFill/>
        </p:spPr>
        <p:txBody>
          <a:bodyPr wrap="square">
            <a:spAutoFit/>
          </a:bodyPr>
          <a:lstStyle/>
          <a:p>
            <a:pPr algn="ctr"/>
            <a:r>
              <a:rPr sz="1800" i="0" b="0">
                <a:solidFill>
                  <a:srgbClr val="5F6B7A"/>
                </a:solidFill>
                <a:latin typeface="Calibri"/>
              </a:rPr>
              <a:t>metric 2</a:t>
            </a:r>
          </a:p>
        </p:txBody>
      </p:sp>
      <p:sp>
        <p:nvSpPr>
          <p:cNvPr id="87" name="Oval 86"/>
          <p:cNvSpPr/>
          <p:nvPr/>
        </p:nvSpPr>
        <p:spPr>
          <a:xfrm>
            <a:off x="8732519" y="4974336"/>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9646919" y="491032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0561319" y="4974336"/>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732519" y="542239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9646919" y="542239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0515600" y="5447995"/>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778240" y="587044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9646919" y="590885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561319" y="587044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189719" y="5166360"/>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0104119" y="5191963"/>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89719" y="5678424"/>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04119" y="5678424"/>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092440" y="4297680"/>
            <a:ext cx="3291840" cy="329184"/>
          </a:xfrm>
          <a:prstGeom prst="rect">
            <a:avLst/>
          </a:prstGeom>
          <a:noFill/>
        </p:spPr>
        <p:txBody>
          <a:bodyPr wrap="square">
            <a:spAutoFit/>
          </a:bodyPr>
          <a:lstStyle/>
          <a:p>
            <a:pPr algn="ctr"/>
            <a:r>
              <a:rPr sz="1800" i="0" b="0">
                <a:solidFill>
                  <a:srgbClr val="5F6B7A"/>
                </a:solidFill>
                <a:latin typeface="Calibri"/>
              </a:rPr>
              <a:t>search ensemble (N = 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Hypothesis &amp; planned contributions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11109960" cy="132588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Hypothesis.</a:t>
            </a:r>
            <a:r>
              <a:rPr sz="2000" i="0" b="0">
                <a:solidFill>
                  <a:srgbClr val="212529"/>
                </a:solidFill>
                <a:latin typeface="Calibri"/>
              </a:rPr>
              <a:t>  Search ensembles that fill hazard space produce Pareto-approximate policies that are more robust under held-out re-evaluation than probabilistic (i.i.d.) sampling from the same stochastic generator, at equal N, equal L and equal NFE.</a:t>
            </a:r>
          </a:p>
        </p:txBody>
      </p:sp>
      <p:sp>
        <p:nvSpPr>
          <p:cNvPr id="5" name="TextBox 4"/>
          <p:cNvSpPr txBox="1"/>
          <p:nvPr/>
        </p:nvSpPr>
        <p:spPr>
          <a:xfrm>
            <a:off x="548640" y="3063240"/>
            <a:ext cx="11091672" cy="3566160"/>
          </a:xfrm>
          <a:prstGeom prst="rect">
            <a:avLst/>
          </a:prstGeom>
          <a:noFill/>
        </p:spPr>
        <p:txBody>
          <a:bodyPr wrap="square">
            <a:spAutoFit/>
          </a:bodyPr>
          <a:lstStyle/>
          <a:p>
            <a:pPr>
              <a:lnSpc>
                <a:spcPct val="104000"/>
              </a:lnSpc>
              <a:spcAft>
                <a:spcPts val="800"/>
              </a:spcAft>
            </a:pPr>
            <a:r>
              <a:rPr sz="2000" i="0" b="1">
                <a:solidFill>
                  <a:srgbClr val="212529"/>
                </a:solidFill>
                <a:latin typeface="Calibri"/>
              </a:rPr>
              <a:t>Planned contributions</a:t>
            </a:r>
          </a:p>
          <a:p>
            <a:pPr>
              <a:lnSpc>
                <a:spcPct val="104000"/>
              </a:lnSpc>
              <a:spcAft>
                <a:spcPts val="800"/>
              </a:spcAft>
            </a:pPr>
            <a:r>
              <a:rPr sz="2000" i="0" b="0">
                <a:solidFill>
                  <a:srgbClr val="212529"/>
                </a:solidFill>
                <a:latin typeface="Calibri"/>
              </a:rPr>
              <a:t>•  </a:t>
            </a:r>
            <a:r>
              <a:rPr sz="2000" i="0" b="1">
                <a:solidFill>
                  <a:srgbClr val="212529"/>
                </a:solidFill>
                <a:latin typeface="Calibri"/>
              </a:rPr>
              <a:t>first budget-controlled comparison of scenario designs</a:t>
            </a:r>
            <a:r>
              <a:rPr sz="2000" i="0" b="0">
                <a:solidFill>
                  <a:srgbClr val="212529"/>
                </a:solidFill>
                <a:latin typeface="Calibri"/>
              </a:rPr>
              <a:t>, with an </a:t>
            </a:r>
            <a:r>
              <a:rPr sz="2000" i="0" b="1">
                <a:solidFill>
                  <a:srgbClr val="212529"/>
                </a:solidFill>
                <a:latin typeface="Calibri"/>
              </a:rPr>
              <a:t>exact statistical control</a:t>
            </a:r>
            <a:r>
              <a:rPr sz="2000" i="0" b="0">
                <a:solidFill>
                  <a:srgbClr val="212529"/>
                </a:solidFill>
                <a:latin typeface="Calibri"/>
              </a:rPr>
              <a:t> (fixed_probabilistic) for the hazard-filling claim, judged on a genuinely held-out, deeply uncertain re-evaluation</a:t>
            </a:r>
          </a:p>
          <a:p>
            <a:pPr>
              <a:lnSpc>
                <a:spcPct val="104000"/>
              </a:lnSpc>
              <a:spcAft>
                <a:spcPts val="800"/>
              </a:spcAft>
            </a:pPr>
            <a:r>
              <a:rPr sz="2000" i="0" b="0">
                <a:solidFill>
                  <a:srgbClr val="212529"/>
                </a:solidFill>
                <a:latin typeface="Calibri"/>
              </a:rPr>
              <a:t>•  </a:t>
            </a:r>
            <a:r>
              <a:rPr sz="2000" i="0" b="1">
                <a:solidFill>
                  <a:srgbClr val="212529"/>
                </a:solidFill>
                <a:latin typeface="Calibri"/>
              </a:rPr>
              <a:t>scalable, simulation-free, coverage-designed</a:t>
            </a:r>
            <a:r>
              <a:rPr sz="2000" i="0" b="0">
                <a:solidFill>
                  <a:srgbClr val="212529"/>
                </a:solidFill>
                <a:latin typeface="Calibri"/>
              </a:rPr>
              <a:t> search-ensemble construction (hazard-filling), selecting in absolute hazard space over its own i.i.d. pool</a:t>
            </a:r>
          </a:p>
          <a:p>
            <a:pPr>
              <a:lnSpc>
                <a:spcPct val="104000"/>
              </a:lnSpc>
              <a:spcAft>
                <a:spcPts val="800"/>
              </a:spcAft>
            </a:pPr>
            <a:r>
              <a:rPr sz="2000" i="0" b="0">
                <a:solidFill>
                  <a:srgbClr val="212529"/>
                </a:solidFill>
                <a:latin typeface="Calibri"/>
              </a:rPr>
              <a:t>•  </a:t>
            </a:r>
            <a:r>
              <a:rPr sz="2000" i="0" b="1">
                <a:solidFill>
                  <a:srgbClr val="212529"/>
                </a:solidFill>
                <a:latin typeface="Calibri"/>
              </a:rPr>
              <a:t>design-ranking stability under threshold stringency</a:t>
            </a:r>
            <a:r>
              <a:rPr sz="2000" i="0" b="0">
                <a:solidFill>
                  <a:srgbClr val="212529"/>
                </a:solidFill>
                <a:latin typeface="Calibri"/>
              </a:rPr>
              <a:t> — the sweep nobody in this lineage has run</a:t>
            </a:r>
          </a:p>
          <a:p>
            <a:pPr>
              <a:lnSpc>
                <a:spcPct val="104000"/>
              </a:lnSpc>
              <a:spcAft>
                <a:spcPts val="800"/>
              </a:spcAft>
            </a:pPr>
            <a:r>
              <a:rPr sz="2000" i="0" b="0">
                <a:solidFill>
                  <a:srgbClr val="212529"/>
                </a:solidFill>
                <a:latin typeface="Calibri"/>
              </a:rPr>
              <a:t>•  evidence on </a:t>
            </a:r>
            <a:r>
              <a:rPr sz="2000" i="0" b="1">
                <a:solidFill>
                  <a:srgbClr val="212529"/>
                </a:solidFill>
                <a:latin typeface="Calibri"/>
              </a:rPr>
              <a:t>FFMP re-optimization</a:t>
            </a:r>
            <a:r>
              <a:rPr sz="2000" i="0" b="0">
                <a:solidFill>
                  <a:srgbClr val="212529"/>
                </a:solidFill>
                <a:latin typeface="Calibri"/>
              </a:rPr>
              <a:t> and a variable-resolution rule structure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Testbed: NYC reservoirs in the Delaware River Basin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5760720" cy="521208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Cannonsville, Pepacton and Neversink supply about half of NYC's water; the 1954 Supreme Court Decree caps the diversion at 800 MGD</a:t>
            </a:r>
          </a:p>
          <a:p>
            <a:pPr>
              <a:lnSpc>
                <a:spcPct val="104000"/>
              </a:lnSpc>
              <a:spcAft>
                <a:spcPts val="1000"/>
              </a:spcAft>
            </a:pPr>
            <a:r>
              <a:rPr sz="2000" i="0" b="0">
                <a:solidFill>
                  <a:srgbClr val="212529"/>
                </a:solidFill>
                <a:latin typeface="Calibri"/>
              </a:rPr>
              <a:t>•  the Decree also sets minimum-flow targets at Montague and Trenton, protecting New Jersey and Philadelphia (salinity repulsion)</a:t>
            </a:r>
          </a:p>
          <a:p>
            <a:pPr>
              <a:lnSpc>
                <a:spcPct val="104000"/>
              </a:lnSpc>
              <a:spcAft>
                <a:spcPts val="1000"/>
              </a:spcAft>
            </a:pPr>
            <a:r>
              <a:rPr sz="2000" i="0" b="0">
                <a:solidFill>
                  <a:srgbClr val="212529"/>
                </a:solidFill>
                <a:latin typeface="Calibri"/>
              </a:rPr>
              <a:t>•  operations follow the </a:t>
            </a:r>
            <a:r>
              <a:rPr sz="2000" i="0" b="1">
                <a:solidFill>
                  <a:srgbClr val="212529"/>
                </a:solidFill>
                <a:latin typeface="Calibri"/>
              </a:rPr>
              <a:t>Flexible Flow Management Program (FFMP)</a:t>
            </a:r>
            <a:r>
              <a:rPr sz="2000" i="0" b="0">
                <a:solidFill>
                  <a:srgbClr val="212529"/>
                </a:solidFill>
                <a:latin typeface="Calibri"/>
              </a:rPr>
              <a:t>: storage-zone-based releases with drought step-downs; its 24 rule parameters are the decision variables re-optimized here</a:t>
            </a:r>
          </a:p>
          <a:p>
            <a:pPr>
              <a:lnSpc>
                <a:spcPct val="104000"/>
              </a:lnSpc>
              <a:spcAft>
                <a:spcPts val="1000"/>
              </a:spcAft>
            </a:pPr>
            <a:r>
              <a:rPr sz="2000" i="0" b="0">
                <a:solidFill>
                  <a:srgbClr val="212529"/>
                </a:solidFill>
                <a:latin typeface="Calibri"/>
              </a:rPr>
              <a:t>•  simulated with Pywr-DRB, an open-source daily water-availability model of the basin (Hamilton et al. 2024)</a:t>
            </a:r>
          </a:p>
        </p:txBody>
      </p:sp>
      <p:sp>
        <p:nvSpPr>
          <p:cNvPr id="5" name="Rectangle 4"/>
          <p:cNvSpPr/>
          <p:nvPr/>
        </p:nvSpPr>
        <p:spPr>
          <a:xfrm>
            <a:off x="7818120"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Cannonsville</a:t>
            </a:r>
          </a:p>
        </p:txBody>
      </p:sp>
      <p:sp>
        <p:nvSpPr>
          <p:cNvPr id="6" name="Rectangle 5"/>
          <p:cNvSpPr/>
          <p:nvPr/>
        </p:nvSpPr>
        <p:spPr>
          <a:xfrm>
            <a:off x="9299448"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Pepacton</a:t>
            </a:r>
          </a:p>
        </p:txBody>
      </p:sp>
      <p:sp>
        <p:nvSpPr>
          <p:cNvPr id="7" name="Rectangle 6"/>
          <p:cNvSpPr/>
          <p:nvPr/>
        </p:nvSpPr>
        <p:spPr>
          <a:xfrm>
            <a:off x="10780776"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Neversink</a:t>
            </a:r>
          </a:p>
        </p:txBody>
      </p:sp>
      <p:cxnSp>
        <p:nvCxnSpPr>
          <p:cNvPr id="8" name="Connector 7"/>
          <p:cNvCxnSpPr/>
          <p:nvPr/>
        </p:nvCxnSpPr>
        <p:spPr>
          <a:xfrm>
            <a:off x="8503920" y="2121408"/>
            <a:ext cx="1325880"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85248" y="2121408"/>
            <a:ext cx="0"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0149840" y="2121408"/>
            <a:ext cx="1316736"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144000" y="2926080"/>
            <a:ext cx="1737360" cy="548640"/>
          </a:xfrm>
          <a:prstGeom prst="rect">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Delaware mainstem</a:t>
            </a:r>
          </a:p>
        </p:txBody>
      </p:sp>
      <p:cxnSp>
        <p:nvCxnSpPr>
          <p:cNvPr id="12" name="Connector 11"/>
          <p:cNvCxnSpPr/>
          <p:nvPr/>
        </p:nvCxnSpPr>
        <p:spPr>
          <a:xfrm>
            <a:off x="10012680" y="3474720"/>
            <a:ext cx="0" cy="502919"/>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915400" y="4023360"/>
            <a:ext cx="2103120" cy="65836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Montague target
1,750 cfs</a:t>
            </a:r>
          </a:p>
        </p:txBody>
      </p:sp>
      <p:cxnSp>
        <p:nvCxnSpPr>
          <p:cNvPr id="14" name="Connector 13"/>
          <p:cNvCxnSpPr/>
          <p:nvPr/>
        </p:nvCxnSpPr>
        <p:spPr>
          <a:xfrm>
            <a:off x="9966960" y="4681728"/>
            <a:ext cx="0" cy="48463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915400" y="5212080"/>
            <a:ext cx="2103120" cy="65836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Trenton target
3,000 cfs</a:t>
            </a:r>
          </a:p>
        </p:txBody>
      </p:sp>
      <p:sp>
        <p:nvSpPr>
          <p:cNvPr id="16" name="Rectangle 15"/>
          <p:cNvSpPr/>
          <p:nvPr/>
        </p:nvSpPr>
        <p:spPr>
          <a:xfrm>
            <a:off x="6446520" y="2514600"/>
            <a:ext cx="1463040" cy="777240"/>
          </a:xfrm>
          <a:prstGeom prst="rect">
            <a:avLst/>
          </a:prstGeom>
          <a:solidFill>
            <a:srgbClr val="FFFFFF"/>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NYC diversion
≤ 800 MGD</a:t>
            </a:r>
          </a:p>
        </p:txBody>
      </p:sp>
      <p:cxnSp>
        <p:nvCxnSpPr>
          <p:cNvPr id="17" name="Connector 16"/>
          <p:cNvCxnSpPr/>
          <p:nvPr/>
        </p:nvCxnSpPr>
        <p:spPr>
          <a:xfrm flipH="1">
            <a:off x="7589520" y="2148840"/>
            <a:ext cx="685800" cy="41148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Research questions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1091672" cy="498348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RQ1 (core).  Does building the search ensemble by hazard-space coverage, rather than i.i.d. sampling from the same generator, change re-evaluated robustness?</a:t>
            </a:r>
          </a:p>
          <a:p>
            <a:pPr>
              <a:lnSpc>
                <a:spcPct val="104000"/>
              </a:lnSpc>
              <a:spcAft>
                <a:spcPts val="1000"/>
              </a:spcAft>
            </a:pPr>
            <a:r>
              <a:rPr sz="2000" i="0" b="0">
                <a:solidFill>
                  <a:srgbClr val="212529"/>
                </a:solidFill>
                <a:latin typeface="Calibri"/>
              </a:rPr>
              <a:t>•  held-out, deeply uncertain re-evaluation of the resulting Pareto-approximate policies; the single controlled contrast is fixed_probabilistic vs hazard_filling</a:t>
            </a:r>
          </a:p>
          <a:p>
            <a:pPr>
              <a:lnSpc>
                <a:spcPct val="104000"/>
              </a:lnSpc>
              <a:spcAft>
                <a:spcPts val="1000"/>
              </a:spcAft>
            </a:pPr>
          </a:p>
          <a:p>
            <a:pPr>
              <a:lnSpc>
                <a:spcPct val="104000"/>
              </a:lnSpc>
              <a:spcAft>
                <a:spcPts val="1000"/>
              </a:spcAft>
            </a:pPr>
            <a:r>
              <a:rPr sz="2000" i="0" b="1">
                <a:solidFill>
                  <a:srgbClr val="212529"/>
                </a:solidFill>
                <a:latin typeface="Calibri"/>
              </a:rPr>
              <a:t>RQ2.  Can FFMP re-optimization improve NYC / basin outcomes?</a:t>
            </a:r>
          </a:p>
          <a:p>
            <a:pPr>
              <a:lnSpc>
                <a:spcPct val="104000"/>
              </a:lnSpc>
              <a:spcAft>
                <a:spcPts val="1000"/>
              </a:spcAft>
            </a:pPr>
            <a:r>
              <a:rPr sz="2000" i="0" b="0">
                <a:solidFill>
                  <a:srgbClr val="212529"/>
                </a:solidFill>
                <a:latin typeface="Calibri"/>
              </a:rPr>
              <a:t>•  supply reliability · Decree flow targets · flooding · storage resilience; judged against the current FFMP policy re-evaluated on the same test ensemble</a:t>
            </a:r>
          </a:p>
          <a:p>
            <a:pPr>
              <a:lnSpc>
                <a:spcPct val="104000"/>
              </a:lnSpc>
              <a:spcAft>
                <a:spcPts val="1000"/>
              </a:spcAft>
            </a:pPr>
          </a:p>
          <a:p>
            <a:pPr>
              <a:lnSpc>
                <a:spcPct val="104000"/>
              </a:lnSpc>
              <a:spcAft>
                <a:spcPts val="1000"/>
              </a:spcAft>
            </a:pPr>
            <a:r>
              <a:rPr sz="2000" i="0" b="1">
                <a:solidFill>
                  <a:srgbClr val="212529"/>
                </a:solidFill>
                <a:latin typeface="Calibri"/>
              </a:rPr>
              <a:t>RQ3.  Does a variable-resolution FFMP rule structure help?</a:t>
            </a:r>
          </a:p>
          <a:p>
            <a:pPr>
              <a:lnSpc>
                <a:spcPct val="104000"/>
              </a:lnSpc>
              <a:spcAft>
                <a:spcPts val="1000"/>
              </a:spcAft>
            </a:pPr>
            <a:r>
              <a:rPr sz="2000" i="0" b="0">
                <a:solidFill>
                  <a:srgbClr val="212529"/>
                </a:solidFill>
                <a:latin typeface="Calibri"/>
              </a:rPr>
              <a:t>•  ffmp_N redraws the storage-zone discretization with N zone levels (8, 10, 12) vs the standard 24-parameter FFMP; nesting within the design campaign open (SU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planned experiment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1572768"/>
            <a:ext cx="1280160" cy="731520"/>
          </a:xfrm>
          <a:prstGeom prst="rect">
            <a:avLst/>
          </a:prstGeom>
          <a:noFill/>
        </p:spPr>
        <p:txBody>
          <a:bodyPr wrap="none">
            <a:spAutoFit/>
          </a:bodyPr>
          <a:lstStyle/>
          <a:p>
            <a:pPr algn="l"/>
            <a:r>
              <a:rPr sz="1800" i="0" b="1">
                <a:solidFill>
                  <a:srgbClr val="5F6B7A"/>
                </a:solidFill>
                <a:latin typeface="Calibri"/>
              </a:rPr>
              <a:t>1</a:t>
            </a:r>
            <a:r>
              <a:rPr sz="1800" i="0" b="0">
                <a:solidFill>
                  <a:srgbClr val="5F6B7A"/>
                </a:solidFill>
                <a:latin typeface="Calibri"/>
              </a:rPr>
              <a:t>
GENERATE</a:t>
            </a:r>
          </a:p>
        </p:txBody>
      </p:sp>
      <p:sp>
        <p:nvSpPr>
          <p:cNvPr id="5" name="Rectangle 4"/>
          <p:cNvSpPr/>
          <p:nvPr/>
        </p:nvSpPr>
        <p:spPr>
          <a:xfrm>
            <a:off x="1600200" y="1371600"/>
            <a:ext cx="4023360" cy="82296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one stationary population
Kirsch–Nowak fit to the record (no climate perturbation)</a:t>
            </a:r>
          </a:p>
        </p:txBody>
      </p:sp>
      <p:sp>
        <p:nvSpPr>
          <p:cNvPr id="6" name="Rectangle 5"/>
          <p:cNvSpPr/>
          <p:nvPr/>
        </p:nvSpPr>
        <p:spPr>
          <a:xfrm>
            <a:off x="5897880" y="1371600"/>
            <a:ext cx="4572000" cy="82296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each design generates its own realizations</a:t>
            </a:r>
            <a:r>
              <a:rPr sz="1800" i="0" b="0">
                <a:solidFill>
                  <a:srgbClr val="212529"/>
                </a:solidFill>
                <a:latin typeface="Calibri"/>
              </a:rPr>
              <a:t>
from its own namespaced seed stream</a:t>
            </a:r>
          </a:p>
        </p:txBody>
      </p:sp>
      <p:cxnSp>
        <p:nvCxnSpPr>
          <p:cNvPr id="7" name="Connector 6"/>
          <p:cNvCxnSpPr/>
          <p:nvPr/>
        </p:nvCxnSpPr>
        <p:spPr>
          <a:xfrm>
            <a:off x="5623560" y="1783080"/>
            <a:ext cx="27432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07040" y="1371600"/>
            <a:ext cx="1554480" cy="822960"/>
          </a:xfrm>
          <a:prstGeom prst="rect">
            <a:avLst/>
          </a:prstGeom>
          <a:noFill/>
        </p:spPr>
        <p:txBody>
          <a:bodyPr wrap="square">
            <a:spAutoFit/>
          </a:bodyPr>
          <a:lstStyle/>
          <a:p>
            <a:pPr algn="l"/>
            <a:r>
              <a:rPr sz="1800" i="0" b="0">
                <a:solidFill>
                  <a:srgbClr val="A45929"/>
                </a:solidFill>
                <a:latin typeface="Calibri"/>
              </a:rPr>
              <a:t>deep uncertainty
enters only in E_test
(stage 4)</a:t>
            </a:r>
          </a:p>
        </p:txBody>
      </p:sp>
      <p:cxnSp>
        <p:nvCxnSpPr>
          <p:cNvPr id="9" name="Connector 8"/>
          <p:cNvCxnSpPr/>
          <p:nvPr/>
        </p:nvCxnSpPr>
        <p:spPr>
          <a:xfrm>
            <a:off x="384048" y="2487168"/>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84048" y="2788920"/>
            <a:ext cx="1280160" cy="731520"/>
          </a:xfrm>
          <a:prstGeom prst="rect">
            <a:avLst/>
          </a:prstGeom>
          <a:noFill/>
        </p:spPr>
        <p:txBody>
          <a:bodyPr wrap="none">
            <a:spAutoFit/>
          </a:bodyPr>
          <a:lstStyle/>
          <a:p>
            <a:pPr algn="l"/>
            <a:r>
              <a:rPr sz="1800" i="0" b="1">
                <a:solidFill>
                  <a:srgbClr val="5F6B7A"/>
                </a:solidFill>
                <a:latin typeface="Calibri"/>
              </a:rPr>
              <a:t>2</a:t>
            </a:r>
            <a:r>
              <a:rPr sz="1800" i="0" b="0">
                <a:solidFill>
                  <a:srgbClr val="5F6B7A"/>
                </a:solidFill>
                <a:latin typeface="Calibri"/>
              </a:rPr>
              <a:t>
BUILD</a:t>
            </a:r>
          </a:p>
        </p:txBody>
      </p:sp>
      <p:cxnSp>
        <p:nvCxnSpPr>
          <p:cNvPr id="11" name="Connector 10"/>
          <p:cNvCxnSpPr/>
          <p:nvPr/>
        </p:nvCxnSpPr>
        <p:spPr>
          <a:xfrm>
            <a:off x="5943600" y="2194560"/>
            <a:ext cx="0" cy="512064"/>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1600200" y="2734056"/>
            <a:ext cx="2194560" cy="566928"/>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historic*</a:t>
            </a:r>
          </a:p>
        </p:txBody>
      </p:sp>
      <p:sp>
        <p:nvSpPr>
          <p:cNvPr id="13" name="Rectangle 12"/>
          <p:cNvSpPr/>
          <p:nvPr/>
        </p:nvSpPr>
        <p:spPr>
          <a:xfrm>
            <a:off x="3977639" y="2734056"/>
            <a:ext cx="2194560" cy="566928"/>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fixed prob.</a:t>
            </a:r>
          </a:p>
        </p:txBody>
      </p:sp>
      <p:sp>
        <p:nvSpPr>
          <p:cNvPr id="14" name="Rectangle 13"/>
          <p:cNvSpPr/>
          <p:nvPr/>
        </p:nvSpPr>
        <p:spPr>
          <a:xfrm>
            <a:off x="6355080" y="2734056"/>
            <a:ext cx="2194560" cy="566928"/>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hazard-fill</a:t>
            </a:r>
          </a:p>
        </p:txBody>
      </p:sp>
      <p:sp>
        <p:nvSpPr>
          <p:cNvPr id="15" name="TextBox 14"/>
          <p:cNvSpPr txBox="1"/>
          <p:nvPr/>
        </p:nvSpPr>
        <p:spPr>
          <a:xfrm>
            <a:off x="1600200" y="3355848"/>
            <a:ext cx="10241280" cy="365760"/>
          </a:xfrm>
          <a:prstGeom prst="rect">
            <a:avLst/>
          </a:prstGeom>
          <a:noFill/>
        </p:spPr>
        <p:txBody>
          <a:bodyPr wrap="none">
            <a:spAutoFit/>
          </a:bodyPr>
          <a:lstStyle/>
          <a:p>
            <a:pPr algn="l"/>
            <a:r>
              <a:rPr sz="1800" i="0" b="0">
                <a:solidFill>
                  <a:srgbClr val="5F6B7A"/>
                </a:solidFill>
                <a:latin typeface="Calibri"/>
              </a:rPr>
              <a:t>no design subsamples a shared pool; only hazard-filling needs a pool, and it owns its candidate pool + hazard image</a:t>
            </a:r>
          </a:p>
        </p:txBody>
      </p:sp>
      <p:cxnSp>
        <p:nvCxnSpPr>
          <p:cNvPr id="16" name="Connector 15"/>
          <p:cNvCxnSpPr/>
          <p:nvPr/>
        </p:nvCxnSpPr>
        <p:spPr>
          <a:xfrm>
            <a:off x="384048" y="3730752"/>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84048" y="4069080"/>
            <a:ext cx="1280160" cy="731520"/>
          </a:xfrm>
          <a:prstGeom prst="rect">
            <a:avLst/>
          </a:prstGeom>
          <a:noFill/>
        </p:spPr>
        <p:txBody>
          <a:bodyPr wrap="none">
            <a:spAutoFit/>
          </a:bodyPr>
          <a:lstStyle/>
          <a:p>
            <a:pPr algn="l"/>
            <a:r>
              <a:rPr sz="1800" i="0" b="1">
                <a:solidFill>
                  <a:srgbClr val="5F6B7A"/>
                </a:solidFill>
                <a:latin typeface="Calibri"/>
              </a:rPr>
              <a:t>3</a:t>
            </a:r>
            <a:r>
              <a:rPr sz="1800" i="0" b="0">
                <a:solidFill>
                  <a:srgbClr val="5F6B7A"/>
                </a:solidFill>
                <a:latin typeface="Calibri"/>
              </a:rPr>
              <a:t>
SEARCH</a:t>
            </a:r>
          </a:p>
        </p:txBody>
      </p:sp>
      <p:cxnSp>
        <p:nvCxnSpPr>
          <p:cNvPr id="18" name="Connector 17"/>
          <p:cNvCxnSpPr/>
          <p:nvPr/>
        </p:nvCxnSpPr>
        <p:spPr>
          <a:xfrm>
            <a:off x="5943600" y="3300984"/>
            <a:ext cx="0" cy="649224"/>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00200" y="3977639"/>
            <a:ext cx="6675120" cy="7772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independent MM-Borg searches per design
N = 100 × L = 10 yr, equal NFE; K draws × S seeds</a:t>
            </a:r>
          </a:p>
        </p:txBody>
      </p:sp>
      <p:cxnSp>
        <p:nvCxnSpPr>
          <p:cNvPr id="20" name="Connector 19"/>
          <p:cNvCxnSpPr/>
          <p:nvPr/>
        </p:nvCxnSpPr>
        <p:spPr>
          <a:xfrm>
            <a:off x="8275320" y="4361688"/>
            <a:ext cx="3200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8595360" y="3977639"/>
            <a:ext cx="3154680" cy="7772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Pareto-approximate
sets (per design)</a:t>
            </a:r>
          </a:p>
        </p:txBody>
      </p:sp>
      <p:cxnSp>
        <p:nvCxnSpPr>
          <p:cNvPr id="22" name="Connector 21"/>
          <p:cNvCxnSpPr/>
          <p:nvPr/>
        </p:nvCxnSpPr>
        <p:spPr>
          <a:xfrm>
            <a:off x="384048" y="4892040"/>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84048" y="5257800"/>
            <a:ext cx="1280160" cy="731520"/>
          </a:xfrm>
          <a:prstGeom prst="rect">
            <a:avLst/>
          </a:prstGeom>
          <a:noFill/>
        </p:spPr>
        <p:txBody>
          <a:bodyPr wrap="none">
            <a:spAutoFit/>
          </a:bodyPr>
          <a:lstStyle/>
          <a:p>
            <a:pPr algn="l"/>
            <a:r>
              <a:rPr sz="1800" i="0" b="1">
                <a:solidFill>
                  <a:srgbClr val="5F6B7A"/>
                </a:solidFill>
                <a:latin typeface="Calibri"/>
              </a:rPr>
              <a:t>4</a:t>
            </a:r>
            <a:r>
              <a:rPr sz="1800" i="0" b="0">
                <a:solidFill>
                  <a:srgbClr val="5F6B7A"/>
                </a:solidFill>
                <a:latin typeface="Calibri"/>
              </a:rPr>
              <a:t>
EVALUATE</a:t>
            </a:r>
          </a:p>
        </p:txBody>
      </p:sp>
      <p:cxnSp>
        <p:nvCxnSpPr>
          <p:cNvPr id="24" name="Connector 23"/>
          <p:cNvCxnSpPr/>
          <p:nvPr/>
        </p:nvCxnSpPr>
        <p:spPr>
          <a:xfrm flipH="1">
            <a:off x="6080760" y="4754880"/>
            <a:ext cx="4069080" cy="43891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600200" y="5166360"/>
            <a:ext cx="4526280" cy="86868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common held-out E_test (DU-forced)
LHS over CMIP6 forcing box × realizations; never searched</a:t>
            </a:r>
          </a:p>
        </p:txBody>
      </p:sp>
      <p:cxnSp>
        <p:nvCxnSpPr>
          <p:cNvPr id="26" name="Connector 25"/>
          <p:cNvCxnSpPr/>
          <p:nvPr/>
        </p:nvCxnSpPr>
        <p:spPr>
          <a:xfrm>
            <a:off x="6126480" y="5596128"/>
            <a:ext cx="3200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446520" y="5166360"/>
            <a:ext cx="530352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multivariate satisficing (primary) + secondary metrics;
nondominated sets recomputed for all designs</a:t>
            </a:r>
          </a:p>
        </p:txBody>
      </p:sp>
      <p:sp>
        <p:nvSpPr>
          <p:cNvPr id="28" name="TextBox 27"/>
          <p:cNvSpPr txBox="1"/>
          <p:nvPr/>
        </p:nvSpPr>
        <p:spPr>
          <a:xfrm>
            <a:off x="1600200" y="6108192"/>
            <a:ext cx="10149840" cy="566928"/>
          </a:xfrm>
          <a:prstGeom prst="rect">
            <a:avLst/>
          </a:prstGeom>
          <a:noFill/>
        </p:spPr>
        <p:txBody>
          <a:bodyPr wrap="square">
            <a:spAutoFit/>
          </a:bodyPr>
          <a:lstStyle/>
          <a:p>
            <a:pPr algn="l"/>
            <a:r>
              <a:rPr sz="1800" i="0" b="0">
                <a:solidFill>
                  <a:srgbClr val="5F6B7A"/>
                </a:solidFill>
                <a:latin typeface="Calibri"/>
              </a:rPr>
              <a:t>*historic = observed record, prevailing-practice reference (N = 1; cannot be size-matched); the current FFMP policy is also re-evaluated on the test ensemble as the RQ2 baseline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Scenario designs compared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63040"/>
          <a:ext cx="11109960" cy="2926080"/>
        </p:xfrm>
        <a:graphic>
          <a:graphicData uri="http://schemas.openxmlformats.org/drawingml/2006/table">
            <a:tbl>
              <a:tblPr firstRow="1" bandRow="0">
                <a:tableStyleId>{5940675A-B579-460E-94D1-54222C63F5DA}</a:tableStyleId>
              </a:tblPr>
              <a:tblGrid>
                <a:gridCol w="1234440"/>
                <a:gridCol w="2606040"/>
                <a:gridCol w="4343400"/>
                <a:gridCol w="2926080"/>
              </a:tblGrid>
              <a:tr h="731520">
                <a:tc>
                  <a:txBody>
                    <a:bodyPr wrap="square"/>
                    <a:lstStyle/>
                    <a:p>
                      <a:r>
                        <a:rPr sz="1800" i="0" b="1">
                          <a:solidFill>
                            <a:srgbClr val="212529"/>
                          </a:solidFill>
                          <a:latin typeface="Calibri"/>
                        </a:rPr>
                        <a:t>Population</a:t>
                      </a:r>
                    </a:p>
                  </a:txBody>
                  <a:tcPr marL="73152" marR="73152" marT="27432" marB="27432" anchor="ctr">
                    <a:solidFill>
                      <a:srgbClr val="E9EFF5"/>
                    </a:solidFill>
                  </a:tcPr>
                </a:tc>
                <a:tc>
                  <a:txBody>
                    <a:bodyPr wrap="square"/>
                    <a:lstStyle/>
                    <a:p>
                      <a:r>
                        <a:rPr sz="1800" i="0" b="1">
                          <a:solidFill>
                            <a:srgbClr val="212529"/>
                          </a:solidFill>
                          <a:latin typeface="Calibri"/>
                        </a:rPr>
                        <a:t>Design</a:t>
                      </a:r>
                    </a:p>
                  </a:txBody>
                  <a:tcPr marL="73152" marR="73152" marT="27432" marB="27432" anchor="ctr">
                    <a:solidFill>
                      <a:srgbClr val="E9EFF5"/>
                    </a:solidFill>
                  </a:tcPr>
                </a:tc>
                <a:tc>
                  <a:txBody>
                    <a:bodyPr wrap="square"/>
                    <a:lstStyle/>
                    <a:p>
                      <a:r>
                        <a:rPr sz="1800" i="0" b="1">
                          <a:solidFill>
                            <a:srgbClr val="212529"/>
                          </a:solidFill>
                          <a:latin typeface="Calibri"/>
                        </a:rPr>
                        <a:t>Construction of the search ensemble</a:t>
                      </a:r>
                    </a:p>
                  </a:txBody>
                  <a:tcPr marL="73152" marR="73152" marT="27432" marB="27432" anchor="ctr">
                    <a:solidFill>
                      <a:srgbClr val="E9EFF5"/>
                    </a:solidFill>
                  </a:tcPr>
                </a:tc>
                <a:tc>
                  <a:txBody>
                    <a:bodyPr wrap="square"/>
                    <a:lstStyle/>
                    <a:p>
                      <a:r>
                        <a:rPr sz="1800" i="0" b="1">
                          <a:solidFill>
                            <a:srgbClr val="212529"/>
                          </a:solidFill>
                          <a:latin typeface="Calibri"/>
                        </a:rPr>
                        <a:t>Precedent</a:t>
                      </a:r>
                    </a:p>
                  </a:txBody>
                  <a:tcPr marL="73152" marR="73152" marT="27432" marB="27432" anchor="ctr">
                    <a:solidFill>
                      <a:srgbClr val="E9EFF5"/>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FFFFFF"/>
                    </a:solidFill>
                  </a:tcPr>
                </a:tc>
                <a:tc>
                  <a:txBody>
                    <a:bodyPr wrap="square"/>
                    <a:lstStyle/>
                    <a:p>
                      <a:r>
                        <a:rPr sz="1800" i="0" b="0">
                          <a:solidFill>
                            <a:srgbClr val="212529"/>
                          </a:solidFill>
                          <a:latin typeface="Calibri"/>
                        </a:rPr>
                        <a:t>historic</a:t>
                      </a:r>
                    </a:p>
                  </a:txBody>
                  <a:tcPr marL="73152" marR="73152" marT="27432" marB="27432" anchor="ctr">
                    <a:solidFill>
                      <a:srgbClr val="FFFFFF"/>
                    </a:solidFill>
                  </a:tcPr>
                </a:tc>
                <a:tc>
                  <a:txBody>
                    <a:bodyPr wrap="square"/>
                    <a:lstStyle/>
                    <a:p>
                      <a:r>
                        <a:rPr sz="1800" i="0" b="0">
                          <a:solidFill>
                            <a:srgbClr val="212529"/>
                          </a:solidFill>
                          <a:latin typeface="Calibri"/>
                        </a:rPr>
                        <a:t>the observed record as one continuous trace (N = 1)</a:t>
                      </a:r>
                    </a:p>
                  </a:txBody>
                  <a:tcPr marL="73152" marR="73152" marT="27432" marB="27432" anchor="ctr">
                    <a:solidFill>
                      <a:srgbClr val="FFFFFF"/>
                    </a:solidFill>
                  </a:tcPr>
                </a:tc>
                <a:tc>
                  <a:txBody>
                    <a:bodyPr wrap="square"/>
                    <a:lstStyle/>
                    <a:p>
                      <a:r>
                        <a:rPr sz="1800" i="0" b="0">
                          <a:solidFill>
                            <a:srgbClr val="212529"/>
                          </a:solidFill>
                          <a:latin typeface="Calibri"/>
                        </a:rPr>
                        <a:t>Giuliani et al. 2016; Herman et al. 2020</a:t>
                      </a:r>
                    </a:p>
                  </a:txBody>
                  <a:tcPr marL="73152" marR="73152" marT="27432" marB="27432" anchor="ctr">
                    <a:solidFill>
                      <a:srgbClr val="FFFFFF"/>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FFFFFF"/>
                    </a:solidFill>
                  </a:tcPr>
                </a:tc>
                <a:tc>
                  <a:txBody>
                    <a:bodyPr wrap="square"/>
                    <a:lstStyle/>
                    <a:p>
                      <a:r>
                        <a:rPr sz="1800" i="0" b="0">
                          <a:solidFill>
                            <a:srgbClr val="212529"/>
                          </a:solidFill>
                          <a:latin typeface="Calibri"/>
                        </a:rPr>
                        <a:t>fixed_probabilistic</a:t>
                      </a:r>
                    </a:p>
                  </a:txBody>
                  <a:tcPr marL="73152" marR="73152" marT="27432" marB="27432" anchor="ctr">
                    <a:solidFill>
                      <a:srgbClr val="FFFFFF"/>
                    </a:solidFill>
                  </a:tcPr>
                </a:tc>
                <a:tc>
                  <a:txBody>
                    <a:bodyPr wrap="square"/>
                    <a:lstStyle/>
                    <a:p>
                      <a:r>
                        <a:rPr sz="1800" i="0" b="0">
                          <a:solidFill>
                            <a:srgbClr val="212529"/>
                          </a:solidFill>
                          <a:latin typeface="Calibri"/>
                        </a:rPr>
                        <a:t>N × L realizations generated i.i.d.; frozen across the search</a:t>
                      </a:r>
                    </a:p>
                  </a:txBody>
                  <a:tcPr marL="73152" marR="73152" marT="27432" marB="27432" anchor="ctr">
                    <a:solidFill>
                      <a:srgbClr val="FFFFFF"/>
                    </a:solidFill>
                  </a:tcPr>
                </a:tc>
                <a:tc>
                  <a:txBody>
                    <a:bodyPr wrap="square"/>
                    <a:lstStyle/>
                    <a:p>
                      <a:r>
                        <a:rPr sz="1800" i="0" b="0">
                          <a:solidFill>
                            <a:srgbClr val="212529"/>
                          </a:solidFill>
                          <a:latin typeface="Calibri"/>
                        </a:rPr>
                        <a:t>Quinn et al. 2017; Zatarain Salazar et al. 2017</a:t>
                      </a:r>
                    </a:p>
                  </a:txBody>
                  <a:tcPr marL="73152" marR="73152" marT="27432" marB="27432" anchor="ctr">
                    <a:solidFill>
                      <a:srgbClr val="FFFFFF"/>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E9EFF5"/>
                    </a:solidFill>
                  </a:tcPr>
                </a:tc>
                <a:tc>
                  <a:txBody>
                    <a:bodyPr wrap="square"/>
                    <a:lstStyle/>
                    <a:p>
                      <a:r>
                        <a:rPr sz="1800" i="0" b="1">
                          <a:solidFill>
                            <a:srgbClr val="212529"/>
                          </a:solidFill>
                          <a:latin typeface="Calibri"/>
                        </a:rPr>
                        <a:t>hazard_filling</a:t>
                      </a:r>
                    </a:p>
                  </a:txBody>
                  <a:tcPr marL="73152" marR="73152" marT="27432" marB="27432" anchor="ctr">
                    <a:solidFill>
                      <a:srgbClr val="E9EFF5"/>
                    </a:solidFill>
                  </a:tcPr>
                </a:tc>
                <a:tc>
                  <a:txBody>
                    <a:bodyPr wrap="square"/>
                    <a:lstStyle/>
                    <a:p>
                      <a:r>
                        <a:rPr sz="1800" i="0" b="0">
                          <a:solidFill>
                            <a:srgbClr val="212529"/>
                          </a:solidFill>
                          <a:latin typeface="Calibri"/>
                        </a:rPr>
                        <a:t>LHS + nearest-neighbour snap in ABSOLUTE hazard space, over its own i.i.d. stationary pool</a:t>
                      </a:r>
                    </a:p>
                  </a:txBody>
                  <a:tcPr marL="73152" marR="73152" marT="27432" marB="27432" anchor="ctr">
                    <a:solidFill>
                      <a:srgbClr val="E9EFF5"/>
                    </a:solidFill>
                  </a:tcPr>
                </a:tc>
                <a:tc>
                  <a:txBody>
                    <a:bodyPr wrap="square"/>
                    <a:lstStyle/>
                    <a:p>
                      <a:r>
                        <a:rPr sz="1800" i="0" b="1">
                          <a:solidFill>
                            <a:srgbClr val="212529"/>
                          </a:solidFill>
                          <a:latin typeface="Calibri"/>
                        </a:rPr>
                        <a:t>proposed</a:t>
                      </a:r>
                    </a:p>
                  </a:txBody>
                  <a:tcPr marL="73152" marR="73152" marT="27432" marB="27432" anchor="ctr">
                    <a:solidFill>
                      <a:srgbClr val="E9EFF5"/>
                    </a:solidFill>
                  </a:tcPr>
                </a:tc>
              </a:tr>
            </a:tbl>
          </a:graphicData>
        </a:graphic>
      </p:graphicFrame>
      <p:sp>
        <p:nvSpPr>
          <p:cNvPr id="5" name="TextBox 4"/>
          <p:cNvSpPr txBox="1"/>
          <p:nvPr/>
        </p:nvSpPr>
        <p:spPr>
          <a:xfrm>
            <a:off x="548640" y="4160520"/>
            <a:ext cx="11091672" cy="2468880"/>
          </a:xfrm>
          <a:prstGeom prst="rect">
            <a:avLst/>
          </a:prstGeom>
          <a:noFill/>
        </p:spPr>
        <p:txBody>
          <a:bodyPr wrap="square">
            <a:spAutoFit/>
          </a:bodyPr>
          <a:lstStyle/>
          <a:p>
            <a:pPr>
              <a:lnSpc>
                <a:spcPct val="104000"/>
              </a:lnSpc>
              <a:spcAft>
                <a:spcPts val="400"/>
              </a:spcAft>
            </a:pPr>
            <a:r>
              <a:rPr sz="1800" i="0" b="0">
                <a:solidFill>
                  <a:srgbClr val="212529"/>
                </a:solidFill>
                <a:latin typeface="Calibri"/>
              </a:rPr>
              <a:t>•  each design generates its own realizations from its own seed stream; </a:t>
            </a:r>
            <a:r>
              <a:rPr sz="1800" i="0" b="1">
                <a:solidFill>
                  <a:srgbClr val="212529"/>
                </a:solidFill>
                <a:latin typeface="Calibri"/>
              </a:rPr>
              <a:t>no design is subsampled from a shared pool</a:t>
            </a:r>
          </a:p>
          <a:p>
            <a:pPr>
              <a:lnSpc>
                <a:spcPct val="104000"/>
              </a:lnSpc>
              <a:spcAft>
                <a:spcPts val="400"/>
              </a:spcAft>
            </a:pPr>
            <a:r>
              <a:rPr sz="1800" i="0" b="0">
                <a:solidFill>
                  <a:srgbClr val="212529"/>
                </a:solidFill>
                <a:latin typeface="Calibri"/>
              </a:rPr>
              <a:t>•  the two matched designs run at </a:t>
            </a:r>
            <a:r>
              <a:rPr sz="1800" i="0" b="1">
                <a:solidFill>
                  <a:srgbClr val="212529"/>
                </a:solidFill>
                <a:latin typeface="Calibri"/>
              </a:rPr>
              <a:t>N = 100, L = 10 yr, equal NFE</a:t>
            </a:r>
            <a:r>
              <a:rPr sz="1800" i="0" b="0">
                <a:solidFill>
                  <a:srgbClr val="212529"/>
                </a:solidFill>
                <a:latin typeface="Calibri"/>
              </a:rPr>
              <a:t>; </a:t>
            </a:r>
            <a:r>
              <a:rPr sz="1800" i="0" b="1">
                <a:solidFill>
                  <a:srgbClr val="212529"/>
                </a:solidFill>
                <a:latin typeface="Calibri"/>
              </a:rPr>
              <a:t>fixed_probabilistic is the exact statistical control</a:t>
            </a:r>
            <a:r>
              <a:rPr sz="1800" i="0" b="0">
                <a:solidFill>
                  <a:srgbClr val="212529"/>
                </a:solidFill>
                <a:latin typeface="Calibri"/>
              </a:rPr>
              <a:t> for hazard_filling</a:t>
            </a:r>
          </a:p>
          <a:p>
            <a:pPr>
              <a:lnSpc>
                <a:spcPct val="104000"/>
              </a:lnSpc>
              <a:spcAft>
                <a:spcPts val="400"/>
              </a:spcAft>
            </a:pPr>
            <a:r>
              <a:rPr sz="1800" i="0" b="0">
                <a:solidFill>
                  <a:srgbClr val="212529"/>
                </a:solidFill>
                <a:latin typeface="Calibri"/>
              </a:rPr>
              <a:t>•  historic is an unmatched prevailing-practice reference; deep uncertainty enters only in the held-out E_test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exact statistical control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fixed_probabilistic is the exact statistical control for hazard_filling.</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same generator, same stationary population, same N, same L, same NFE — </a:t>
            </a:r>
            <a:r>
              <a:rPr sz="2000" i="0" b="1">
                <a:solidFill>
                  <a:srgbClr val="212529"/>
                </a:solidFill>
                <a:latin typeface="Calibri"/>
              </a:rPr>
              <a:t>only the selection rule differs</a:t>
            </a:r>
          </a:p>
          <a:p>
            <a:pPr>
              <a:lnSpc>
                <a:spcPct val="104000"/>
              </a:lnSpc>
              <a:spcAft>
                <a:spcPts val="900"/>
              </a:spcAft>
            </a:pPr>
            <a:r>
              <a:rPr sz="2000" i="0" b="0">
                <a:solidFill>
                  <a:srgbClr val="212529"/>
                </a:solidFill>
                <a:latin typeface="Calibri"/>
              </a:rPr>
              <a:t>•  so any difference in re-evaluated robustness is attributable to the </a:t>
            </a:r>
            <a:r>
              <a:rPr sz="2000" i="0" b="1">
                <a:solidFill>
                  <a:srgbClr val="212529"/>
                </a:solidFill>
                <a:latin typeface="Calibri"/>
              </a:rPr>
              <a:t>selection rule alone</a:t>
            </a:r>
            <a:r>
              <a:rPr sz="2000" i="0" b="0">
                <a:solidFill>
                  <a:srgbClr val="212529"/>
                </a:solidFill>
                <a:latin typeface="Calibri"/>
              </a:rPr>
              <a:t>; this is the Eker &amp; Kwakkel (2018) null benchmark upgraded to hazard space, a real system, and draw-based replication</a:t>
            </a:r>
          </a:p>
          <a:p>
            <a:pPr>
              <a:lnSpc>
                <a:spcPct val="104000"/>
              </a:lnSpc>
              <a:spcAft>
                <a:spcPts val="900"/>
              </a:spcAft>
            </a:pPr>
            <a:r>
              <a:rPr sz="2000" i="0" b="0">
                <a:solidFill>
                  <a:srgbClr val="212529"/>
                </a:solidFill>
                <a:latin typeface="Calibri"/>
              </a:rPr>
              <a:t>•  </a:t>
            </a:r>
            <a:r>
              <a:rPr sz="2000" i="0" b="1">
                <a:solidFill>
                  <a:srgbClr val="212529"/>
                </a:solidFill>
                <a:latin typeface="Calibri"/>
              </a:rPr>
              <a:t>deep uncertainty enters only in E_test</a:t>
            </a:r>
            <a:r>
              <a:rPr sz="2000" i="0" b="0">
                <a:solidFill>
                  <a:srgbClr val="212529"/>
                </a:solidFill>
                <a:latin typeface="Calibri"/>
              </a:rPr>
              <a:t>, which spans a CMIP6-forced envelope no search ensemble contains — so re-evaluation is a </a:t>
            </a:r>
            <a:r>
              <a:rPr sz="2000" i="0" b="1">
                <a:solidFill>
                  <a:srgbClr val="212529"/>
                </a:solidFill>
                <a:latin typeface="Calibri"/>
              </a:rPr>
              <a:t>generalization test</a:t>
            </a:r>
            <a:r>
              <a:rPr sz="2000" i="0" b="0">
                <a:solidFill>
                  <a:srgbClr val="212529"/>
                </a:solidFill>
                <a:latin typeface="Calibri"/>
              </a:rPr>
              <a:t> to conditions never seen in search</a:t>
            </a:r>
          </a:p>
        </p:txBody>
      </p:sp>
      <p:sp>
        <p:nvSpPr>
          <p:cNvPr id="6" name="Rectangle 5"/>
          <p:cNvSpPr/>
          <p:nvPr/>
        </p:nvSpPr>
        <p:spPr>
          <a:xfrm>
            <a:off x="548640" y="4709160"/>
            <a:ext cx="11109960" cy="141732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The exact control.</a:t>
            </a:r>
            <a:r>
              <a:rPr sz="2000" i="0" b="0">
                <a:solidFill>
                  <a:srgbClr val="212529"/>
                </a:solidFill>
                <a:latin typeface="Calibri"/>
              </a:rPr>
              <a:t>  A uniform random size-N subset of an i.i.d. pool is distributionally identical to N fresh i.i.d. draws. That is what makes fixed_probabilistic the exact statistical control for hazard_filling: they differ only in the selection rule applied to the same population law. It requires the pool to be sampled i.i.d., never by LHS — enforced by an invariant test, because nothing else would fail if it were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controlled contrast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023360" y="1920240"/>
            <a:ext cx="416052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fixed_probabilistic
N i.i.d. draws from the generator, frozen</a:t>
            </a:r>
          </a:p>
        </p:txBody>
      </p:sp>
      <p:cxnSp>
        <p:nvCxnSpPr>
          <p:cNvPr id="5" name="Connector 4"/>
          <p:cNvCxnSpPr/>
          <p:nvPr/>
        </p:nvCxnSpPr>
        <p:spPr>
          <a:xfrm>
            <a:off x="6108192" y="2788920"/>
            <a:ext cx="0" cy="822960"/>
          </a:xfrm>
          <a:prstGeom prst="line">
            <a:avLst/>
          </a:prstGeom>
          <a:ln w="24130">
            <a:solidFill>
              <a:srgbClr val="2E5E8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309360" y="2907792"/>
            <a:ext cx="3657600" cy="640080"/>
          </a:xfrm>
          <a:prstGeom prst="rect">
            <a:avLst/>
          </a:prstGeom>
          <a:noFill/>
        </p:spPr>
        <p:txBody>
          <a:bodyPr wrap="square">
            <a:spAutoFit/>
          </a:bodyPr>
          <a:lstStyle/>
          <a:p>
            <a:pPr algn="l"/>
            <a:r>
              <a:rPr sz="1800" i="0" b="0">
                <a:solidFill>
                  <a:srgbClr val="2E5E8C"/>
                </a:solidFill>
                <a:latin typeface="Calibri"/>
              </a:rPr>
              <a:t>only the selection
</a:t>
            </a:r>
            <a:r>
              <a:rPr sz="1800" i="0" b="1">
                <a:solidFill>
                  <a:srgbClr val="2E5E8C"/>
                </a:solidFill>
                <a:latin typeface="Calibri"/>
              </a:rPr>
              <a:t>RULE</a:t>
            </a:r>
            <a:r>
              <a:rPr sz="1800" i="0" b="0">
                <a:solidFill>
                  <a:srgbClr val="2E5E8C"/>
                </a:solidFill>
                <a:latin typeface="Calibri"/>
              </a:rPr>
              <a:t> differs</a:t>
            </a:r>
          </a:p>
        </p:txBody>
      </p:sp>
      <p:sp>
        <p:nvSpPr>
          <p:cNvPr id="7" name="Rectangle 6"/>
          <p:cNvSpPr/>
          <p:nvPr/>
        </p:nvSpPr>
        <p:spPr>
          <a:xfrm>
            <a:off x="4023360" y="3639312"/>
            <a:ext cx="4160520" cy="868680"/>
          </a:xfrm>
          <a:prstGeom prst="rect">
            <a:avLst/>
          </a:prstGeom>
          <a:solidFill>
            <a:srgbClr val="E9EFF5"/>
          </a:solidFill>
          <a:ln w="2413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hazard_filling
LHS + snap in absolute hazard space</a:t>
            </a:r>
          </a:p>
        </p:txBody>
      </p:sp>
      <p:sp>
        <p:nvSpPr>
          <p:cNvPr id="8" name="TextBox 7"/>
          <p:cNvSpPr txBox="1"/>
          <p:nvPr/>
        </p:nvSpPr>
        <p:spPr>
          <a:xfrm>
            <a:off x="4023360" y="4617720"/>
            <a:ext cx="4160520" cy="457200"/>
          </a:xfrm>
          <a:prstGeom prst="rect">
            <a:avLst/>
          </a:prstGeom>
          <a:noFill/>
        </p:spPr>
        <p:txBody>
          <a:bodyPr wrap="square">
            <a:spAutoFit/>
          </a:bodyPr>
          <a:lstStyle/>
          <a:p>
            <a:pPr algn="ctr"/>
            <a:r>
              <a:rPr sz="2000" i="0" b="0">
                <a:solidFill>
                  <a:srgbClr val="5F6B7A"/>
                </a:solidFill>
                <a:latin typeface="Calibri"/>
              </a:rPr>
              <a:t>Does hazard coverage beat
random sampling?</a:t>
            </a:r>
          </a:p>
        </p:txBody>
      </p:sp>
      <p:sp>
        <p:nvSpPr>
          <p:cNvPr id="9" name="TextBox 8"/>
          <p:cNvSpPr txBox="1"/>
          <p:nvPr/>
        </p:nvSpPr>
        <p:spPr>
          <a:xfrm>
            <a:off x="548640" y="5257800"/>
            <a:ext cx="11091672" cy="1371600"/>
          </a:xfrm>
          <a:prstGeom prst="rect">
            <a:avLst/>
          </a:prstGeom>
          <a:noFill/>
        </p:spPr>
        <p:txBody>
          <a:bodyPr wrap="square">
            <a:spAutoFit/>
          </a:bodyPr>
          <a:lstStyle/>
          <a:p>
            <a:pPr>
              <a:lnSpc>
                <a:spcPct val="104000"/>
              </a:lnSpc>
              <a:spcAft>
                <a:spcPts val="600"/>
              </a:spcAft>
            </a:pPr>
            <a:r>
              <a:rPr sz="2000" i="0" b="0">
                <a:solidFill>
                  <a:srgbClr val="212529"/>
                </a:solidFill>
                <a:latin typeface="Calibri"/>
              </a:rPr>
              <a:t>•  the contrast holds </a:t>
            </a:r>
            <a:r>
              <a:rPr sz="2000" i="0" b="1">
                <a:solidFill>
                  <a:srgbClr val="212529"/>
                </a:solidFill>
                <a:latin typeface="Calibri"/>
              </a:rPr>
              <a:t>N = 100, L = 10 yr and NFE</a:t>
            </a:r>
            <a:r>
              <a:rPr sz="2000" i="0" b="0">
                <a:solidFill>
                  <a:srgbClr val="212529"/>
                </a:solidFill>
                <a:latin typeface="Calibri"/>
              </a:rPr>
              <a:t> fixed; only the rule that selects the N realizations changes</a:t>
            </a:r>
          </a:p>
          <a:p>
            <a:pPr>
              <a:lnSpc>
                <a:spcPct val="104000"/>
              </a:lnSpc>
              <a:spcAft>
                <a:spcPts val="600"/>
              </a:spcAft>
            </a:pPr>
            <a:r>
              <a:rPr sz="2000" i="0" b="0">
                <a:solidFill>
                  <a:srgbClr val="212529"/>
                </a:solidFill>
                <a:latin typeface="Calibri"/>
              </a:rPr>
              <a:t>•  because the candidate pool is </a:t>
            </a:r>
            <a:r>
              <a:rPr sz="2000" i="0" b="1">
                <a:solidFill>
                  <a:srgbClr val="212529"/>
                </a:solidFill>
                <a:latin typeface="Calibri"/>
              </a:rPr>
              <a:t>i.i.d.</a:t>
            </a:r>
            <a:r>
              <a:rPr sz="2000" i="0" b="0">
                <a:solidFill>
                  <a:srgbClr val="212529"/>
                </a:solidFill>
                <a:latin typeface="Calibri"/>
              </a:rPr>
              <a:t>, fixed_probabilistic is the </a:t>
            </a:r>
            <a:r>
              <a:rPr sz="2000" i="0" b="1">
                <a:solidFill>
                  <a:srgbClr val="212529"/>
                </a:solidFill>
                <a:latin typeface="Calibri"/>
              </a:rPr>
              <a:t>exact statistical control</a:t>
            </a:r>
            <a:r>
              <a:rPr sz="2000" i="0" b="0">
                <a:solidFill>
                  <a:srgbClr val="212529"/>
                </a:solidFill>
                <a:latin typeface="Calibri"/>
              </a:rPr>
              <a:t> — a uniform random size-N subset equals N fresh draws</a:t>
            </a:r>
          </a:p>
          <a:p>
            <a:pPr>
              <a:lnSpc>
                <a:spcPct val="104000"/>
              </a:lnSpc>
              <a:spcAft>
                <a:spcPts val="600"/>
              </a:spcAft>
            </a:pPr>
            <a:r>
              <a:rPr sz="2000" i="0" b="0">
                <a:solidFill>
                  <a:srgbClr val="212529"/>
                </a:solidFill>
                <a:latin typeface="Calibri"/>
              </a:rPr>
              <a:t>•  historic (prevailing-practice anchor, N = 1) sits outside the matched contrast; deep uncertainty enters only at re-evaluation (E_test)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candidate pool (and where the forcing box lives)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600200"/>
            <a:ext cx="2834640" cy="9144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stationary Kirsch–Nowak
fit to the record (no perturbation)</a:t>
            </a:r>
          </a:p>
        </p:txBody>
      </p:sp>
      <p:cxnSp>
        <p:nvCxnSpPr>
          <p:cNvPr id="5" name="Connector 4"/>
          <p:cNvCxnSpPr/>
          <p:nvPr/>
        </p:nvCxnSpPr>
        <p:spPr>
          <a:xfrm>
            <a:off x="3429000" y="2057400"/>
            <a:ext cx="4572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3886200" y="1600200"/>
            <a:ext cx="2834640" cy="9144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i.i.d. sampling
(never LHS)</a:t>
            </a:r>
          </a:p>
        </p:txBody>
      </p:sp>
      <p:cxnSp>
        <p:nvCxnSpPr>
          <p:cNvPr id="7" name="Connector 6"/>
          <p:cNvCxnSpPr/>
          <p:nvPr/>
        </p:nvCxnSpPr>
        <p:spPr>
          <a:xfrm>
            <a:off x="6720840" y="2057400"/>
            <a:ext cx="4572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178040" y="1600200"/>
            <a:ext cx="4206240" cy="914400"/>
          </a:xfrm>
          <a:prstGeom prst="rect">
            <a:avLst/>
          </a:prstGeom>
          <a:solidFill>
            <a:srgbClr val="E9EFF5"/>
          </a:solidFill>
          <a:ln w="1905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one i.i.d. candidate pool
(hazard_filling selects N = 100 from it)</a:t>
            </a:r>
          </a:p>
        </p:txBody>
      </p:sp>
      <p:sp>
        <p:nvSpPr>
          <p:cNvPr id="9" name="TextBox 8"/>
          <p:cNvSpPr txBox="1"/>
          <p:nvPr/>
        </p:nvSpPr>
        <p:spPr>
          <a:xfrm>
            <a:off x="548640" y="2926080"/>
            <a:ext cx="11091672" cy="3703320"/>
          </a:xfrm>
          <a:prstGeom prst="rect">
            <a:avLst/>
          </a:prstGeom>
          <a:noFill/>
        </p:spPr>
        <p:txBody>
          <a:bodyPr wrap="square">
            <a:spAutoFit/>
          </a:bodyPr>
          <a:lstStyle/>
          <a:p>
            <a:pPr>
              <a:lnSpc>
                <a:spcPct val="104000"/>
              </a:lnSpc>
              <a:spcAft>
                <a:spcPts val="700"/>
              </a:spcAft>
            </a:pPr>
            <a:r>
              <a:rPr sz="1900" i="0" b="0">
                <a:solidFill>
                  <a:srgbClr val="212529"/>
                </a:solidFill>
                <a:latin typeface="Calibri"/>
              </a:rPr>
              <a:t>•  hazard_filling </a:t>
            </a:r>
            <a:r>
              <a:rPr sz="1900" i="0" b="1">
                <a:solidFill>
                  <a:srgbClr val="212529"/>
                </a:solidFill>
                <a:latin typeface="Calibri"/>
              </a:rPr>
              <a:t>owns</a:t>
            </a:r>
            <a:r>
              <a:rPr sz="1900" i="0" b="0">
                <a:solidFill>
                  <a:srgbClr val="212529"/>
                </a:solidFill>
                <a:latin typeface="Calibri"/>
              </a:rPr>
              <a:t> its pool; the pool is </a:t>
            </a:r>
            <a:r>
              <a:rPr sz="1900" i="0" b="1">
                <a:solidFill>
                  <a:srgbClr val="212529"/>
                </a:solidFill>
                <a:latin typeface="Calibri"/>
              </a:rPr>
              <a:t>re-drawn on every ensemble draw</a:t>
            </a:r>
            <a:r>
              <a:rPr sz="1900" i="0" b="0">
                <a:solidFill>
                  <a:srgbClr val="212529"/>
                </a:solidFill>
                <a:latin typeface="Calibri"/>
              </a:rPr>
              <a:t>, so a draw re-rolls everything that is random about building the ensemble</a:t>
            </a:r>
          </a:p>
          <a:p>
            <a:pPr>
              <a:lnSpc>
                <a:spcPct val="104000"/>
              </a:lnSpc>
              <a:spcAft>
                <a:spcPts val="700"/>
              </a:spcAft>
            </a:pPr>
            <a:r>
              <a:rPr sz="1900" i="0" b="0">
                <a:solidFill>
                  <a:srgbClr val="212529"/>
                </a:solidFill>
                <a:latin typeface="Calibri"/>
              </a:rPr>
              <a:t>•  the pool is sampled </a:t>
            </a:r>
            <a:r>
              <a:rPr sz="1900" i="0" b="1">
                <a:solidFill>
                  <a:srgbClr val="212529"/>
                </a:solidFill>
                <a:latin typeface="Calibri"/>
              </a:rPr>
              <a:t>i.i.d., never by LHS</a:t>
            </a:r>
            <a:r>
              <a:rPr sz="1900" i="0" b="0">
                <a:solidFill>
                  <a:srgbClr val="212529"/>
                </a:solidFill>
                <a:latin typeface="Calibri"/>
              </a:rPr>
              <a:t> — a random subset of an LHS design is not i.i.d., which would silently void the exact control (enforced by an invariant test)</a:t>
            </a:r>
          </a:p>
          <a:p>
            <a:pPr>
              <a:lnSpc>
                <a:spcPct val="104000"/>
              </a:lnSpc>
              <a:spcAft>
                <a:spcPts val="700"/>
              </a:spcAft>
            </a:pPr>
            <a:r>
              <a:rPr sz="1900" i="0" b="0">
                <a:solidFill>
                  <a:srgbClr val="212529"/>
                </a:solidFill>
                <a:latin typeface="Calibri"/>
              </a:rPr>
              <a:t>•  only the </a:t>
            </a:r>
            <a:r>
              <a:rPr sz="1900" i="0" b="1">
                <a:solidFill>
                  <a:srgbClr val="212529"/>
                </a:solidFill>
                <a:latin typeface="Calibri"/>
              </a:rPr>
              <a:t>hazard image + seeds</a:t>
            </a:r>
            <a:r>
              <a:rPr sz="1900" i="0" b="0">
                <a:solidFill>
                  <a:srgbClr val="212529"/>
                </a:solidFill>
                <a:latin typeface="Calibri"/>
              </a:rPr>
              <a:t> are stored; any realization </a:t>
            </a:r>
            <a:r>
              <a:rPr sz="1900" i="0" b="1">
                <a:solidFill>
                  <a:srgbClr val="212529"/>
                </a:solidFill>
                <a:latin typeface="Calibri"/>
              </a:rPr>
              <a:t>regenerates deterministically</a:t>
            </a:r>
            <a:r>
              <a:rPr sz="1900" i="0" b="0">
                <a:solidFill>
                  <a:srgbClr val="212529"/>
                </a:solidFill>
                <a:latin typeface="Calibri"/>
              </a:rPr>
              <a:t> on demand (hundreds of GB avoided)</a:t>
            </a:r>
          </a:p>
          <a:p>
            <a:pPr>
              <a:lnSpc>
                <a:spcPct val="104000"/>
              </a:lnSpc>
              <a:spcAft>
                <a:spcPts val="700"/>
              </a:spcAft>
            </a:pPr>
            <a:r>
              <a:rPr sz="1900" i="0" b="0">
                <a:solidFill>
                  <a:srgbClr val="212529"/>
                </a:solidFill>
                <a:latin typeface="Calibri"/>
              </a:rPr>
              <a:t>•  seed domains are </a:t>
            </a:r>
            <a:r>
              <a:rPr sz="1900" i="0" b="1">
                <a:solidFill>
                  <a:srgbClr val="212529"/>
                </a:solidFill>
                <a:latin typeface="Calibri"/>
              </a:rPr>
              <a:t>disjoint</a:t>
            </a:r>
            <a:r>
              <a:rPr sz="1900" i="0" b="0">
                <a:solidFill>
                  <a:srgbClr val="212529"/>
                </a:solidFill>
                <a:latin typeface="Calibri"/>
              </a:rPr>
              <a:t> across designs, draws, and the test ensemble, so no two ever share a realization</a:t>
            </a:r>
          </a:p>
          <a:p>
            <a:pPr>
              <a:lnSpc>
                <a:spcPct val="104000"/>
              </a:lnSpc>
              <a:spcAft>
                <a:spcPts val="700"/>
              </a:spcAft>
            </a:pPr>
            <a:r>
              <a:rPr sz="1900" i="0" b="0">
                <a:solidFill>
                  <a:srgbClr val="212529"/>
                </a:solidFill>
                <a:latin typeface="Calibri"/>
              </a:rPr>
              <a:t>•  the </a:t>
            </a:r>
            <a:r>
              <a:rPr sz="1900" i="0" b="1">
                <a:solidFill>
                  <a:srgbClr val="212529"/>
                </a:solidFill>
                <a:latin typeface="Calibri"/>
              </a:rPr>
              <a:t>CMIP6 harmonic forcing box</a:t>
            </a:r>
            <a:r>
              <a:rPr sz="1900" i="0" b="0">
                <a:solidFill>
                  <a:srgbClr val="212529"/>
                </a:solidFill>
                <a:latin typeface="Calibri"/>
              </a:rPr>
              <a:t> (m, r₁, r₂; amplitudes sampled, phases fixed, Quinn et al. 2018) is </a:t>
            </a:r>
            <a:r>
              <a:rPr sz="1900" i="0" b="1">
                <a:solidFill>
                  <a:srgbClr val="212529"/>
                </a:solidFill>
                <a:latin typeface="Calibri"/>
              </a:rPr>
              <a:t>not a search design</a:t>
            </a:r>
            <a:r>
              <a:rPr sz="1900" i="0" b="0">
                <a:solidFill>
                  <a:srgbClr val="212529"/>
                </a:solidFill>
                <a:latin typeface="Calibri"/>
              </a:rPr>
              <a:t> — it is the envelope for the held-out E_test (Kirsch et al. 2013; Nowak et al. 2010)</a:t>
            </a:r>
          </a:p>
          <a:p>
            <a:pPr>
              <a:lnSpc>
                <a:spcPct val="104000"/>
              </a:lnSpc>
              <a:spcAft>
                <a:spcPts val="700"/>
              </a:spcAft>
            </a:pPr>
            <a:r>
              <a:rPr sz="1900" i="0" b="0">
                <a:solidFill>
                  <a:srgbClr val="212529"/>
                </a:solidFill>
                <a:latin typeface="Calibri"/>
              </a:rPr>
              <a:t>•  historical interannual persistence is retained by the generator; claims scoped accordingly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Hazard axes &amp; the hazard-filling selector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6766560" cy="5166360"/>
          </a:xfrm>
          <a:prstGeom prst="rect">
            <a:avLst/>
          </a:prstGeom>
          <a:noFill/>
        </p:spPr>
        <p:txBody>
          <a:bodyPr wrap="square">
            <a:spAutoFit/>
          </a:bodyPr>
          <a:lstStyle/>
          <a:p>
            <a:pPr>
              <a:lnSpc>
                <a:spcPct val="104000"/>
              </a:lnSpc>
              <a:spcAft>
                <a:spcPts val="800"/>
              </a:spcAft>
            </a:pPr>
            <a:r>
              <a:rPr sz="1900" i="0" b="0">
                <a:solidFill>
                  <a:srgbClr val="212529"/>
                </a:solidFill>
                <a:latin typeface="Calibri"/>
              </a:rPr>
              <a:t>•  candidate axes: SSI-6 drought-event metrics (deficit volume, duration, peak depth, onset and recovery rate) and peaks-over-threshold flood metrics (peak magnitude, pulse duration, rise rate), computed per sequence</a:t>
            </a:r>
          </a:p>
          <a:p>
            <a:pPr>
              <a:lnSpc>
                <a:spcPct val="104000"/>
              </a:lnSpc>
              <a:spcAft>
                <a:spcPts val="800"/>
              </a:spcAft>
            </a:pPr>
            <a:r>
              <a:rPr sz="1900" i="0" b="0">
                <a:solidFill>
                  <a:srgbClr val="212529"/>
                </a:solidFill>
                <a:latin typeface="Calibri"/>
              </a:rPr>
              <a:t>•  redundancy screen retains </a:t>
            </a:r>
            <a:r>
              <a:rPr sz="1900" i="0" b="1">
                <a:solidFill>
                  <a:srgbClr val="212529"/>
                </a:solidFill>
                <a:latin typeface="Calibri"/>
              </a:rPr>
              <a:t>3–4</a:t>
            </a:r>
            <a:r>
              <a:rPr sz="1900" i="0" b="0">
                <a:solidFill>
                  <a:srgbClr val="212529"/>
                </a:solidFill>
                <a:latin typeface="Calibri"/>
              </a:rPr>
              <a:t> low-collinearity axes, balanced across the dry and wet concepts (|ρ| ≥ 0.7 clustering, Olden &amp; Poff 2003)</a:t>
            </a:r>
          </a:p>
          <a:p>
            <a:pPr>
              <a:lnSpc>
                <a:spcPct val="104000"/>
              </a:lnSpc>
              <a:spcAft>
                <a:spcPts val="800"/>
              </a:spcAft>
            </a:pPr>
            <a:r>
              <a:rPr sz="1900" i="0" b="0">
                <a:solidFill>
                  <a:srgbClr val="212529"/>
                </a:solidFill>
                <a:latin typeface="Calibri"/>
              </a:rPr>
              <a:t>•  selector: </a:t>
            </a:r>
            <a:r>
              <a:rPr sz="1900" i="0" b="1">
                <a:solidFill>
                  <a:srgbClr val="212529"/>
                </a:solidFill>
                <a:latin typeface="Calibri"/>
              </a:rPr>
              <a:t>range-scale each axis to [0,1] by its pool min-max (ABSOLUTE space)</a:t>
            </a:r>
            <a:r>
              <a:rPr sz="1900" i="0" b="0">
                <a:solidFill>
                  <a:srgbClr val="212529"/>
                </a:solidFill>
                <a:latin typeface="Calibri"/>
              </a:rPr>
              <a:t>, draw </a:t>
            </a:r>
            <a:r>
              <a:rPr sz="1900" i="0" b="1">
                <a:solidFill>
                  <a:srgbClr val="212529"/>
                </a:solidFill>
                <a:latin typeface="Calibri"/>
              </a:rPr>
              <a:t>N Latin-hypercube anchors</a:t>
            </a:r>
            <a:r>
              <a:rPr sz="1900" i="0" b="0">
                <a:solidFill>
                  <a:srgbClr val="212529"/>
                </a:solidFill>
                <a:latin typeface="Calibri"/>
              </a:rPr>
              <a:t>, snap each to the </a:t>
            </a:r>
            <a:r>
              <a:rPr sz="1900" i="0" b="1">
                <a:solidFill>
                  <a:srgbClr val="212529"/>
                </a:solidFill>
                <a:latin typeface="Calibri"/>
              </a:rPr>
              <a:t>nearest unused pool member</a:t>
            </a:r>
            <a:r>
              <a:rPr sz="1900" i="0" b="0">
                <a:solidFill>
                  <a:srgbClr val="212529"/>
                </a:solidFill>
                <a:latin typeface="Calibri"/>
              </a:rPr>
              <a:t>. Deterministic given the anchor seed; </a:t>
            </a:r>
            <a:r>
              <a:rPr sz="1900" i="0" b="1">
                <a:solidFill>
                  <a:srgbClr val="212529"/>
                </a:solidFill>
                <a:latin typeface="Calibri"/>
              </a:rPr>
              <a:t>no annealing, no tuning</a:t>
            </a:r>
          </a:p>
          <a:p>
            <a:pPr>
              <a:lnSpc>
                <a:spcPct val="104000"/>
              </a:lnSpc>
              <a:spcAft>
                <a:spcPts val="800"/>
              </a:spcAft>
            </a:pPr>
            <a:r>
              <a:rPr sz="1900" i="0" b="0">
                <a:solidFill>
                  <a:srgbClr val="212529"/>
                </a:solidFill>
                <a:latin typeface="Calibri"/>
              </a:rPr>
              <a:t>•  absolute-space filling </a:t>
            </a:r>
            <a:r>
              <a:rPr sz="1900" i="0" b="1">
                <a:solidFill>
                  <a:srgbClr val="212529"/>
                </a:solidFill>
                <a:latin typeface="Calibri"/>
              </a:rPr>
              <a:t>deliberately over-represents the severe corners</a:t>
            </a:r>
            <a:r>
              <a:rPr sz="1900" i="0" b="0">
                <a:solidFill>
                  <a:srgbClr val="212529"/>
                </a:solidFill>
                <a:latin typeface="Calibri"/>
              </a:rPr>
              <a:t> relative to their pool frequency — the distribution shift RQ1 tests (a rank-space ECDF variant is a non-campaign sensitivity only)</a:t>
            </a:r>
          </a:p>
          <a:p>
            <a:pPr>
              <a:lnSpc>
                <a:spcPct val="104000"/>
              </a:lnSpc>
              <a:spcAft>
                <a:spcPts val="800"/>
              </a:spcAft>
            </a:pPr>
            <a:r>
              <a:rPr sz="1900" i="0" b="0">
                <a:solidFill>
                  <a:srgbClr val="212529"/>
                </a:solidFill>
                <a:latin typeface="Calibri"/>
              </a:rPr>
              <a:t>•  coverage stats (L2-star discrepancy, MST, snap distance) are </a:t>
            </a:r>
            <a:r>
              <a:rPr sz="1900" i="0" b="1">
                <a:solidFill>
                  <a:srgbClr val="212529"/>
                </a:solidFill>
                <a:latin typeface="Calibri"/>
              </a:rPr>
              <a:t>build-QC / method verification</a:t>
            </a:r>
            <a:r>
              <a:rPr sz="1900" i="0" b="0">
                <a:solidFill>
                  <a:srgbClr val="212529"/>
                </a:solidFill>
                <a:latin typeface="Calibri"/>
              </a:rPr>
              <a:t> that the intervention was administered at strength, reported against a random design at the same (N, m) — </a:t>
            </a:r>
            <a:r>
              <a:rPr sz="1900" i="0" b="1">
                <a:solidFill>
                  <a:srgbClr val="212529"/>
                </a:solidFill>
                <a:latin typeface="Calibri"/>
              </a:rPr>
              <a:t>not a comparison result</a:t>
            </a:r>
          </a:p>
        </p:txBody>
      </p:sp>
      <p:sp>
        <p:nvSpPr>
          <p:cNvPr id="5" name="Rectangle 4"/>
          <p:cNvSpPr/>
          <p:nvPr/>
        </p:nvSpPr>
        <p:spPr>
          <a:xfrm>
            <a:off x="7863840" y="1828800"/>
            <a:ext cx="3429000" cy="34290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85496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63840" y="25146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2354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863840" y="32004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9212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38862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6070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63840" y="45720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9959005" y="430988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8285" y="496125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8791" y="489592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31146" y="34134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99241" y="400860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861423" y="22694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459646" y="270235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702105" y="376503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979562" y="260548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844225" y="48765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22628" y="242004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524626" y="235240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941316" y="23132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42753" y="47306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616912" y="260142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126048" y="473389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876111" y="5023024"/>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87376" y="410227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601730" y="495647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78898" y="503953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838184" y="287185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109457" y="244066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09957" y="211340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15239" y="38597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47974" y="410260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033845" y="290811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593999" y="346250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962094" y="3464044"/>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24432" y="208698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102282" y="197617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70916" y="46445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995641" y="445904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125670" y="377989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66461" y="205363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524278" y="5002580"/>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574924" y="435516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954764" y="495993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054896" y="305365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640237" y="441965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287744" y="433134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24885" y="469262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055902" y="49721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32972" y="30080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19811" y="488217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040541" y="490200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9706594" y="291620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65362" y="247806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190826" y="238519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174135" y="513744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61336" y="205955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1139935" y="363385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254553" y="267237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9865058" y="458420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416135" y="327102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117824" y="487562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241487" y="3884919"/>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8305495" y="3948927"/>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8387791" y="4003791"/>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919331" y="2303282"/>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flipH="1" flipV="1">
            <a:off x="8846179" y="2257562"/>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8791315" y="2202698"/>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597176" y="4659599"/>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6" name="Connector 75"/>
          <p:cNvCxnSpPr/>
          <p:nvPr/>
        </p:nvCxnSpPr>
        <p:spPr>
          <a:xfrm flipV="1">
            <a:off x="9661184" y="4613879"/>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9743480" y="455901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0178186" y="323935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Connector 78"/>
          <p:cNvCxnSpPr/>
          <p:nvPr/>
        </p:nvCxnSpPr>
        <p:spPr>
          <a:xfrm flipH="1">
            <a:off x="10105034" y="3303361"/>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0050170" y="335822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823752" y="4143146"/>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flipV="1">
            <a:off x="10887760" y="4097426"/>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0970056" y="4042562"/>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306043" y="285201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H="1" flipV="1">
            <a:off x="8232891" y="2806293"/>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8178027" y="2751429"/>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9564898" y="3529858"/>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Connector 87"/>
          <p:cNvCxnSpPr/>
          <p:nvPr/>
        </p:nvCxnSpPr>
        <p:spPr>
          <a:xfrm>
            <a:off x="9628906" y="3593866"/>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9" name="Oval 88"/>
          <p:cNvSpPr/>
          <p:nvPr/>
        </p:nvSpPr>
        <p:spPr>
          <a:xfrm>
            <a:off x="9711202" y="3648730"/>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0759196" y="2141890"/>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flipH="1" flipV="1">
            <a:off x="10686044" y="2096170"/>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10631180" y="2041306"/>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887053" y="4788712"/>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4" name="Connector 93"/>
          <p:cNvCxnSpPr/>
          <p:nvPr/>
        </p:nvCxnSpPr>
        <p:spPr>
          <a:xfrm flipV="1">
            <a:off x="8951061" y="4742992"/>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9033357" y="4688128"/>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242743" y="246467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flipH="1">
            <a:off x="10169591" y="2528681"/>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10114727" y="258354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863840" y="5312664"/>
            <a:ext cx="3429000" cy="320040"/>
          </a:xfrm>
          <a:prstGeom prst="rect">
            <a:avLst/>
          </a:prstGeom>
          <a:noFill/>
        </p:spPr>
        <p:txBody>
          <a:bodyPr wrap="square">
            <a:spAutoFit/>
          </a:bodyPr>
          <a:lstStyle/>
          <a:p>
            <a:pPr algn="ctr"/>
            <a:r>
              <a:rPr sz="1800" i="0" b="0">
                <a:solidFill>
                  <a:srgbClr val="5F6B7A"/>
                </a:solidFill>
                <a:latin typeface="Calibri"/>
              </a:rPr>
              <a:t>hazard axis 1 (absolute, range-scaled space)</a:t>
            </a:r>
          </a:p>
        </p:txBody>
      </p:sp>
      <p:sp>
        <p:nvSpPr>
          <p:cNvPr id="100" name="TextBox 99"/>
          <p:cNvSpPr txBox="1"/>
          <p:nvPr/>
        </p:nvSpPr>
        <p:spPr>
          <a:xfrm rot="16200000">
            <a:off x="6903720" y="3383280"/>
            <a:ext cx="1463040" cy="320040"/>
          </a:xfrm>
          <a:prstGeom prst="rect">
            <a:avLst/>
          </a:prstGeom>
          <a:noFill/>
        </p:spPr>
        <p:txBody>
          <a:bodyPr wrap="square">
            <a:spAutoFit/>
          </a:bodyPr>
          <a:lstStyle/>
          <a:p>
            <a:pPr algn="ctr"/>
            <a:r>
              <a:rPr sz="1800" i="0" b="0">
                <a:solidFill>
                  <a:srgbClr val="5F6B7A"/>
                </a:solidFill>
                <a:latin typeface="Calibri"/>
              </a:rPr>
              <a:t>hazard axis 2</a:t>
            </a:r>
          </a:p>
        </p:txBody>
      </p:sp>
      <p:sp>
        <p:nvSpPr>
          <p:cNvPr id="101" name="TextBox 100"/>
          <p:cNvSpPr txBox="1"/>
          <p:nvPr/>
        </p:nvSpPr>
        <p:spPr>
          <a:xfrm>
            <a:off x="7726679" y="1426464"/>
            <a:ext cx="3703320" cy="329184"/>
          </a:xfrm>
          <a:prstGeom prst="rect">
            <a:avLst/>
          </a:prstGeom>
          <a:noFill/>
        </p:spPr>
        <p:txBody>
          <a:bodyPr wrap="square">
            <a:spAutoFit/>
          </a:bodyPr>
          <a:lstStyle/>
          <a:p>
            <a:pPr algn="ctr"/>
            <a:r>
              <a:rPr sz="1800" i="0" b="0">
                <a:solidFill>
                  <a:srgbClr val="A45929"/>
                </a:solidFill>
                <a:latin typeface="Calibri"/>
              </a:rPr>
              <a:t>hollow = LHS anchor; filled = snapped pool member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Objectives: seven, spanning basin stakeholders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17320"/>
          <a:ext cx="11064240" cy="3364992"/>
        </p:xfrm>
        <a:graphic>
          <a:graphicData uri="http://schemas.openxmlformats.org/drawingml/2006/table">
            <a:tbl>
              <a:tblPr firstRow="1" bandRow="0">
                <a:tableStyleId>{5940675A-B579-460E-94D1-54222C63F5DA}</a:tableStyleId>
              </a:tblPr>
              <a:tblGrid>
                <a:gridCol w="457200"/>
                <a:gridCol w="3200400"/>
                <a:gridCol w="6537960"/>
                <a:gridCol w="868680"/>
              </a:tblGrid>
              <a:tr h="420624">
                <a:tc>
                  <a:txBody>
                    <a:bodyPr wrap="square"/>
                    <a:lstStyle/>
                    <a:p/>
                  </a:txBody>
                  <a:tcPr marL="73152" marR="73152" marT="27432" marB="27432" anchor="ctr">
                    <a:solidFill>
                      <a:srgbClr val="E9EFF5"/>
                    </a:solidFill>
                  </a:tcPr>
                </a:tc>
                <a:tc>
                  <a:txBody>
                    <a:bodyPr wrap="square"/>
                    <a:lstStyle/>
                    <a:p>
                      <a:r>
                        <a:rPr sz="1800" i="0" b="1">
                          <a:solidFill>
                            <a:srgbClr val="212529"/>
                          </a:solidFill>
                          <a:latin typeface="Calibri"/>
                        </a:rPr>
                        <a:t>Objective</a:t>
                      </a:r>
                    </a:p>
                  </a:txBody>
                  <a:tcPr marL="73152" marR="73152" marT="27432" marB="27432" anchor="ctr">
                    <a:solidFill>
                      <a:srgbClr val="E9EFF5"/>
                    </a:solidFill>
                  </a:tcPr>
                </a:tc>
                <a:tc>
                  <a:txBody>
                    <a:bodyPr wrap="square"/>
                    <a:lstStyle/>
                    <a:p>
                      <a:r>
                        <a:rPr sz="1800" i="0" b="1">
                          <a:solidFill>
                            <a:srgbClr val="212529"/>
                          </a:solidFill>
                          <a:latin typeface="Calibri"/>
                        </a:rPr>
                        <a:t>Temporal metric (single trace)</a:t>
                      </a:r>
                    </a:p>
                  </a:txBody>
                  <a:tcPr marL="73152" marR="73152" marT="27432" marB="27432" anchor="ctr">
                    <a:solidFill>
                      <a:srgbClr val="E9EFF5"/>
                    </a:solidFill>
                  </a:tcPr>
                </a:tc>
                <a:tc>
                  <a:txBody>
                    <a:bodyPr wrap="square"/>
                    <a:lstStyle/>
                    <a:p>
                      <a:r>
                        <a:rPr sz="1800" i="0" b="1">
                          <a:solidFill>
                            <a:srgbClr val="212529"/>
                          </a:solidFill>
                          <a:latin typeface="Calibri"/>
                        </a:rPr>
                        <a:t>Dir</a:t>
                      </a:r>
                    </a:p>
                  </a:txBody>
                  <a:tcPr marL="73152" marR="73152" marT="27432" marB="27432" anchor="ctr">
                    <a:solidFill>
                      <a:srgbClr val="E9EFF5"/>
                    </a:solidFill>
                  </a:tcPr>
                </a:tc>
              </a:tr>
              <a:tr h="420624">
                <a:tc>
                  <a:txBody>
                    <a:bodyPr wrap="square"/>
                    <a:lstStyle/>
                    <a:p>
                      <a:r>
                        <a:rPr sz="1800" i="0" b="0">
                          <a:solidFill>
                            <a:srgbClr val="212529"/>
                          </a:solidFill>
                          <a:latin typeface="Calibri"/>
                        </a:rPr>
                        <a:t>1</a:t>
                      </a:r>
                    </a:p>
                  </a:txBody>
                  <a:tcPr marL="73152" marR="73152" marT="27432" marB="27432" anchor="ctr">
                    <a:solidFill>
                      <a:srgbClr val="FFFFFF"/>
                    </a:solidFill>
                  </a:tcPr>
                </a:tc>
                <a:tc>
                  <a:txBody>
                    <a:bodyPr wrap="square"/>
                    <a:lstStyle/>
                    <a:p>
                      <a:r>
                        <a:rPr sz="1800" i="0" b="0">
                          <a:solidFill>
                            <a:srgbClr val="212529"/>
                          </a:solidFill>
                          <a:latin typeface="Calibri"/>
                        </a:rPr>
                        <a:t>NYC delivery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delivery ≥ 99% of Decree-capped demand</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2</a:t>
                      </a:r>
                    </a:p>
                  </a:txBody>
                  <a:tcPr marL="73152" marR="73152" marT="27432" marB="27432" anchor="ctr">
                    <a:solidFill>
                      <a:srgbClr val="FFFFFF"/>
                    </a:solidFill>
                  </a:tcPr>
                </a:tc>
                <a:tc>
                  <a:txBody>
                    <a:bodyPr wrap="square"/>
                    <a:lstStyle/>
                    <a:p>
                      <a:r>
                        <a:rPr sz="1800" i="0" b="0">
                          <a:solidFill>
                            <a:srgbClr val="212529"/>
                          </a:solidFill>
                          <a:latin typeface="Calibri"/>
                        </a:rPr>
                        <a:t>NYC delivery deficit</a:t>
                      </a:r>
                    </a:p>
                  </a:txBody>
                  <a:tcPr marL="73152" marR="73152" marT="27432" marB="27432" anchor="ctr">
                    <a:solidFill>
                      <a:srgbClr val="FFFFFF"/>
                    </a:solidFill>
                  </a:tcPr>
                </a:tc>
                <a:tc>
                  <a:txBody>
                    <a:bodyPr wrap="square"/>
                    <a:lstStyle/>
                    <a:p>
                      <a:r>
                        <a:rPr sz="1800" i="0" b="0">
                          <a:solidFill>
                            <a:srgbClr val="212529"/>
                          </a:solidFill>
                          <a:latin typeface="Calibri"/>
                        </a:rPr>
                        <a:t>CVaR₉₀ of weekly deficit (% of 800 MGD)</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3</a:t>
                      </a:r>
                    </a:p>
                  </a:txBody>
                  <a:tcPr marL="73152" marR="73152" marT="27432" marB="27432" anchor="ctr">
                    <a:solidFill>
                      <a:srgbClr val="FFFFFF"/>
                    </a:solidFill>
                  </a:tcPr>
                </a:tc>
                <a:tc>
                  <a:txBody>
                    <a:bodyPr wrap="square"/>
                    <a:lstStyle/>
                    <a:p>
                      <a:r>
                        <a:rPr sz="1800" i="0" b="0">
                          <a:solidFill>
                            <a:srgbClr val="212529"/>
                          </a:solidFill>
                          <a:latin typeface="Calibri"/>
                        </a:rPr>
                        <a:t>Montague flow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 1,750 cfs Decree target</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4</a:t>
                      </a:r>
                    </a:p>
                  </a:txBody>
                  <a:tcPr marL="73152" marR="73152" marT="27432" marB="27432" anchor="ctr">
                    <a:solidFill>
                      <a:srgbClr val="FFFFFF"/>
                    </a:solidFill>
                  </a:tcPr>
                </a:tc>
                <a:tc>
                  <a:txBody>
                    <a:bodyPr wrap="square"/>
                    <a:lstStyle/>
                    <a:p>
                      <a:r>
                        <a:rPr sz="1800" i="0" b="0">
                          <a:solidFill>
                            <a:srgbClr val="212529"/>
                          </a:solidFill>
                          <a:latin typeface="Calibri"/>
                        </a:rPr>
                        <a:t>Montague flow deficit</a:t>
                      </a:r>
                    </a:p>
                  </a:txBody>
                  <a:tcPr marL="73152" marR="73152" marT="27432" marB="27432" anchor="ctr">
                    <a:solidFill>
                      <a:srgbClr val="FFFFFF"/>
                    </a:solidFill>
                  </a:tcPr>
                </a:tc>
                <a:tc>
                  <a:txBody>
                    <a:bodyPr wrap="square"/>
                    <a:lstStyle/>
                    <a:p>
                      <a:r>
                        <a:rPr sz="1800" i="0" b="0">
                          <a:solidFill>
                            <a:srgbClr val="212529"/>
                          </a:solidFill>
                          <a:latin typeface="Calibri"/>
                        </a:rPr>
                        <a:t>CVaR₉₀ of weekly deficit (% of target)</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5</a:t>
                      </a:r>
                    </a:p>
                  </a:txBody>
                  <a:tcPr marL="73152" marR="73152" marT="27432" marB="27432" anchor="ctr">
                    <a:solidFill>
                      <a:srgbClr val="FFFFFF"/>
                    </a:solidFill>
                  </a:tcPr>
                </a:tc>
                <a:tc>
                  <a:txBody>
                    <a:bodyPr wrap="square"/>
                    <a:lstStyle/>
                    <a:p>
                      <a:r>
                        <a:rPr sz="1800" i="0" b="0">
                          <a:solidFill>
                            <a:srgbClr val="212529"/>
                          </a:solidFill>
                          <a:latin typeface="Calibri"/>
                        </a:rPr>
                        <a:t>Trenton flow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 Decree target</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6</a:t>
                      </a:r>
                    </a:p>
                  </a:txBody>
                  <a:tcPr marL="73152" marR="73152" marT="27432" marB="27432" anchor="ctr">
                    <a:solidFill>
                      <a:srgbClr val="FFFFFF"/>
                    </a:solidFill>
                  </a:tcPr>
                </a:tc>
                <a:tc>
                  <a:txBody>
                    <a:bodyPr wrap="square"/>
                    <a:lstStyle/>
                    <a:p>
                      <a:r>
                        <a:rPr sz="1800" i="0" b="0">
                          <a:solidFill>
                            <a:srgbClr val="212529"/>
                          </a:solidFill>
                          <a:latin typeface="Calibri"/>
                        </a:rPr>
                        <a:t>Downstream flood days</a:t>
                      </a:r>
                    </a:p>
                  </a:txBody>
                  <a:tcPr marL="73152" marR="73152" marT="27432" marB="27432" anchor="ctr">
                    <a:solidFill>
                      <a:srgbClr val="FFFFFF"/>
                    </a:solidFill>
                  </a:tcPr>
                </a:tc>
                <a:tc>
                  <a:txBody>
                    <a:bodyPr wrap="square"/>
                    <a:lstStyle/>
                    <a:p>
                      <a:r>
                        <a:rPr sz="1800" i="0" b="0">
                          <a:solidFill>
                            <a:srgbClr val="212529"/>
                          </a:solidFill>
                          <a:latin typeface="Calibri"/>
                        </a:rPr>
                        <a:t>days any tail gauge ≥ NWS minor flood stage</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7</a:t>
                      </a:r>
                    </a:p>
                  </a:txBody>
                  <a:tcPr marL="73152" marR="73152" marT="27432" marB="27432" anchor="ctr">
                    <a:solidFill>
                      <a:srgbClr val="FFFFFF"/>
                    </a:solidFill>
                  </a:tcPr>
                </a:tc>
                <a:tc>
                  <a:txBody>
                    <a:bodyPr wrap="square"/>
                    <a:lstStyle/>
                    <a:p>
                      <a:r>
                        <a:rPr sz="1800" i="0" b="0">
                          <a:solidFill>
                            <a:srgbClr val="212529"/>
                          </a:solidFill>
                          <a:latin typeface="Calibri"/>
                        </a:rPr>
                        <a:t>NYC storage resilience</a:t>
                      </a:r>
                    </a:p>
                  </a:txBody>
                  <a:tcPr marL="73152" marR="73152" marT="27432" marB="27432" anchor="ctr">
                    <a:solidFill>
                      <a:srgbClr val="FFFFFF"/>
                    </a:solidFill>
                  </a:tcPr>
                </a:tc>
                <a:tc>
                  <a:txBody>
                    <a:bodyPr wrap="square"/>
                    <a:lstStyle/>
                    <a:p>
                      <a:r>
                        <a:rPr sz="1800" i="0" b="0">
                          <a:solidFill>
                            <a:srgbClr val="212529"/>
                          </a:solidFill>
                          <a:latin typeface="Calibri"/>
                        </a:rPr>
                        <a:t>5th percentile of daily storage (% capacity)</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bl>
          </a:graphicData>
        </a:graphic>
      </p:graphicFrame>
      <p:sp>
        <p:nvSpPr>
          <p:cNvPr id="5" name="TextBox 4"/>
          <p:cNvSpPr txBox="1"/>
          <p:nvPr/>
        </p:nvSpPr>
        <p:spPr>
          <a:xfrm>
            <a:off x="548640" y="4983480"/>
            <a:ext cx="11091672" cy="1645919"/>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goalposts are the </a:t>
            </a:r>
            <a:r>
              <a:rPr sz="1900" i="0" b="1">
                <a:solidFill>
                  <a:srgbClr val="212529"/>
                </a:solidFill>
                <a:latin typeface="Calibri"/>
              </a:rPr>
              <a:t>static 1954 Decree quantities</a:t>
            </a:r>
            <a:r>
              <a:rPr sz="1900" i="0" b="0">
                <a:solidFill>
                  <a:srgbClr val="212529"/>
                </a:solidFill>
                <a:latin typeface="Calibri"/>
              </a:rPr>
              <a:t>, never the live FFMP step-down targets</a:t>
            </a:r>
          </a:p>
          <a:p>
            <a:pPr>
              <a:lnSpc>
                <a:spcPct val="104000"/>
              </a:lnSpc>
              <a:spcAft>
                <a:spcPts val="600"/>
              </a:spcAft>
            </a:pPr>
            <a:r>
              <a:rPr sz="1900" i="0" b="0">
                <a:solidFill>
                  <a:srgbClr val="212529"/>
                </a:solidFill>
                <a:latin typeface="Calibri"/>
              </a:rPr>
              <a:t>•  reliability, tail and count forms follow Hashimoto et al. (1982), Rockafellar &amp; Uryasev (2000), Quinn et al. (2017); formulations in supplement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Scoring a policy on an ensemble: two-layer aggregation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61872"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72768"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83664"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94560"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05456"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16352"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50976"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261872"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72768"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83664"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94560"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05456"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816352"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0976"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61872"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72768"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83664"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94560"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505456"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16352"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0976"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261872"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72768"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83664"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94560"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05456"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816352"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0976"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261872"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72768"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83664"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94560"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05456"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16352"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572768" y="2286000"/>
            <a:ext cx="274320" cy="237744"/>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0352" y="3154679"/>
            <a:ext cx="2761488" cy="320040"/>
          </a:xfrm>
          <a:prstGeom prst="rect">
            <a:avLst/>
          </a:prstGeom>
          <a:noFill/>
        </p:spPr>
        <p:txBody>
          <a:bodyPr wrap="square">
            <a:spAutoFit/>
          </a:bodyPr>
          <a:lstStyle/>
          <a:p>
            <a:pPr algn="ctr"/>
            <a:r>
              <a:rPr sz="1800" i="0" b="0">
                <a:solidFill>
                  <a:srgbClr val="5F6B7A"/>
                </a:solidFill>
                <a:latin typeface="Calibri"/>
              </a:rPr>
              <a:t>L water-years</a:t>
            </a:r>
          </a:p>
        </p:txBody>
      </p:sp>
      <p:sp>
        <p:nvSpPr>
          <p:cNvPr id="46" name="TextBox 45"/>
          <p:cNvSpPr txBox="1"/>
          <p:nvPr/>
        </p:nvSpPr>
        <p:spPr>
          <a:xfrm>
            <a:off x="137159" y="2057400"/>
            <a:ext cx="457200" cy="1097280"/>
          </a:xfrm>
          <a:prstGeom prst="rect">
            <a:avLst/>
          </a:prstGeom>
          <a:noFill/>
        </p:spPr>
        <p:txBody>
          <a:bodyPr wrap="square">
            <a:spAutoFit/>
          </a:bodyPr>
          <a:lstStyle/>
          <a:p>
            <a:pPr algn="ctr"/>
            <a:r>
              <a:rPr sz="1800" i="0" b="0">
                <a:solidFill>
                  <a:srgbClr val="5F6B7A"/>
                </a:solidFill>
                <a:latin typeface="Calibri"/>
              </a:rPr>
              <a:t>N</a:t>
            </a:r>
          </a:p>
        </p:txBody>
      </p:sp>
      <p:cxnSp>
        <p:nvCxnSpPr>
          <p:cNvPr id="47" name="Connector 46"/>
          <p:cNvCxnSpPr/>
          <p:nvPr/>
        </p:nvCxnSpPr>
        <p:spPr>
          <a:xfrm>
            <a:off x="3264408" y="2423160"/>
            <a:ext cx="411479"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721608" y="1993391"/>
            <a:ext cx="288036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stage 1</a:t>
            </a:r>
            <a:r>
              <a:rPr sz="1800" i="0" b="0">
                <a:solidFill>
                  <a:srgbClr val="212529"/>
                </a:solidFill>
                <a:latin typeface="Calibri"/>
              </a:rPr>
              <a:t>: annual metric per
(realization × year) unit</a:t>
            </a:r>
          </a:p>
        </p:txBody>
      </p:sp>
      <p:cxnSp>
        <p:nvCxnSpPr>
          <p:cNvPr id="49" name="Connector 48"/>
          <p:cNvCxnSpPr/>
          <p:nvPr/>
        </p:nvCxnSpPr>
        <p:spPr>
          <a:xfrm>
            <a:off x="6601968" y="2423160"/>
            <a:ext cx="41148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059168" y="1993391"/>
            <a:ext cx="288036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stage 2</a:t>
            </a:r>
            <a:r>
              <a:rPr sz="1800" i="0" b="0">
                <a:solidFill>
                  <a:srgbClr val="212529"/>
                </a:solidFill>
                <a:latin typeface="Calibri"/>
              </a:rPr>
              <a:t>: unit operator over
pooled N·L unit-years</a:t>
            </a:r>
          </a:p>
        </p:txBody>
      </p:sp>
      <p:cxnSp>
        <p:nvCxnSpPr>
          <p:cNvPr id="51" name="Connector 50"/>
          <p:cNvCxnSpPr/>
          <p:nvPr/>
        </p:nvCxnSpPr>
        <p:spPr>
          <a:xfrm>
            <a:off x="9939528" y="2423160"/>
            <a:ext cx="36576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0351008" y="1993391"/>
            <a:ext cx="68580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2000" i="0" b="0">
                <a:solidFill>
                  <a:srgbClr val="212529"/>
                </a:solidFill>
                <a:latin typeface="Cambria"/>
              </a:rPr>
              <a:t>fᵢ</a:t>
            </a:r>
          </a:p>
        </p:txBody>
      </p:sp>
      <p:sp>
        <p:nvSpPr>
          <p:cNvPr id="53" name="TextBox 52"/>
          <p:cNvSpPr txBox="1"/>
          <p:nvPr/>
        </p:nvSpPr>
        <p:spPr>
          <a:xfrm>
            <a:off x="548640" y="3520440"/>
            <a:ext cx="11091672" cy="310896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reliability objectives: </a:t>
            </a:r>
            <a:r>
              <a:rPr sz="2000" i="0" b="1">
                <a:solidFill>
                  <a:srgbClr val="212529"/>
                </a:solidFill>
                <a:latin typeface="Calibri"/>
              </a:rPr>
              <a:t>frequency of non-failure years</a:t>
            </a:r>
            <a:r>
              <a:rPr sz="2000" i="0" b="0">
                <a:solidFill>
                  <a:srgbClr val="212529"/>
                </a:solidFill>
                <a:latin typeface="Calibri"/>
              </a:rPr>
              <a:t> (Zeff et al. 2014; Trindade et al. 2017; Gold et al. 2023)</a:t>
            </a:r>
          </a:p>
          <a:p>
            <a:pPr>
              <a:lnSpc>
                <a:spcPct val="104000"/>
              </a:lnSpc>
              <a:spcAft>
                <a:spcPts val="1000"/>
              </a:spcAft>
            </a:pPr>
            <a:r>
              <a:rPr sz="2000" i="0" b="0">
                <a:solidFill>
                  <a:srgbClr val="212529"/>
                </a:solidFill>
                <a:latin typeface="Calibri"/>
              </a:rPr>
              <a:t>•  deficit / storage objectives: </a:t>
            </a:r>
            <a:r>
              <a:rPr sz="2000" i="0" b="1">
                <a:solidFill>
                  <a:srgbClr val="212529"/>
                </a:solidFill>
                <a:latin typeface="Calibri"/>
              </a:rPr>
              <a:t>worst 1st-percentile unit-year</a:t>
            </a:r>
            <a:r>
              <a:rPr sz="2000" i="0" b="0">
                <a:solidFill>
                  <a:srgbClr val="212529"/>
                </a:solidFill>
                <a:latin typeface="Calibri"/>
              </a:rPr>
              <a:t> (Quinn et al. 2017, 2018)</a:t>
            </a:r>
          </a:p>
          <a:p>
            <a:pPr>
              <a:lnSpc>
                <a:spcPct val="104000"/>
              </a:lnSpc>
              <a:spcAft>
                <a:spcPts val="1000"/>
              </a:spcAft>
            </a:pPr>
            <a:r>
              <a:rPr sz="2000" i="0" b="0">
                <a:solidFill>
                  <a:srgbClr val="212529"/>
                </a:solidFill>
                <a:latin typeface="Calibri"/>
              </a:rPr>
              <a:t>•  flood days: </a:t>
            </a:r>
            <a:r>
              <a:rPr sz="2000" i="0" b="1">
                <a:solidFill>
                  <a:srgbClr val="212529"/>
                </a:solidFill>
                <a:latin typeface="Calibri"/>
              </a:rPr>
              <a:t>mean annual count</a:t>
            </a:r>
            <a:r>
              <a:rPr sz="2000" i="0" b="0">
                <a:solidFill>
                  <a:srgbClr val="212529"/>
                </a:solidFill>
                <a:latin typeface="Calibri"/>
              </a:rPr>
              <a:t>, P99 variant registered (Quinn et al. 2017)</a:t>
            </a:r>
          </a:p>
          <a:p>
            <a:pPr>
              <a:lnSpc>
                <a:spcPct val="104000"/>
              </a:lnSpc>
              <a:spcAft>
                <a:spcPts val="1000"/>
              </a:spcAft>
            </a:pPr>
            <a:r>
              <a:rPr sz="2000" i="0" b="0">
                <a:solidFill>
                  <a:srgbClr val="212529"/>
                </a:solidFill>
                <a:latin typeface="Calibri"/>
              </a:rPr>
              <a:t>•  identical scheme and unit denominator across designs (two-layer vocabulary, Hamilton et al. 2022); failure criteria and ε from the sensitivity experiment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Controls for a fair comparison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N = 100 and L = 10 yr for every matched design → 1,000 scenario-years per evaluation, at equal NFE.</a:t>
            </a:r>
          </a:p>
        </p:txBody>
      </p:sp>
      <p:sp>
        <p:nvSpPr>
          <p:cNvPr id="5" name="TextBox 4"/>
          <p:cNvSpPr txBox="1"/>
          <p:nvPr/>
        </p:nvSpPr>
        <p:spPr>
          <a:xfrm>
            <a:off x="548640" y="1965960"/>
            <a:ext cx="11091672" cy="4663440"/>
          </a:xfrm>
          <a:prstGeom prst="rect">
            <a:avLst/>
          </a:prstGeom>
          <a:noFill/>
        </p:spPr>
        <p:txBody>
          <a:bodyPr wrap="square">
            <a:spAutoFit/>
          </a:bodyPr>
          <a:lstStyle/>
          <a:p>
            <a:pPr>
              <a:lnSpc>
                <a:spcPct val="104000"/>
              </a:lnSpc>
              <a:spcAft>
                <a:spcPts val="900"/>
              </a:spcAft>
            </a:pPr>
            <a:r>
              <a:rPr sz="1900" i="0" b="0">
                <a:solidFill>
                  <a:srgbClr val="212529"/>
                </a:solidFill>
                <a:latin typeface="Calibri"/>
              </a:rPr>
              <a:t>•  because N and L are common, per-evaluation cost, warm-up, scenario-years and wall-clock are </a:t>
            </a:r>
            <a:r>
              <a:rPr sz="1900" i="0" b="1">
                <a:solidFill>
                  <a:srgbClr val="212529"/>
                </a:solidFill>
                <a:latin typeface="Calibri"/>
              </a:rPr>
              <a:t>identical</a:t>
            </a:r>
            <a:r>
              <a:rPr sz="1900" i="0" b="0">
                <a:solidFill>
                  <a:srgbClr val="212529"/>
                </a:solidFill>
                <a:latin typeface="Calibri"/>
              </a:rPr>
              <a:t> — equal-NFE and equal-scenario-years </a:t>
            </a:r>
            <a:r>
              <a:rPr sz="1900" i="0" b="1">
                <a:solidFill>
                  <a:srgbClr val="212529"/>
                </a:solidFill>
                <a:latin typeface="Calibri"/>
              </a:rPr>
              <a:t>coincide</a:t>
            </a:r>
            <a:r>
              <a:rPr sz="1900" i="0" b="0">
                <a:solidFill>
                  <a:srgbClr val="212529"/>
                </a:solidFill>
                <a:latin typeface="Calibri"/>
              </a:rPr>
              <a:t>. One budget condition, no arms, no confound between composition and search effort</a:t>
            </a:r>
          </a:p>
          <a:p>
            <a:pPr>
              <a:lnSpc>
                <a:spcPct val="104000"/>
              </a:lnSpc>
              <a:spcAft>
                <a:spcPts val="900"/>
              </a:spcAft>
            </a:pPr>
            <a:r>
              <a:rPr sz="1900" i="0" b="0">
                <a:solidFill>
                  <a:srgbClr val="212529"/>
                </a:solidFill>
                <a:latin typeface="Calibri"/>
              </a:rPr>
              <a:t>•  the common (N, L) is </a:t>
            </a:r>
            <a:r>
              <a:rPr sz="1900" i="0" b="1">
                <a:solidFill>
                  <a:srgbClr val="212529"/>
                </a:solidFill>
                <a:latin typeface="Calibri"/>
              </a:rPr>
              <a:t>required, not convenient</a:t>
            </a:r>
            <a:r>
              <a:rPr sz="1900" i="0" b="0">
                <a:solidFill>
                  <a:srgbClr val="212529"/>
                </a:solidFill>
                <a:latin typeface="Calibri"/>
              </a:rPr>
              <a:t>: if L differed across designs, the selection rule would be confounded with record length</a:t>
            </a:r>
          </a:p>
          <a:p>
            <a:pPr>
              <a:lnSpc>
                <a:spcPct val="104000"/>
              </a:lnSpc>
              <a:spcAft>
                <a:spcPts val="900"/>
              </a:spcAft>
            </a:pPr>
            <a:r>
              <a:rPr sz="1900" i="0" b="0">
                <a:solidFill>
                  <a:srgbClr val="212529"/>
                </a:solidFill>
                <a:latin typeface="Calibri"/>
              </a:rPr>
              <a:t>•  N is bounded below by the </a:t>
            </a:r>
            <a:r>
              <a:rPr sz="1900" i="0" b="1">
                <a:solidFill>
                  <a:srgbClr val="212529"/>
                </a:solidFill>
                <a:latin typeface="Calibri"/>
              </a:rPr>
              <a:t>fill requirement</a:t>
            </a:r>
            <a:r>
              <a:rPr sz="1900" i="0" b="0">
                <a:solidFill>
                  <a:srgbClr val="212529"/>
                </a:solidFill>
                <a:latin typeface="Calibri"/>
              </a:rPr>
              <a:t> — at m = 4 hazard axes, N = 100 gives ~3.2 points per dimension (~4.6 at m = 3), the smallest defensible fill. This is why long records are not viable: at a fixed per-evaluation budget L = 50 forces N ≈ 20, and space-filling in 4-D with 20 points is noise</a:t>
            </a:r>
          </a:p>
          <a:p>
            <a:pPr>
              <a:lnSpc>
                <a:spcPct val="104000"/>
              </a:lnSpc>
              <a:spcAft>
                <a:spcPts val="900"/>
              </a:spcAft>
            </a:pPr>
            <a:r>
              <a:rPr sz="1900" i="0" b="0">
                <a:solidFill>
                  <a:srgbClr val="212529"/>
                </a:solidFill>
                <a:latin typeface="Calibri"/>
              </a:rPr>
              <a:t>•  </a:t>
            </a:r>
            <a:r>
              <a:rPr sz="1900" i="0" b="1">
                <a:solidFill>
                  <a:srgbClr val="212529"/>
                </a:solidFill>
                <a:latin typeface="Calibri"/>
              </a:rPr>
              <a:t>NFE = 500,000 per search is a target</a:t>
            </a:r>
            <a:r>
              <a:rPr sz="1900" i="0" b="0">
                <a:solidFill>
                  <a:srgbClr val="212529"/>
                </a:solidFill>
                <a:latin typeface="Calibri"/>
              </a:rPr>
              <a:t> (revisable once initial searches reveal convergence; the runtime archive keeps intermediate NFE so a lower budget can be justified after the fact)</a:t>
            </a:r>
          </a:p>
          <a:p>
            <a:pPr>
              <a:lnSpc>
                <a:spcPct val="104000"/>
              </a:lnSpc>
              <a:spcAft>
                <a:spcPts val="900"/>
              </a:spcAft>
            </a:pPr>
            <a:r>
              <a:rPr sz="1900" i="0" b="0">
                <a:solidFill>
                  <a:srgbClr val="212529"/>
                </a:solidFill>
                <a:latin typeface="Calibri"/>
              </a:rPr>
              <a:t>•  </a:t>
            </a:r>
            <a:r>
              <a:rPr sz="1900" i="0" b="1">
                <a:solidFill>
                  <a:srgbClr val="212529"/>
                </a:solidFill>
                <a:latin typeface="Calibri"/>
              </a:rPr>
              <a:t>replication (targets)</a:t>
            </a:r>
            <a:r>
              <a:rPr sz="1900" i="0" b="0">
                <a:solidFill>
                  <a:srgbClr val="212529"/>
                </a:solidFill>
                <a:latin typeface="Calibri"/>
              </a:rPr>
              <a:t>: K = 3 ensemble draws × S = 2 seeds per matched design (historic K = 1); revisable from a pilot minimum-detectable-effect calc. A </a:t>
            </a:r>
            <a:r>
              <a:rPr sz="1900" i="0" b="1">
                <a:solidFill>
                  <a:srgbClr val="212529"/>
                </a:solidFill>
                <a:latin typeface="Calibri"/>
              </a:rPr>
              <a:t>draw</a:t>
            </a:r>
            <a:r>
              <a:rPr sz="1900" i="0" b="0">
                <a:solidFill>
                  <a:srgbClr val="212529"/>
                </a:solidFill>
                <a:latin typeface="Calibri"/>
              </a:rPr>
              <a:t> = the construction re-run from scratch with a fresh seed, </a:t>
            </a:r>
            <a:r>
              <a:rPr sz="1900" i="0" b="1">
                <a:solidFill>
                  <a:srgbClr val="212529"/>
                </a:solidFill>
                <a:latin typeface="Calibri"/>
              </a:rPr>
              <a:t>including its pool</a:t>
            </a:r>
            <a:r>
              <a:rPr sz="1900" i="0" b="0">
                <a:solidFill>
                  <a:srgbClr val="212529"/>
                </a:solidFill>
                <a:latin typeface="Calibri"/>
              </a:rPr>
              <a:t>, and is the unit of analysis (effective n ≈ K)</a:t>
            </a:r>
          </a:p>
          <a:p>
            <a:pPr>
              <a:lnSpc>
                <a:spcPct val="104000"/>
              </a:lnSpc>
              <a:spcAft>
                <a:spcPts val="900"/>
              </a:spcAft>
            </a:pPr>
            <a:r>
              <a:rPr sz="1900" i="0" b="0">
                <a:solidFill>
                  <a:srgbClr val="212529"/>
                </a:solidFill>
                <a:latin typeface="Calibri"/>
              </a:rPr>
              <a:t>•  search-time objective values are </a:t>
            </a:r>
            <a:r>
              <a:rPr sz="1900" i="0" b="1">
                <a:solidFill>
                  <a:srgbClr val="212529"/>
                </a:solidFill>
                <a:latin typeface="Calibri"/>
              </a:rPr>
              <a:t>never compared across designs</a:t>
            </a:r>
            <a:r>
              <a:rPr sz="1900" i="0" b="0">
                <a:solidFill>
                  <a:srgbClr val="212529"/>
                </a:solidFill>
                <a:latin typeface="Calibri"/>
              </a:rPr>
              <a:t>; convergence is a per-design diagnostic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Comparison metrics: the held-out metric set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298448"/>
            <a:ext cx="11109960" cy="86868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Primary: multivariate satisficing (Starr 1962 domain criterion)</a:t>
            </a:r>
            <a:r>
              <a:rPr sz="2000" i="0" b="0">
                <a:solidFill>
                  <a:srgbClr val="212529"/>
                </a:solidFill>
                <a:latin typeface="Calibri"/>
              </a:rPr>
              <a:t> — the fraction of test realizations in which a policy meets ALL criteria jointly. The realization is the unit.</a:t>
            </a:r>
          </a:p>
        </p:txBody>
      </p:sp>
      <p:sp>
        <p:nvSpPr>
          <p:cNvPr id="5" name="TextBox 4"/>
          <p:cNvSpPr txBox="1"/>
          <p:nvPr/>
        </p:nvSpPr>
        <p:spPr>
          <a:xfrm>
            <a:off x="548640" y="2331720"/>
            <a:ext cx="11091672" cy="4297680"/>
          </a:xfrm>
          <a:prstGeom prst="rect">
            <a:avLst/>
          </a:prstGeom>
          <a:noFill/>
        </p:spPr>
        <p:txBody>
          <a:bodyPr wrap="square">
            <a:spAutoFit/>
          </a:bodyPr>
          <a:lstStyle/>
          <a:p>
            <a:pPr>
              <a:lnSpc>
                <a:spcPct val="104000"/>
              </a:lnSpc>
              <a:spcAft>
                <a:spcPts val="700"/>
              </a:spcAft>
            </a:pPr>
            <a:r>
              <a:rPr sz="1900" i="0" b="0">
                <a:solidFill>
                  <a:srgbClr val="212529"/>
                </a:solidFill>
                <a:latin typeface="Calibri"/>
              </a:rPr>
              <a:t>•  the standard robustness unit of the Herman (2014, 2015) / Trindade (2017) / Gold (2022, 2023) lineage; converges at 50–300 scenarios (Bonham et al. 2024)</a:t>
            </a:r>
          </a:p>
          <a:p>
            <a:pPr>
              <a:lnSpc>
                <a:spcPct val="104000"/>
              </a:lnSpc>
              <a:spcAft>
                <a:spcPts val="700"/>
              </a:spcAft>
            </a:pPr>
            <a:r>
              <a:rPr sz="1900" i="0" b="0">
                <a:solidFill>
                  <a:srgbClr val="212529"/>
                </a:solidFill>
                <a:latin typeface="Calibri"/>
              </a:rPr>
              <a:t>•  </a:t>
            </a:r>
            <a:r>
              <a:rPr sz="1900" i="0" b="1">
                <a:solidFill>
                  <a:srgbClr val="212529"/>
                </a:solidFill>
                <a:latin typeface="Calibri"/>
              </a:rPr>
              <a:t>run-level endpoint (pre-specified)</a:t>
            </a:r>
            <a:r>
              <a:rPr sz="1900" i="0" b="0">
                <a:solidFill>
                  <a:srgbClr val="212529"/>
                </a:solidFill>
                <a:latin typeface="Calibri"/>
              </a:rPr>
              <a:t>: the </a:t>
            </a:r>
            <a:r>
              <a:rPr sz="1900" i="0" b="1">
                <a:solidFill>
                  <a:srgbClr val="212529"/>
                </a:solidFill>
                <a:latin typeface="Calibri"/>
              </a:rPr>
              <a:t>max satisficing fraction</a:t>
            </a:r>
            <a:r>
              <a:rPr sz="1900" i="0" b="0">
                <a:solidFill>
                  <a:srgbClr val="212529"/>
                </a:solidFill>
                <a:latin typeface="Calibri"/>
              </a:rPr>
              <a:t> attained in a run's re-evaluated set, with a </a:t>
            </a:r>
            <a:r>
              <a:rPr sz="1900" i="0" b="1">
                <a:solidFill>
                  <a:srgbClr val="212529"/>
                </a:solidFill>
                <a:latin typeface="Calibri"/>
              </a:rPr>
              <a:t>leave-one-out reference-set correction</a:t>
            </a:r>
            <a:r>
              <a:rPr sz="1900" i="0" b="0">
                <a:solidFill>
                  <a:srgbClr val="212529"/>
                </a:solidFill>
                <a:latin typeface="Calibri"/>
              </a:rPr>
              <a:t> and </a:t>
            </a:r>
            <a:r>
              <a:rPr sz="1900" i="0" b="1">
                <a:solidFill>
                  <a:srgbClr val="212529"/>
                </a:solidFill>
                <a:latin typeface="Calibri"/>
              </a:rPr>
              <a:t>robustness-space hypervolume</a:t>
            </a:r>
            <a:r>
              <a:rPr sz="1900" i="0" b="0">
                <a:solidFill>
                  <a:srgbClr val="212529"/>
                </a:solidFill>
                <a:latin typeface="Calibri"/>
              </a:rPr>
              <a:t> as bounding co-reports</a:t>
            </a:r>
          </a:p>
          <a:p>
            <a:pPr>
              <a:lnSpc>
                <a:spcPct val="104000"/>
              </a:lnSpc>
              <a:spcAft>
                <a:spcPts val="700"/>
              </a:spcAft>
            </a:pPr>
            <a:r>
              <a:rPr sz="1900" i="0" b="0">
                <a:solidFill>
                  <a:srgbClr val="212529"/>
                </a:solidFill>
                <a:latin typeface="Calibri"/>
              </a:rPr>
              <a:t>•  </a:t>
            </a:r>
            <a:r>
              <a:rPr sz="1900" i="0" b="1">
                <a:solidFill>
                  <a:srgbClr val="212529"/>
                </a:solidFill>
                <a:latin typeface="Calibri"/>
              </a:rPr>
              <a:t>secondary, all free from the same persisted cube</a:t>
            </a:r>
            <a:r>
              <a:rPr sz="1900" i="0" b="0">
                <a:solidFill>
                  <a:srgbClr val="212529"/>
                </a:solidFill>
                <a:latin typeface="Calibri"/>
              </a:rPr>
              <a:t>: univariate satisficing; </a:t>
            </a:r>
            <a:r>
              <a:rPr sz="1900" i="0" b="1">
                <a:solidFill>
                  <a:srgbClr val="212529"/>
                </a:solidFill>
                <a:latin typeface="Calibri"/>
              </a:rPr>
              <a:t>Laplace / mean</a:t>
            </a:r>
            <a:r>
              <a:rPr sz="1900" i="0" b="0">
                <a:solidFill>
                  <a:srgbClr val="212529"/>
                </a:solidFill>
                <a:latin typeface="Calibri"/>
              </a:rPr>
              <a:t> and </a:t>
            </a:r>
            <a:r>
              <a:rPr sz="1900" i="0" b="1">
                <a:solidFill>
                  <a:srgbClr val="212529"/>
                </a:solidFill>
                <a:latin typeface="Calibri"/>
              </a:rPr>
              <a:t>maximin</a:t>
            </a:r>
            <a:r>
              <a:rPr sz="1900" i="0" b="0">
                <a:solidFill>
                  <a:srgbClr val="212529"/>
                </a:solidFill>
                <a:latin typeface="Calibri"/>
              </a:rPr>
              <a:t> (risk-neutral and risk-averse anchors — a single robustness family is never sufficient, Herman et al. 2015; McPhail et al. 2018); </a:t>
            </a:r>
            <a:r>
              <a:rPr sz="1900" i="0" b="1">
                <a:solidFill>
                  <a:srgbClr val="212529"/>
                </a:solidFill>
                <a:latin typeface="Calibri"/>
              </a:rPr>
              <a:t>improvement over the status quo</a:t>
            </a:r>
            <a:r>
              <a:rPr sz="1900" i="0" b="0">
                <a:solidFill>
                  <a:srgbClr val="212529"/>
                </a:solidFill>
                <a:latin typeface="Calibri"/>
              </a:rPr>
              <a:t> (shortfall vs the current FFMP policy on the same test ensemble — the </a:t>
            </a:r>
            <a:r>
              <a:rPr sz="1900" i="0" b="1">
                <a:solidFill>
                  <a:srgbClr val="212529"/>
                </a:solidFill>
                <a:latin typeface="Calibri"/>
              </a:rPr>
              <a:t>only</a:t>
            </a:r>
            <a:r>
              <a:rPr sz="1900" i="0" b="0">
                <a:solidFill>
                  <a:srgbClr val="212529"/>
                </a:solidFill>
                <a:latin typeface="Calibri"/>
              </a:rPr>
              <a:t> fixed-reference regret-type quantity, design-independent, needs no optimization, Kasprzyk et al. 2013)</a:t>
            </a:r>
          </a:p>
          <a:p>
            <a:pPr>
              <a:lnSpc>
                <a:spcPct val="104000"/>
              </a:lnSpc>
              <a:spcAft>
                <a:spcPts val="700"/>
              </a:spcAft>
            </a:pPr>
            <a:r>
              <a:rPr sz="1900" i="0" b="0">
                <a:solidFill>
                  <a:srgbClr val="212529"/>
                </a:solidFill>
                <a:latin typeface="Calibri"/>
              </a:rPr>
              <a:t>•  </a:t>
            </a:r>
            <a:r>
              <a:rPr sz="1900" i="0" b="1">
                <a:solidFill>
                  <a:srgbClr val="212529"/>
                </a:solidFill>
                <a:latin typeface="Calibri"/>
              </a:rPr>
              <a:t>attainability screen</a:t>
            </a:r>
            <a:r>
              <a:rPr sz="1900" i="0" b="0">
                <a:solidFill>
                  <a:srgbClr val="212529"/>
                </a:solidFill>
                <a:latin typeface="Calibri"/>
              </a:rPr>
              <a:t> (free): which test realizations no policy from any design can win — separating *this design searched badly* from *this scenario is impossible for anyone* (Shavazipour et al. 2021 found 23% unwinnable)</a:t>
            </a:r>
          </a:p>
          <a:p>
            <a:pPr>
              <a:lnSpc>
                <a:spcPct val="104000"/>
              </a:lnSpc>
              <a:spcAft>
                <a:spcPts val="700"/>
              </a:spcAft>
            </a:pPr>
            <a:r>
              <a:rPr sz="1900" i="0" b="0">
                <a:solidFill>
                  <a:srgbClr val="212529"/>
                </a:solidFill>
                <a:latin typeface="Calibri"/>
              </a:rPr>
              <a:t>•  ranking agreement via </a:t>
            </a:r>
            <a:r>
              <a:rPr sz="1900" i="0" b="1">
                <a:solidFill>
                  <a:srgbClr val="212529"/>
                </a:solidFill>
                <a:latin typeface="Calibri"/>
              </a:rPr>
              <a:t>Kendall's τ_b, computed across the design rankings</a:t>
            </a:r>
          </a:p>
        </p:txBody>
      </p:sp>
      <p:sp>
        <p:nvSpPr>
          <p:cNvPr id="6" name="Rectangle 5"/>
          <p:cNvSpPr/>
          <p:nvPr/>
        </p:nvSpPr>
        <p:spPr>
          <a:xfrm>
            <a:off x="548640" y="5029200"/>
            <a:ext cx="11109960" cy="1417320"/>
          </a:xfrm>
          <a:prstGeom prst="rect">
            <a:avLst/>
          </a:prstGeom>
          <a:solidFill>
            <a:srgbClr val="FFFFFF"/>
          </a:solidFill>
          <a:ln w="15875">
            <a:solidFill>
              <a:srgbClr val="A4592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1800" i="0" b="1">
                <a:solidFill>
                  <a:srgbClr val="212529"/>
                </a:solidFill>
                <a:latin typeface="Calibri"/>
              </a:rPr>
              <a:t>Deliberately excluded.</a:t>
            </a:r>
            <a:r>
              <a:rPr sz="1800" i="0" b="0">
                <a:solidFill>
                  <a:srgbClr val="212529"/>
                </a:solidFill>
                <a:latin typeface="Calibri"/>
              </a:rPr>
              <a:t>  </a:t>
            </a:r>
            <a:r>
              <a:rPr sz="1800" i="0" b="1">
                <a:solidFill>
                  <a:srgbClr val="212529"/>
                </a:solidFill>
                <a:latin typeface="Calibri"/>
              </a:rPr>
              <a:t>Regret</a:t>
            </a:r>
            <a:r>
              <a:rPr sz="1800" i="0" b="0">
                <a:solidFill>
                  <a:srgbClr val="212529"/>
                </a:solidFill>
                <a:latin typeface="Calibri"/>
              </a:rPr>
              <a:t> — Cohen et al. (2021) baseline regret needs a perfect-foresight MOEA run per scenario (97 optimizations, ~3,233 CPU-h) and does not scale to a 10⁵–10⁶ pool; regret-from-best is set-relative and design-coupled (dropping one design changes every other design's score) and never converges on a tail objective (Bonham et al. 2024). </a:t>
            </a:r>
            <a:r>
              <a:rPr sz="1800" i="0" b="1">
                <a:solidFill>
                  <a:srgbClr val="212529"/>
                </a:solidFill>
                <a:latin typeface="Calibri"/>
              </a:rPr>
              <a:t>No perfect-foresight optimization appears anywhere in this study.</a:t>
            </a:r>
          </a:p>
          <a:p>
            <a:r>
              <a:rPr sz="1800" i="0" b="1">
                <a:solidFill>
                  <a:srgbClr val="212529"/>
                </a:solidFill>
                <a:latin typeface="Calibri"/>
              </a:rPr>
              <a:t>Pooled-reference-set hypervolume across designs</a:t>
            </a:r>
            <a:r>
              <a:rPr sz="1800" i="0" b="0">
                <a:solidFill>
                  <a:srgbClr val="212529"/>
                </a:solidFill>
                <a:latin typeface="Calibri"/>
              </a:rPr>
              <a:t> — contributor bias, cardinality asymmetry, and noise-induced spurious dominance (a noisier design is flattered). Reference sets are built per design; cross-design comparison is re-evaluation only (Zatarain Salazar et al. 2017, §5.3).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Satisficing thresholds are conventions, so we sweep them</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Rank agreement across scenario designs degrades as the criterion tightens (Quinn et al. 2020).</a:t>
            </a:r>
          </a:p>
        </p:txBody>
      </p:sp>
      <p:sp>
        <p:nvSpPr>
          <p:cNvPr id="5" name="TextBox 4"/>
          <p:cNvSpPr txBox="1"/>
          <p:nvPr/>
        </p:nvSpPr>
        <p:spPr>
          <a:xfrm>
            <a:off x="548640" y="1920240"/>
            <a:ext cx="6949440" cy="4709160"/>
          </a:xfrm>
          <a:prstGeom prst="rect">
            <a:avLst/>
          </a:prstGeom>
          <a:noFill/>
        </p:spPr>
        <p:txBody>
          <a:bodyPr wrap="square">
            <a:spAutoFit/>
          </a:bodyPr>
          <a:lstStyle/>
          <a:p>
            <a:pPr>
              <a:lnSpc>
                <a:spcPct val="104000"/>
              </a:lnSpc>
              <a:spcAft>
                <a:spcPts val="900"/>
              </a:spcAft>
            </a:pPr>
            <a:r>
              <a:rPr sz="1900" i="0" b="0">
                <a:solidFill>
                  <a:srgbClr val="212529"/>
                </a:solidFill>
                <a:latin typeface="Calibri"/>
              </a:rPr>
              <a:t>•  nobody in this lineage derives a threshold: Zeff et al. (2014) elicited them, and every later number descends by convention and drifts without stated reason (worst-case cost 5% → 10%; restriction frequency 20% → 10%; reliability 99% → 98.5% because nothing met 99%)</a:t>
            </a:r>
          </a:p>
          <a:p>
            <a:pPr>
              <a:lnSpc>
                <a:spcPct val="104000"/>
              </a:lnSpc>
              <a:spcAft>
                <a:spcPts val="900"/>
              </a:spcAft>
            </a:pPr>
            <a:r>
              <a:rPr sz="1900" i="0" b="0">
                <a:solidFill>
                  <a:srgbClr val="212529"/>
                </a:solidFill>
                <a:latin typeface="Calibri"/>
              </a:rPr>
              <a:t>•  so the </a:t>
            </a:r>
            <a:r>
              <a:rPr sz="1900" i="0" b="1">
                <a:solidFill>
                  <a:srgbClr val="212529"/>
                </a:solidFill>
                <a:latin typeface="Calibri"/>
              </a:rPr>
              <a:t>design effect is largest at the conservative end</a:t>
            </a:r>
            <a:r>
              <a:rPr sz="1900" i="0" b="0">
                <a:solidFill>
                  <a:srgbClr val="212529"/>
                </a:solidFill>
                <a:latin typeface="Calibri"/>
              </a:rPr>
              <a:t>, and a single fixed threshold could </a:t>
            </a:r>
            <a:r>
              <a:rPr sz="1900" i="0" b="1">
                <a:solidFill>
                  <a:srgbClr val="212529"/>
                </a:solidFill>
                <a:latin typeface="Calibri"/>
              </a:rPr>
              <a:t>manufacture or hide the entire result</a:t>
            </a:r>
          </a:p>
          <a:p>
            <a:pPr>
              <a:lnSpc>
                <a:spcPct val="104000"/>
              </a:lnSpc>
              <a:spcAft>
                <a:spcPts val="900"/>
              </a:spcAft>
            </a:pPr>
            <a:r>
              <a:rPr sz="1900" i="0" b="0">
                <a:solidFill>
                  <a:srgbClr val="212529"/>
                </a:solidFill>
                <a:latin typeface="Calibri"/>
              </a:rPr>
              <a:t>•  we anchor each criterion on a </a:t>
            </a:r>
            <a:r>
              <a:rPr sz="1900" i="0" b="1">
                <a:solidFill>
                  <a:srgbClr val="212529"/>
                </a:solidFill>
                <a:latin typeface="Calibri"/>
              </a:rPr>
              <a:t>Decree / FFMP goalpost</a:t>
            </a:r>
            <a:r>
              <a:rPr sz="1900" i="0" b="0">
                <a:solidFill>
                  <a:srgbClr val="212529"/>
                </a:solidFill>
                <a:latin typeface="Calibri"/>
              </a:rPr>
              <a:t> where one exists, and sweep the rest across a stringency grid</a:t>
            </a:r>
          </a:p>
          <a:p>
            <a:pPr>
              <a:lnSpc>
                <a:spcPct val="104000"/>
              </a:lnSpc>
              <a:spcAft>
                <a:spcPts val="900"/>
              </a:spcAft>
            </a:pPr>
            <a:r>
              <a:rPr sz="1900" i="0" b="0">
                <a:solidFill>
                  <a:srgbClr val="212529"/>
                </a:solidFill>
                <a:latin typeface="Calibri"/>
              </a:rPr>
              <a:t>•  the reported quantity is whether the </a:t>
            </a:r>
            <a:r>
              <a:rPr sz="1900" i="0" b="1">
                <a:solidFill>
                  <a:srgbClr val="212529"/>
                </a:solidFill>
                <a:latin typeface="Calibri"/>
              </a:rPr>
              <a:t>design ranking</a:t>
            </a:r>
            <a:r>
              <a:rPr sz="1900" i="0" b="0">
                <a:solidFill>
                  <a:srgbClr val="212529"/>
                </a:solidFill>
                <a:latin typeface="Calibri"/>
              </a:rPr>
              <a:t> — not the robustness value — is threshold-invariant (Kendall's τ_b vs the default): a </a:t>
            </a:r>
            <a:r>
              <a:rPr sz="1900" i="0" b="1">
                <a:solidFill>
                  <a:srgbClr val="212529"/>
                </a:solidFill>
                <a:latin typeface="Calibri"/>
              </a:rPr>
              <a:t>main-text figure</a:t>
            </a:r>
            <a:r>
              <a:rPr sz="1900" i="0" b="0">
                <a:solidFill>
                  <a:srgbClr val="212529"/>
                </a:solidFill>
                <a:latin typeface="Calibri"/>
              </a:rPr>
              <a:t>, not a robustness check</a:t>
            </a:r>
          </a:p>
          <a:p>
            <a:pPr>
              <a:lnSpc>
                <a:spcPct val="104000"/>
              </a:lnSpc>
              <a:spcAft>
                <a:spcPts val="900"/>
              </a:spcAft>
            </a:pPr>
            <a:r>
              <a:rPr sz="1900" i="0" b="0">
                <a:solidFill>
                  <a:srgbClr val="212529"/>
                </a:solidFill>
                <a:latin typeface="Calibri"/>
              </a:rPr>
              <a:t>•  free: the persisted (solution × realization × objective) cube is re-scored offline; nothing is re-simulated</a:t>
            </a:r>
          </a:p>
        </p:txBody>
      </p:sp>
      <p:sp>
        <p:nvSpPr>
          <p:cNvPr id="6" name="Rectangle 5"/>
          <p:cNvSpPr/>
          <p:nvPr/>
        </p:nvSpPr>
        <p:spPr>
          <a:xfrm>
            <a:off x="7863840" y="2194560"/>
            <a:ext cx="3566160" cy="30175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8321040" y="2423160"/>
            <a:ext cx="0" cy="23317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321040" y="4754879"/>
            <a:ext cx="292608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22792" y="2743199"/>
            <a:ext cx="832104" cy="22860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454896" y="2971800"/>
            <a:ext cx="832104"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287000" y="3429000"/>
            <a:ext cx="594359"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622792" y="2971800"/>
            <a:ext cx="832104" cy="27432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454896" y="3246120"/>
            <a:ext cx="832104" cy="5943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87000" y="3840479"/>
            <a:ext cx="594359" cy="50292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22792" y="3200400"/>
            <a:ext cx="832104" cy="3657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54896" y="3566159"/>
            <a:ext cx="832104" cy="13716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287000" y="3703320"/>
            <a:ext cx="594359" cy="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22792" y="2880360"/>
            <a:ext cx="832104" cy="155448"/>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54896" y="3035808"/>
            <a:ext cx="832104" cy="91440"/>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87000" y="3127248"/>
            <a:ext cx="594359" cy="73152"/>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366760" y="4828031"/>
            <a:ext cx="2880360" cy="292608"/>
          </a:xfrm>
          <a:prstGeom prst="rect">
            <a:avLst/>
          </a:prstGeom>
          <a:noFill/>
        </p:spPr>
        <p:txBody>
          <a:bodyPr wrap="square">
            <a:spAutoFit/>
          </a:bodyPr>
          <a:lstStyle/>
          <a:p>
            <a:pPr algn="ctr"/>
            <a:r>
              <a:rPr sz="1800" i="0" b="0">
                <a:solidFill>
                  <a:srgbClr val="5F6B7A"/>
                </a:solidFill>
                <a:latin typeface="Calibri"/>
              </a:rPr>
              <a:t>criterion stringency →</a:t>
            </a:r>
          </a:p>
        </p:txBody>
      </p:sp>
      <p:sp>
        <p:nvSpPr>
          <p:cNvPr id="22" name="TextBox 21"/>
          <p:cNvSpPr txBox="1"/>
          <p:nvPr/>
        </p:nvSpPr>
        <p:spPr>
          <a:xfrm rot="16200000">
            <a:off x="7086600" y="3429000"/>
            <a:ext cx="1737360" cy="320040"/>
          </a:xfrm>
          <a:prstGeom prst="rect">
            <a:avLst/>
          </a:prstGeom>
          <a:noFill/>
        </p:spPr>
        <p:txBody>
          <a:bodyPr wrap="square">
            <a:spAutoFit/>
          </a:bodyPr>
          <a:lstStyle/>
          <a:p>
            <a:pPr algn="ctr"/>
            <a:r>
              <a:rPr sz="1800" i="0" b="0">
                <a:solidFill>
                  <a:srgbClr val="5F6B7A"/>
                </a:solidFill>
                <a:latin typeface="Calibri"/>
              </a:rPr>
              <a:t>robustness</a:t>
            </a:r>
          </a:p>
        </p:txBody>
      </p:sp>
      <p:sp>
        <p:nvSpPr>
          <p:cNvPr id="23" name="TextBox 22"/>
          <p:cNvSpPr txBox="1"/>
          <p:nvPr/>
        </p:nvSpPr>
        <p:spPr>
          <a:xfrm>
            <a:off x="9601200" y="2331720"/>
            <a:ext cx="1737360" cy="292608"/>
          </a:xfrm>
          <a:prstGeom prst="rect">
            <a:avLst/>
          </a:prstGeom>
          <a:noFill/>
        </p:spPr>
        <p:txBody>
          <a:bodyPr wrap="square">
            <a:spAutoFit/>
          </a:bodyPr>
          <a:lstStyle/>
          <a:p>
            <a:pPr algn="ctr"/>
            <a:r>
              <a:rPr sz="1800" i="0" b="0">
                <a:solidFill>
                  <a:srgbClr val="A45929"/>
                </a:solidFill>
                <a:latin typeface="Calibri"/>
              </a:rPr>
              <a:t>hazard-fill</a:t>
            </a:r>
          </a:p>
        </p:txBody>
      </p:sp>
      <p:sp>
        <p:nvSpPr>
          <p:cNvPr id="24" name="TextBox 23"/>
          <p:cNvSpPr txBox="1"/>
          <p:nvPr/>
        </p:nvSpPr>
        <p:spPr>
          <a:xfrm>
            <a:off x="7726679" y="5266943"/>
            <a:ext cx="3840480" cy="548640"/>
          </a:xfrm>
          <a:prstGeom prst="rect">
            <a:avLst/>
          </a:prstGeom>
          <a:noFill/>
        </p:spPr>
        <p:txBody>
          <a:bodyPr wrap="square">
            <a:spAutoFit/>
          </a:bodyPr>
          <a:lstStyle/>
          <a:p>
            <a:pPr algn="ctr"/>
            <a:r>
              <a:rPr sz="1800" i="0" b="0">
                <a:solidFill>
                  <a:srgbClr val="5F6B7A"/>
                </a:solidFill>
                <a:latin typeface="Calibri"/>
              </a:rPr>
              <a:t>conceptual: rankings diverge at the tight end;
τ_b of the design ranking reported at every grid 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Scenario discovery in hazard space: the mechanism test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If hazard-filling works, its policies should fail where the design under-covered.</a:t>
            </a:r>
          </a:p>
        </p:txBody>
      </p:sp>
      <p:sp>
        <p:nvSpPr>
          <p:cNvPr id="5" name="TextBox 4"/>
          <p:cNvSpPr txBox="1"/>
          <p:nvPr/>
        </p:nvSpPr>
        <p:spPr>
          <a:xfrm>
            <a:off x="548640" y="1920240"/>
            <a:ext cx="6858000" cy="470916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boosted trees (Gold et al. 2022, 2023 configuration) fit to each design's </a:t>
            </a:r>
            <a:r>
              <a:rPr sz="1900" i="0" b="1">
                <a:solidFill>
                  <a:srgbClr val="212529"/>
                </a:solidFill>
                <a:latin typeface="Calibri"/>
              </a:rPr>
              <a:t>held-out failure realizations</a:t>
            </a:r>
            <a:r>
              <a:rPr sz="1900" i="0" b="0">
                <a:solidFill>
                  <a:srgbClr val="212529"/>
                </a:solidFill>
                <a:latin typeface="Calibri"/>
              </a:rPr>
              <a:t>, labelled by the </a:t>
            </a:r>
            <a:r>
              <a:rPr sz="1900" i="0" b="1">
                <a:solidFill>
                  <a:srgbClr val="212529"/>
                </a:solidFill>
                <a:latin typeface="Calibri"/>
              </a:rPr>
              <a:t>joint</a:t>
            </a:r>
            <a:r>
              <a:rPr sz="1900" i="0" b="0">
                <a:solidFill>
                  <a:srgbClr val="212529"/>
                </a:solidFill>
                <a:latin typeface="Calibri"/>
              </a:rPr>
              <a:t> satisficing criterion, </a:t>
            </a:r>
            <a:r>
              <a:rPr sz="1900" i="0" b="1">
                <a:solidFill>
                  <a:srgbClr val="212529"/>
                </a:solidFill>
                <a:latin typeface="Calibri"/>
              </a:rPr>
              <a:t>in hazard space</a:t>
            </a:r>
          </a:p>
          <a:p>
            <a:pPr>
              <a:lnSpc>
                <a:spcPct val="104000"/>
              </a:lnSpc>
              <a:spcAft>
                <a:spcPts val="1000"/>
              </a:spcAft>
            </a:pPr>
            <a:r>
              <a:rPr sz="1900" i="0" b="0">
                <a:solidFill>
                  <a:srgbClr val="212529"/>
                </a:solidFill>
                <a:latin typeface="Calibri"/>
              </a:rPr>
              <a:t>•  this is the </a:t>
            </a:r>
            <a:r>
              <a:rPr sz="1900" i="0" b="1">
                <a:solidFill>
                  <a:srgbClr val="212529"/>
                </a:solidFill>
                <a:latin typeface="Calibri"/>
              </a:rPr>
              <a:t>falsifiable prediction</a:t>
            </a:r>
            <a:r>
              <a:rPr sz="1900" i="0" b="0">
                <a:solidFill>
                  <a:srgbClr val="212529"/>
                </a:solidFill>
                <a:latin typeface="Calibri"/>
              </a:rPr>
              <a:t> of the coverage claim, and strictly stronger than a correlational coverage → robustness association</a:t>
            </a:r>
          </a:p>
          <a:p>
            <a:pPr>
              <a:lnSpc>
                <a:spcPct val="104000"/>
              </a:lnSpc>
              <a:spcAft>
                <a:spcPts val="1000"/>
              </a:spcAft>
            </a:pPr>
            <a:r>
              <a:rPr sz="1900" i="0" b="0">
                <a:solidFill>
                  <a:srgbClr val="212529"/>
                </a:solidFill>
                <a:latin typeface="Calibri"/>
              </a:rPr>
              <a:t>•  </a:t>
            </a:r>
            <a:r>
              <a:rPr sz="1900" i="0" b="1">
                <a:solidFill>
                  <a:srgbClr val="212529"/>
                </a:solidFill>
                <a:latin typeface="Calibri"/>
              </a:rPr>
              <a:t>caveat, stated up front</a:t>
            </a:r>
            <a:r>
              <a:rPr sz="1900" i="0" b="0">
                <a:solidFill>
                  <a:srgbClr val="212529"/>
                </a:solidFill>
                <a:latin typeface="Calibri"/>
              </a:rPr>
              <a:t>: the raw coverage-deficit → failure AUC is inflated by </a:t>
            </a:r>
            <a:r>
              <a:rPr sz="1900" i="0" b="1">
                <a:solidFill>
                  <a:srgbClr val="212529"/>
                </a:solidFill>
                <a:latin typeface="Calibri"/>
              </a:rPr>
              <a:t>geometry</a:t>
            </a:r>
            <a:r>
              <a:rPr sz="1900" i="0" b="0">
                <a:solidFill>
                  <a:srgbClr val="212529"/>
                </a:solidFill>
                <a:latin typeface="Calibri"/>
              </a:rPr>
              <a:t> (nearest-neighbour distance grows toward the manifold boundary), so the verdict is read off </a:t>
            </a:r>
            <a:r>
              <a:rPr sz="1900" i="0" b="1">
                <a:solidFill>
                  <a:srgbClr val="212529"/>
                </a:solidFill>
                <a:latin typeface="Calibri"/>
              </a:rPr>
              <a:t>AUC minus a random-ensemble null</a:t>
            </a:r>
            <a:r>
              <a:rPr sz="1900" i="0" b="0">
                <a:solidFill>
                  <a:srgbClr val="212529"/>
                </a:solidFill>
                <a:latin typeface="Calibri"/>
              </a:rPr>
              <a:t>, never raw AUC</a:t>
            </a:r>
          </a:p>
          <a:p>
            <a:pPr>
              <a:lnSpc>
                <a:spcPct val="104000"/>
              </a:lnSpc>
              <a:spcAft>
                <a:spcPts val="1000"/>
              </a:spcAft>
            </a:pPr>
            <a:r>
              <a:rPr sz="1900" i="0" b="0">
                <a:solidFill>
                  <a:srgbClr val="212529"/>
                </a:solidFill>
                <a:latin typeface="Calibri"/>
              </a:rPr>
              <a:t>•  correlated hazard axes destabilize factor importances (Quinn et al. 2020), so the axes are redundancy-screened before this is run</a:t>
            </a:r>
          </a:p>
        </p:txBody>
      </p:sp>
      <p:sp>
        <p:nvSpPr>
          <p:cNvPr id="6" name="Rectangle 5"/>
          <p:cNvSpPr/>
          <p:nvPr/>
        </p:nvSpPr>
        <p:spPr>
          <a:xfrm>
            <a:off x="7772400" y="2148840"/>
            <a:ext cx="3703320" cy="32004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29800" y="2377440"/>
            <a:ext cx="1463040" cy="1371600"/>
          </a:xfrm>
          <a:prstGeom prst="rect">
            <a:avLst/>
          </a:prstGeom>
          <a:solidFill>
            <a:srgbClr val="E9EFF5"/>
          </a:solidFill>
          <a:ln w="12700">
            <a:solidFill>
              <a:srgbClr val="2E5E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995136" y="2619497"/>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0477" y="408263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05487" y="261961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707738" y="42713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33762" y="422803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104752" y="268140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4102" y="3478105"/>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294531" y="4882678"/>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57530" y="238386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05989" y="336339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599627" y="3177417"/>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39772" y="477711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38043" y="288712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853938" y="373319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051244" y="4479016"/>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09289" y="285366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70378" y="486381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053863" y="4213672"/>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774066" y="399887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664099" y="4371256"/>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24357" y="282794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35670" y="28928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89712" y="3192013"/>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040596" y="334603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4752" y="447259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075851" y="4831695"/>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180319" y="4353982"/>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949609" y="27830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80053" y="372919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44836" y="257117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131796" y="3494170"/>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36187" y="3236253"/>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11876" y="289770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017263" y="318363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117945" y="2666496"/>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455231" y="3356470"/>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42734" y="3343177"/>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587167" y="2576364"/>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15852" y="356501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41100" y="266331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307608" y="325693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948129" y="2985157"/>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508741" y="334263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236984" y="286710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3813048"/>
            <a:ext cx="2103120" cy="292608"/>
          </a:xfrm>
          <a:prstGeom prst="rect">
            <a:avLst/>
          </a:prstGeom>
          <a:noFill/>
        </p:spPr>
        <p:txBody>
          <a:bodyPr wrap="square">
            <a:spAutoFit/>
          </a:bodyPr>
          <a:lstStyle/>
          <a:p>
            <a:pPr algn="ctr"/>
            <a:r>
              <a:rPr sz="1800" i="0" b="0">
                <a:solidFill>
                  <a:srgbClr val="A45929"/>
                </a:solidFill>
                <a:latin typeface="Calibri"/>
              </a:rPr>
              <a:t>failures</a:t>
            </a:r>
          </a:p>
        </p:txBody>
      </p:sp>
      <p:sp>
        <p:nvSpPr>
          <p:cNvPr id="53" name="TextBox 52"/>
          <p:cNvSpPr txBox="1"/>
          <p:nvPr/>
        </p:nvSpPr>
        <p:spPr>
          <a:xfrm>
            <a:off x="9235440" y="1764792"/>
            <a:ext cx="2377440" cy="329184"/>
          </a:xfrm>
          <a:prstGeom prst="rect">
            <a:avLst/>
          </a:prstGeom>
          <a:noFill/>
        </p:spPr>
        <p:txBody>
          <a:bodyPr wrap="square">
            <a:spAutoFit/>
          </a:bodyPr>
          <a:lstStyle/>
          <a:p>
            <a:pPr algn="ctr"/>
            <a:r>
              <a:rPr sz="1800" i="0" b="0">
                <a:solidFill>
                  <a:srgbClr val="2E5E8C"/>
                </a:solidFill>
                <a:latin typeface="Calibri"/>
              </a:rPr>
              <a:t>under-covered region</a:t>
            </a:r>
          </a:p>
        </p:txBody>
      </p:sp>
      <p:sp>
        <p:nvSpPr>
          <p:cNvPr id="54" name="TextBox 53"/>
          <p:cNvSpPr txBox="1"/>
          <p:nvPr/>
        </p:nvSpPr>
        <p:spPr>
          <a:xfrm>
            <a:off x="7772400" y="5404103"/>
            <a:ext cx="3703320" cy="292608"/>
          </a:xfrm>
          <a:prstGeom prst="rect">
            <a:avLst/>
          </a:prstGeom>
          <a:noFill/>
        </p:spPr>
        <p:txBody>
          <a:bodyPr wrap="square">
            <a:spAutoFit/>
          </a:bodyPr>
          <a:lstStyle/>
          <a:p>
            <a:pPr algn="ctr"/>
            <a:r>
              <a:rPr sz="1800" i="0" b="0">
                <a:solidFill>
                  <a:srgbClr val="5F6B7A"/>
                </a:solidFill>
                <a:latin typeface="Calibri"/>
              </a:rPr>
              <a:t>hazard axis 1</a:t>
            </a:r>
          </a:p>
        </p:txBody>
      </p:sp>
      <p:sp>
        <p:nvSpPr>
          <p:cNvPr id="55" name="TextBox 54"/>
          <p:cNvSpPr txBox="1"/>
          <p:nvPr/>
        </p:nvSpPr>
        <p:spPr>
          <a:xfrm rot="16200000">
            <a:off x="6949440" y="3429000"/>
            <a:ext cx="1737360" cy="320040"/>
          </a:xfrm>
          <a:prstGeom prst="rect">
            <a:avLst/>
          </a:prstGeom>
          <a:noFill/>
        </p:spPr>
        <p:txBody>
          <a:bodyPr wrap="square">
            <a:spAutoFit/>
          </a:bodyPr>
          <a:lstStyle/>
          <a:p>
            <a:pPr algn="ctr"/>
            <a:r>
              <a:rPr sz="1800" i="0" b="0">
                <a:solidFill>
                  <a:srgbClr val="5F6B7A"/>
                </a:solidFill>
                <a:latin typeface="Calibri"/>
              </a:rPr>
              <a:t>hazard axis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Threats to validity, named before a reviewer names them</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400"/>
              </a:spcAft>
            </a:pPr>
            <a:r>
              <a:rPr sz="1800" i="0" b="1">
                <a:solidFill>
                  <a:srgbClr val="212529"/>
                </a:solidFill>
                <a:latin typeface="Calibri"/>
              </a:rPr>
              <a:t>Eker &amp; Kwakkel (2018) is a null result</a:t>
            </a:r>
          </a:p>
          <a:p>
            <a:pPr>
              <a:lnSpc>
                <a:spcPct val="104000"/>
              </a:lnSpc>
              <a:spcAft>
                <a:spcPts val="400"/>
              </a:spcAft>
            </a:pPr>
            <a:r>
              <a:rPr sz="1800" i="0" b="0">
                <a:solidFill>
                  <a:srgbClr val="212529"/>
                </a:solidFill>
                <a:latin typeface="Calibri"/>
              </a:rPr>
              <a:t>•  diversity-based scenario selection did </a:t>
            </a:r>
            <a:r>
              <a:rPr sz="1800" i="0" b="1">
                <a:solidFill>
                  <a:srgbClr val="212529"/>
                </a:solidFill>
                <a:latin typeface="Calibri"/>
              </a:rPr>
              <a:t>not</a:t>
            </a:r>
            <a:r>
              <a:rPr sz="1800" i="0" b="0">
                <a:solidFill>
                  <a:srgbClr val="212529"/>
                </a:solidFill>
                <a:latin typeface="Calibri"/>
              </a:rPr>
              <a:t> beat random selection. Our fixed_probabilistic vs hazard_filling contrast </a:t>
            </a:r>
            <a:r>
              <a:rPr sz="1800" i="0" b="1">
                <a:solidFill>
                  <a:srgbClr val="212529"/>
                </a:solidFill>
                <a:latin typeface="Calibri"/>
              </a:rPr>
              <a:t>is</a:t>
            </a:r>
            <a:r>
              <a:rPr sz="1800" i="0" b="0">
                <a:solidFill>
                  <a:srgbClr val="212529"/>
                </a:solidFill>
                <a:latin typeface="Calibri"/>
              </a:rPr>
              <a:t> that benchmark. Differentiators: their diversity is in *outcome* space on the Lake Problem (little scenario-to-outcome leverage), ours is in absolute hazard space on a real system; and our statistic has far more power (K draws × S seeds, the draw as the unit of analysis, vs counting solutions above a group median)</a:t>
            </a:r>
          </a:p>
          <a:p>
            <a:pPr>
              <a:lnSpc>
                <a:spcPct val="104000"/>
              </a:lnSpc>
              <a:spcAft>
                <a:spcPts val="400"/>
              </a:spcAft>
            </a:pPr>
            <a:r>
              <a:rPr sz="1800" i="0" b="1">
                <a:solidFill>
                  <a:srgbClr val="212529"/>
                </a:solidFill>
                <a:latin typeface="Calibri"/>
              </a:rPr>
              <a:t>Giuliani &amp; Castelletti (2016): search-measure mismatch is a one-directional penalty</a:t>
            </a:r>
          </a:p>
          <a:p>
            <a:pPr>
              <a:lnSpc>
                <a:spcPct val="104000"/>
              </a:lnSpc>
              <a:spcAft>
                <a:spcPts val="400"/>
              </a:spcAft>
            </a:pPr>
            <a:r>
              <a:rPr sz="1800" i="0" b="0">
                <a:solidFill>
                  <a:srgbClr val="212529"/>
                </a:solidFill>
                <a:latin typeface="Calibri"/>
              </a:rPr>
              <a:t>•  policies designed under one aggregation rule and scored under another are </a:t>
            </a:r>
            <a:r>
              <a:rPr sz="1800" i="0" b="1">
                <a:solidFill>
                  <a:srgbClr val="212529"/>
                </a:solidFill>
                <a:latin typeface="Calibri"/>
              </a:rPr>
              <a:t>dominated</a:t>
            </a:r>
            <a:r>
              <a:rPr sz="1800" i="0" b="0">
                <a:solidFill>
                  <a:srgbClr val="212529"/>
                </a:solidFill>
                <a:latin typeface="Calibri"/>
              </a:rPr>
              <a:t> (their Fig. 4). Hazard-filling searches under a distorted measure and is scored under the test measure, so Giuliani predicts it will be </a:t>
            </a:r>
            <a:r>
              <a:rPr sz="1800" i="0" b="1">
                <a:solidFill>
                  <a:srgbClr val="212529"/>
                </a:solidFill>
                <a:latin typeface="Calibri"/>
              </a:rPr>
              <a:t>penalized</a:t>
            </a:r>
            <a:r>
              <a:rPr sz="1800" i="0" b="0">
                <a:solidFill>
                  <a:srgbClr val="212529"/>
                </a:solidFill>
                <a:latin typeface="Calibri"/>
              </a:rPr>
              <a:t>. </a:t>
            </a:r>
            <a:r>
              <a:rPr sz="1800" i="0" b="1">
                <a:solidFill>
                  <a:srgbClr val="212529"/>
                </a:solidFill>
                <a:latin typeface="Calibri"/>
              </a:rPr>
              <a:t>That is the null this study must beat</a:t>
            </a:r>
          </a:p>
          <a:p>
            <a:pPr>
              <a:lnSpc>
                <a:spcPct val="104000"/>
              </a:lnSpc>
              <a:spcAft>
                <a:spcPts val="400"/>
              </a:spcAft>
            </a:pPr>
            <a:r>
              <a:rPr sz="1800" i="0" b="1">
                <a:solidFill>
                  <a:srgbClr val="212529"/>
                </a:solidFill>
                <a:latin typeface="Calibri"/>
              </a:rPr>
              <a:t>Bartholomew &amp; Kwakkel (2020) wrote the objection already</a:t>
            </a:r>
          </a:p>
          <a:p>
            <a:pPr>
              <a:lnSpc>
                <a:spcPct val="104000"/>
              </a:lnSpc>
              <a:spcAft>
                <a:spcPts val="400"/>
              </a:spcAft>
            </a:pPr>
            <a:r>
              <a:rPr sz="1800" i="0" b="0">
                <a:solidFill>
                  <a:srgbClr val="212529"/>
                </a:solidFill>
                <a:latin typeface="Calibri"/>
              </a:rPr>
              <a:t>•  selecting scenarios from a chosen region “intrinsically biases subsequent results towards solutions that do well in this region … no a-priori reason to assume [they] might not be vulnerable in a different way.” Our answer: the distortion is deliberate, stated and coverage-motivated; held-out re-evaluation corrects </a:t>
            </a:r>
            <a:r>
              <a:rPr sz="1800" i="0" b="1">
                <a:solidFill>
                  <a:srgbClr val="212529"/>
                </a:solidFill>
                <a:latin typeface="Calibri"/>
              </a:rPr>
              <a:t>evaluation</a:t>
            </a:r>
            <a:r>
              <a:rPr sz="1800" i="0" b="0">
                <a:solidFill>
                  <a:srgbClr val="212529"/>
                </a:solidFill>
                <a:latin typeface="Calibri"/>
              </a:rPr>
              <a:t> bias; </a:t>
            </a:r>
            <a:r>
              <a:rPr sz="1800" i="0" b="1">
                <a:solidFill>
                  <a:srgbClr val="212529"/>
                </a:solidFill>
                <a:latin typeface="Calibri"/>
              </a:rPr>
              <a:t>selection</a:t>
            </a:r>
            <a:r>
              <a:rPr sz="1800" i="0" b="0">
                <a:solidFill>
                  <a:srgbClr val="212529"/>
                </a:solidFill>
                <a:latin typeface="Calibri"/>
              </a:rPr>
              <a:t> bias is not corrected, and is precisely what the experiment measures</a:t>
            </a:r>
          </a:p>
          <a:p>
            <a:pPr>
              <a:lnSpc>
                <a:spcPct val="104000"/>
              </a:lnSpc>
              <a:spcAft>
                <a:spcPts val="400"/>
              </a:spcAft>
            </a:pPr>
            <a:r>
              <a:rPr sz="1800" i="0" b="1">
                <a:solidFill>
                  <a:srgbClr val="212529"/>
                </a:solidFill>
                <a:latin typeface="Calibri"/>
              </a:rPr>
              <a:t>Degeneracy</a:t>
            </a:r>
          </a:p>
          <a:p>
            <a:pPr>
              <a:lnSpc>
                <a:spcPct val="104000"/>
              </a:lnSpc>
              <a:spcAft>
                <a:spcPts val="400"/>
              </a:spcAft>
            </a:pPr>
            <a:r>
              <a:rPr sz="1800" i="0" b="0">
                <a:solidFill>
                  <a:srgbClr val="212529"/>
                </a:solidFill>
                <a:latin typeface="Calibri"/>
              </a:rPr>
              <a:t>•  a metric can be stable, optimizable and still perverse (Huang et al. 2025: a deviation metric is minimized by being uniformly terrible), so </a:t>
            </a:r>
            <a:r>
              <a:rPr sz="1800" i="0" b="1">
                <a:solidFill>
                  <a:srgbClr val="212529"/>
                </a:solidFill>
                <a:latin typeface="Calibri"/>
              </a:rPr>
              <a:t>raw performance distributions are co-reported</a:t>
            </a:r>
            <a:r>
              <a:rPr sz="1800" i="0" b="0">
                <a:solidFill>
                  <a:srgbClr val="212529"/>
                </a:solidFill>
                <a:latin typeface="Calibri"/>
              </a:rPr>
              <a:t> with every robustness number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Evaluation: one common held-out test ensemble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874519"/>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historic</a:t>
            </a:r>
          </a:p>
        </p:txBody>
      </p:sp>
      <p:cxnSp>
        <p:nvCxnSpPr>
          <p:cNvPr id="5" name="Connector 4"/>
          <p:cNvCxnSpPr/>
          <p:nvPr/>
        </p:nvCxnSpPr>
        <p:spPr>
          <a:xfrm>
            <a:off x="3291840" y="2121408"/>
            <a:ext cx="1051560" cy="1490472"/>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0080" y="2532887"/>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fixed prob.</a:t>
            </a:r>
          </a:p>
        </p:txBody>
      </p:sp>
      <p:cxnSp>
        <p:nvCxnSpPr>
          <p:cNvPr id="7" name="Connector 6"/>
          <p:cNvCxnSpPr/>
          <p:nvPr/>
        </p:nvCxnSpPr>
        <p:spPr>
          <a:xfrm>
            <a:off x="3291840" y="2779775"/>
            <a:ext cx="1051560" cy="832105"/>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40080" y="3191256"/>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hazard-fill</a:t>
            </a:r>
          </a:p>
        </p:txBody>
      </p:sp>
      <p:cxnSp>
        <p:nvCxnSpPr>
          <p:cNvPr id="9" name="Connector 8"/>
          <p:cNvCxnSpPr/>
          <p:nvPr/>
        </p:nvCxnSpPr>
        <p:spPr>
          <a:xfrm>
            <a:off x="3291840" y="3438144"/>
            <a:ext cx="1051560" cy="173736"/>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40080" y="3849624"/>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baseline: current FFMP</a:t>
            </a:r>
          </a:p>
        </p:txBody>
      </p:sp>
      <p:cxnSp>
        <p:nvCxnSpPr>
          <p:cNvPr id="11" name="Connector 10"/>
          <p:cNvCxnSpPr/>
          <p:nvPr/>
        </p:nvCxnSpPr>
        <p:spPr>
          <a:xfrm flipV="1">
            <a:off x="3291840" y="3611880"/>
            <a:ext cx="1051560" cy="484632"/>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389120" y="2834640"/>
            <a:ext cx="3291840" cy="155448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E_test</a:t>
            </a:r>
            <a:r>
              <a:rPr sz="1800" i="0" b="0">
                <a:solidFill>
                  <a:srgbClr val="212529"/>
                </a:solidFill>
                <a:latin typeface="Calibri"/>
              </a:rPr>
              <a:t>, held-out (DU-forced)
LHS over the CMIP6 forcing box × realizations
spans a forced envelope no search ensemble contains</a:t>
            </a:r>
          </a:p>
        </p:txBody>
      </p:sp>
      <p:cxnSp>
        <p:nvCxnSpPr>
          <p:cNvPr id="13" name="Connector 12"/>
          <p:cNvCxnSpPr/>
          <p:nvPr/>
        </p:nvCxnSpPr>
        <p:spPr>
          <a:xfrm>
            <a:off x="7680960" y="3611880"/>
            <a:ext cx="5486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229600" y="2788920"/>
            <a:ext cx="3383280" cy="164592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multivariate satisficing</a:t>
            </a:r>
            <a:r>
              <a:rPr sz="1800" i="0" b="0">
                <a:solidFill>
                  <a:srgbClr val="212529"/>
                </a:solidFill>
                <a:latin typeface="Calibri"/>
              </a:rPr>
              <a:t> (primary)
+ Laplace · maximin · vs status quo
+ attainability screen</a:t>
            </a:r>
          </a:p>
        </p:txBody>
      </p:sp>
      <p:sp>
        <p:nvSpPr>
          <p:cNvPr id="15" name="TextBox 14"/>
          <p:cNvSpPr txBox="1"/>
          <p:nvPr/>
        </p:nvSpPr>
        <p:spPr>
          <a:xfrm>
            <a:off x="548640" y="5532120"/>
            <a:ext cx="11091672" cy="1097280"/>
          </a:xfrm>
          <a:prstGeom prst="rect">
            <a:avLst/>
          </a:prstGeom>
          <a:noFill/>
        </p:spPr>
        <p:txBody>
          <a:bodyPr wrap="square">
            <a:spAutoFit/>
          </a:bodyPr>
          <a:lstStyle/>
          <a:p>
            <a:pPr>
              <a:lnSpc>
                <a:spcPct val="104000"/>
              </a:lnSpc>
              <a:spcAft>
                <a:spcPts val="400"/>
              </a:spcAft>
            </a:pPr>
            <a:r>
              <a:rPr sz="1800" i="0" b="0">
                <a:solidFill>
                  <a:srgbClr val="212529"/>
                </a:solidFill>
                <a:latin typeface="Calibri"/>
              </a:rPr>
              <a:t>•  E_test is the </a:t>
            </a:r>
            <a:r>
              <a:rPr sz="1800" i="0" b="1">
                <a:solidFill>
                  <a:srgbClr val="212529"/>
                </a:solidFill>
                <a:latin typeface="Calibri"/>
              </a:rPr>
              <a:t>sole carrier of deep uncertainty</a:t>
            </a:r>
            <a:r>
              <a:rPr sz="1800" i="0" b="0">
                <a:solidFill>
                  <a:srgbClr val="212529"/>
                </a:solidFill>
                <a:latin typeface="Calibri"/>
              </a:rPr>
              <a:t> — search is stationary, so re-evaluation is a </a:t>
            </a:r>
            <a:r>
              <a:rPr sz="1800" i="0" b="1">
                <a:solidFill>
                  <a:srgbClr val="212529"/>
                </a:solidFill>
                <a:latin typeface="Calibri"/>
              </a:rPr>
              <a:t>generalization test</a:t>
            </a:r>
            <a:r>
              <a:rPr sz="1800" i="0" b="0">
                <a:solidFill>
                  <a:srgbClr val="212529"/>
                </a:solidFill>
                <a:latin typeface="Calibri"/>
              </a:rPr>
              <a:t> to conditions never seen in search; E_test is structurally distinct from both designs and favours neither</a:t>
            </a:r>
          </a:p>
          <a:p>
            <a:pPr>
              <a:lnSpc>
                <a:spcPct val="104000"/>
              </a:lnSpc>
              <a:spcAft>
                <a:spcPts val="400"/>
              </a:spcAft>
            </a:pPr>
            <a:r>
              <a:rPr sz="1800" i="0" b="0">
                <a:solidFill>
                  <a:srgbClr val="212529"/>
                </a:solidFill>
                <a:latin typeface="Calibri"/>
              </a:rPr>
              <a:t>•  </a:t>
            </a:r>
            <a:r>
              <a:rPr sz="1800" i="0" b="1">
                <a:solidFill>
                  <a:srgbClr val="212529"/>
                </a:solidFill>
                <a:latin typeface="Calibri"/>
              </a:rPr>
              <a:t>no robustness number is an expectation</a:t>
            </a:r>
            <a:r>
              <a:rPr sz="1800" i="0" b="0">
                <a:solidFill>
                  <a:srgbClr val="212529"/>
                </a:solidFill>
                <a:latin typeface="Calibri"/>
              </a:rPr>
              <a:t> — a satisficing fraction over E_test is a coverage-weighted count; the comparison is valid because E_test is </a:t>
            </a:r>
            <a:r>
              <a:rPr sz="1800" i="0" b="1">
                <a:solidFill>
                  <a:srgbClr val="212529"/>
                </a:solidFill>
                <a:latin typeface="Calibri"/>
              </a:rPr>
              <a:t>identical across designs</a:t>
            </a:r>
            <a:r>
              <a:rPr sz="1800" i="0" b="0">
                <a:solidFill>
                  <a:srgbClr val="212529"/>
                </a:solidFill>
                <a:latin typeface="Calibri"/>
              </a:rPr>
              <a:t>, not because it is probability-faithful (Quinn et al. 2020)</a:t>
            </a:r>
          </a:p>
          <a:p>
            <a:pPr>
              <a:lnSpc>
                <a:spcPct val="104000"/>
              </a:lnSpc>
              <a:spcAft>
                <a:spcPts val="400"/>
              </a:spcAft>
            </a:pPr>
            <a:r>
              <a:rPr sz="1800" i="0" b="0">
                <a:solidFill>
                  <a:srgbClr val="212529"/>
                </a:solidFill>
                <a:latin typeface="Calibri"/>
              </a:rPr>
              <a:t>•  E_test is </a:t>
            </a:r>
            <a:r>
              <a:rPr sz="1800" i="0" b="1">
                <a:solidFill>
                  <a:srgbClr val="212529"/>
                </a:solidFill>
                <a:latin typeface="Calibri"/>
              </a:rPr>
              <a:t>LHS, not i.i.d.</a:t>
            </a:r>
            <a:r>
              <a:rPr sz="1800" i="0" b="0">
                <a:solidFill>
                  <a:srgbClr val="212529"/>
                </a:solidFill>
                <a:latin typeface="Calibri"/>
              </a:rPr>
              <a:t>, and </a:t>
            </a:r>
            <a:r>
              <a:rPr sz="1800" i="0" b="1">
                <a:solidFill>
                  <a:srgbClr val="212529"/>
                </a:solidFill>
                <a:latin typeface="Calibri"/>
              </a:rPr>
              <a:t>never the source of any search ensemble</a:t>
            </a:r>
            <a:r>
              <a:rPr sz="1800" i="0" b="0">
                <a:solidFill>
                  <a:srgbClr val="212529"/>
                </a:solidFill>
                <a:latin typeface="Calibri"/>
              </a:rPr>
              <a:t>; seed domains are disjoint by construction. Optional 2nd construction (multi-site HMM) tests ranking stability across generator families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Status &amp; open decisions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5394960" cy="5074920"/>
          </a:xfrm>
          <a:prstGeom prst="rect">
            <a:avLst/>
          </a:prstGeom>
          <a:noFill/>
        </p:spPr>
        <p:txBody>
          <a:bodyPr wrap="square">
            <a:spAutoFit/>
          </a:bodyPr>
          <a:lstStyle/>
          <a:p>
            <a:pPr>
              <a:lnSpc>
                <a:spcPct val="104000"/>
              </a:lnSpc>
              <a:spcAft>
                <a:spcPts val="1000"/>
              </a:spcAft>
            </a:pPr>
            <a:r>
              <a:rPr sz="1900" i="0" b="1">
                <a:solidFill>
                  <a:srgbClr val="212529"/>
                </a:solidFill>
                <a:latin typeface="Calibri"/>
              </a:rPr>
              <a:t>Built &amp; verified</a:t>
            </a:r>
          </a:p>
          <a:p>
            <a:pPr>
              <a:lnSpc>
                <a:spcPct val="104000"/>
              </a:lnSpc>
              <a:spcAft>
                <a:spcPts val="1000"/>
              </a:spcAft>
            </a:pPr>
            <a:r>
              <a:rPr sz="1900" i="0" b="0">
                <a:solidFill>
                  <a:srgbClr val="212529"/>
                </a:solidFill>
                <a:latin typeface="Calibri"/>
              </a:rPr>
              <a:t>•  end-to-end pipeline at test scale</a:t>
            </a:r>
          </a:p>
          <a:p>
            <a:pPr>
              <a:lnSpc>
                <a:spcPct val="104000"/>
              </a:lnSpc>
              <a:spcAft>
                <a:spcPts val="1000"/>
              </a:spcAft>
            </a:pPr>
            <a:r>
              <a:rPr sz="1900" i="0" b="0">
                <a:solidFill>
                  <a:srgbClr val="212529"/>
                </a:solidFill>
                <a:latin typeface="Calibri"/>
              </a:rPr>
              <a:t>•  per-design generation, disjoint seed domains</a:t>
            </a:r>
          </a:p>
          <a:p>
            <a:pPr>
              <a:lnSpc>
                <a:spcPct val="104000"/>
              </a:lnSpc>
              <a:spcAft>
                <a:spcPts val="1000"/>
              </a:spcAft>
            </a:pPr>
            <a:r>
              <a:rPr sz="1900" i="0" b="0">
                <a:solidFill>
                  <a:srgbClr val="212529"/>
                </a:solidFill>
                <a:latin typeface="Calibri"/>
              </a:rPr>
              <a:t>•  deterministic pools + on-demand regeneration</a:t>
            </a:r>
          </a:p>
          <a:p>
            <a:pPr>
              <a:lnSpc>
                <a:spcPct val="104000"/>
              </a:lnSpc>
              <a:spcAft>
                <a:spcPts val="1000"/>
              </a:spcAft>
            </a:pPr>
            <a:r>
              <a:rPr sz="1900" i="0" b="0">
                <a:solidFill>
                  <a:srgbClr val="212529"/>
                </a:solidFill>
                <a:latin typeface="Calibri"/>
              </a:rPr>
              <a:t>•  hazard-filling selector (LHS + nearest-neighbour, absolute space) wired</a:t>
            </a:r>
          </a:p>
          <a:p>
            <a:pPr>
              <a:lnSpc>
                <a:spcPct val="104000"/>
              </a:lnSpc>
              <a:spcAft>
                <a:spcPts val="1000"/>
              </a:spcAft>
            </a:pPr>
            <a:r>
              <a:rPr sz="1900" i="0" b="0">
                <a:solidFill>
                  <a:srgbClr val="212529"/>
                </a:solidFill>
                <a:latin typeface="Calibri"/>
              </a:rPr>
              <a:t>•  Anvil scaling experiment running</a:t>
            </a:r>
          </a:p>
          <a:p>
            <a:pPr>
              <a:lnSpc>
                <a:spcPct val="104000"/>
              </a:lnSpc>
              <a:spcAft>
                <a:spcPts val="800"/>
              </a:spcAft>
            </a:pPr>
          </a:p>
          <a:p>
            <a:pPr>
              <a:lnSpc>
                <a:spcPct val="104000"/>
              </a:lnSpc>
              <a:spcAft>
                <a:spcPts val="1000"/>
              </a:spcAft>
            </a:pPr>
            <a:r>
              <a:rPr sz="1900" i="0" b="1">
                <a:solidFill>
                  <a:srgbClr val="212529"/>
                </a:solidFill>
                <a:latin typeface="Calibri"/>
              </a:rPr>
              <a:t>Next</a:t>
            </a:r>
          </a:p>
          <a:p>
            <a:pPr>
              <a:lnSpc>
                <a:spcPct val="104000"/>
              </a:lnSpc>
              <a:spcAft>
                <a:spcPts val="1000"/>
              </a:spcAft>
            </a:pPr>
            <a:r>
              <a:rPr sz="1900" i="0" b="0">
                <a:solidFill>
                  <a:srgbClr val="212529"/>
                </a:solidFill>
                <a:latin typeface="Calibri"/>
              </a:rPr>
              <a:t>•  production candidate pools, then the axis screen, then the sensitivity experiments, then the campaign</a:t>
            </a:r>
          </a:p>
        </p:txBody>
      </p:sp>
      <p:cxnSp>
        <p:nvCxnSpPr>
          <p:cNvPr id="5" name="Connector 4"/>
          <p:cNvCxnSpPr/>
          <p:nvPr/>
        </p:nvCxnSpPr>
        <p:spPr>
          <a:xfrm>
            <a:off x="6217920" y="1554480"/>
            <a:ext cx="0" cy="4480560"/>
          </a:xfrm>
          <a:prstGeom prst="line">
            <a:avLst/>
          </a:prstGeom>
          <a:ln w="1270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0" y="1554480"/>
            <a:ext cx="5029200" cy="5074920"/>
          </a:xfrm>
          <a:prstGeom prst="rect">
            <a:avLst/>
          </a:prstGeom>
          <a:noFill/>
        </p:spPr>
        <p:txBody>
          <a:bodyPr wrap="square">
            <a:spAutoFit/>
          </a:bodyPr>
          <a:lstStyle/>
          <a:p>
            <a:pPr>
              <a:lnSpc>
                <a:spcPct val="104000"/>
              </a:lnSpc>
              <a:spcAft>
                <a:spcPts val="1000"/>
              </a:spcAft>
            </a:pPr>
            <a:r>
              <a:rPr sz="1900" i="0" b="1">
                <a:solidFill>
                  <a:srgbClr val="212529"/>
                </a:solidFill>
                <a:latin typeface="Calibri"/>
              </a:rPr>
              <a:t>Open, input requested</a:t>
            </a:r>
          </a:p>
          <a:p>
            <a:pPr>
              <a:lnSpc>
                <a:spcPct val="104000"/>
              </a:lnSpc>
              <a:spcAft>
                <a:spcPts val="1000"/>
              </a:spcAft>
            </a:pPr>
            <a:r>
              <a:rPr sz="1900" i="0" b="0">
                <a:solidFill>
                  <a:srgbClr val="212529"/>
                </a:solidFill>
                <a:latin typeface="Calibri"/>
              </a:rPr>
              <a:t>•  </a:t>
            </a:r>
            <a:r>
              <a:rPr sz="1900" i="0" b="1">
                <a:solidFill>
                  <a:srgbClr val="212529"/>
                </a:solidFill>
                <a:latin typeface="Calibri"/>
              </a:rPr>
              <a:t>coverage adequacy at m ≈ 4, N = 100</a:t>
            </a:r>
            <a:r>
              <a:rPr sz="1900" i="0" b="0">
                <a:solidFill>
                  <a:srgbClr val="212529"/>
                </a:solidFill>
                <a:latin typeface="Calibri"/>
              </a:rPr>
              <a:t> — uniform filling is sparse; must be </a:t>
            </a:r>
            <a:r>
              <a:rPr sz="1900" i="0" b="1">
                <a:solidFill>
                  <a:srgbClr val="212529"/>
                </a:solidFill>
                <a:latin typeface="Calibri"/>
              </a:rPr>
              <a:t>demonstrated</a:t>
            </a:r>
            <a:r>
              <a:rPr sz="1900" i="0" b="0">
                <a:solidFill>
                  <a:srgbClr val="212529"/>
                </a:solidFill>
                <a:latin typeface="Calibri"/>
              </a:rPr>
              <a:t> against a random-design null, not asserted (the biggest methodological risk)</a:t>
            </a:r>
          </a:p>
          <a:p>
            <a:pPr>
              <a:lnSpc>
                <a:spcPct val="104000"/>
              </a:lnSpc>
              <a:spcAft>
                <a:spcPts val="1000"/>
              </a:spcAft>
            </a:pPr>
            <a:r>
              <a:rPr sz="1900" i="0" b="0">
                <a:solidFill>
                  <a:srgbClr val="212529"/>
                </a:solidFill>
                <a:latin typeface="Calibri"/>
              </a:rPr>
              <a:t>•  NFE (target, revisable); K / S replication targets</a:t>
            </a:r>
          </a:p>
          <a:p>
            <a:pPr>
              <a:lnSpc>
                <a:spcPct val="104000"/>
              </a:lnSpc>
              <a:spcAft>
                <a:spcPts val="1000"/>
              </a:spcAft>
            </a:pPr>
            <a:r>
              <a:rPr sz="1900" i="0" b="0">
                <a:solidFill>
                  <a:srgbClr val="212529"/>
                </a:solidFill>
                <a:latin typeface="Calibri"/>
              </a:rPr>
              <a:t>•  pool size P; the hazard-axis set (post-screen)</a:t>
            </a:r>
          </a:p>
          <a:p>
            <a:pPr>
              <a:lnSpc>
                <a:spcPct val="104000"/>
              </a:lnSpc>
              <a:spcAft>
                <a:spcPts val="1000"/>
              </a:spcAft>
            </a:pPr>
            <a:r>
              <a:rPr sz="1900" i="0" b="0">
                <a:solidFill>
                  <a:srgbClr val="212529"/>
                </a:solidFill>
                <a:latin typeface="Calibri"/>
              </a:rPr>
              <a:t>•  E_test sizing; thresholds / ε; whether to stand up the optional 2nd (HMM) E_test</a:t>
            </a:r>
          </a:p>
          <a:p>
            <a:pPr>
              <a:lnSpc>
                <a:spcPct val="104000"/>
              </a:lnSpc>
              <a:spcAft>
                <a:spcPts val="1000"/>
              </a:spcAft>
            </a:pPr>
            <a:r>
              <a:rPr sz="1900" i="0" b="0">
                <a:solidFill>
                  <a:srgbClr val="212529"/>
                </a:solidFill>
                <a:latin typeface="Calibri"/>
              </a:rPr>
              <a:t>•  which design carries the RQ3 variable-resolution (ffmp_N) sweep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286000"/>
            <a:ext cx="12191695" cy="228600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i="0" b="1">
                <a:solidFill>
                  <a:srgbClr val="212529"/>
                </a:solidFill>
                <a:latin typeface="Cambria"/>
              </a:rPr>
              <a:t>Supplemental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Notation: building blocks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800"/>
              </a:spcAft>
            </a:pPr>
            <a:r>
              <a:rPr sz="2000" i="0" b="0">
                <a:solidFill>
                  <a:srgbClr val="212529"/>
                </a:solidFill>
                <a:latin typeface="Cambria"/>
              </a:rPr>
              <a:t>shortfall:  (gap)₊ = max(gap, 0)</a:t>
            </a:r>
          </a:p>
          <a:p>
            <a:pPr>
              <a:lnSpc>
                <a:spcPct val="104000"/>
              </a:lnSpc>
              <a:spcAft>
                <a:spcPts val="800"/>
              </a:spcAft>
            </a:pPr>
            <a:r>
              <a:rPr sz="2000" i="0" b="0">
                <a:solidFill>
                  <a:srgbClr val="212529"/>
                </a:solidFill>
                <a:latin typeface="Cambria"/>
              </a:rPr>
              <a:t>unit-year = one water year (Oct 1–Sep 30);  an L-yr record scores L−1 unit-years</a:t>
            </a:r>
          </a:p>
          <a:p>
            <a:pPr>
              <a:lnSpc>
                <a:spcPct val="104000"/>
              </a:lnSpc>
              <a:spcAft>
                <a:spcPts val="800"/>
              </a:spcAft>
            </a:pPr>
            <a:r>
              <a:rPr sz="2000" i="0" b="0">
                <a:solidFill>
                  <a:srgbClr val="212529"/>
                </a:solidFill>
                <a:latin typeface="Cambria"/>
              </a:rPr>
              <a:t>CVaR₉₀(series) = mean of the worst 10% of weekly values</a:t>
            </a:r>
          </a:p>
          <a:p>
            <a:pPr>
              <a:lnSpc>
                <a:spcPct val="104000"/>
              </a:lnSpc>
              <a:spcAft>
                <a:spcPts val="800"/>
              </a:spcAft>
            </a:pPr>
            <a:r>
              <a:rPr sz="2000" i="0" b="0">
                <a:solidFill>
                  <a:srgbClr val="212529"/>
                </a:solidFill>
                <a:latin typeface="Cambria"/>
              </a:rPr>
              <a:t>P₉₉ / P₀₁(units) = worst / 1st-percentile unit-year</a:t>
            </a:r>
          </a:p>
        </p:txBody>
      </p:sp>
      <p:sp>
        <p:nvSpPr>
          <p:cNvPr id="5" name="TextBox 4"/>
          <p:cNvSpPr txBox="1"/>
          <p:nvPr/>
        </p:nvSpPr>
        <p:spPr>
          <a:xfrm>
            <a:off x="548640" y="3566160"/>
            <a:ext cx="11091672" cy="306324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flows / demands in MGD; storage in MG; first 365 days (warm-up) dropped</a:t>
            </a:r>
          </a:p>
          <a:p>
            <a:pPr>
              <a:lnSpc>
                <a:spcPct val="104000"/>
              </a:lnSpc>
              <a:spcAft>
                <a:spcPts val="1000"/>
              </a:spcAft>
            </a:pPr>
            <a:r>
              <a:rPr sz="1900" i="0" b="0">
                <a:solidFill>
                  <a:srgbClr val="212529"/>
                </a:solidFill>
                <a:latin typeface="Calibri"/>
              </a:rPr>
              <a:t>•  Decree goalposts: NYC 800 MGD; Montague 1,131.05 MGD (1,750 cfs); Trenton 1,938.95 MGD; NYC capacity 270,837 MG</a:t>
            </a:r>
          </a:p>
          <a:p>
            <a:pPr>
              <a:lnSpc>
                <a:spcPct val="104000"/>
              </a:lnSpc>
              <a:spcAft>
                <a:spcPts val="1000"/>
              </a:spcAft>
            </a:pPr>
            <a:r>
              <a:rPr sz="1900" i="0" b="0">
                <a:solidFill>
                  <a:srgbClr val="212529"/>
                </a:solidFill>
                <a:latin typeface="Calibri"/>
              </a:rPr>
              <a:t>•  every objective is two-layer — an annual metric per unit-year, then a unit operator over the pooled unit-years. The SAME function for every design (historic = 1 record × 76 unit-years; ensembles = N × (L−1)), so only the scenario set varies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1: NYC delivery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entitlement:  Eₜ = min(demandₜ, allowanceₜ)      [allowance = running-avg bank]</a:t>
            </a:r>
          </a:p>
          <a:p>
            <a:pPr>
              <a:lnSpc>
                <a:spcPct val="104000"/>
              </a:lnSpc>
              <a:spcAft>
                <a:spcPts val="600"/>
              </a:spcAft>
            </a:pPr>
            <a:r>
              <a:rPr sz="2000" i="0" b="0">
                <a:solidFill>
                  <a:srgbClr val="212529"/>
                </a:solidFill>
                <a:latin typeface="Cambria"/>
              </a:rPr>
              <a:t>failing week:  Σ delivery &lt; 99% × Σ E       failure-year:  ≥ k failing weeks  (k = 1)</a:t>
            </a:r>
          </a:p>
          <a:p>
            <a:pPr>
              <a:lnSpc>
                <a:spcPct val="104000"/>
              </a:lnSpc>
              <a:spcAft>
                <a:spcPts val="600"/>
              </a:spcAft>
            </a:pPr>
            <a:r>
              <a:rPr sz="2000" i="0" b="0">
                <a:solidFill>
                  <a:srgbClr val="212529"/>
                </a:solidFill>
                <a:latin typeface="Cambria"/>
              </a:rPr>
              <a:t>f₁ = (unit-years without failure) ÷ (total unit-years)</a:t>
            </a:r>
          </a:p>
        </p:txBody>
      </p:sp>
      <p:sp>
        <p:nvSpPr>
          <p:cNvPr id="5" name="TextBox 4"/>
          <p:cNvSpPr txBox="1"/>
          <p:nvPr/>
        </p:nvSpPr>
        <p:spPr>
          <a:xfrm>
            <a:off x="548640" y="3017520"/>
            <a:ext cx="11091672" cy="36118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the Decree caps the running AVERAGE diversion, not any single day — demand is never clipped at a flat 800 MGD, and a spike is owed whenever prior under-use has banked the allowance for it</a:t>
            </a:r>
          </a:p>
          <a:p>
            <a:pPr>
              <a:lnSpc>
                <a:spcPct val="104000"/>
              </a:lnSpc>
              <a:spcAft>
                <a:spcPts val="1000"/>
              </a:spcAft>
            </a:pPr>
            <a:r>
              <a:rPr sz="1900" i="0" b="0">
                <a:solidFill>
                  <a:srgbClr val="212529"/>
                </a:solidFill>
                <a:latin typeface="Calibri"/>
              </a:rPr>
              <a:t>•  the bank accrues 800 − delivery per day (reset Jun 1) at the STATIC Decree right, so a policy's own drought step-downs cannot lower its own goalpost</a:t>
            </a:r>
          </a:p>
          <a:p>
            <a:pPr>
              <a:lnSpc>
                <a:spcPct val="104000"/>
              </a:lnSpc>
              <a:spcAft>
                <a:spcPts val="1000"/>
              </a:spcAft>
            </a:pPr>
            <a:r>
              <a:rPr sz="1900" i="0" b="0">
                <a:solidFill>
                  <a:srgbClr val="212529"/>
                </a:solidFill>
                <a:latin typeface="Calibri"/>
              </a:rPr>
              <a:t>•  failure-year frequency is the citable search-time satisficing operator (Zeff et al. 2014; Trindade et al. 2017)</a:t>
            </a:r>
          </a:p>
          <a:p>
            <a:pPr>
              <a:lnSpc>
                <a:spcPct val="104000"/>
              </a:lnSpc>
              <a:spcAft>
                <a:spcPts val="1000"/>
              </a:spcAft>
            </a:pPr>
            <a:r>
              <a:rPr sz="1900" i="0" b="0">
                <a:solidFill>
                  <a:srgbClr val="212529"/>
                </a:solidFill>
                <a:latin typeface="Calibri"/>
              </a:rPr>
              <a:t>•  re-evaluation metric: whole-record weekly reliability, per realization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2: NYC delivery deficit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weekly deficit = (E − delivery)₊ ÷ 800 MGD × 100%</a:t>
            </a:r>
          </a:p>
          <a:p>
            <a:pPr>
              <a:lnSpc>
                <a:spcPct val="104000"/>
              </a:lnSpc>
              <a:spcAft>
                <a:spcPts val="600"/>
              </a:spcAft>
            </a:pPr>
            <a:r>
              <a:rPr sz="2000" i="0" b="0">
                <a:solidFill>
                  <a:srgbClr val="212529"/>
                </a:solidFill>
                <a:latin typeface="Cambria"/>
              </a:rPr>
              <a:t>annual metric = CVaR₉₀ of that unit-year's weekly deficits</a:t>
            </a:r>
          </a:p>
          <a:p>
            <a:pPr>
              <a:lnSpc>
                <a:spcPct val="104000"/>
              </a:lnSpc>
              <a:spcAft>
                <a:spcPts val="600"/>
              </a:spcAft>
            </a:pPr>
            <a:r>
              <a:rPr sz="2000" i="0" b="0">
                <a:solidFill>
                  <a:srgbClr val="212529"/>
                </a:solidFill>
                <a:latin typeface="Cambria"/>
              </a:rPr>
              <a:t>f₂ = P₉₉ across pooled unit-years   (worst 1st-percentile unit-year)</a:t>
            </a:r>
          </a:p>
        </p:txBody>
      </p:sp>
      <p:sp>
        <p:nvSpPr>
          <p:cNvPr id="5" name="TextBox 4"/>
          <p:cNvSpPr txBox="1"/>
          <p:nvPr/>
        </p:nvSpPr>
        <p:spPr>
          <a:xfrm>
            <a:off x="548640" y="3017520"/>
            <a:ext cx="11091672" cy="36118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magnitude of shortfalls below the running-average entitlement E, not just their frequency; scaled to the fixed 800 MGD right</a:t>
            </a:r>
          </a:p>
          <a:p>
            <a:pPr>
              <a:lnSpc>
                <a:spcPct val="104000"/>
              </a:lnSpc>
              <a:spcAft>
                <a:spcPts val="1000"/>
              </a:spcAft>
            </a:pPr>
            <a:r>
              <a:rPr sz="1900" i="0" b="0">
                <a:solidFill>
                  <a:srgbClr val="212529"/>
                </a:solidFill>
                <a:latin typeface="Calibri"/>
              </a:rPr>
              <a:t>•  the tail average is far stabler than the single worst week (Rockafellar &amp; Uryasev 2000; Quinn et al. 2017)</a:t>
            </a:r>
          </a:p>
          <a:p>
            <a:pPr>
              <a:lnSpc>
                <a:spcPct val="104000"/>
              </a:lnSpc>
              <a:spcAft>
                <a:spcPts val="1000"/>
              </a:spcAft>
            </a:pPr>
            <a:r>
              <a:rPr sz="1900" i="0" b="0">
                <a:solidFill>
                  <a:srgbClr val="212529"/>
                </a:solidFill>
                <a:latin typeface="Calibri"/>
              </a:rPr>
              <a:t>•  re-evaluation metric: whole-record CVaR₉₀, per realization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3: Montague flow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failing week:  mean flow &lt; 1,131.05 MGD      [1,750 cfs]</a:t>
            </a:r>
          </a:p>
          <a:p>
            <a:pPr>
              <a:lnSpc>
                <a:spcPct val="104000"/>
              </a:lnSpc>
              <a:spcAft>
                <a:spcPts val="600"/>
              </a:spcAft>
            </a:pPr>
            <a:r>
              <a:rPr sz="2000" i="0" b="0">
                <a:solidFill>
                  <a:srgbClr val="212529"/>
                </a:solidFill>
                <a:latin typeface="Cambria"/>
              </a:rPr>
              <a:t>f₃ = (unit-years with &lt; k failing weeks) ÷ (total unit-years)</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vs the fixed Decree target, never the live FFMP step-down target</a:t>
            </a:r>
          </a:p>
          <a:p>
            <a:pPr>
              <a:lnSpc>
                <a:spcPct val="104000"/>
              </a:lnSpc>
              <a:spcAft>
                <a:spcPts val="1000"/>
              </a:spcAft>
            </a:pPr>
            <a:r>
              <a:rPr sz="1900" i="0" b="0">
                <a:solidFill>
                  <a:srgbClr val="212529"/>
                </a:solidFill>
                <a:latin typeface="Calibri"/>
              </a:rPr>
              <a:t>•  won't reach 100%: FFMP drought rules cut releases below target by design, keeping the signal continuous</a:t>
            </a:r>
          </a:p>
          <a:p>
            <a:pPr>
              <a:lnSpc>
                <a:spcPct val="104000"/>
              </a:lnSpc>
              <a:spcAft>
                <a:spcPts val="1000"/>
              </a:spcAft>
            </a:pPr>
            <a:r>
              <a:rPr sz="1900" i="0" b="0">
                <a:solidFill>
                  <a:srgbClr val="212529"/>
                </a:solidFill>
                <a:latin typeface="Calibri"/>
              </a:rPr>
              <a:t>•  failure-year frequency (Zeff et al. 2014; Trindade et al. 2017)</a:t>
            </a:r>
          </a:p>
          <a:p>
            <a:pPr>
              <a:lnSpc>
                <a:spcPct val="104000"/>
              </a:lnSpc>
              <a:spcAft>
                <a:spcPts val="1000"/>
              </a:spcAft>
            </a:pPr>
            <a:r>
              <a:rPr sz="1900" i="0" b="0">
                <a:solidFill>
                  <a:srgbClr val="212529"/>
                </a:solidFill>
                <a:latin typeface="Calibri"/>
              </a:rPr>
              <a:t>•  re-evaluation metric: whole-record weekly reliability, per realization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4: Montague flow deficit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weekly deficit = (1,131.05 − flow)₊ ÷ 1,131.05 × 100%</a:t>
            </a:r>
          </a:p>
          <a:p>
            <a:pPr>
              <a:lnSpc>
                <a:spcPct val="104000"/>
              </a:lnSpc>
              <a:spcAft>
                <a:spcPts val="600"/>
              </a:spcAft>
            </a:pPr>
            <a:r>
              <a:rPr sz="2000" i="0" b="0">
                <a:solidFill>
                  <a:srgbClr val="212529"/>
                </a:solidFill>
                <a:latin typeface="Cambria"/>
              </a:rPr>
              <a:t>annual metric = CVaR₉₀ of that unit-year's weekly deficits</a:t>
            </a:r>
          </a:p>
          <a:p>
            <a:pPr>
              <a:lnSpc>
                <a:spcPct val="104000"/>
              </a:lnSpc>
              <a:spcAft>
                <a:spcPts val="600"/>
              </a:spcAft>
            </a:pPr>
            <a:r>
              <a:rPr sz="2000" i="0" b="0">
                <a:solidFill>
                  <a:srgbClr val="212529"/>
                </a:solidFill>
                <a:latin typeface="Cambria"/>
              </a:rPr>
              <a:t>f₄ = P₉₉ across pooled unit-years</a:t>
            </a:r>
          </a:p>
        </p:txBody>
      </p:sp>
      <p:sp>
        <p:nvSpPr>
          <p:cNvPr id="5" name="TextBox 4"/>
          <p:cNvSpPr txBox="1"/>
          <p:nvPr/>
        </p:nvSpPr>
        <p:spPr>
          <a:xfrm>
            <a:off x="548640" y="3017520"/>
            <a:ext cx="11091672" cy="36118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depth of target misses in the bad weeks, as % of target</a:t>
            </a:r>
          </a:p>
          <a:p>
            <a:pPr>
              <a:lnSpc>
                <a:spcPct val="104000"/>
              </a:lnSpc>
              <a:spcAft>
                <a:spcPts val="1000"/>
              </a:spcAft>
            </a:pPr>
            <a:r>
              <a:rPr sz="1900" i="0" b="0">
                <a:solidFill>
                  <a:srgbClr val="212529"/>
                </a:solidFill>
                <a:latin typeface="Calibri"/>
              </a:rPr>
              <a:t>•  Montague flow is storm-dominated, so the single worst week is mostly exogenous noise; use the tail average (Quinn et al. 2017)</a:t>
            </a:r>
          </a:p>
          <a:p>
            <a:pPr>
              <a:lnSpc>
                <a:spcPct val="104000"/>
              </a:lnSpc>
              <a:spcAft>
                <a:spcPts val="1000"/>
              </a:spcAft>
            </a:pPr>
            <a:r>
              <a:rPr sz="1900" i="0" b="0">
                <a:solidFill>
                  <a:srgbClr val="212529"/>
                </a:solidFill>
                <a:latin typeface="Calibri"/>
              </a:rPr>
              <a:t>•  re-evaluation metric: whole-record CVaR₉₀, per realization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5: Trenton flow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failing week:  mean flow &lt; 1,938.95 MGD</a:t>
            </a:r>
          </a:p>
          <a:p>
            <a:pPr>
              <a:lnSpc>
                <a:spcPct val="104000"/>
              </a:lnSpc>
              <a:spcAft>
                <a:spcPts val="600"/>
              </a:spcAft>
            </a:pPr>
            <a:r>
              <a:rPr sz="2000" i="0" b="0">
                <a:solidFill>
                  <a:srgbClr val="212529"/>
                </a:solidFill>
                <a:latin typeface="Cambria"/>
              </a:rPr>
              <a:t>f₅ = (unit-years with &lt; k failing weeks) ÷ (total unit-years)</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lower-basin / NJ obligation; direct representation of a co-equal Decree party (Trindade et al. 2017; Hadjimichael et al. 2020)</a:t>
            </a:r>
          </a:p>
          <a:p>
            <a:pPr>
              <a:lnSpc>
                <a:spcPct val="104000"/>
              </a:lnSpc>
              <a:spcAft>
                <a:spcPts val="1000"/>
              </a:spcAft>
            </a:pPr>
            <a:r>
              <a:rPr sz="1900" i="0" b="0">
                <a:solidFill>
                  <a:srgbClr val="212529"/>
                </a:solidFill>
                <a:latin typeface="Calibri"/>
              </a:rPr>
              <a:t>•  replaces the salt-front objective: physically redundant target, cleaner signal in drought</a:t>
            </a:r>
          </a:p>
          <a:p>
            <a:pPr>
              <a:lnSpc>
                <a:spcPct val="104000"/>
              </a:lnSpc>
              <a:spcAft>
                <a:spcPts val="1000"/>
              </a:spcAft>
            </a:pPr>
            <a:r>
              <a:rPr sz="1900" i="0" b="0">
                <a:solidFill>
                  <a:srgbClr val="212529"/>
                </a:solidFill>
                <a:latin typeface="Calibri"/>
              </a:rPr>
              <a:t>•  re-evaluation metric: whole-record weekly reliability, per realization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6: Downstream flood days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annual metric = days any tail gauge ≥ NWS minor flood stage, per unit-year</a:t>
            </a:r>
          </a:p>
          <a:p>
            <a:pPr>
              <a:lnSpc>
                <a:spcPct val="104000"/>
              </a:lnSpc>
              <a:spcAft>
                <a:spcPts val="600"/>
              </a:spcAft>
            </a:pPr>
            <a:r>
              <a:rPr sz="2000" i="0" b="0">
                <a:solidFill>
                  <a:srgbClr val="212529"/>
                </a:solidFill>
                <a:latin typeface="Cambria"/>
              </a:rPr>
              <a:t>f₆ = mean across pooled unit-years   (expected annual flood days)</a:t>
            </a:r>
          </a:p>
          <a:p>
            <a:pPr>
              <a:lnSpc>
                <a:spcPct val="104000"/>
              </a:lnSpc>
              <a:spcAft>
                <a:spcPts val="600"/>
              </a:spcAft>
            </a:pPr>
            <a:r>
              <a:rPr sz="2000" i="0" b="0">
                <a:solidFill>
                  <a:srgbClr val="212529"/>
                </a:solidFill>
                <a:latin typeface="Cambria"/>
              </a:rPr>
              <a:t>gauges: Hale Eddy, Fishs Eddy, Bridgeville</a:t>
            </a:r>
          </a:p>
        </p:txBody>
      </p:sp>
      <p:sp>
        <p:nvSpPr>
          <p:cNvPr id="5" name="TextBox 4"/>
          <p:cNvSpPr txBox="1"/>
          <p:nvPr/>
        </p:nvSpPr>
        <p:spPr>
          <a:xfrm>
            <a:off x="548640" y="3017520"/>
            <a:ext cx="11091672" cy="36118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tail gauges respond to release decisions, so flooding here is attributable to operations</a:t>
            </a:r>
          </a:p>
          <a:p>
            <a:pPr>
              <a:lnSpc>
                <a:spcPct val="104000"/>
              </a:lnSpc>
              <a:spcAft>
                <a:spcPts val="1000"/>
              </a:spcAft>
            </a:pPr>
            <a:r>
              <a:rPr sz="1900" i="0" b="0">
                <a:solidFill>
                  <a:srgbClr val="212529"/>
                </a:solidFill>
                <a:latin typeface="Calibri"/>
              </a:rPr>
              <a:t>•  count-over-threshold avoids the expected-damage trap (Quinn et al. 2017); a P₉₉ variant is registered because an expectation can mask floods</a:t>
            </a:r>
          </a:p>
          <a:p>
            <a:pPr>
              <a:lnSpc>
                <a:spcPct val="104000"/>
              </a:lnSpc>
              <a:spcAft>
                <a:spcPts val="1000"/>
              </a:spcAft>
            </a:pPr>
            <a:r>
              <a:rPr sz="1900" i="0" b="0">
                <a:solidFill>
                  <a:srgbClr val="212529"/>
                </a:solidFill>
                <a:latin typeface="Calibri"/>
              </a:rPr>
              <a:t>•  re-evaluation metric: whole-record flood-day count, per realization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7: NYC storage resilience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storage% = combined NYC storage ÷ 270,837 MG × 100%</a:t>
            </a:r>
          </a:p>
          <a:p>
            <a:pPr>
              <a:lnSpc>
                <a:spcPct val="104000"/>
              </a:lnSpc>
              <a:spcAft>
                <a:spcPts val="600"/>
              </a:spcAft>
            </a:pPr>
            <a:r>
              <a:rPr sz="2000" i="0" b="0">
                <a:solidFill>
                  <a:srgbClr val="212529"/>
                </a:solidFill>
                <a:latin typeface="Cambria"/>
              </a:rPr>
              <a:t>annual metric = that unit-year's minimum daily storage%</a:t>
            </a:r>
          </a:p>
          <a:p>
            <a:pPr>
              <a:lnSpc>
                <a:spcPct val="104000"/>
              </a:lnSpc>
              <a:spcAft>
                <a:spcPts val="600"/>
              </a:spcAft>
            </a:pPr>
            <a:r>
              <a:rPr sz="2000" i="0" b="0">
                <a:solidFill>
                  <a:srgbClr val="212529"/>
                </a:solidFill>
                <a:latin typeface="Cambria"/>
              </a:rPr>
              <a:t>f₇ = P₀₁ across pooled unit-years   (1st-percentile unit-year)</a:t>
            </a:r>
          </a:p>
        </p:txBody>
      </p:sp>
      <p:sp>
        <p:nvSpPr>
          <p:cNvPr id="5" name="TextBox 4"/>
          <p:cNvSpPr txBox="1"/>
          <p:nvPr/>
        </p:nvSpPr>
        <p:spPr>
          <a:xfrm>
            <a:off x="548640" y="3017520"/>
            <a:ext cx="11091672" cy="36118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how depleted the system routinely runs; a low percentile is stabler than the single-day minimum, which one event dominates (Quinn et al. 2017)</a:t>
            </a:r>
          </a:p>
          <a:p>
            <a:pPr>
              <a:lnSpc>
                <a:spcPct val="104000"/>
              </a:lnSpc>
              <a:spcAft>
                <a:spcPts val="1000"/>
              </a:spcAft>
            </a:pPr>
            <a:r>
              <a:rPr sz="1900" i="0" b="0">
                <a:solidFill>
                  <a:srgbClr val="212529"/>
                </a:solidFill>
                <a:latin typeface="Calibri"/>
              </a:rPr>
              <a:t>•  re-evaluation metric: whole-record P₅ of daily storage%, per realization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fixed-phase harmonic fits to CMIP6 (E_test forcing)</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6.png"/>
          <p:cNvPicPr>
            <a:picLocks noChangeAspect="1"/>
          </p:cNvPicPr>
          <p:nvPr/>
        </p:nvPicPr>
        <p:blipFill>
          <a:blip r:embed="rId3"/>
          <a:stretch>
            <a:fillRect/>
          </a:stretch>
        </p:blipFill>
        <p:spPr>
          <a:xfrm>
            <a:off x="1051560" y="1508760"/>
            <a:ext cx="10058400" cy="4265920"/>
          </a:xfrm>
          <a:prstGeom prst="rect">
            <a:avLst/>
          </a:prstGeom>
        </p:spPr>
      </p:pic>
      <p:sp>
        <p:nvSpPr>
          <p:cNvPr id="5" name="TextBox 4"/>
          <p:cNvSpPr txBox="1"/>
          <p:nvPr/>
        </p:nvSpPr>
        <p:spPr>
          <a:xfrm>
            <a:off x="548640" y="5760720"/>
            <a:ext cx="11091672" cy="868680"/>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sampled axes: volume m · seasonal amplitude r₁ · shoulder shape r₂; phases fixed at the canonical CMIP6 shape (Quinn et al. 2018). This parameterization defines the </a:t>
            </a:r>
            <a:r>
              <a:rPr sz="1900" i="0" b="1">
                <a:solidFill>
                  <a:srgbClr val="212529"/>
                </a:solidFill>
                <a:latin typeface="Calibri"/>
              </a:rPr>
              <a:t>held-out E_test forcing envelope</a:t>
            </a:r>
            <a:r>
              <a:rPr sz="1900" i="0" b="0">
                <a:solidFill>
                  <a:srgbClr val="212529"/>
                </a:solidFill>
                <a:latin typeface="Calibri"/>
              </a:rPr>
              <a:t>, not a search design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the CMIP6 90% amplitude envelope (E_test)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8.png"/>
          <p:cNvPicPr>
            <a:picLocks noChangeAspect="1"/>
          </p:cNvPicPr>
          <p:nvPr/>
        </p:nvPicPr>
        <p:blipFill>
          <a:blip r:embed="rId3"/>
          <a:stretch>
            <a:fillRect/>
          </a:stretch>
        </p:blipFill>
        <p:spPr>
          <a:xfrm>
            <a:off x="685800" y="1463040"/>
            <a:ext cx="10789920" cy="3760290"/>
          </a:xfrm>
          <a:prstGeom prst="rect">
            <a:avLst/>
          </a:prstGeom>
        </p:spPr>
      </p:pic>
      <p:sp>
        <p:nvSpPr>
          <p:cNvPr id="5" name="TextBox 4"/>
          <p:cNvSpPr txBox="1"/>
          <p:nvPr/>
        </p:nvSpPr>
        <p:spPr>
          <a:xfrm>
            <a:off x="548640" y="5943600"/>
            <a:ext cx="11091672" cy="685800"/>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the </a:t>
            </a:r>
            <a:r>
              <a:rPr sz="1900" i="0" b="1">
                <a:solidFill>
                  <a:srgbClr val="212529"/>
                </a:solidFill>
                <a:latin typeface="Calibri"/>
              </a:rPr>
              <a:t>E_test forcing envelope</a:t>
            </a:r>
            <a:r>
              <a:rPr sz="1900" i="0" b="0">
                <a:solidFill>
                  <a:srgbClr val="212529"/>
                </a:solidFill>
                <a:latin typeface="Calibri"/>
              </a:rPr>
              <a:t>: deeply uncertain magnitude combinations the GCMs did not jointly produce, with a physically plausible seasonal shape; sampled by LHS to build E_test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sampled forcing spans the CMIP6 monthly range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9.png"/>
          <p:cNvPicPr>
            <a:picLocks noChangeAspect="1"/>
          </p:cNvPicPr>
          <p:nvPr/>
        </p:nvPicPr>
        <p:blipFill>
          <a:blip r:embed="rId3"/>
          <a:stretch>
            <a:fillRect/>
          </a:stretch>
        </p:blipFill>
        <p:spPr>
          <a:xfrm>
            <a:off x="822960" y="1554480"/>
            <a:ext cx="10607040" cy="4131812"/>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Anvil scaling &amp; measured cost surface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11091672" cy="507492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Parallelism levers</a:t>
            </a:r>
          </a:p>
          <a:p>
            <a:pPr>
              <a:lnSpc>
                <a:spcPct val="104000"/>
              </a:lnSpc>
              <a:spcAft>
                <a:spcPts val="1000"/>
              </a:spcAft>
            </a:pPr>
            <a:r>
              <a:rPr sz="2000" i="0" b="0">
                <a:solidFill>
                  <a:srgbClr val="212529"/>
                </a:solidFill>
                <a:latin typeface="Calibri"/>
              </a:rPr>
              <a:t>•  nodes · cores per node · MM-Borg islands · workers per island · realizations per simulation</a:t>
            </a:r>
          </a:p>
          <a:p>
            <a:pPr>
              <a:lnSpc>
                <a:spcPct val="104000"/>
              </a:lnSpc>
              <a:spcAft>
                <a:spcPts val="600"/>
              </a:spcAft>
            </a:pPr>
          </a:p>
          <a:p>
            <a:pPr>
              <a:lnSpc>
                <a:spcPct val="104000"/>
              </a:lnSpc>
              <a:spcAft>
                <a:spcPts val="1000"/>
              </a:spcAft>
            </a:pPr>
            <a:r>
              <a:rPr sz="2000" i="0" b="1">
                <a:solidFill>
                  <a:srgbClr val="212529"/>
                </a:solidFill>
                <a:latin typeface="Calibri"/>
              </a:rPr>
              <a:t>Measured cost (Anvil)</a:t>
            </a:r>
          </a:p>
          <a:p>
            <a:pPr>
              <a:lnSpc>
                <a:spcPct val="104000"/>
              </a:lnSpc>
              <a:spcAft>
                <a:spcPts val="1000"/>
              </a:spcAft>
            </a:pPr>
            <a:r>
              <a:rPr sz="2000" i="0" b="0">
                <a:solidFill>
                  <a:srgbClr val="212529"/>
                </a:solidFill>
                <a:latin typeface="Calibri"/>
              </a:rPr>
              <a:t>•  </a:t>
            </a:r>
            <a:r>
              <a:rPr sz="2000" i="0" b="1">
                <a:solidFill>
                  <a:srgbClr val="212529"/>
                </a:solidFill>
                <a:latin typeface="Calibri"/>
              </a:rPr>
              <a:t>173.8 s per evaluation</a:t>
            </a:r>
            <a:r>
              <a:rPr sz="2000" i="0" b="0">
                <a:solidFill>
                  <a:srgbClr val="212529"/>
                </a:solidFill>
                <a:latin typeface="Calibri"/>
              </a:rPr>
              <a:t> (N = 100, L = 10, trimmed model); full model </a:t>
            </a:r>
            <a:r>
              <a:rPr sz="2000" i="0" b="1">
                <a:solidFill>
                  <a:srgbClr val="212529"/>
                </a:solidFill>
                <a:latin typeface="Calibri"/>
              </a:rPr>
              <a:t>1.16×</a:t>
            </a:r>
          </a:p>
          <a:p>
            <a:pPr>
              <a:lnSpc>
                <a:spcPct val="104000"/>
              </a:lnSpc>
              <a:spcAft>
                <a:spcPts val="1000"/>
              </a:spcAft>
            </a:pPr>
            <a:r>
              <a:rPr sz="2000" i="0" b="0">
                <a:solidFill>
                  <a:srgbClr val="212529"/>
                </a:solidFill>
                <a:latin typeface="Calibri"/>
              </a:rPr>
              <a:t>•  </a:t>
            </a:r>
            <a:r>
              <a:rPr sz="2000" i="0" b="1">
                <a:solidFill>
                  <a:srgbClr val="212529"/>
                </a:solidFill>
                <a:latin typeface="Calibri"/>
              </a:rPr>
              <a:t>~33,300 SU per 500k-NFE search</a:t>
            </a:r>
            <a:r>
              <a:rPr sz="2000" i="0" b="0">
                <a:solidFill>
                  <a:srgbClr val="212529"/>
                </a:solidFill>
                <a:latin typeface="Calibri"/>
              </a:rPr>
              <a:t>; full campaign </a:t>
            </a:r>
            <a:r>
              <a:rPr sz="2000" i="0" b="1">
                <a:solidFill>
                  <a:srgbClr val="212529"/>
                </a:solidFill>
                <a:latin typeface="Calibri"/>
              </a:rPr>
              <a:t>~415,000 of the 750,000-SU allocation</a:t>
            </a:r>
            <a:r>
              <a:rPr sz="2000" i="0" b="0">
                <a:solidFill>
                  <a:srgbClr val="212529"/>
                </a:solidFill>
                <a:latin typeface="Calibri"/>
              </a:rPr>
              <a:t>; re-evaluation nearly free</a:t>
            </a:r>
          </a:p>
          <a:p>
            <a:pPr>
              <a:lnSpc>
                <a:spcPct val="104000"/>
              </a:lnSpc>
              <a:spcAft>
                <a:spcPts val="1000"/>
              </a:spcAft>
            </a:pPr>
            <a:r>
              <a:rPr sz="2000" i="0" b="0">
                <a:solidFill>
                  <a:srgbClr val="212529"/>
                </a:solidFill>
                <a:latin typeface="Calibri"/>
              </a:rPr>
              <a:t>•  packing sweep + Borg strong scaling set the production parallel geometry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286000"/>
            <a:ext cx="12191695" cy="228600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i="0" b="1">
                <a:solidFill>
                  <a:srgbClr val="212529"/>
                </a:solidFill>
                <a:latin typeface="Cambria"/>
              </a:rPr>
              <a:t>Planned Manuscript Figure Sequence</a:t>
            </a:r>
          </a:p>
          <a:p>
            <a:pPr algn="ctr"/>
            <a:r>
              <a:rPr sz="3200" i="0" b="0">
                <a:solidFill>
                  <a:srgbClr val="212529"/>
                </a:solidFill>
                <a:latin typeface="Cambria"/>
              </a:rPr>
              <a:t>(conceptual; details set after the sensitivity experiments)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figure sequence (conceptual)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5212080"/>
          </a:xfrm>
          <a:prstGeom prst="rect">
            <a:avLst/>
          </a:prstGeom>
          <a:noFill/>
        </p:spPr>
        <p:txBody>
          <a:bodyPr wrap="square">
            <a:spAutoFit/>
          </a:bodyPr>
          <a:lstStyle/>
          <a:p>
            <a:pPr>
              <a:lnSpc>
                <a:spcPct val="104000"/>
              </a:lnSpc>
              <a:spcAft>
                <a:spcPts val="700"/>
              </a:spcAft>
            </a:pPr>
            <a:r>
              <a:rPr sz="2000" i="0" b="0">
                <a:solidFill>
                  <a:srgbClr val="212529"/>
                </a:solidFill>
                <a:latin typeface="Calibri"/>
              </a:rPr>
              <a:t>•  </a:t>
            </a:r>
            <a:r>
              <a:rPr sz="2000" i="0" b="1">
                <a:solidFill>
                  <a:srgbClr val="212529"/>
                </a:solidFill>
                <a:latin typeface="Calibri"/>
              </a:rPr>
              <a:t>Fig. 1</a:t>
            </a:r>
            <a:r>
              <a:rPr sz="2000" i="0" b="0">
                <a:solidFill>
                  <a:srgbClr val="212529"/>
                </a:solidFill>
                <a:latin typeface="Calibri"/>
              </a:rPr>
              <a:t>  System &amp; experiment: the NYC-DRB testbed and the four-stage comparison workflow.</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2</a:t>
            </a:r>
            <a:r>
              <a:rPr sz="2000" i="0" b="0">
                <a:solidFill>
                  <a:srgbClr val="212529"/>
                </a:solidFill>
                <a:latin typeface="Calibri"/>
              </a:rPr>
              <a:t>  Search ensembles in hazard space: what each of the three designs samples from the stationary population.</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3</a:t>
            </a:r>
            <a:r>
              <a:rPr sz="2000" i="0" b="0">
                <a:solidFill>
                  <a:srgbClr val="212529"/>
                </a:solidFill>
                <a:latin typeface="Calibri"/>
              </a:rPr>
              <a:t>  Robustness by design: held-out multivariate satisficing per design and objective (RQ1 headline).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4</a:t>
            </a:r>
            <a:r>
              <a:rPr sz="2000" i="0" b="0">
                <a:solidFill>
                  <a:srgbClr val="212529"/>
                </a:solidFill>
                <a:latin typeface="Calibri"/>
              </a:rPr>
              <a:t>  Threshold sweep: design robustness vs criterion stringency, with τ_b of the design ranking (the credibility figure).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5</a:t>
            </a:r>
            <a:r>
              <a:rPr sz="2000" i="0" b="0">
                <a:solidFill>
                  <a:srgbClr val="212529"/>
                </a:solidFill>
                <a:latin typeface="Calibri"/>
              </a:rPr>
              <a:t>  The controlled contrast: fixed_probabilistic vs hazard_filling robustness, with historic as reference.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6</a:t>
            </a:r>
            <a:r>
              <a:rPr sz="2000" i="0" b="0">
                <a:solidFill>
                  <a:srgbClr val="212529"/>
                </a:solidFill>
                <a:latin typeface="Calibri"/>
              </a:rPr>
              <a:t>  Policy differences: do designs change the policies, not just the scores (RQ1).</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7</a:t>
            </a:r>
            <a:r>
              <a:rPr sz="2000" i="0" b="0">
                <a:solidFill>
                  <a:srgbClr val="212529"/>
                </a:solidFill>
                <a:latin typeface="Calibri"/>
              </a:rPr>
              <a:t>  Mechanism test: failure rate vs coverage deficit, against the random-ensemble null (RQ1).</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8</a:t>
            </a:r>
            <a:r>
              <a:rPr sz="2000" i="0" b="0">
                <a:solidFill>
                  <a:srgbClr val="212529"/>
                </a:solidFill>
                <a:latin typeface="Calibri"/>
              </a:rPr>
              <a:t>  Re-optimized vs current FFMP: objective gains and drought behavior (RQ2).</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9</a:t>
            </a:r>
            <a:r>
              <a:rPr sz="2000" i="0" b="0">
                <a:solidFill>
                  <a:srgbClr val="212529"/>
                </a:solidFill>
                <a:latin typeface="Calibri"/>
              </a:rPr>
              <a:t>  Rule resolution: robustness vs FFMP zone count, ffmp_N (RQ3).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1: system &amp; experimental design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the NYC-DRB system (reservoirs, diversion, Decree targets) and the four-stage comparison workflow in one methods figure</a:t>
            </a:r>
          </a:p>
          <a:p>
            <a:pPr>
              <a:lnSpc>
                <a:spcPct val="104000"/>
              </a:lnSpc>
              <a:spcAft>
                <a:spcPts val="900"/>
              </a:spcAft>
            </a:pPr>
            <a:r>
              <a:rPr sz="2000" i="0" b="0">
                <a:solidFill>
                  <a:srgbClr val="212529"/>
                </a:solidFill>
                <a:latin typeface="Calibri"/>
              </a:rPr>
              <a:t>•  role: orients the reader; every results figure refers back to its stages</a:t>
            </a:r>
          </a:p>
          <a:p>
            <a:pPr>
              <a:lnSpc>
                <a:spcPct val="104000"/>
              </a:lnSpc>
              <a:spcAft>
                <a:spcPts val="200"/>
              </a:spcAft>
            </a:pPr>
          </a:p>
          <a:p>
            <a:pPr>
              <a:lnSpc>
                <a:spcPct val="104000"/>
              </a:lnSpc>
              <a:spcAft>
                <a:spcPts val="900"/>
              </a:spcAft>
            </a:pPr>
            <a:r>
              <a:rPr sz="1800" i="1" b="0">
                <a:solidFill>
                  <a:srgbClr val="5F6B7A"/>
                </a:solidFill>
                <a:latin typeface="Calibri"/>
              </a:rPr>
              <a:t>style cue: staged workflow figures of Bonham et al. 2024 (Fig. 1) and Cohen et al. 2021 (Fig. 3).</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59" y="1920240"/>
            <a:ext cx="2194560" cy="274320"/>
          </a:xfrm>
          <a:prstGeom prst="rect">
            <a:avLst/>
          </a:prstGeom>
          <a:noFill/>
        </p:spPr>
        <p:txBody>
          <a:bodyPr wrap="square">
            <a:spAutoFit/>
          </a:bodyPr>
          <a:lstStyle/>
          <a:p>
            <a:pPr algn="l"/>
            <a:r>
              <a:rPr sz="1800" i="0" b="0">
                <a:solidFill>
                  <a:srgbClr val="5F6B7A"/>
                </a:solidFill>
                <a:latin typeface="Calibri"/>
              </a:rPr>
              <a:t>(a) system</a:t>
            </a:r>
          </a:p>
        </p:txBody>
      </p:sp>
      <p:sp>
        <p:nvSpPr>
          <p:cNvPr id="8" name="Rectangle 7"/>
          <p:cNvSpPr/>
          <p:nvPr/>
        </p:nvSpPr>
        <p:spPr>
          <a:xfrm>
            <a:off x="6766559"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38160"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726679" y="2697480"/>
            <a:ext cx="0" cy="50292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360920" y="3246120"/>
            <a:ext cx="777240"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726679" y="3566160"/>
            <a:ext cx="0" cy="50292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360920" y="4114800"/>
            <a:ext cx="777240"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98280" y="1920240"/>
            <a:ext cx="2377440" cy="274320"/>
          </a:xfrm>
          <a:prstGeom prst="rect">
            <a:avLst/>
          </a:prstGeom>
          <a:noFill/>
        </p:spPr>
        <p:txBody>
          <a:bodyPr wrap="square">
            <a:spAutoFit/>
          </a:bodyPr>
          <a:lstStyle/>
          <a:p>
            <a:pPr algn="l"/>
            <a:r>
              <a:rPr sz="1800" i="0" b="0">
                <a:solidFill>
                  <a:srgbClr val="5F6B7A"/>
                </a:solidFill>
                <a:latin typeface="Calibri"/>
              </a:rPr>
              <a:t>(b) workflow</a:t>
            </a:r>
          </a:p>
        </p:txBody>
      </p:sp>
      <p:sp>
        <p:nvSpPr>
          <p:cNvPr id="16" name="Rectangle 15"/>
          <p:cNvSpPr/>
          <p:nvPr/>
        </p:nvSpPr>
        <p:spPr>
          <a:xfrm>
            <a:off x="9464040" y="2331720"/>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0332720" y="2788920"/>
            <a:ext cx="0" cy="36576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3154679"/>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10332720" y="3611879"/>
            <a:ext cx="0" cy="365761"/>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464040" y="3977639"/>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0332720" y="4434840"/>
            <a:ext cx="0" cy="36576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464040" y="4800600"/>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2: search ensembles in hazard space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each of the three designs' realized search ensembles over the </a:t>
            </a:r>
            <a:r>
              <a:rPr sz="2000" i="0" b="1">
                <a:solidFill>
                  <a:srgbClr val="212529"/>
                </a:solidFill>
                <a:latin typeface="Calibri"/>
              </a:rPr>
              <a:t>stationary population's</a:t>
            </a:r>
            <a:r>
              <a:rPr sz="2000" i="0" b="0">
                <a:solidFill>
                  <a:srgbClr val="212529"/>
                </a:solidFill>
                <a:latin typeface="Calibri"/>
              </a:rPr>
              <a:t> hazard cloud, with coverage statistics (L2-star discrepancy, MST edge spread)</a:t>
            </a:r>
          </a:p>
          <a:p>
            <a:pPr>
              <a:lnSpc>
                <a:spcPct val="104000"/>
              </a:lnSpc>
              <a:spcAft>
                <a:spcPts val="900"/>
              </a:spcAft>
            </a:pPr>
            <a:r>
              <a:rPr sz="2000" i="0" b="0">
                <a:solidFill>
                  <a:srgbClr val="212529"/>
                </a:solidFill>
                <a:latin typeface="Calibri"/>
              </a:rPr>
              <a:t>•  comparison: what each design actually samples; the visual case for random sampling vs hazard coverage</a:t>
            </a:r>
          </a:p>
          <a:p>
            <a:pPr>
              <a:lnSpc>
                <a:spcPct val="104000"/>
              </a:lnSpc>
              <a:spcAft>
                <a:spcPts val="900"/>
              </a:spcAft>
            </a:pPr>
            <a:r>
              <a:rPr sz="2000" i="0" b="0">
                <a:solidFill>
                  <a:srgbClr val="212529"/>
                </a:solidFill>
                <a:latin typeface="Calibri"/>
              </a:rPr>
              <a:t>•  role: makes the design tangible before any outcome is shown</a:t>
            </a:r>
          </a:p>
          <a:p>
            <a:pPr>
              <a:lnSpc>
                <a:spcPct val="104000"/>
              </a:lnSpc>
              <a:spcAft>
                <a:spcPts val="200"/>
              </a:spcAft>
            </a:pPr>
          </a:p>
          <a:p>
            <a:pPr>
              <a:lnSpc>
                <a:spcPct val="104000"/>
              </a:lnSpc>
              <a:spcAft>
                <a:spcPts val="900"/>
              </a:spcAft>
            </a:pPr>
            <a:r>
              <a:rPr sz="1800" i="1" b="0">
                <a:solidFill>
                  <a:srgbClr val="5F6B7A"/>
                </a:solidFill>
                <a:latin typeface="Calibri"/>
              </a:rPr>
              <a:t>processing: hazard image per design draw; discrepancy + spread vs a random design at the same (N, m).</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766559"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23291" y="353139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007920" y="400497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838805" y="3655699"/>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980533" y="3250559"/>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40122" y="376502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82921" y="353687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31135" y="360696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58767" y="332385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5261" y="327949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78673" y="405995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586410" y="391630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21720" y="388930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960721" y="345253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693697" y="386973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V="1">
            <a:off x="6995159" y="3520440"/>
            <a:ext cx="320040" cy="32004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199" y="3520440"/>
            <a:ext cx="320041" cy="27432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35240" y="3566160"/>
            <a:ext cx="320039" cy="22860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675120" y="4270248"/>
            <a:ext cx="1645920" cy="274320"/>
          </a:xfrm>
          <a:prstGeom prst="rect">
            <a:avLst/>
          </a:prstGeom>
          <a:noFill/>
        </p:spPr>
        <p:txBody>
          <a:bodyPr wrap="square">
            <a:spAutoFit/>
          </a:bodyPr>
          <a:lstStyle/>
          <a:p>
            <a:pPr algn="ctr"/>
            <a:r>
              <a:rPr sz="1800" i="0" b="0">
                <a:solidFill>
                  <a:srgbClr val="5F6B7A"/>
                </a:solidFill>
                <a:latin typeface="Calibri"/>
              </a:rPr>
              <a:t>historic</a:t>
            </a:r>
          </a:p>
        </p:txBody>
      </p:sp>
      <p:sp>
        <p:nvSpPr>
          <p:cNvPr id="26" name="Rectangle 25"/>
          <p:cNvSpPr/>
          <p:nvPr/>
        </p:nvSpPr>
        <p:spPr>
          <a:xfrm>
            <a:off x="8458200"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62122" y="325718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863669" y="337448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882169" y="395019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77578" y="402401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47946" y="322557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07153" y="364507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552270" y="358075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682558" y="328054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286265" y="328936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263036" y="403256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782148" y="318089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629105" y="369121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544565" y="325442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158116" y="405716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970264" y="358902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162288" y="3396996"/>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906256" y="382905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26296" y="373303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98280" y="354101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354312" y="358902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4270248"/>
            <a:ext cx="1645920" cy="274320"/>
          </a:xfrm>
          <a:prstGeom prst="rect">
            <a:avLst/>
          </a:prstGeom>
          <a:noFill/>
        </p:spPr>
        <p:txBody>
          <a:bodyPr wrap="square">
            <a:spAutoFit/>
          </a:bodyPr>
          <a:lstStyle/>
          <a:p>
            <a:pPr algn="ctr"/>
            <a:r>
              <a:rPr sz="1800" i="0" b="0">
                <a:solidFill>
                  <a:srgbClr val="5F6B7A"/>
                </a:solidFill>
                <a:latin typeface="Calibri"/>
              </a:rPr>
              <a:t>fixed prob.</a:t>
            </a:r>
          </a:p>
        </p:txBody>
      </p:sp>
      <p:sp>
        <p:nvSpPr>
          <p:cNvPr id="48" name="Rectangle 47"/>
          <p:cNvSpPr/>
          <p:nvPr/>
        </p:nvSpPr>
        <p:spPr>
          <a:xfrm>
            <a:off x="10149840"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751652" y="355522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031508" y="326266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956084" y="333864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993322" y="409307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283198" y="370589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990112" y="331631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557328" y="412817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491401" y="3289464"/>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116960" y="408596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516972" y="375972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268934" y="352432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76835" y="373968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205491" y="325624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658317" y="400254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332719"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332719"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0332719"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12780"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0812780"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812780"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292840"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1292840"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1292840"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058400" y="4270248"/>
            <a:ext cx="1645920" cy="274320"/>
          </a:xfrm>
          <a:prstGeom prst="rect">
            <a:avLst/>
          </a:prstGeom>
          <a:noFill/>
        </p:spPr>
        <p:txBody>
          <a:bodyPr wrap="square">
            <a:spAutoFit/>
          </a:bodyPr>
          <a:lstStyle/>
          <a:p>
            <a:pPr algn="ctr"/>
            <a:r>
              <a:rPr sz="1800" i="0" b="0">
                <a:solidFill>
                  <a:srgbClr val="5F6B7A"/>
                </a:solidFill>
                <a:latin typeface="Calibri"/>
              </a:rPr>
              <a:t>hazard-fill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3: held-out robustness by design (RQ1 headline)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distributions of re-evaluated </a:t>
            </a:r>
            <a:r>
              <a:rPr sz="2000" i="0" b="1">
                <a:solidFill>
                  <a:srgbClr val="212529"/>
                </a:solidFill>
                <a:latin typeface="Calibri"/>
              </a:rPr>
              <a:t>multivariate satisficing</a:t>
            </a:r>
            <a:r>
              <a:rPr sz="2000" i="0" b="0">
                <a:solidFill>
                  <a:srgbClr val="212529"/>
                </a:solidFill>
                <a:latin typeface="Calibri"/>
              </a:rPr>
              <a:t> per design, over K draws × S seeds; univariate panels alongside</a:t>
            </a:r>
          </a:p>
          <a:p>
            <a:pPr>
              <a:lnSpc>
                <a:spcPct val="104000"/>
              </a:lnSpc>
              <a:spcAft>
                <a:spcPts val="900"/>
              </a:spcAft>
            </a:pPr>
            <a:r>
              <a:rPr sz="2000" i="0" b="0">
                <a:solidFill>
                  <a:srgbClr val="212529"/>
                </a:solidFill>
                <a:latin typeface="Calibri"/>
              </a:rPr>
              <a:t>•  comparison: the RQ1 verdict, with draw-level spread separating design effect from sampling noise</a:t>
            </a:r>
          </a:p>
          <a:p>
            <a:pPr>
              <a:lnSpc>
                <a:spcPct val="104000"/>
              </a:lnSpc>
              <a:spcAft>
                <a:spcPts val="900"/>
              </a:spcAft>
            </a:pPr>
            <a:r>
              <a:rPr sz="2000" i="0" b="0">
                <a:solidFill>
                  <a:srgbClr val="212529"/>
                </a:solidFill>
                <a:latin typeface="Calibri"/>
              </a:rPr>
              <a:t>•  co-reported: the </a:t>
            </a:r>
            <a:r>
              <a:rPr sz="2000" i="0" b="1">
                <a:solidFill>
                  <a:srgbClr val="212529"/>
                </a:solidFill>
                <a:latin typeface="Calibri"/>
              </a:rPr>
              <a:t>raw performance distribution</a:t>
            </a:r>
            <a:r>
              <a:rPr sz="2000" i="0" b="0">
                <a:solidFill>
                  <a:srgbClr val="212529"/>
                </a:solidFill>
                <a:latin typeface="Calibri"/>
              </a:rPr>
              <a:t> of the same objectives (the degeneracy check)</a:t>
            </a:r>
          </a:p>
          <a:p>
            <a:pPr>
              <a:lnSpc>
                <a:spcPct val="104000"/>
              </a:lnSpc>
              <a:spcAft>
                <a:spcPts val="200"/>
              </a:spcAft>
            </a:pPr>
          </a:p>
          <a:p>
            <a:pPr>
              <a:lnSpc>
                <a:spcPct val="104000"/>
              </a:lnSpc>
              <a:spcAft>
                <a:spcPts val="900"/>
              </a:spcAft>
            </a:pPr>
            <a:r>
              <a:rPr sz="1800" i="1" b="0">
                <a:solidFill>
                  <a:srgbClr val="5F6B7A"/>
                </a:solidFill>
                <a:latin typeface="Calibri"/>
              </a:rPr>
              <a:t>style cue: Cohen et al. 2021 Fig. 5; Gold et al. 2023 Fig. 5 for the co-reported distributions.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49440" y="2103120"/>
            <a:ext cx="0" cy="33375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49440" y="5440680"/>
            <a:ext cx="4434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383280"/>
            <a:ext cx="2011680" cy="320040"/>
          </a:xfrm>
          <a:prstGeom prst="rect">
            <a:avLst/>
          </a:prstGeom>
          <a:noFill/>
        </p:spPr>
        <p:txBody>
          <a:bodyPr wrap="square">
            <a:spAutoFit/>
          </a:bodyPr>
          <a:lstStyle/>
          <a:p>
            <a:pPr algn="ctr"/>
            <a:r>
              <a:rPr sz="1800" i="0" b="0">
                <a:solidFill>
                  <a:srgbClr val="5F6B7A"/>
                </a:solidFill>
                <a:latin typeface="Calibri"/>
              </a:rPr>
              <a:t>satisficing</a:t>
            </a:r>
          </a:p>
        </p:txBody>
      </p:sp>
      <p:cxnSp>
        <p:nvCxnSpPr>
          <p:cNvPr id="10" name="Connector 9"/>
          <p:cNvCxnSpPr/>
          <p:nvPr/>
        </p:nvCxnSpPr>
        <p:spPr>
          <a:xfrm>
            <a:off x="7680960" y="374904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552944" y="3977640"/>
            <a:ext cx="256032" cy="4572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552944" y="4206240"/>
            <a:ext cx="256032" cy="0"/>
          </a:xfrm>
          <a:prstGeom prst="line">
            <a:avLst/>
          </a:prstGeom>
          <a:ln w="15875">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51776" y="5486400"/>
            <a:ext cx="658368" cy="274320"/>
          </a:xfrm>
          <a:prstGeom prst="rect">
            <a:avLst/>
          </a:prstGeom>
          <a:noFill/>
        </p:spPr>
        <p:txBody>
          <a:bodyPr wrap="none">
            <a:spAutoFit/>
          </a:bodyPr>
          <a:lstStyle/>
          <a:p>
            <a:pPr algn="ctr"/>
            <a:r>
              <a:rPr sz="1800" i="0" b="0">
                <a:solidFill>
                  <a:srgbClr val="5F6B7A"/>
                </a:solidFill>
                <a:latin typeface="Calibri"/>
              </a:rPr>
              <a:t>hist</a:t>
            </a:r>
          </a:p>
        </p:txBody>
      </p:sp>
      <p:cxnSp>
        <p:nvCxnSpPr>
          <p:cNvPr id="14" name="Connector 13"/>
          <p:cNvCxnSpPr/>
          <p:nvPr/>
        </p:nvCxnSpPr>
        <p:spPr>
          <a:xfrm>
            <a:off x="8961120" y="329184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833104" y="3520440"/>
            <a:ext cx="256032" cy="4572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833104" y="3749040"/>
            <a:ext cx="256032" cy="0"/>
          </a:xfrm>
          <a:prstGeom prst="line">
            <a:avLst/>
          </a:prstGeom>
          <a:ln w="15875">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1936" y="5486400"/>
            <a:ext cx="658368" cy="274320"/>
          </a:xfrm>
          <a:prstGeom prst="rect">
            <a:avLst/>
          </a:prstGeom>
          <a:noFill/>
        </p:spPr>
        <p:txBody>
          <a:bodyPr wrap="none">
            <a:spAutoFit/>
          </a:bodyPr>
          <a:lstStyle/>
          <a:p>
            <a:pPr algn="ctr"/>
            <a:r>
              <a:rPr sz="1800" i="0" b="0">
                <a:solidFill>
                  <a:srgbClr val="5F6B7A"/>
                </a:solidFill>
                <a:latin typeface="Calibri"/>
              </a:rPr>
              <a:t>fixp</a:t>
            </a:r>
          </a:p>
        </p:txBody>
      </p:sp>
      <p:cxnSp>
        <p:nvCxnSpPr>
          <p:cNvPr id="18" name="Connector 17"/>
          <p:cNvCxnSpPr/>
          <p:nvPr/>
        </p:nvCxnSpPr>
        <p:spPr>
          <a:xfrm>
            <a:off x="10241280" y="246888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0113263" y="2697480"/>
            <a:ext cx="256032" cy="457200"/>
          </a:xfrm>
          <a:prstGeom prst="rect">
            <a:avLst/>
          </a:prstGeom>
          <a:solidFill>
            <a:srgbClr val="2E5E8C"/>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13263" y="2926080"/>
            <a:ext cx="256033" cy="0"/>
          </a:xfrm>
          <a:prstGeom prst="line">
            <a:avLst/>
          </a:prstGeom>
          <a:ln w="15875">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12096" y="5486400"/>
            <a:ext cx="658368" cy="274320"/>
          </a:xfrm>
          <a:prstGeom prst="rect">
            <a:avLst/>
          </a:prstGeom>
          <a:noFill/>
        </p:spPr>
        <p:txBody>
          <a:bodyPr wrap="none">
            <a:spAutoFit/>
          </a:bodyPr>
          <a:lstStyle/>
          <a:p>
            <a:pPr algn="ctr"/>
            <a:r>
              <a:rPr sz="1800" i="0" b="0">
                <a:solidFill>
                  <a:srgbClr val="5F6B7A"/>
                </a:solidFill>
                <a:latin typeface="Calibri"/>
              </a:rPr>
              <a:t>hz-fill</a:t>
            </a:r>
          </a:p>
        </p:txBody>
      </p:sp>
      <p:sp>
        <p:nvSpPr>
          <p:cNvPr id="22" name="TextBox 21"/>
          <p:cNvSpPr txBox="1"/>
          <p:nvPr/>
        </p:nvSpPr>
        <p:spPr>
          <a:xfrm>
            <a:off x="6995159" y="1938528"/>
            <a:ext cx="4434840" cy="292608"/>
          </a:xfrm>
          <a:prstGeom prst="rect">
            <a:avLst/>
          </a:prstGeom>
          <a:noFill/>
        </p:spPr>
        <p:txBody>
          <a:bodyPr wrap="square">
            <a:spAutoFit/>
          </a:bodyPr>
          <a:lstStyle/>
          <a:p>
            <a:pPr algn="ctr"/>
            <a:r>
              <a:rPr sz="1800" i="0" b="0">
                <a:solidFill>
                  <a:srgbClr val="5F6B7A"/>
                </a:solidFill>
                <a:latin typeface="Calibri"/>
              </a:rPr>
              <a:t>one panel per objective (7 small multiples)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4: design robustness vs threshold stringency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each design's held-out robustness across a grid of satisficing criteria, plus Kendall's </a:t>
            </a:r>
            <a:r>
              <a:rPr sz="2000" i="0" b="1">
                <a:solidFill>
                  <a:srgbClr val="212529"/>
                </a:solidFill>
                <a:latin typeface="Calibri"/>
              </a:rPr>
              <a:t>τ_b of the design ranking</a:t>
            </a:r>
            <a:r>
              <a:rPr sz="2000" i="0" b="0">
                <a:solidFill>
                  <a:srgbClr val="212529"/>
                </a:solidFill>
                <a:latin typeface="Calibri"/>
              </a:rPr>
              <a:t> vs the default threshold</a:t>
            </a:r>
          </a:p>
          <a:p>
            <a:pPr>
              <a:lnSpc>
                <a:spcPct val="104000"/>
              </a:lnSpc>
              <a:spcAft>
                <a:spcPts val="900"/>
              </a:spcAft>
            </a:pPr>
            <a:r>
              <a:rPr sz="2000" i="0" b="0">
                <a:solidFill>
                  <a:srgbClr val="212529"/>
                </a:solidFill>
                <a:latin typeface="Calibri"/>
              </a:rPr>
              <a:t>•  comparison: is the </a:t>
            </a:r>
            <a:r>
              <a:rPr sz="2000" i="0" b="1">
                <a:solidFill>
                  <a:srgbClr val="212529"/>
                </a:solidFill>
                <a:latin typeface="Calibri"/>
              </a:rPr>
              <a:t>design ranking</a:t>
            </a:r>
            <a:r>
              <a:rPr sz="2000" i="0" b="0">
                <a:solidFill>
                  <a:srgbClr val="212529"/>
                </a:solidFill>
                <a:latin typeface="Calibri"/>
              </a:rPr>
              <a:t> threshold-invariant, or does it flip at the conservative end (Quinn et al. 2020)?</a:t>
            </a:r>
          </a:p>
          <a:p>
            <a:pPr>
              <a:lnSpc>
                <a:spcPct val="104000"/>
              </a:lnSpc>
              <a:spcAft>
                <a:spcPts val="900"/>
              </a:spcAft>
            </a:pPr>
            <a:r>
              <a:rPr sz="2000" i="0" b="0">
                <a:solidFill>
                  <a:srgbClr val="212529"/>
                </a:solidFill>
                <a:latin typeface="Calibri"/>
              </a:rPr>
              <a:t>•  role: the credibility figure — a single fixed threshold could manufacture or hide the entire result</a:t>
            </a:r>
          </a:p>
          <a:p>
            <a:pPr>
              <a:lnSpc>
                <a:spcPct val="104000"/>
              </a:lnSpc>
              <a:spcAft>
                <a:spcPts val="200"/>
              </a:spcAft>
            </a:pPr>
          </a:p>
          <a:p>
            <a:pPr>
              <a:lnSpc>
                <a:spcPct val="104000"/>
              </a:lnSpc>
              <a:spcAft>
                <a:spcPts val="900"/>
              </a:spcAft>
            </a:pPr>
            <a:r>
              <a:rPr sz="1800" i="1" b="0">
                <a:solidFill>
                  <a:srgbClr val="5F6B7A"/>
                </a:solidFill>
                <a:latin typeface="Calibri"/>
              </a:rPr>
              <a:t>processing: `threshold_spectrum` re-scores the persisted cube offline; no re-simulation.</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95159" y="2148840"/>
            <a:ext cx="0" cy="233172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95159" y="4480560"/>
            <a:ext cx="43434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69280" y="3017520"/>
            <a:ext cx="2011680" cy="320040"/>
          </a:xfrm>
          <a:prstGeom prst="rect">
            <a:avLst/>
          </a:prstGeom>
          <a:noFill/>
        </p:spPr>
        <p:txBody>
          <a:bodyPr wrap="square">
            <a:spAutoFit/>
          </a:bodyPr>
          <a:lstStyle/>
          <a:p>
            <a:pPr algn="ctr"/>
            <a:r>
              <a:rPr sz="1800" i="0" b="0">
                <a:solidFill>
                  <a:srgbClr val="5F6B7A"/>
                </a:solidFill>
                <a:latin typeface="Calibri"/>
              </a:rPr>
              <a:t>robustness</a:t>
            </a:r>
          </a:p>
        </p:txBody>
      </p:sp>
      <p:cxnSp>
        <p:nvCxnSpPr>
          <p:cNvPr id="10" name="Connector 9"/>
          <p:cNvCxnSpPr/>
          <p:nvPr/>
        </p:nvCxnSpPr>
        <p:spPr>
          <a:xfrm>
            <a:off x="7223759" y="2697480"/>
            <a:ext cx="1176833" cy="3657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400592" y="3063239"/>
            <a:ext cx="1176833" cy="64008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77425" y="3703320"/>
            <a:ext cx="1212494" cy="64008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223759" y="2926080"/>
            <a:ext cx="1176833" cy="41148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400592" y="3337560"/>
            <a:ext cx="1176833" cy="73151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577425" y="4069079"/>
            <a:ext cx="1212494"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223759" y="3154680"/>
            <a:ext cx="1176833"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400592" y="3611880"/>
            <a:ext cx="1176833" cy="27432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77425" y="3886200"/>
            <a:ext cx="1212494" cy="9143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23759" y="2834639"/>
            <a:ext cx="1176833" cy="182881"/>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400592" y="3017520"/>
            <a:ext cx="1176833" cy="137160"/>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77425" y="3154680"/>
            <a:ext cx="1212494" cy="137159"/>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738360" y="3063240"/>
            <a:ext cx="1554480" cy="292608"/>
          </a:xfrm>
          <a:prstGeom prst="rect">
            <a:avLst/>
          </a:prstGeom>
          <a:noFill/>
        </p:spPr>
        <p:txBody>
          <a:bodyPr wrap="square">
            <a:spAutoFit/>
          </a:bodyPr>
          <a:lstStyle/>
          <a:p>
            <a:pPr algn="l"/>
            <a:r>
              <a:rPr sz="1800" i="0" b="0">
                <a:solidFill>
                  <a:srgbClr val="A45929"/>
                </a:solidFill>
                <a:latin typeface="Calibri"/>
              </a:rPr>
              <a:t>hazard-fill</a:t>
            </a:r>
          </a:p>
        </p:txBody>
      </p:sp>
      <p:sp>
        <p:nvSpPr>
          <p:cNvPr id="23" name="TextBox 22"/>
          <p:cNvSpPr txBox="1"/>
          <p:nvPr/>
        </p:nvSpPr>
        <p:spPr>
          <a:xfrm>
            <a:off x="7086600" y="4526280"/>
            <a:ext cx="4251960" cy="292608"/>
          </a:xfrm>
          <a:prstGeom prst="rect">
            <a:avLst/>
          </a:prstGeom>
          <a:noFill/>
        </p:spPr>
        <p:txBody>
          <a:bodyPr wrap="square">
            <a:spAutoFit/>
          </a:bodyPr>
          <a:lstStyle/>
          <a:p>
            <a:pPr algn="ctr"/>
            <a:r>
              <a:rPr sz="1800" i="0" b="0">
                <a:solidFill>
                  <a:srgbClr val="5F6B7A"/>
                </a:solidFill>
                <a:latin typeface="Calibri"/>
              </a:rPr>
              <a:t>criterion stringency →</a:t>
            </a:r>
          </a:p>
        </p:txBody>
      </p:sp>
      <p:sp>
        <p:nvSpPr>
          <p:cNvPr id="24" name="TextBox 23"/>
          <p:cNvSpPr txBox="1"/>
          <p:nvPr/>
        </p:nvSpPr>
        <p:spPr>
          <a:xfrm>
            <a:off x="6583680" y="4892040"/>
            <a:ext cx="2377440" cy="274320"/>
          </a:xfrm>
          <a:prstGeom prst="rect">
            <a:avLst/>
          </a:prstGeom>
          <a:noFill/>
        </p:spPr>
        <p:txBody>
          <a:bodyPr wrap="square">
            <a:spAutoFit/>
          </a:bodyPr>
          <a:lstStyle/>
          <a:p>
            <a:pPr algn="l"/>
            <a:r>
              <a:rPr sz="1800" i="0" b="0">
                <a:solidFill>
                  <a:srgbClr val="5F6B7A"/>
                </a:solidFill>
                <a:latin typeface="Calibri"/>
              </a:rPr>
              <a:t>(b) τ_b of the design ranking</a:t>
            </a:r>
          </a:p>
        </p:txBody>
      </p:sp>
      <p:cxnSp>
        <p:nvCxnSpPr>
          <p:cNvPr id="25" name="Connector 24"/>
          <p:cNvCxnSpPr/>
          <p:nvPr/>
        </p:nvCxnSpPr>
        <p:spPr>
          <a:xfrm>
            <a:off x="7223759" y="5623560"/>
            <a:ext cx="3566161" cy="0"/>
          </a:xfrm>
          <a:prstGeom prst="line">
            <a:avLst/>
          </a:prstGeom>
          <a:ln w="1270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3759" y="5440680"/>
            <a:ext cx="1188721" cy="9144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412480" y="5532120"/>
            <a:ext cx="1188720" cy="22860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601200" y="5623560"/>
            <a:ext cx="1188720" cy="13716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5: the controlled contrast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robustness distributions for the single contrast fixed_probabilistic vs hazard_filling, with historic as a reference marker</a:t>
            </a:r>
          </a:p>
          <a:p>
            <a:pPr>
              <a:lnSpc>
                <a:spcPct val="104000"/>
              </a:lnSpc>
              <a:spcAft>
                <a:spcPts val="900"/>
              </a:spcAft>
            </a:pPr>
            <a:r>
              <a:rPr sz="2000" i="0" b="0">
                <a:solidFill>
                  <a:srgbClr val="212529"/>
                </a:solidFill>
                <a:latin typeface="Calibri"/>
              </a:rPr>
              <a:t>•  comparison: the </a:t>
            </a:r>
            <a:r>
              <a:rPr sz="2000" i="0" b="1">
                <a:solidFill>
                  <a:srgbClr val="212529"/>
                </a:solidFill>
                <a:latin typeface="Calibri"/>
              </a:rPr>
              <a:t>selection-rule</a:t>
            </a:r>
            <a:r>
              <a:rPr sz="2000" i="0" b="0">
                <a:solidFill>
                  <a:srgbClr val="212529"/>
                </a:solidFill>
                <a:latin typeface="Calibri"/>
              </a:rPr>
              <a:t> effect, read directly — same generator, population, N, L, NFE; only the rule differs</a:t>
            </a:r>
          </a:p>
          <a:p>
            <a:pPr>
              <a:lnSpc>
                <a:spcPct val="104000"/>
              </a:lnSpc>
              <a:spcAft>
                <a:spcPts val="900"/>
              </a:spcAft>
            </a:pPr>
            <a:r>
              <a:rPr sz="2000" i="0" b="0">
                <a:solidFill>
                  <a:srgbClr val="212529"/>
                </a:solidFill>
                <a:latin typeface="Calibri"/>
              </a:rPr>
              <a:t>•  role: makes the exact-control argument visible rather than asserted</a:t>
            </a:r>
          </a:p>
          <a:p>
            <a:pPr>
              <a:lnSpc>
                <a:spcPct val="104000"/>
              </a:lnSpc>
              <a:spcAft>
                <a:spcPts val="200"/>
              </a:spcAft>
            </a:pPr>
          </a:p>
          <a:p>
            <a:pPr>
              <a:lnSpc>
                <a:spcPct val="104000"/>
              </a:lnSpc>
              <a:spcAft>
                <a:spcPts val="900"/>
              </a:spcAft>
            </a:pPr>
            <a:r>
              <a:rPr sz="1800" i="1" b="0">
                <a:solidFill>
                  <a:srgbClr val="5F6B7A"/>
                </a:solidFill>
                <a:latin typeface="Calibri"/>
              </a:rPr>
              <a:t>processing: the same per-draw robustness table as Fig. 3, arranged by the contrast.</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40880" y="2514600"/>
            <a:ext cx="4206240" cy="14173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79" y="3401568"/>
            <a:ext cx="310896" cy="36576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11311" y="3273552"/>
            <a:ext cx="310896" cy="493776"/>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924544" y="3145536"/>
            <a:ext cx="310896" cy="621792"/>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37776" y="3017520"/>
            <a:ext cx="310896" cy="749808"/>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351008" y="2889504"/>
            <a:ext cx="310896" cy="877824"/>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3040379"/>
            <a:ext cx="1097280" cy="365760"/>
          </a:xfrm>
          <a:prstGeom prst="rect">
            <a:avLst/>
          </a:prstGeom>
          <a:noFill/>
        </p:spPr>
        <p:txBody>
          <a:bodyPr wrap="square">
            <a:spAutoFit/>
          </a:bodyPr>
          <a:lstStyle/>
          <a:p>
            <a:pPr algn="l"/>
            <a:r>
              <a:rPr sz="1800" i="0" b="0">
                <a:solidFill>
                  <a:srgbClr val="5F6B7A"/>
                </a:solidFill>
                <a:latin typeface="Calibri"/>
              </a:rPr>
              <a:t>fixed prob.</a:t>
            </a:r>
          </a:p>
        </p:txBody>
      </p:sp>
      <p:sp>
        <p:nvSpPr>
          <p:cNvPr id="14" name="Rectangle 13"/>
          <p:cNvSpPr/>
          <p:nvPr/>
        </p:nvSpPr>
        <p:spPr>
          <a:xfrm>
            <a:off x="7040880" y="4572000"/>
            <a:ext cx="4206240" cy="1417320"/>
          </a:xfrm>
          <a:prstGeom prst="rect">
            <a:avLst/>
          </a:prstGeom>
          <a:solidFill>
            <a:srgbClr val="FFFFFF"/>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5093208"/>
            <a:ext cx="310896" cy="731520"/>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11311" y="4965192"/>
            <a:ext cx="310896" cy="859536"/>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24544" y="4837176"/>
            <a:ext cx="310896" cy="987552"/>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37776" y="4709160"/>
            <a:ext cx="310896" cy="1115568"/>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351008" y="4581144"/>
            <a:ext cx="310896" cy="1243584"/>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92840" y="5097780"/>
            <a:ext cx="1097280" cy="365760"/>
          </a:xfrm>
          <a:prstGeom prst="rect">
            <a:avLst/>
          </a:prstGeom>
          <a:noFill/>
        </p:spPr>
        <p:txBody>
          <a:bodyPr wrap="square">
            <a:spAutoFit/>
          </a:bodyPr>
          <a:lstStyle/>
          <a:p>
            <a:pPr algn="l"/>
            <a:r>
              <a:rPr sz="1800" i="0" b="0">
                <a:solidFill>
                  <a:srgbClr val="A45929"/>
                </a:solidFill>
                <a:latin typeface="Calibri"/>
              </a:rPr>
              <a:t>hazard-fill</a:t>
            </a:r>
          </a:p>
        </p:txBody>
      </p:sp>
      <p:cxnSp>
        <p:nvCxnSpPr>
          <p:cNvPr id="21" name="Connector 20"/>
          <p:cNvCxnSpPr/>
          <p:nvPr/>
        </p:nvCxnSpPr>
        <p:spPr>
          <a:xfrm>
            <a:off x="7818120" y="3931920"/>
            <a:ext cx="0" cy="411480"/>
          </a:xfrm>
          <a:prstGeom prst="line">
            <a:avLst/>
          </a:prstGeom>
          <a:ln w="24130">
            <a:solidFill>
              <a:srgbClr val="2E5E8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046720" y="3950208"/>
            <a:ext cx="2926080" cy="365760"/>
          </a:xfrm>
          <a:prstGeom prst="rect">
            <a:avLst/>
          </a:prstGeom>
          <a:noFill/>
        </p:spPr>
        <p:txBody>
          <a:bodyPr wrap="square">
            <a:spAutoFit/>
          </a:bodyPr>
          <a:lstStyle/>
          <a:p>
            <a:pPr algn="l"/>
            <a:r>
              <a:rPr sz="1800" i="0" b="0">
                <a:solidFill>
                  <a:srgbClr val="2E5E8C"/>
                </a:solidFill>
                <a:latin typeface="Calibri"/>
              </a:rPr>
              <a:t>only the selection RULE differs</a:t>
            </a:r>
          </a:p>
        </p:txBody>
      </p:sp>
      <p:sp>
        <p:nvSpPr>
          <p:cNvPr id="23" name="TextBox 22"/>
          <p:cNvSpPr txBox="1"/>
          <p:nvPr/>
        </p:nvSpPr>
        <p:spPr>
          <a:xfrm>
            <a:off x="6766559" y="6035040"/>
            <a:ext cx="4526280" cy="365760"/>
          </a:xfrm>
          <a:prstGeom prst="rect">
            <a:avLst/>
          </a:prstGeom>
          <a:noFill/>
        </p:spPr>
        <p:txBody>
          <a:bodyPr wrap="square">
            <a:spAutoFit/>
          </a:bodyPr>
          <a:lstStyle/>
          <a:p>
            <a:pPr algn="ctr"/>
            <a:r>
              <a:rPr sz="1800" i="0" b="0">
                <a:solidFill>
                  <a:srgbClr val="5F6B7A"/>
                </a:solidFill>
                <a:latin typeface="Calibri"/>
              </a:rPr>
              <a:t>historic shown as a reference line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6: do designs find different policies?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objective tradeoffs as parallel coordinates, policies colored by design; compromise policies highlighted</a:t>
            </a:r>
          </a:p>
          <a:p>
            <a:pPr>
              <a:lnSpc>
                <a:spcPct val="104000"/>
              </a:lnSpc>
              <a:spcAft>
                <a:spcPts val="900"/>
              </a:spcAft>
            </a:pPr>
            <a:r>
              <a:rPr sz="2000" i="0" b="0">
                <a:solidFill>
                  <a:srgbClr val="212529"/>
                </a:solidFill>
                <a:latin typeface="Calibri"/>
              </a:rPr>
              <a:t>•  comparison: composition can move </a:t>
            </a:r>
            <a:r>
              <a:rPr sz="2000" i="0" b="1">
                <a:solidFill>
                  <a:srgbClr val="212529"/>
                </a:solidFill>
                <a:latin typeface="Calibri"/>
              </a:rPr>
              <a:t>values more than rankings</a:t>
            </a:r>
            <a:r>
              <a:rPr sz="2000" i="0" b="0">
                <a:solidFill>
                  <a:srgbClr val="212529"/>
                </a:solidFill>
                <a:latin typeface="Calibri"/>
              </a:rPr>
              <a:t> (McPhail et al. 2020); do designs change the decisions, not just the scores?</a:t>
            </a:r>
          </a:p>
          <a:p>
            <a:pPr>
              <a:lnSpc>
                <a:spcPct val="104000"/>
              </a:lnSpc>
              <a:spcAft>
                <a:spcPts val="200"/>
              </a:spcAft>
            </a:pPr>
          </a:p>
          <a:p>
            <a:pPr>
              <a:lnSpc>
                <a:spcPct val="104000"/>
              </a:lnSpc>
              <a:spcAft>
                <a:spcPts val="900"/>
              </a:spcAft>
            </a:pPr>
            <a:r>
              <a:rPr sz="1800" i="1" b="0">
                <a:solidFill>
                  <a:srgbClr val="5F6B7A"/>
                </a:solidFill>
                <a:latin typeface="Calibri"/>
              </a:rPr>
              <a:t>style cue: Trindade et al. 2017 Fig. 6 (robustness parallel coordinates with highlighted compromises).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690372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675120" y="5321808"/>
            <a:ext cx="457200" cy="274320"/>
          </a:xfrm>
          <a:prstGeom prst="rect">
            <a:avLst/>
          </a:prstGeom>
          <a:noFill/>
        </p:spPr>
        <p:txBody>
          <a:bodyPr wrap="square">
            <a:spAutoFit/>
          </a:bodyPr>
          <a:lstStyle/>
          <a:p>
            <a:pPr algn="ctr"/>
            <a:r>
              <a:rPr sz="1800" i="0" b="0">
                <a:solidFill>
                  <a:srgbClr val="5F6B7A"/>
                </a:solidFill>
                <a:latin typeface="Calibri"/>
              </a:rPr>
              <a:t>f1</a:t>
            </a:r>
          </a:p>
        </p:txBody>
      </p:sp>
      <p:cxnSp>
        <p:nvCxnSpPr>
          <p:cNvPr id="9" name="Connector 8"/>
          <p:cNvCxnSpPr/>
          <p:nvPr/>
        </p:nvCxnSpPr>
        <p:spPr>
          <a:xfrm>
            <a:off x="7612379"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83779" y="5321808"/>
            <a:ext cx="457200" cy="274320"/>
          </a:xfrm>
          <a:prstGeom prst="rect">
            <a:avLst/>
          </a:prstGeom>
          <a:noFill/>
        </p:spPr>
        <p:txBody>
          <a:bodyPr wrap="square">
            <a:spAutoFit/>
          </a:bodyPr>
          <a:lstStyle/>
          <a:p>
            <a:pPr algn="ctr"/>
            <a:r>
              <a:rPr sz="1800" i="0" b="0">
                <a:solidFill>
                  <a:srgbClr val="5F6B7A"/>
                </a:solidFill>
                <a:latin typeface="Calibri"/>
              </a:rPr>
              <a:t>f2</a:t>
            </a:r>
          </a:p>
        </p:txBody>
      </p:sp>
      <p:cxnSp>
        <p:nvCxnSpPr>
          <p:cNvPr id="11" name="Connector 10"/>
          <p:cNvCxnSpPr/>
          <p:nvPr/>
        </p:nvCxnSpPr>
        <p:spPr>
          <a:xfrm>
            <a:off x="832104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92440" y="5321808"/>
            <a:ext cx="457200" cy="274320"/>
          </a:xfrm>
          <a:prstGeom prst="rect">
            <a:avLst/>
          </a:prstGeom>
          <a:noFill/>
        </p:spPr>
        <p:txBody>
          <a:bodyPr wrap="square">
            <a:spAutoFit/>
          </a:bodyPr>
          <a:lstStyle/>
          <a:p>
            <a:pPr algn="ctr"/>
            <a:r>
              <a:rPr sz="1800" i="0" b="0">
                <a:solidFill>
                  <a:srgbClr val="5F6B7A"/>
                </a:solidFill>
                <a:latin typeface="Calibri"/>
              </a:rPr>
              <a:t>f3</a:t>
            </a:r>
          </a:p>
        </p:txBody>
      </p:sp>
      <p:cxnSp>
        <p:nvCxnSpPr>
          <p:cNvPr id="13" name="Connector 12"/>
          <p:cNvCxnSpPr/>
          <p:nvPr/>
        </p:nvCxnSpPr>
        <p:spPr>
          <a:xfrm>
            <a:off x="902970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01100" y="5321808"/>
            <a:ext cx="457200" cy="274320"/>
          </a:xfrm>
          <a:prstGeom prst="rect">
            <a:avLst/>
          </a:prstGeom>
          <a:noFill/>
        </p:spPr>
        <p:txBody>
          <a:bodyPr wrap="square">
            <a:spAutoFit/>
          </a:bodyPr>
          <a:lstStyle/>
          <a:p>
            <a:pPr algn="ctr"/>
            <a:r>
              <a:rPr sz="1800" i="0" b="0">
                <a:solidFill>
                  <a:srgbClr val="5F6B7A"/>
                </a:solidFill>
                <a:latin typeface="Calibri"/>
              </a:rPr>
              <a:t>f4</a:t>
            </a:r>
          </a:p>
        </p:txBody>
      </p:sp>
      <p:cxnSp>
        <p:nvCxnSpPr>
          <p:cNvPr id="15" name="Connector 14"/>
          <p:cNvCxnSpPr/>
          <p:nvPr/>
        </p:nvCxnSpPr>
        <p:spPr>
          <a:xfrm>
            <a:off x="973836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509760" y="5321808"/>
            <a:ext cx="457200" cy="274320"/>
          </a:xfrm>
          <a:prstGeom prst="rect">
            <a:avLst/>
          </a:prstGeom>
          <a:noFill/>
        </p:spPr>
        <p:txBody>
          <a:bodyPr wrap="square">
            <a:spAutoFit/>
          </a:bodyPr>
          <a:lstStyle/>
          <a:p>
            <a:pPr algn="ctr"/>
            <a:r>
              <a:rPr sz="1800" i="0" b="0">
                <a:solidFill>
                  <a:srgbClr val="5F6B7A"/>
                </a:solidFill>
                <a:latin typeface="Calibri"/>
              </a:rPr>
              <a:t>f5</a:t>
            </a:r>
          </a:p>
        </p:txBody>
      </p:sp>
      <p:cxnSp>
        <p:nvCxnSpPr>
          <p:cNvPr id="17" name="Connector 16"/>
          <p:cNvCxnSpPr/>
          <p:nvPr/>
        </p:nvCxnSpPr>
        <p:spPr>
          <a:xfrm>
            <a:off x="1044702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218420" y="5321808"/>
            <a:ext cx="457200" cy="274320"/>
          </a:xfrm>
          <a:prstGeom prst="rect">
            <a:avLst/>
          </a:prstGeom>
          <a:noFill/>
        </p:spPr>
        <p:txBody>
          <a:bodyPr wrap="square">
            <a:spAutoFit/>
          </a:bodyPr>
          <a:lstStyle/>
          <a:p>
            <a:pPr algn="ctr"/>
            <a:r>
              <a:rPr sz="1800" i="0" b="0">
                <a:solidFill>
                  <a:srgbClr val="5F6B7A"/>
                </a:solidFill>
                <a:latin typeface="Calibri"/>
              </a:rPr>
              <a:t>f6</a:t>
            </a:r>
          </a:p>
        </p:txBody>
      </p:sp>
      <p:cxnSp>
        <p:nvCxnSpPr>
          <p:cNvPr id="19" name="Connector 18"/>
          <p:cNvCxnSpPr/>
          <p:nvPr/>
        </p:nvCxnSpPr>
        <p:spPr>
          <a:xfrm>
            <a:off x="1115568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927080" y="5321808"/>
            <a:ext cx="457200" cy="274320"/>
          </a:xfrm>
          <a:prstGeom prst="rect">
            <a:avLst/>
          </a:prstGeom>
          <a:noFill/>
        </p:spPr>
        <p:txBody>
          <a:bodyPr wrap="square">
            <a:spAutoFit/>
          </a:bodyPr>
          <a:lstStyle/>
          <a:p>
            <a:pPr algn="ctr"/>
            <a:r>
              <a:rPr sz="1800" i="0" b="0">
                <a:solidFill>
                  <a:srgbClr val="5F6B7A"/>
                </a:solidFill>
                <a:latin typeface="Calibri"/>
              </a:rPr>
              <a:t>f7</a:t>
            </a:r>
          </a:p>
        </p:txBody>
      </p:sp>
      <p:cxnSp>
        <p:nvCxnSpPr>
          <p:cNvPr id="21" name="Connector 20"/>
          <p:cNvCxnSpPr/>
          <p:nvPr/>
        </p:nvCxnSpPr>
        <p:spPr>
          <a:xfrm>
            <a:off x="6903720" y="2752163"/>
            <a:ext cx="708659" cy="157980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612379" y="4197938"/>
            <a:ext cx="708661" cy="1340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321040" y="4197938"/>
            <a:ext cx="708660" cy="7645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29700" y="3187812"/>
            <a:ext cx="708660" cy="1774656"/>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9738360" y="3147135"/>
            <a:ext cx="708660" cy="4067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447020" y="3147135"/>
            <a:ext cx="708660" cy="126829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903720" y="3272331"/>
            <a:ext cx="708659" cy="94260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12379" y="3272331"/>
            <a:ext cx="708661" cy="101097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321040" y="3520763"/>
            <a:ext cx="708660" cy="7625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029700" y="3520763"/>
            <a:ext cx="708660" cy="100990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738360" y="2782847"/>
            <a:ext cx="708660" cy="174782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447020" y="2782847"/>
            <a:ext cx="708660" cy="27808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903720" y="3418296"/>
            <a:ext cx="708659" cy="144104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612379" y="3159404"/>
            <a:ext cx="708661" cy="25889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321040" y="3159404"/>
            <a:ext cx="708660" cy="1442236"/>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029700" y="4143901"/>
            <a:ext cx="708660" cy="4577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9738360" y="2865857"/>
            <a:ext cx="708660" cy="127804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447020" y="2865857"/>
            <a:ext cx="708660" cy="106502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03720" y="2906283"/>
            <a:ext cx="708659" cy="1323363"/>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612379" y="2906283"/>
            <a:ext cx="708661" cy="129074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8321040" y="2795116"/>
            <a:ext cx="708660" cy="140191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29700" y="2795116"/>
            <a:ext cx="708660" cy="56758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9738360" y="2689527"/>
            <a:ext cx="708660" cy="67317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447020" y="2689527"/>
            <a:ext cx="708660" cy="3214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903720" y="3539331"/>
            <a:ext cx="708659" cy="152296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612379" y="3539331"/>
            <a:ext cx="708661" cy="1555938"/>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21040" y="3632069"/>
            <a:ext cx="708660" cy="146320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029700" y="3632069"/>
            <a:ext cx="708660" cy="44783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738360" y="4079906"/>
            <a:ext cx="708660" cy="70288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447020" y="4290330"/>
            <a:ext cx="708660" cy="492463"/>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903720" y="2764634"/>
            <a:ext cx="708659" cy="126635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612379" y="4030989"/>
            <a:ext cx="708661" cy="11838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321040" y="2949373"/>
            <a:ext cx="708660" cy="120000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9029700" y="2719928"/>
            <a:ext cx="708660" cy="22944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738360" y="2719928"/>
            <a:ext cx="708660" cy="206869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0447020" y="3831305"/>
            <a:ext cx="708660" cy="957318"/>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903720" y="2982893"/>
            <a:ext cx="708659" cy="68617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7612379" y="3047461"/>
            <a:ext cx="708661" cy="62160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321040" y="3047461"/>
            <a:ext cx="708660" cy="153816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29700" y="3796033"/>
            <a:ext cx="708660" cy="78959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738360" y="2740494"/>
            <a:ext cx="708660" cy="10555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447020" y="2740494"/>
            <a:ext cx="708660" cy="189786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03720" y="2706305"/>
            <a:ext cx="708659" cy="506841"/>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7612379" y="2543122"/>
            <a:ext cx="708661" cy="670024"/>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321040" y="2543122"/>
            <a:ext cx="708660" cy="1888965"/>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9029700" y="2770848"/>
            <a:ext cx="708660" cy="1661239"/>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738360" y="2770848"/>
            <a:ext cx="708660" cy="1092233"/>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0447020" y="2715450"/>
            <a:ext cx="708660" cy="1147631"/>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903720" y="3742884"/>
            <a:ext cx="708659" cy="543438"/>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7612379" y="3887175"/>
            <a:ext cx="708661" cy="399147"/>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321040" y="3675873"/>
            <a:ext cx="708660" cy="211302"/>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9029700" y="3675873"/>
            <a:ext cx="708660" cy="78768"/>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738360" y="3627812"/>
            <a:ext cx="708660" cy="126829"/>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0447020" y="3627812"/>
            <a:ext cx="708660" cy="420049"/>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903720" y="1938528"/>
            <a:ext cx="4434840" cy="320040"/>
          </a:xfrm>
          <a:prstGeom prst="rect">
            <a:avLst/>
          </a:prstGeom>
          <a:noFill/>
        </p:spPr>
        <p:txBody>
          <a:bodyPr wrap="square">
            <a:spAutoFit/>
          </a:bodyPr>
          <a:lstStyle/>
          <a:p>
            <a:pPr algn="ctr"/>
            <a:r>
              <a:rPr sz="1800" i="0" b="0">
                <a:solidFill>
                  <a:srgbClr val="5F6B7A"/>
                </a:solidFill>
                <a:latin typeface="Calibri"/>
              </a:rPr>
              <a:t>colored: compromise policies by design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7: mechanism test: failure vs coverage deficit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per design, the held-out failure rate as a function of </a:t>
            </a:r>
            <a:r>
              <a:rPr sz="2000" i="0" b="1">
                <a:solidFill>
                  <a:srgbClr val="212529"/>
                </a:solidFill>
                <a:latin typeface="Calibri"/>
              </a:rPr>
              <a:t>hazard-space coverage deficit</a:t>
            </a:r>
            <a:r>
              <a:rPr sz="2000" i="0" b="0">
                <a:solidFill>
                  <a:srgbClr val="212529"/>
                </a:solidFill>
                <a:latin typeface="Calibri"/>
              </a:rPr>
              <a:t>, against a </a:t>
            </a:r>
            <a:r>
              <a:rPr sz="2000" i="0" b="1">
                <a:solidFill>
                  <a:srgbClr val="212529"/>
                </a:solidFill>
                <a:latin typeface="Calibri"/>
              </a:rPr>
              <a:t>random-ensemble null</a:t>
            </a:r>
          </a:p>
          <a:p>
            <a:pPr>
              <a:lnSpc>
                <a:spcPct val="104000"/>
              </a:lnSpc>
              <a:spcAft>
                <a:spcPts val="900"/>
              </a:spcAft>
            </a:pPr>
            <a:r>
              <a:rPr sz="2000" i="0" b="0">
                <a:solidFill>
                  <a:srgbClr val="212529"/>
                </a:solidFill>
                <a:latin typeface="Calibri"/>
              </a:rPr>
              <a:t>•  comparison: the falsifiable prediction — hazard-filling's policies should fail in the region its own design under-covered</a:t>
            </a:r>
          </a:p>
          <a:p>
            <a:pPr>
              <a:lnSpc>
                <a:spcPct val="104000"/>
              </a:lnSpc>
              <a:spcAft>
                <a:spcPts val="900"/>
              </a:spcAft>
            </a:pPr>
            <a:r>
              <a:rPr sz="2000" i="0" b="0">
                <a:solidFill>
                  <a:srgbClr val="212529"/>
                </a:solidFill>
                <a:latin typeface="Calibri"/>
              </a:rPr>
              <a:t>•  caveat drawn on the figure: raw AUC is inflated by geometry, so the verdict is </a:t>
            </a:r>
            <a:r>
              <a:rPr sz="2000" i="0" b="1">
                <a:solidFill>
                  <a:srgbClr val="212529"/>
                </a:solidFill>
                <a:latin typeface="Calibri"/>
              </a:rPr>
              <a:t>AUC minus the null</a:t>
            </a:r>
            <a:r>
              <a:rPr sz="2000" i="0" b="0">
                <a:solidFill>
                  <a:srgbClr val="212529"/>
                </a:solidFill>
                <a:latin typeface="Calibri"/>
              </a:rPr>
              <a:t>, never raw AUC</a:t>
            </a:r>
          </a:p>
          <a:p>
            <a:pPr>
              <a:lnSpc>
                <a:spcPct val="104000"/>
              </a:lnSpc>
              <a:spcAft>
                <a:spcPts val="200"/>
              </a:spcAft>
            </a:pPr>
          </a:p>
          <a:p>
            <a:pPr>
              <a:lnSpc>
                <a:spcPct val="104000"/>
              </a:lnSpc>
              <a:spcAft>
                <a:spcPts val="900"/>
              </a:spcAft>
            </a:pPr>
            <a:r>
              <a:rPr sz="1800" i="1" b="0">
                <a:solidFill>
                  <a:srgbClr val="5F6B7A"/>
                </a:solidFill>
                <a:latin typeface="Calibri"/>
              </a:rPr>
              <a:t>processing: boosted-tree scenario discovery in hazard space (Gold et al. 2022, 2023 configuration); null from random ensembles at the same (N, m).</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95159" y="2148840"/>
            <a:ext cx="0" cy="324612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95159" y="5394960"/>
            <a:ext cx="43434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429000"/>
            <a:ext cx="2011680" cy="320040"/>
          </a:xfrm>
          <a:prstGeom prst="rect">
            <a:avLst/>
          </a:prstGeom>
          <a:noFill/>
        </p:spPr>
        <p:txBody>
          <a:bodyPr wrap="square">
            <a:spAutoFit/>
          </a:bodyPr>
          <a:lstStyle/>
          <a:p>
            <a:pPr algn="ctr"/>
            <a:r>
              <a:rPr sz="1800" i="0" b="0">
                <a:solidFill>
                  <a:srgbClr val="5F6B7A"/>
                </a:solidFill>
                <a:latin typeface="Calibri"/>
              </a:rPr>
              <a:t>failure rate</a:t>
            </a:r>
          </a:p>
        </p:txBody>
      </p:sp>
      <p:sp>
        <p:nvSpPr>
          <p:cNvPr id="10" name="TextBox 9"/>
          <p:cNvSpPr txBox="1"/>
          <p:nvPr/>
        </p:nvSpPr>
        <p:spPr>
          <a:xfrm>
            <a:off x="7040880" y="5504688"/>
            <a:ext cx="4251960" cy="292608"/>
          </a:xfrm>
          <a:prstGeom prst="rect">
            <a:avLst/>
          </a:prstGeom>
          <a:noFill/>
        </p:spPr>
        <p:txBody>
          <a:bodyPr wrap="square">
            <a:spAutoFit/>
          </a:bodyPr>
          <a:lstStyle/>
          <a:p>
            <a:pPr algn="ctr"/>
            <a:r>
              <a:rPr sz="1800" i="0" b="0">
                <a:solidFill>
                  <a:srgbClr val="5F6B7A"/>
                </a:solidFill>
                <a:latin typeface="Calibri"/>
              </a:rPr>
              <a:t>hazard-space coverage deficit →</a:t>
            </a:r>
          </a:p>
        </p:txBody>
      </p:sp>
      <p:cxnSp>
        <p:nvCxnSpPr>
          <p:cNvPr id="11" name="Connector 10"/>
          <p:cNvCxnSpPr/>
          <p:nvPr/>
        </p:nvCxnSpPr>
        <p:spPr>
          <a:xfrm flipV="1">
            <a:off x="7269480" y="4617720"/>
            <a:ext cx="1005840" cy="27432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275320" y="4389120"/>
            <a:ext cx="1005840" cy="22860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281160" y="4160520"/>
            <a:ext cx="1371599" cy="22860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464040" y="3794760"/>
            <a:ext cx="1920240" cy="274320"/>
          </a:xfrm>
          <a:prstGeom prst="rect">
            <a:avLst/>
          </a:prstGeom>
          <a:noFill/>
        </p:spPr>
        <p:txBody>
          <a:bodyPr wrap="square">
            <a:spAutoFit/>
          </a:bodyPr>
          <a:lstStyle/>
          <a:p>
            <a:pPr algn="l"/>
            <a:r>
              <a:rPr sz="1800" i="0" b="0">
                <a:solidFill>
                  <a:srgbClr val="9AA4AF"/>
                </a:solidFill>
                <a:latin typeface="Calibri"/>
              </a:rPr>
              <a:t>random null</a:t>
            </a:r>
          </a:p>
        </p:txBody>
      </p:sp>
      <p:cxnSp>
        <p:nvCxnSpPr>
          <p:cNvPr id="15" name="Connector 14"/>
          <p:cNvCxnSpPr/>
          <p:nvPr/>
        </p:nvCxnSpPr>
        <p:spPr>
          <a:xfrm flipV="1">
            <a:off x="7269480" y="4343400"/>
            <a:ext cx="1005840" cy="73152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275320" y="3520440"/>
            <a:ext cx="1005840" cy="82296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9281160" y="2788920"/>
            <a:ext cx="1371599" cy="73152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235440" y="2423160"/>
            <a:ext cx="2194560" cy="274320"/>
          </a:xfrm>
          <a:prstGeom prst="rect">
            <a:avLst/>
          </a:prstGeom>
          <a:noFill/>
        </p:spPr>
        <p:txBody>
          <a:bodyPr wrap="square">
            <a:spAutoFit/>
          </a:bodyPr>
          <a:lstStyle/>
          <a:p>
            <a:pPr algn="l"/>
            <a:r>
              <a:rPr sz="1800" i="0" b="0">
                <a:solidFill>
                  <a:srgbClr val="A45929"/>
                </a:solidFill>
                <a:latin typeface="Calibri"/>
              </a:rPr>
              <a:t>hazard-fill</a:t>
            </a:r>
          </a:p>
        </p:txBody>
      </p:sp>
      <p:sp>
        <p:nvSpPr>
          <p:cNvPr id="19" name="Oval 18"/>
          <p:cNvSpPr/>
          <p:nvPr/>
        </p:nvSpPr>
        <p:spPr>
          <a:xfrm>
            <a:off x="8092232" y="4570387"/>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18960" y="4225927"/>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34157" y="474150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6961" y="2840991"/>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33992" y="3460173"/>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081864" y="3881410"/>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883584" y="4693921"/>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20971" y="416089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43872" y="301344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50146" y="3406113"/>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335176" y="4137238"/>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724480" y="3178745"/>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8: re-optimized vs current FFMP (RQ2)</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(a) objective-by-objective change vs the current FFMP baseline on the test ensemble; (b) storage / Montague flow through a drought-of-record-scale event</a:t>
            </a:r>
          </a:p>
          <a:p>
            <a:pPr>
              <a:lnSpc>
                <a:spcPct val="104000"/>
              </a:lnSpc>
              <a:spcAft>
                <a:spcPts val="900"/>
              </a:spcAft>
            </a:pPr>
            <a:r>
              <a:rPr sz="2000" i="0" b="0">
                <a:solidFill>
                  <a:srgbClr val="212529"/>
                </a:solidFill>
                <a:latin typeface="Calibri"/>
              </a:rPr>
              <a:t>•  comparison: Pareto-approximate policies vs the status-quo baseline — the same fixed external reference used by the improvement-over-status-quo metric</a:t>
            </a:r>
          </a:p>
          <a:p>
            <a:pPr>
              <a:lnSpc>
                <a:spcPct val="104000"/>
              </a:lnSpc>
              <a:spcAft>
                <a:spcPts val="200"/>
              </a:spcAft>
            </a:pPr>
          </a:p>
          <a:p>
            <a:pPr>
              <a:lnSpc>
                <a:spcPct val="104000"/>
              </a:lnSpc>
              <a:spcAft>
                <a:spcPts val="900"/>
              </a:spcAft>
            </a:pPr>
            <a:r>
              <a:rPr sz="1800" i="1" b="0">
                <a:solidFill>
                  <a:srgbClr val="5F6B7A"/>
                </a:solidFill>
                <a:latin typeface="Calibri"/>
              </a:rPr>
              <a:t>processing: baseline FFMP re-evaluation (workflow step 05); event extraction from test scenarios; policy simulation traces.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2286000" cy="274320"/>
          </a:xfrm>
          <a:prstGeom prst="rect">
            <a:avLst/>
          </a:prstGeom>
          <a:noFill/>
        </p:spPr>
        <p:txBody>
          <a:bodyPr wrap="square">
            <a:spAutoFit/>
          </a:bodyPr>
          <a:lstStyle/>
          <a:p>
            <a:pPr algn="l"/>
            <a:r>
              <a:rPr sz="1800" i="0" b="0">
                <a:solidFill>
                  <a:srgbClr val="5F6B7A"/>
                </a:solidFill>
                <a:latin typeface="Calibri"/>
              </a:rPr>
              <a:t>(a) change vs FFMP</a:t>
            </a:r>
          </a:p>
        </p:txBody>
      </p:sp>
      <p:cxnSp>
        <p:nvCxnSpPr>
          <p:cNvPr id="8" name="Connector 7"/>
          <p:cNvCxnSpPr/>
          <p:nvPr/>
        </p:nvCxnSpPr>
        <p:spPr>
          <a:xfrm>
            <a:off x="7635240" y="2331720"/>
            <a:ext cx="0" cy="3246120"/>
          </a:xfrm>
          <a:prstGeom prst="line">
            <a:avLst/>
          </a:prstGeom>
          <a:ln w="1524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7635240" y="2468880"/>
            <a:ext cx="82296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432304"/>
            <a:ext cx="502920" cy="274320"/>
          </a:xfrm>
          <a:prstGeom prst="rect">
            <a:avLst/>
          </a:prstGeom>
          <a:noFill/>
        </p:spPr>
        <p:txBody>
          <a:bodyPr wrap="square">
            <a:spAutoFit/>
          </a:bodyPr>
          <a:lstStyle/>
          <a:p>
            <a:pPr algn="l"/>
            <a:r>
              <a:rPr sz="1800" i="0" b="0">
                <a:solidFill>
                  <a:srgbClr val="5F6B7A"/>
                </a:solidFill>
                <a:latin typeface="Calibri"/>
              </a:rPr>
              <a:t>f1</a:t>
            </a:r>
          </a:p>
        </p:txBody>
      </p:sp>
      <p:sp>
        <p:nvSpPr>
          <p:cNvPr id="11" name="Rectangle 10"/>
          <p:cNvSpPr/>
          <p:nvPr/>
        </p:nvSpPr>
        <p:spPr>
          <a:xfrm>
            <a:off x="7635240" y="2926080"/>
            <a:ext cx="5486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889504"/>
            <a:ext cx="502920" cy="274320"/>
          </a:xfrm>
          <a:prstGeom prst="rect">
            <a:avLst/>
          </a:prstGeom>
          <a:noFill/>
        </p:spPr>
        <p:txBody>
          <a:bodyPr wrap="square">
            <a:spAutoFit/>
          </a:bodyPr>
          <a:lstStyle/>
          <a:p>
            <a:pPr algn="l"/>
            <a:r>
              <a:rPr sz="1800" i="0" b="0">
                <a:solidFill>
                  <a:srgbClr val="5F6B7A"/>
                </a:solidFill>
                <a:latin typeface="Calibri"/>
              </a:rPr>
              <a:t>f2</a:t>
            </a:r>
          </a:p>
        </p:txBody>
      </p:sp>
      <p:sp>
        <p:nvSpPr>
          <p:cNvPr id="13" name="Rectangle 12"/>
          <p:cNvSpPr/>
          <p:nvPr/>
        </p:nvSpPr>
        <p:spPr>
          <a:xfrm>
            <a:off x="7635240" y="3383280"/>
            <a:ext cx="10058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346704"/>
            <a:ext cx="502920" cy="274320"/>
          </a:xfrm>
          <a:prstGeom prst="rect">
            <a:avLst/>
          </a:prstGeom>
          <a:noFill/>
        </p:spPr>
        <p:txBody>
          <a:bodyPr wrap="square">
            <a:spAutoFit/>
          </a:bodyPr>
          <a:lstStyle/>
          <a:p>
            <a:pPr algn="l"/>
            <a:r>
              <a:rPr sz="1800" i="0" b="0">
                <a:solidFill>
                  <a:srgbClr val="5F6B7A"/>
                </a:solidFill>
                <a:latin typeface="Calibri"/>
              </a:rPr>
              <a:t>f3</a:t>
            </a:r>
          </a:p>
        </p:txBody>
      </p:sp>
      <p:sp>
        <p:nvSpPr>
          <p:cNvPr id="15" name="Rectangle 14"/>
          <p:cNvSpPr/>
          <p:nvPr/>
        </p:nvSpPr>
        <p:spPr>
          <a:xfrm>
            <a:off x="7635240" y="3840480"/>
            <a:ext cx="45720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803904"/>
            <a:ext cx="502920" cy="274320"/>
          </a:xfrm>
          <a:prstGeom prst="rect">
            <a:avLst/>
          </a:prstGeom>
          <a:noFill/>
        </p:spPr>
        <p:txBody>
          <a:bodyPr wrap="square">
            <a:spAutoFit/>
          </a:bodyPr>
          <a:lstStyle/>
          <a:p>
            <a:pPr algn="l"/>
            <a:r>
              <a:rPr sz="1800" i="0" b="0">
                <a:solidFill>
                  <a:srgbClr val="5F6B7A"/>
                </a:solidFill>
                <a:latin typeface="Calibri"/>
              </a:rPr>
              <a:t>f4</a:t>
            </a:r>
          </a:p>
        </p:txBody>
      </p:sp>
      <p:sp>
        <p:nvSpPr>
          <p:cNvPr id="17" name="Rectangle 16"/>
          <p:cNvSpPr/>
          <p:nvPr/>
        </p:nvSpPr>
        <p:spPr>
          <a:xfrm>
            <a:off x="7315200" y="4297680"/>
            <a:ext cx="320040" cy="219456"/>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261104"/>
            <a:ext cx="502920" cy="274320"/>
          </a:xfrm>
          <a:prstGeom prst="rect">
            <a:avLst/>
          </a:prstGeom>
          <a:noFill/>
        </p:spPr>
        <p:txBody>
          <a:bodyPr wrap="square">
            <a:spAutoFit/>
          </a:bodyPr>
          <a:lstStyle/>
          <a:p>
            <a:pPr algn="l"/>
            <a:r>
              <a:rPr sz="1800" i="0" b="0">
                <a:solidFill>
                  <a:srgbClr val="5F6B7A"/>
                </a:solidFill>
                <a:latin typeface="Calibri"/>
              </a:rPr>
              <a:t>f5</a:t>
            </a:r>
          </a:p>
        </p:txBody>
      </p:sp>
      <p:sp>
        <p:nvSpPr>
          <p:cNvPr id="19" name="Rectangle 18"/>
          <p:cNvSpPr/>
          <p:nvPr/>
        </p:nvSpPr>
        <p:spPr>
          <a:xfrm>
            <a:off x="7635240" y="4754880"/>
            <a:ext cx="68580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718304"/>
            <a:ext cx="502920" cy="274320"/>
          </a:xfrm>
          <a:prstGeom prst="rect">
            <a:avLst/>
          </a:prstGeom>
          <a:noFill/>
        </p:spPr>
        <p:txBody>
          <a:bodyPr wrap="square">
            <a:spAutoFit/>
          </a:bodyPr>
          <a:lstStyle/>
          <a:p>
            <a:pPr algn="l"/>
            <a:r>
              <a:rPr sz="1800" i="0" b="0">
                <a:solidFill>
                  <a:srgbClr val="5F6B7A"/>
                </a:solidFill>
                <a:latin typeface="Calibri"/>
              </a:rPr>
              <a:t>f6</a:t>
            </a:r>
          </a:p>
        </p:txBody>
      </p:sp>
      <p:sp>
        <p:nvSpPr>
          <p:cNvPr id="21" name="Rectangle 20"/>
          <p:cNvSpPr/>
          <p:nvPr/>
        </p:nvSpPr>
        <p:spPr>
          <a:xfrm>
            <a:off x="7635240" y="5212080"/>
            <a:ext cx="7772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5175504"/>
            <a:ext cx="502920" cy="274320"/>
          </a:xfrm>
          <a:prstGeom prst="rect">
            <a:avLst/>
          </a:prstGeom>
          <a:noFill/>
        </p:spPr>
        <p:txBody>
          <a:bodyPr wrap="square">
            <a:spAutoFit/>
          </a:bodyPr>
          <a:lstStyle/>
          <a:p>
            <a:pPr algn="l"/>
            <a:r>
              <a:rPr sz="1800" i="0" b="0">
                <a:solidFill>
                  <a:srgbClr val="5F6B7A"/>
                </a:solidFill>
                <a:latin typeface="Calibri"/>
              </a:rPr>
              <a:t>f7</a:t>
            </a:r>
          </a:p>
        </p:txBody>
      </p:sp>
      <p:sp>
        <p:nvSpPr>
          <p:cNvPr id="23" name="TextBox 22"/>
          <p:cNvSpPr txBox="1"/>
          <p:nvPr/>
        </p:nvSpPr>
        <p:spPr>
          <a:xfrm>
            <a:off x="9189720" y="1920240"/>
            <a:ext cx="2377440" cy="274320"/>
          </a:xfrm>
          <a:prstGeom prst="rect">
            <a:avLst/>
          </a:prstGeom>
          <a:noFill/>
        </p:spPr>
        <p:txBody>
          <a:bodyPr wrap="square">
            <a:spAutoFit/>
          </a:bodyPr>
          <a:lstStyle/>
          <a:p>
            <a:pPr algn="l"/>
            <a:r>
              <a:rPr sz="1800" i="0" b="0">
                <a:solidFill>
                  <a:srgbClr val="5F6B7A"/>
                </a:solidFill>
                <a:latin typeface="Calibri"/>
              </a:rPr>
              <a:t>(b) drought event</a:t>
            </a:r>
          </a:p>
        </p:txBody>
      </p:sp>
      <p:sp>
        <p:nvSpPr>
          <p:cNvPr id="24" name="Rectangle 23"/>
          <p:cNvSpPr/>
          <p:nvPr/>
        </p:nvSpPr>
        <p:spPr>
          <a:xfrm>
            <a:off x="9829800" y="2377440"/>
            <a:ext cx="1005840" cy="283464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9281160" y="2331720"/>
            <a:ext cx="0" cy="28803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81160" y="5212080"/>
            <a:ext cx="2148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81160" y="2834640"/>
            <a:ext cx="548640" cy="22860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3063240"/>
            <a:ext cx="365759" cy="141732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95559" y="4480560"/>
            <a:ext cx="457200" cy="36576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652759" y="3749039"/>
            <a:ext cx="365761" cy="1097281"/>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1018520" y="3108960"/>
            <a:ext cx="365760" cy="640079"/>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81160" y="2743200"/>
            <a:ext cx="548640" cy="18288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29800" y="2926080"/>
            <a:ext cx="365759" cy="822959"/>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95559" y="3749039"/>
            <a:ext cx="457200" cy="320041"/>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652759" y="3291840"/>
            <a:ext cx="365761" cy="77724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018520" y="2880360"/>
            <a:ext cx="365760" cy="41148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326880" y="5349240"/>
            <a:ext cx="2194560" cy="274320"/>
          </a:xfrm>
          <a:prstGeom prst="rect">
            <a:avLst/>
          </a:prstGeom>
          <a:noFill/>
        </p:spPr>
        <p:txBody>
          <a:bodyPr wrap="square">
            <a:spAutoFit/>
          </a:bodyPr>
          <a:lstStyle/>
          <a:p>
            <a:pPr algn="l"/>
            <a:r>
              <a:rPr sz="1800" i="0" b="0">
                <a:solidFill>
                  <a:srgbClr val="5F6B7A"/>
                </a:solidFill>
                <a:latin typeface="Calibri"/>
              </a:rPr>
              <a:t>storage: current (rust) vs re-optimized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9: rule resolution, ffmp_N (RQ3)</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robustness vs FFMP storage-zone resolution N, including the 24-parameter standard</a:t>
            </a:r>
          </a:p>
          <a:p>
            <a:pPr>
              <a:lnSpc>
                <a:spcPct val="104000"/>
              </a:lnSpc>
              <a:spcAft>
                <a:spcPts val="900"/>
              </a:spcAft>
            </a:pPr>
            <a:r>
              <a:rPr sz="2000" i="0" b="0">
                <a:solidFill>
                  <a:srgbClr val="212529"/>
                </a:solidFill>
                <a:latin typeface="Calibri"/>
              </a:rPr>
              <a:t>•  comparison: is added rule resolution worth its larger search space?</a:t>
            </a:r>
          </a:p>
          <a:p>
            <a:pPr>
              <a:lnSpc>
                <a:spcPct val="104000"/>
              </a:lnSpc>
              <a:spcAft>
                <a:spcPts val="200"/>
              </a:spcAft>
            </a:pPr>
          </a:p>
          <a:p>
            <a:pPr>
              <a:lnSpc>
                <a:spcPct val="104000"/>
              </a:lnSpc>
              <a:spcAft>
                <a:spcPts val="900"/>
              </a:spcAft>
            </a:pPr>
            <a:r>
              <a:rPr sz="1800" i="1" b="0">
                <a:solidFill>
                  <a:srgbClr val="5F6B7A"/>
                </a:solidFill>
                <a:latin typeface="Calibri"/>
              </a:rPr>
              <a:t>processing: the ffmp_N campaign runs; same re-evaluation post-processing as RQ1. Per-design (never pooled) reference sets if a search metric is shown.</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49440" y="2103120"/>
            <a:ext cx="0" cy="33375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49440" y="5440680"/>
            <a:ext cx="4434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383280"/>
            <a:ext cx="2011680" cy="320040"/>
          </a:xfrm>
          <a:prstGeom prst="rect">
            <a:avLst/>
          </a:prstGeom>
          <a:noFill/>
        </p:spPr>
        <p:txBody>
          <a:bodyPr wrap="square">
            <a:spAutoFit/>
          </a:bodyPr>
          <a:lstStyle/>
          <a:p>
            <a:pPr algn="ctr"/>
            <a:r>
              <a:rPr sz="1800" i="0" b="0">
                <a:solidFill>
                  <a:srgbClr val="5F6B7A"/>
                </a:solidFill>
                <a:latin typeface="Calibri"/>
              </a:rPr>
              <a:t>satisficing</a:t>
            </a:r>
          </a:p>
        </p:txBody>
      </p:sp>
      <p:sp>
        <p:nvSpPr>
          <p:cNvPr id="10" name="TextBox 9"/>
          <p:cNvSpPr txBox="1"/>
          <p:nvPr/>
        </p:nvSpPr>
        <p:spPr>
          <a:xfrm>
            <a:off x="7269480" y="5532120"/>
            <a:ext cx="548640" cy="274320"/>
          </a:xfrm>
          <a:prstGeom prst="rect">
            <a:avLst/>
          </a:prstGeom>
          <a:noFill/>
        </p:spPr>
        <p:txBody>
          <a:bodyPr wrap="square">
            <a:spAutoFit/>
          </a:bodyPr>
          <a:lstStyle/>
          <a:p>
            <a:pPr algn="ctr"/>
            <a:r>
              <a:rPr sz="1800" i="0" b="0">
                <a:solidFill>
                  <a:srgbClr val="5F6B7A"/>
                </a:solidFill>
                <a:latin typeface="Calibri"/>
              </a:rPr>
              <a:t>8</a:t>
            </a:r>
          </a:p>
        </p:txBody>
      </p:sp>
      <p:sp>
        <p:nvSpPr>
          <p:cNvPr id="11" name="TextBox 10"/>
          <p:cNvSpPr txBox="1"/>
          <p:nvPr/>
        </p:nvSpPr>
        <p:spPr>
          <a:xfrm>
            <a:off x="8321040" y="5532120"/>
            <a:ext cx="548640" cy="274320"/>
          </a:xfrm>
          <a:prstGeom prst="rect">
            <a:avLst/>
          </a:prstGeom>
          <a:noFill/>
        </p:spPr>
        <p:txBody>
          <a:bodyPr wrap="square">
            <a:spAutoFit/>
          </a:bodyPr>
          <a:lstStyle/>
          <a:p>
            <a:pPr algn="ctr"/>
            <a:r>
              <a:rPr sz="1800" i="0" b="0">
                <a:solidFill>
                  <a:srgbClr val="5F6B7A"/>
                </a:solidFill>
                <a:latin typeface="Calibri"/>
              </a:rPr>
              <a:t>10</a:t>
            </a:r>
          </a:p>
        </p:txBody>
      </p:sp>
      <p:sp>
        <p:nvSpPr>
          <p:cNvPr id="12" name="TextBox 11"/>
          <p:cNvSpPr txBox="1"/>
          <p:nvPr/>
        </p:nvSpPr>
        <p:spPr>
          <a:xfrm>
            <a:off x="9372600" y="5532120"/>
            <a:ext cx="548640" cy="274320"/>
          </a:xfrm>
          <a:prstGeom prst="rect">
            <a:avLst/>
          </a:prstGeom>
          <a:noFill/>
        </p:spPr>
        <p:txBody>
          <a:bodyPr wrap="square">
            <a:spAutoFit/>
          </a:bodyPr>
          <a:lstStyle/>
          <a:p>
            <a:pPr algn="ctr"/>
            <a:r>
              <a:rPr sz="1800" i="0" b="0">
                <a:solidFill>
                  <a:srgbClr val="5F6B7A"/>
                </a:solidFill>
                <a:latin typeface="Calibri"/>
              </a:rPr>
              <a:t>12</a:t>
            </a:r>
          </a:p>
        </p:txBody>
      </p:sp>
      <p:sp>
        <p:nvSpPr>
          <p:cNvPr id="13" name="TextBox 12"/>
          <p:cNvSpPr txBox="1"/>
          <p:nvPr/>
        </p:nvSpPr>
        <p:spPr>
          <a:xfrm>
            <a:off x="10424159" y="5532120"/>
            <a:ext cx="548640" cy="274320"/>
          </a:xfrm>
          <a:prstGeom prst="rect">
            <a:avLst/>
          </a:prstGeom>
          <a:noFill/>
        </p:spPr>
        <p:txBody>
          <a:bodyPr wrap="square">
            <a:spAutoFit/>
          </a:bodyPr>
          <a:lstStyle/>
          <a:p>
            <a:pPr algn="ctr"/>
            <a:r>
              <a:rPr sz="1800" i="0" b="0">
                <a:solidFill>
                  <a:srgbClr val="5F6B7A"/>
                </a:solidFill>
                <a:latin typeface="Calibri"/>
              </a:rPr>
              <a:t>std</a:t>
            </a:r>
          </a:p>
        </p:txBody>
      </p:sp>
      <p:cxnSp>
        <p:nvCxnSpPr>
          <p:cNvPr id="14" name="Connector 13"/>
          <p:cNvCxnSpPr/>
          <p:nvPr/>
        </p:nvCxnSpPr>
        <p:spPr>
          <a:xfrm flipV="1">
            <a:off x="7543800" y="4023360"/>
            <a:ext cx="1051560" cy="45720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595360" y="3840480"/>
            <a:ext cx="1051560" cy="18288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46920" y="3840480"/>
            <a:ext cx="1051560" cy="9144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498079" y="443484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549640" y="397764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0" y="379476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652759" y="388620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59" y="1938528"/>
            <a:ext cx="4434840" cy="292608"/>
          </a:xfrm>
          <a:prstGeom prst="rect">
            <a:avLst/>
          </a:prstGeom>
          <a:noFill/>
        </p:spPr>
        <p:txBody>
          <a:bodyPr wrap="square">
            <a:spAutoFit/>
          </a:bodyPr>
          <a:lstStyle/>
          <a:p>
            <a:pPr algn="ctr"/>
            <a:r>
              <a:rPr sz="1800" i="0" b="0">
                <a:solidFill>
                  <a:srgbClr val="5F6B7A"/>
                </a:solidFill>
                <a:latin typeface="Calibri"/>
              </a:rPr>
              <a:t>held-out satisficing, per rule resolution</a:t>
            </a:r>
          </a:p>
        </p:txBody>
      </p:sp>
      <p:sp>
        <p:nvSpPr>
          <p:cNvPr id="22" name="TextBox 21"/>
          <p:cNvSpPr txBox="1"/>
          <p:nvPr/>
        </p:nvSpPr>
        <p:spPr>
          <a:xfrm>
            <a:off x="6949440" y="5806440"/>
            <a:ext cx="4434840" cy="292608"/>
          </a:xfrm>
          <a:prstGeom prst="rect">
            <a:avLst/>
          </a:prstGeom>
          <a:noFill/>
        </p:spPr>
        <p:txBody>
          <a:bodyPr wrap="square">
            <a:spAutoFit/>
          </a:bodyPr>
          <a:lstStyle/>
          <a:p>
            <a:pPr algn="ctr"/>
            <a:r>
              <a:rPr sz="1800" i="0" b="0">
                <a:solidFill>
                  <a:srgbClr val="5F6B7A"/>
                </a:solidFill>
                <a:latin typeface="Calibri"/>
              </a:rPr>
              <a:t>FFMP storage-zone resolution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