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3026" r:id="rId3"/>
    <p:sldId id="3024" r:id="rId4"/>
    <p:sldId id="3030" r:id="rId5"/>
    <p:sldId id="3027" r:id="rId6"/>
    <p:sldId id="3029" r:id="rId7"/>
    <p:sldId id="3031" r:id="rId8"/>
    <p:sldId id="3028" r:id="rId9"/>
    <p:sldId id="302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>
        <p:scale>
          <a:sx n="100" d="100"/>
          <a:sy n="100" d="100"/>
        </p:scale>
        <p:origin x="-82" y="-3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43AEBA-C32D-4961-8A9F-7EDCCDF2BE46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36DDD2-8C5B-4F7E-941A-9064D2073B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173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36DDD2-8C5B-4F7E-941A-9064D2073B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4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8E516-9CB2-0F53-0D7F-6C02FB7F7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CDEF59-A611-E6AB-B012-4EBDABE8B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9C3FD-4990-CCE6-3759-876A6D79C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87032-10C0-B254-3C34-BC780267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90B05-EFAC-73C6-DE38-20BD4F82D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546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C98A-C889-6127-D1C1-D43BC498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75A0D-EA15-6187-BAC8-9ECE6EFD3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5E2567-8793-1523-E1BD-D4BCB4D74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28436-0E9D-9D4F-FD7B-F9B4C2C60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FB050-8F6E-E396-F6CB-DC4216A8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B4BC5-E44B-4988-28BF-6594DB026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846A1-646D-5A10-77F7-0C56754EE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AEBD8E-58E2-069D-C116-240919968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46E4-F85F-C58E-2040-4677837C6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FE704-77D9-F2AD-532C-D0B92C3E9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135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8B6F5-4FC8-151F-99F0-36059B945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958BB-1EDB-8C65-D406-10ECEC514D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6349F5-34AC-B1F4-FBD9-4136E3A1EF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BB909-A9D1-3976-23FF-4E1561748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658BB-F010-5EE4-5553-C866D76C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49AEC-8A15-111E-864F-4DD3B7692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449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369C-9CA3-5D0A-28B7-D1819B713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56BC3-CE83-E1A7-75A3-7BBDFB62E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A6E6D-5D16-5235-3501-E7BC82C33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34A76E-FEAE-8072-603A-432D38CBFC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0AB794-3043-59D8-D215-5724327B2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F39BE-56DD-15D6-1ABF-9F12A486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7C431C-4EA3-B8E8-1B95-649098D14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1EA28F-5603-E200-E488-F4AD30BF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70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699B-5E1E-D77F-BCCB-26E2C367D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6190DA-323D-0D4C-863F-AB54BC2D5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BA7498-69C3-6522-025D-ECCBF63C7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9030BB-E615-B951-F1E2-E09E572EB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354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7B357-A9EC-D88E-95A3-28166DE77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4DB0C9-33AE-8076-62D1-5655BEF6C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62616-88E2-1630-E6D0-817D3FE5A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126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09F7D-3798-7DF8-0584-A8D8AD9EC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67012-54F9-732E-70C5-A6B45B0BF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8B8A74-1849-6479-5348-40E5BD2693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BDF3B-72B3-0B68-2EDF-FB4CA9A14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7882C-6CD6-EF87-3AB2-583EE1F20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30DA8E-70B3-DE67-7864-6CBDE4703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15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D14BC-5142-B040-4651-07486D10C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E8D909-67F6-F3A1-E684-3C53BF9A2B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37C95D-D021-9D29-91AC-C1F738B329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C37693-F4DA-27E4-2123-3AD0352C2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F4B1A6-BE42-BB63-9CE3-92F2DB6C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491535-B14D-2C96-B152-DDBCD086D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95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28BE4-E86A-74A8-86E5-0192C53C4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8CDF66-48B9-8C59-EB74-F87DD9C69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00A6D-9AD6-0A31-EDD9-F23BF68C8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FFBEB-1E6D-00E3-4131-006E7D0E8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F7B14C-5E5E-E09F-F3E2-A6939EA04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827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2C847-669D-EA20-81AE-63F71360A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7AD11-809D-8CBC-9B52-5DD8998A0F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95E69-1805-E3A7-8675-6A10CDA4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9FBA41-48A5-F92E-EC1D-18CDA45C3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7A4B6F-12C9-EC79-9DB7-C8479A8F8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7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EDE0EF-62F2-51D8-5F88-F2E2A073B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F5A4B-EE1A-F44F-CAC9-A34BEBA56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D9E94D-507C-13B2-439E-E447E71F1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A1E227-7F4E-4CD5-9F2F-2C4947DC03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E0CEF-CABE-F40E-CBDD-F266C7A4D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91A9B-F25C-EE7A-66C2-14035FC0F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174635-79D7-4106-97B6-DC7F42B15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157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A1CAF-DE8E-7391-249B-4C6520E80A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NYC Re-optimization</a:t>
            </a:r>
            <a:br>
              <a:rPr lang="en-US" dirty="0"/>
            </a:br>
            <a:r>
              <a:rPr lang="en-US" dirty="0"/>
              <a:t>Figure Sequence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D87CC-CAA0-9BA0-5978-961688F427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Summer 2026</a:t>
            </a:r>
          </a:p>
        </p:txBody>
      </p:sp>
    </p:spTree>
    <p:extLst>
      <p:ext uri="{BB962C8B-B14F-4D97-AF65-F5344CB8AC3E}">
        <p14:creationId xmlns:p14="http://schemas.microsoft.com/office/powerpoint/2010/main" val="2395891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139C5-878B-9B48-F302-7C50AD5AB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93EA0-B2F5-5570-E82C-E93423CE9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1.0 Introduction</a:t>
            </a:r>
          </a:p>
          <a:p>
            <a:r>
              <a:rPr lang="en-US" dirty="0"/>
              <a:t>2.0 Case Study Basin</a:t>
            </a:r>
          </a:p>
          <a:p>
            <a:pPr lvl="1"/>
            <a:r>
              <a:rPr lang="en-US" dirty="0"/>
              <a:t>Figure: Basin map | Operational rules?</a:t>
            </a:r>
          </a:p>
          <a:p>
            <a:r>
              <a:rPr lang="en-US" dirty="0"/>
              <a:t>3.0 Methods</a:t>
            </a:r>
          </a:p>
          <a:p>
            <a:pPr lvl="1"/>
            <a:r>
              <a:rPr lang="en-US" dirty="0"/>
              <a:t>Figure: Graphical experimental diagram</a:t>
            </a:r>
          </a:p>
          <a:p>
            <a:pPr lvl="1"/>
            <a:r>
              <a:rPr lang="en-US" dirty="0"/>
              <a:t>Figure: DU streamflow parameterization</a:t>
            </a:r>
          </a:p>
          <a:p>
            <a:r>
              <a:rPr lang="en-US" dirty="0"/>
              <a:t>Results</a:t>
            </a:r>
          </a:p>
          <a:p>
            <a:pPr lvl="1"/>
            <a:r>
              <a:rPr lang="en-US" dirty="0"/>
              <a:t>Figure: Ensemble diagnostic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389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7A287-3543-767A-4084-4BAC6E021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A88B1-AE28-C539-2525-97C724B62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21143-CC70-D5F2-3594-49AA59087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8FDA7-6A68-219E-9AE3-B533AFAF8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3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E5BAE-CD01-F243-FD93-D0DA1B390612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1926522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CA469-49A7-7CD9-E9F6-244E72D0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8F71-C504-BD7F-B28D-4054958D7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343" y="0"/>
            <a:ext cx="10515600" cy="603849"/>
          </a:xfrm>
        </p:spPr>
        <p:txBody>
          <a:bodyPr>
            <a:normAutofit/>
          </a:bodyPr>
          <a:lstStyle/>
          <a:p>
            <a:r>
              <a:rPr lang="en-US" sz="2000" b="1" dirty="0"/>
              <a:t>Figure 1:</a:t>
            </a:r>
            <a:r>
              <a:rPr lang="en-US" sz="2000" dirty="0"/>
              <a:t> Basin map and operational rules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D0296-AC26-819D-FCFC-173D7173C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16" y="1500996"/>
            <a:ext cx="4090100" cy="40912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979750-950C-CF89-980A-0027B519F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4282" y="1500996"/>
            <a:ext cx="5275642" cy="458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454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D0DE9-8B6E-FDB4-9C3C-66C4FAC2C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BEA19-BB45-A850-BFA0-101CB6DE3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63011"/>
          </a:xfrm>
        </p:spPr>
        <p:txBody>
          <a:bodyPr>
            <a:normAutofit/>
          </a:bodyPr>
          <a:lstStyle/>
          <a:p>
            <a:r>
              <a:rPr lang="en-US" sz="2000" b="1" dirty="0"/>
              <a:t>Figure 2: Graphical Experimental Diagram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48F9E0A-033D-B503-3D22-C6A4D38E3AAF}"/>
              </a:ext>
            </a:extLst>
          </p:cNvPr>
          <p:cNvGrpSpPr/>
          <p:nvPr/>
        </p:nvGrpSpPr>
        <p:grpSpPr>
          <a:xfrm>
            <a:off x="403776" y="1260301"/>
            <a:ext cx="11419973" cy="5123406"/>
            <a:chOff x="403776" y="1260301"/>
            <a:chExt cx="11419973" cy="512340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7DF9B75-EAC6-F66A-F2C2-22841F0A8A4B}"/>
                </a:ext>
              </a:extLst>
            </p:cNvPr>
            <p:cNvSpPr/>
            <p:nvPr/>
          </p:nvSpPr>
          <p:spPr>
            <a:xfrm>
              <a:off x="403776" y="1641774"/>
              <a:ext cx="3312696" cy="333843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037C24-BC8B-610E-2F3F-E7C0656EA0B8}"/>
                </a:ext>
              </a:extLst>
            </p:cNvPr>
            <p:cNvSpPr txBox="1"/>
            <p:nvPr/>
          </p:nvSpPr>
          <p:spPr>
            <a:xfrm>
              <a:off x="403776" y="1260301"/>
              <a:ext cx="33126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Scenario Design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5B659F8-88EE-F8E9-C452-3B99C61C1746}"/>
                </a:ext>
              </a:extLst>
            </p:cNvPr>
            <p:cNvSpPr txBox="1"/>
            <p:nvPr/>
          </p:nvSpPr>
          <p:spPr>
            <a:xfrm>
              <a:off x="3520960" y="1538252"/>
              <a:ext cx="314424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Optimization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132F898-6D06-ECF1-93F8-E94E806F4638}"/>
                </a:ext>
              </a:extLst>
            </p:cNvPr>
            <p:cNvSpPr/>
            <p:nvPr/>
          </p:nvSpPr>
          <p:spPr>
            <a:xfrm>
              <a:off x="550161" y="1753343"/>
              <a:ext cx="2991853" cy="76822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Historical trace (baseline)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9E1698-C77D-98EC-81ED-B4D116C7D929}"/>
                </a:ext>
              </a:extLst>
            </p:cNvPr>
            <p:cNvSpPr/>
            <p:nvPr/>
          </p:nvSpPr>
          <p:spPr>
            <a:xfrm>
              <a:off x="550161" y="2736660"/>
              <a:ext cx="2991853" cy="94419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Well characterized (probabilistic) ensemble generated from Kirsch-Nowak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4DC6E8-B3E2-C09B-6127-B62CC3758A6F}"/>
                </a:ext>
              </a:extLst>
            </p:cNvPr>
            <p:cNvSpPr/>
            <p:nvPr/>
          </p:nvSpPr>
          <p:spPr>
            <a:xfrm>
              <a:off x="4413044" y="2341913"/>
              <a:ext cx="1403184" cy="134457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MM-</a:t>
              </a:r>
              <a:r>
                <a:rPr lang="en-US" sz="1400" dirty="0" err="1"/>
                <a:t>BorgMOEA</a:t>
              </a:r>
              <a:endParaRPr lang="en-US" sz="14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C18638B-3D5A-C42F-7CD3-BA1D4D1DACBC}"/>
                </a:ext>
              </a:extLst>
            </p:cNvPr>
            <p:cNvSpPr/>
            <p:nvPr/>
          </p:nvSpPr>
          <p:spPr>
            <a:xfrm>
              <a:off x="6469695" y="25999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5EC333-5195-211B-8B68-48C839C42712}"/>
                </a:ext>
              </a:extLst>
            </p:cNvPr>
            <p:cNvSpPr txBox="1"/>
            <p:nvPr/>
          </p:nvSpPr>
          <p:spPr>
            <a:xfrm>
              <a:off x="4205754" y="3797378"/>
              <a:ext cx="1774658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Fixed (N-year, NFE) per optimization</a:t>
              </a:r>
            </a:p>
            <a:p>
              <a:r>
                <a:rPr lang="en-US" sz="1400" dirty="0"/>
                <a:t>5 seeds per run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24ABF82-5FB2-BFA0-5582-7EDB4AB0017E}"/>
                </a:ext>
              </a:extLst>
            </p:cNvPr>
            <p:cNvSpPr/>
            <p:nvPr/>
          </p:nvSpPr>
          <p:spPr>
            <a:xfrm>
              <a:off x="8511053" y="1753899"/>
              <a:ext cx="3312696" cy="333843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6885F93-59D7-6A76-1A71-736CF364B70F}"/>
                </a:ext>
              </a:extLst>
            </p:cNvPr>
            <p:cNvSpPr txBox="1"/>
            <p:nvPr/>
          </p:nvSpPr>
          <p:spPr>
            <a:xfrm>
              <a:off x="8511053" y="1288640"/>
              <a:ext cx="331269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/>
                <a:t>Re-evaluation &amp; Robustness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2B0308C-5DA0-268F-9E41-024A98742825}"/>
                </a:ext>
              </a:extLst>
            </p:cNvPr>
            <p:cNvSpPr/>
            <p:nvPr/>
          </p:nvSpPr>
          <p:spPr>
            <a:xfrm>
              <a:off x="8910101" y="2053164"/>
              <a:ext cx="2514600" cy="1403704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Re-evaluation of pareto-approximate solutions across large ensemble of climate change uncertainties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7FC038-1EE2-D1BF-3A91-D2210922B166}"/>
                </a:ext>
              </a:extLst>
            </p:cNvPr>
            <p:cNvSpPr/>
            <p:nvPr/>
          </p:nvSpPr>
          <p:spPr>
            <a:xfrm>
              <a:off x="4205754" y="1982214"/>
              <a:ext cx="1774659" cy="2640822"/>
            </a:xfrm>
            <a:prstGeom prst="rect">
              <a:avLst/>
            </a:prstGeom>
            <a:no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6E0CF2D-518E-CFFD-759B-7A4C465778A9}"/>
                </a:ext>
              </a:extLst>
            </p:cNvPr>
            <p:cNvSpPr/>
            <p:nvPr/>
          </p:nvSpPr>
          <p:spPr>
            <a:xfrm>
              <a:off x="548158" y="3889734"/>
              <a:ext cx="2991853" cy="97749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Multi-metric hazard space filling ensemble, sampled from very large stochastic ensemble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9DA6738-B020-336A-21B7-35E5E54B6F4A}"/>
                </a:ext>
              </a:extLst>
            </p:cNvPr>
            <p:cNvSpPr/>
            <p:nvPr/>
          </p:nvSpPr>
          <p:spPr>
            <a:xfrm>
              <a:off x="8910101" y="3722072"/>
              <a:ext cx="1138992" cy="101816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Multi-criteria satisficing robustness</a:t>
              </a: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2A352DE-C72F-0C5C-CAB2-CB173098E0B4}"/>
                </a:ext>
              </a:extLst>
            </p:cNvPr>
            <p:cNvSpPr/>
            <p:nvPr/>
          </p:nvSpPr>
          <p:spPr>
            <a:xfrm>
              <a:off x="10291725" y="3722071"/>
              <a:ext cx="1138992" cy="1018165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Regret relative to default FFMP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24ACF79-908F-0B65-504F-03ADEC8D1C06}"/>
                </a:ext>
              </a:extLst>
            </p:cNvPr>
            <p:cNvCxnSpPr>
              <a:cxnSpLocks/>
              <a:stCxn id="4" idx="3"/>
              <a:endCxn id="15" idx="1"/>
            </p:cNvCxnSpPr>
            <p:nvPr/>
          </p:nvCxnSpPr>
          <p:spPr>
            <a:xfrm flipV="1">
              <a:off x="3716472" y="3302625"/>
              <a:ext cx="489282" cy="83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BD3E739-D9F6-5A2E-7392-6BFBB4ECAFCF}"/>
                </a:ext>
              </a:extLst>
            </p:cNvPr>
            <p:cNvCxnSpPr>
              <a:cxnSpLocks/>
              <a:stCxn id="9" idx="6"/>
              <a:endCxn id="10" idx="1"/>
            </p:cNvCxnSpPr>
            <p:nvPr/>
          </p:nvCxnSpPr>
          <p:spPr>
            <a:xfrm flipV="1">
              <a:off x="5816228" y="3011039"/>
              <a:ext cx="653467" cy="31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2C5F70A-FB0D-7E3B-5EC3-167A3F03FE45}"/>
                </a:ext>
              </a:extLst>
            </p:cNvPr>
            <p:cNvCxnSpPr>
              <a:cxnSpLocks/>
              <a:stCxn id="10" idx="3"/>
              <a:endCxn id="14" idx="1"/>
            </p:cNvCxnSpPr>
            <p:nvPr/>
          </p:nvCxnSpPr>
          <p:spPr>
            <a:xfrm flipV="1">
              <a:off x="7484356" y="2755016"/>
              <a:ext cx="1425745" cy="2560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E60A7AB-12BD-3F11-C653-C1A46FAEF9E8}"/>
                </a:ext>
              </a:extLst>
            </p:cNvPr>
            <p:cNvCxnSpPr>
              <a:cxnSpLocks/>
              <a:stCxn id="14" idx="2"/>
              <a:endCxn id="18" idx="0"/>
            </p:cNvCxnSpPr>
            <p:nvPr/>
          </p:nvCxnSpPr>
          <p:spPr>
            <a:xfrm>
              <a:off x="10167401" y="3456868"/>
              <a:ext cx="693820" cy="2652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163BC6-07B7-EA6B-FB08-A9F966740824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 flipH="1">
              <a:off x="9479597" y="3456868"/>
              <a:ext cx="687804" cy="2652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5AD-28F2-8EA1-0A11-B007659CBDE2}"/>
                </a:ext>
              </a:extLst>
            </p:cNvPr>
            <p:cNvSpPr/>
            <p:nvPr/>
          </p:nvSpPr>
          <p:spPr>
            <a:xfrm>
              <a:off x="5481099" y="5406216"/>
              <a:ext cx="2991853" cy="97749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Deeply uncertain hydrologic future ensemble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C316BC6-D61D-BC36-C55B-9F73018859B7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6977025" y="3722071"/>
              <a:ext cx="1" cy="16841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F90E85E-44B0-EEF0-BBC1-7866FBE46E15}"/>
                </a:ext>
              </a:extLst>
            </p:cNvPr>
            <p:cNvSpPr/>
            <p:nvPr/>
          </p:nvSpPr>
          <p:spPr>
            <a:xfrm>
              <a:off x="6622095" y="27523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BE394E0-E832-2DD5-E503-B967CBB54983}"/>
                </a:ext>
              </a:extLst>
            </p:cNvPr>
            <p:cNvSpPr/>
            <p:nvPr/>
          </p:nvSpPr>
          <p:spPr>
            <a:xfrm>
              <a:off x="6774495" y="2904760"/>
              <a:ext cx="1014661" cy="82215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Approximate Pareto Front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729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D1028-AB15-2C7B-48C2-55F379E1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2472E-253A-5F88-0D08-6ECCED3A3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18804" cy="1325563"/>
          </a:xfrm>
        </p:spPr>
        <p:txBody>
          <a:bodyPr>
            <a:normAutofit/>
          </a:bodyPr>
          <a:lstStyle/>
          <a:p>
            <a:r>
              <a:rPr lang="en-US" sz="2000" b="1" dirty="0"/>
              <a:t>Figure 3:</a:t>
            </a:r>
            <a:r>
              <a:rPr lang="en-US" sz="2000" dirty="0"/>
              <a:t> DU streamflow re-evaluation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DD263-FF23-79A5-FC96-F43BA66DD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170" y="196315"/>
            <a:ext cx="6195204" cy="6486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49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7328-2307-9491-8805-E86B3BD2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BC674B-2507-EE90-FC8A-9F3029152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C0D3A-5C04-3521-91E8-49F2B5ED6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B7793C-108F-3660-9287-63894F016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7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403DF0-5BC7-D12C-AAD8-A2FA83A5CA0A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893663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CF24C-3B88-D929-5B59-25D386E77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3E52C-2670-134B-168A-C8D6B869A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07" y="282253"/>
            <a:ext cx="3844254" cy="497517"/>
          </a:xfrm>
        </p:spPr>
        <p:txBody>
          <a:bodyPr>
            <a:normAutofit/>
          </a:bodyPr>
          <a:lstStyle/>
          <a:p>
            <a:r>
              <a:rPr lang="en-US" sz="2000" b="1" dirty="0"/>
              <a:t>Figure 4:</a:t>
            </a:r>
            <a:r>
              <a:rPr lang="en-US" sz="2000" dirty="0"/>
              <a:t> Ensemble diagnostics</a:t>
            </a:r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B72DFBC1-C1E3-182B-098D-1BF98EF8B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951" y="779770"/>
            <a:ext cx="7878942" cy="607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620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62E89-B035-5F00-71B3-77E2C32F6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70A56-10A0-9CC8-58D7-71B234A8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0BC3A-1549-4EAB-9629-7B9860B2F764}" type="datetime1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133C4-1D47-343D-A9AC-382F3A73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Trevor Amestoy | Cornell University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1441-6DBE-3975-0380-CEA350D83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4BC31C-09DE-4BD8-A52C-83E8CB812CB2}" type="slidenum">
              <a:rPr lang="en-US" smtClean="0"/>
              <a:t>9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AC25C-2B77-EF6A-0A53-D17C8ADDF458}"/>
              </a:ext>
            </a:extLst>
          </p:cNvPr>
          <p:cNvSpPr/>
          <p:nvPr/>
        </p:nvSpPr>
        <p:spPr>
          <a:xfrm>
            <a:off x="0" y="1491916"/>
            <a:ext cx="12191999" cy="3481137"/>
          </a:xfrm>
          <a:prstGeom prst="rect">
            <a:avLst/>
          </a:prstGeom>
          <a:solidFill>
            <a:srgbClr val="152C47"/>
          </a:solidFill>
          <a:ln>
            <a:solidFill>
              <a:srgbClr val="152C47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chemeClr val="bg1"/>
                </a:solidFill>
              </a:rPr>
              <a:t>Supplemental Material</a:t>
            </a:r>
          </a:p>
        </p:txBody>
      </p:sp>
    </p:spTree>
    <p:extLst>
      <p:ext uri="{BB962C8B-B14F-4D97-AF65-F5344CB8AC3E}">
        <p14:creationId xmlns:p14="http://schemas.microsoft.com/office/powerpoint/2010/main" val="629419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1254</TotalTime>
  <Words>169</Words>
  <Application>Microsoft Office PowerPoint</Application>
  <PresentationFormat>Widescreen</PresentationFormat>
  <Paragraphs>45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NYC Re-optimization Figure Sequence</vt:lpstr>
      <vt:lpstr>Outline</vt:lpstr>
      <vt:lpstr>PowerPoint Presentation</vt:lpstr>
      <vt:lpstr>Figure 1: Basin map and operational rules</vt:lpstr>
      <vt:lpstr>Figure 2: Graphical Experimental Diagram</vt:lpstr>
      <vt:lpstr>Figure 3: DU streamflow re-evaluation design</vt:lpstr>
      <vt:lpstr>PowerPoint Presentation</vt:lpstr>
      <vt:lpstr>Figure 4: Ensemble diagnostics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Trevor Amestoy</dc:creator>
  <cp:lastModifiedBy>Trevor Amestoy</cp:lastModifiedBy>
  <cp:revision>37</cp:revision>
  <dcterms:created xsi:type="dcterms:W3CDTF">2026-08-06T19:35:49Z</dcterms:created>
  <dcterms:modified xsi:type="dcterms:W3CDTF">2026-08-18T13:29:37Z</dcterms:modified>
</cp:coreProperties>
</file>