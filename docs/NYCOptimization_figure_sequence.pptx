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24" r:id="rId3"/>
    <p:sldId id="3026" r:id="rId4"/>
    <p:sldId id="3030" r:id="rId5"/>
    <p:sldId id="3027" r:id="rId6"/>
    <p:sldId id="3028" r:id="rId7"/>
    <p:sldId id="3029" r:id="rId8"/>
    <p:sldId id="302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8" autoAdjust="0"/>
    <p:restoredTop sz="94660"/>
  </p:normalViewPr>
  <p:slideViewPr>
    <p:cSldViewPr snapToGrid="0">
      <p:cViewPr varScale="1">
        <p:scale>
          <a:sx n="89" d="100"/>
          <a:sy n="89" d="100"/>
        </p:scale>
        <p:origin x="379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8E516-9CB2-0F53-0D7F-6C02FB7F7E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CDEF59-A611-E6AB-B012-4EBDABE8B3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9C3FD-4990-CCE6-3759-876A6D79C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1E227-7F4E-4CD5-9F2F-2C4947DC03B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87032-10C0-B254-3C34-BC780267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90B05-EFAC-73C6-DE38-20BD4F82D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74635-79D7-4106-97B6-DC7F42B15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546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6C98A-C889-6127-D1C1-D43BC4983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75A0D-EA15-6187-BAC8-9ECE6EFD3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E2567-8793-1523-E1BD-D4BCB4D74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1E227-7F4E-4CD5-9F2F-2C4947DC03B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28436-0E9D-9D4F-FD7B-F9B4C2C60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FB050-8F6E-E396-F6CB-DC4216A81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74635-79D7-4106-97B6-DC7F42B15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1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B4BC5-E44B-4988-28BF-6594DB026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846A1-646D-5A10-77F7-0C56754EE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EBD8E-58E2-069D-C116-240919968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1E227-7F4E-4CD5-9F2F-2C4947DC03B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046E4-F85F-C58E-2040-4677837C6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FE704-77D9-F2AD-532C-D0B92C3E9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74635-79D7-4106-97B6-DC7F42B15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135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8B6F5-4FC8-151F-99F0-36059B945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958BB-1EDB-8C65-D406-10ECEC514D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6349F5-34AC-B1F4-FBD9-4136E3A1EF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0BB909-A9D1-3976-23FF-4E1561748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1E227-7F4E-4CD5-9F2F-2C4947DC03B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658BB-F010-5EE4-5553-C866D76CC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D49AEC-8A15-111E-864F-4DD3B7692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74635-79D7-4106-97B6-DC7F42B15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449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8369C-9CA3-5D0A-28B7-D1819B713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56BC3-CE83-E1A7-75A3-7BBDFB62E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7A6E6D-5D16-5235-3501-E7BC82C33D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34A76E-FEAE-8072-603A-432D38CBFC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0AB794-3043-59D8-D215-5724327B2C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AF39BE-56DD-15D6-1ABF-9F12A486F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1E227-7F4E-4CD5-9F2F-2C4947DC03B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7C431C-4EA3-B8E8-1B95-649098D14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1EA28F-5603-E200-E488-F4AD30BF0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74635-79D7-4106-97B6-DC7F42B15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570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9699B-5E1E-D77F-BCCB-26E2C367D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6190DA-323D-0D4C-863F-AB54BC2D5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1E227-7F4E-4CD5-9F2F-2C4947DC03B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BA7498-69C3-6522-025D-ECCBF63C7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9030BB-E615-B951-F1E2-E09E572EB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74635-79D7-4106-97B6-DC7F42B15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354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B7B357-A9EC-D88E-95A3-28166DE77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1E227-7F4E-4CD5-9F2F-2C4947DC03B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4DB0C9-33AE-8076-62D1-5655BEF6C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62616-88E2-1630-E6D0-817D3FE5A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74635-79D7-4106-97B6-DC7F42B15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126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09F7D-3798-7DF8-0584-A8D8AD9EC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67012-54F9-732E-70C5-A6B45B0BF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8B8A74-1849-6479-5348-40E5BD2693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EBDF3B-72B3-0B68-2EDF-FB4CA9A14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1E227-7F4E-4CD5-9F2F-2C4947DC03B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57882C-6CD6-EF87-3AB2-583EE1F20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30DA8E-70B3-DE67-7864-6CBDE4703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74635-79D7-4106-97B6-DC7F42B15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15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14BC-5142-B040-4651-07486D10C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E8D909-67F6-F3A1-E684-3C53BF9A2B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37C95D-D021-9D29-91AC-C1F738B329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C37693-F4DA-27E4-2123-3AD0352C2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1E227-7F4E-4CD5-9F2F-2C4947DC03B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4B1A6-BE42-BB63-9CE3-92F2DB6C7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491535-B14D-2C96-B152-DDBCD086D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74635-79D7-4106-97B6-DC7F42B15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795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28BE4-E86A-74A8-86E5-0192C53C4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8CDF66-48B9-8C59-EB74-F87DD9C69F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900A6D-9AD6-0A31-EDD9-F23BF68C8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1E227-7F4E-4CD5-9F2F-2C4947DC03B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FFBEB-1E6D-00E3-4131-006E7D0E8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7B14C-5E5E-E09F-F3E2-A6939EA04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74635-79D7-4106-97B6-DC7F42B15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827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B2C847-669D-EA20-81AE-63F71360A6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97AD11-809D-8CBC-9B52-5DD8998A0F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95E69-1805-E3A7-8675-6A10CDA4E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1E227-7F4E-4CD5-9F2F-2C4947DC03B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9FBA41-48A5-F92E-EC1D-18CDA45C3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A4B6F-12C9-EC79-9DB7-C8479A8F8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74635-79D7-4106-97B6-DC7F42B15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170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EDE0EF-62F2-51D8-5F88-F2E2A073B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F5A4B-EE1A-F44F-CAC9-A34BEBA56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9E94D-507C-13B2-439E-E447E71F1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A1E227-7F4E-4CD5-9F2F-2C4947DC03B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E0CEF-CABE-F40E-CBDD-F266C7A4D3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91A9B-F25C-EE7A-66C2-14035FC0F7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174635-79D7-4106-97B6-DC7F42B15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157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A1CAF-DE8E-7391-249B-4C6520E80A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NYC Re-optimization</a:t>
            </a:r>
            <a:br>
              <a:rPr lang="en-US" dirty="0"/>
            </a:br>
            <a:r>
              <a:rPr lang="en-US" dirty="0"/>
              <a:t>Figure Sequence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DD87CC-CAA0-9BA0-5978-961688F427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Summer 2026</a:t>
            </a:r>
          </a:p>
        </p:txBody>
      </p:sp>
    </p:spTree>
    <p:extLst>
      <p:ext uri="{BB962C8B-B14F-4D97-AF65-F5344CB8AC3E}">
        <p14:creationId xmlns:p14="http://schemas.microsoft.com/office/powerpoint/2010/main" val="2395891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7A287-3543-767A-4084-4BAC6E021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A88B1-AE28-C539-2525-97C724B62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621143-CC70-D5F2-3594-49AA59087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8FDA7-6A68-219E-9AE3-B533AFAF8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2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1E5BAE-CD01-F243-FD93-D0DA1B390612}"/>
              </a:ext>
            </a:extLst>
          </p:cNvPr>
          <p:cNvSpPr/>
          <p:nvPr/>
        </p:nvSpPr>
        <p:spPr>
          <a:xfrm>
            <a:off x="0" y="1491916"/>
            <a:ext cx="12191999" cy="3481137"/>
          </a:xfrm>
          <a:prstGeom prst="rect">
            <a:avLst/>
          </a:prstGeom>
          <a:solidFill>
            <a:srgbClr val="152C47"/>
          </a:solidFill>
          <a:ln>
            <a:solidFill>
              <a:srgbClr val="152C47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i="1" dirty="0">
                <a:solidFill>
                  <a:schemeClr val="bg1"/>
                </a:solidFill>
              </a:rPr>
              <a:t>Main</a:t>
            </a:r>
          </a:p>
        </p:txBody>
      </p:sp>
    </p:spTree>
    <p:extLst>
      <p:ext uri="{BB962C8B-B14F-4D97-AF65-F5344CB8AC3E}">
        <p14:creationId xmlns:p14="http://schemas.microsoft.com/office/powerpoint/2010/main" val="1926522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139C5-878B-9B48-F302-7C50AD5AB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93EA0-B2F5-5570-E82C-E93423CE9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1.0 Introduction</a:t>
            </a:r>
          </a:p>
          <a:p>
            <a:r>
              <a:rPr lang="en-US" dirty="0"/>
              <a:t>2.0 Case Study Basin</a:t>
            </a:r>
          </a:p>
          <a:p>
            <a:pPr lvl="1"/>
            <a:r>
              <a:rPr lang="en-US" dirty="0"/>
              <a:t>Figure: Basin map | Operational rules?</a:t>
            </a:r>
          </a:p>
          <a:p>
            <a:r>
              <a:rPr lang="en-US" dirty="0"/>
              <a:t>3.0 Methods</a:t>
            </a:r>
          </a:p>
          <a:p>
            <a:pPr lvl="1"/>
            <a:r>
              <a:rPr lang="en-US" dirty="0"/>
              <a:t>Figure: Graphical experimental diagram</a:t>
            </a:r>
          </a:p>
          <a:p>
            <a:pPr lvl="1"/>
            <a:r>
              <a:rPr lang="en-US" dirty="0"/>
              <a:t>Figure: Hazard-filling ensemble </a:t>
            </a:r>
          </a:p>
          <a:p>
            <a:pPr lvl="1"/>
            <a:r>
              <a:rPr lang="en-US" dirty="0"/>
              <a:t>Figure: DU streamflow parameterization</a:t>
            </a:r>
          </a:p>
          <a:p>
            <a:r>
              <a:rPr lang="en-US" dirty="0"/>
              <a:t>Results</a:t>
            </a:r>
          </a:p>
          <a:p>
            <a:pPr lvl="1"/>
            <a:r>
              <a:rPr lang="en-US" dirty="0"/>
              <a:t>Figure: Hazard filling ensemble diagnostic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389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CA469-49A7-7CD9-E9F6-244E72D0C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D8F71-C504-BD7F-B28D-4054958D7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1: Basin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BC2E7-286E-F9D9-48FC-BAF232DAC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454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D0DE9-8B6E-FDB4-9C3C-66C4FAC2C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BEA19-BB45-A850-BFA0-101CB6DE3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Figure: Graphical Experimental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B9DA5-986B-401C-8C55-3265EE194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729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CF24C-3B88-D929-5B59-25D386E77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3E52C-2670-134B-168A-C8D6B869A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</a:t>
            </a:r>
            <a:r>
              <a:rPr lang="en-US"/>
              <a:t>: Ensemble designs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FE0CF-D442-CB9F-F456-6E841C9A6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620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D1028-AB15-2C7B-48C2-55F379E16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2472E-253A-5F88-0D08-6ECCED3A3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Figure: DU streamflow re-evaluation design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EDACC28-F250-1CCB-530F-0759B24206CC}"/>
              </a:ext>
            </a:extLst>
          </p:cNvPr>
          <p:cNvGrpSpPr/>
          <p:nvPr/>
        </p:nvGrpSpPr>
        <p:grpSpPr>
          <a:xfrm>
            <a:off x="210458" y="1592659"/>
            <a:ext cx="4931738" cy="4900216"/>
            <a:chOff x="210458" y="1592659"/>
            <a:chExt cx="8137770" cy="808575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55DC0CF-0DD9-FF11-3A43-460897B272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-1" r="66156"/>
            <a:stretch>
              <a:fillRect/>
            </a:stretch>
          </p:blipFill>
          <p:spPr>
            <a:xfrm>
              <a:off x="210458" y="1592659"/>
              <a:ext cx="3842658" cy="4042878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0E7A3ED-5E0F-C7C7-8B9E-062F44E02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67242"/>
            <a:stretch>
              <a:fillRect/>
            </a:stretch>
          </p:blipFill>
          <p:spPr>
            <a:xfrm>
              <a:off x="4419600" y="1684712"/>
              <a:ext cx="3719286" cy="3956802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A27A545-2BD9-4F9E-3698-304A288296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2805" t="-1080" r="33350" b="1080"/>
            <a:stretch>
              <a:fillRect/>
            </a:stretch>
          </p:blipFill>
          <p:spPr>
            <a:xfrm>
              <a:off x="393700" y="5635537"/>
              <a:ext cx="3842658" cy="404287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7F566EA-787F-9B74-9B8C-C91621BE5F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" t="52311" r="53663" b="1"/>
            <a:stretch>
              <a:fillRect/>
            </a:stretch>
          </p:blipFill>
          <p:spPr>
            <a:xfrm>
              <a:off x="4505571" y="5968151"/>
              <a:ext cx="3842657" cy="37102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05649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62E89-B035-5F00-71B3-77E2C32F6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70A56-10A0-9CC8-58D7-71B234A8C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0BC3A-1549-4EAB-9629-7B9860B2F764}" type="datetime1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5133C4-1D47-343D-A9AC-382F3A73E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Trevor Amestoy | Cornell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61441-6DBE-3975-0380-CEA350D83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31C-09DE-4BD8-A52C-83E8CB812CB2}" type="slidenum">
              <a:rPr lang="en-US" smtClean="0"/>
              <a:t>8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1AC25C-2B77-EF6A-0A53-D17C8ADDF458}"/>
              </a:ext>
            </a:extLst>
          </p:cNvPr>
          <p:cNvSpPr/>
          <p:nvPr/>
        </p:nvSpPr>
        <p:spPr>
          <a:xfrm>
            <a:off x="0" y="1491916"/>
            <a:ext cx="12191999" cy="3481137"/>
          </a:xfrm>
          <a:prstGeom prst="rect">
            <a:avLst/>
          </a:prstGeom>
          <a:solidFill>
            <a:srgbClr val="152C47"/>
          </a:solidFill>
          <a:ln>
            <a:solidFill>
              <a:srgbClr val="152C47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i="1" dirty="0">
                <a:solidFill>
                  <a:schemeClr val="bg1"/>
                </a:solidFill>
              </a:rPr>
              <a:t>Supplemental Material</a:t>
            </a:r>
          </a:p>
        </p:txBody>
      </p:sp>
    </p:spTree>
    <p:extLst>
      <p:ext uri="{BB962C8B-B14F-4D97-AF65-F5344CB8AC3E}">
        <p14:creationId xmlns:p14="http://schemas.microsoft.com/office/powerpoint/2010/main" val="629419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82</Words>
  <Application>Microsoft Office PowerPoint</Application>
  <PresentationFormat>Widescreen</PresentationFormat>
  <Paragraphs>25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NYC Re-optimization Figure Sequence</vt:lpstr>
      <vt:lpstr>PowerPoint Presentation</vt:lpstr>
      <vt:lpstr>Outline</vt:lpstr>
      <vt:lpstr>Figure 1: Basin Map</vt:lpstr>
      <vt:lpstr>Figure: Graphical Experimental Diagram</vt:lpstr>
      <vt:lpstr>Figure: Ensemble designs</vt:lpstr>
      <vt:lpstr>Figure: DU streamflow re-evaluation design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Trevor Amestoy</dc:creator>
  <cp:lastModifiedBy>Trevor Amestoy</cp:lastModifiedBy>
  <cp:revision>13</cp:revision>
  <dcterms:created xsi:type="dcterms:W3CDTF">2026-08-06T19:35:49Z</dcterms:created>
  <dcterms:modified xsi:type="dcterms:W3CDTF">2026-08-07T00:05:04Z</dcterms:modified>
</cp:coreProperties>
</file>