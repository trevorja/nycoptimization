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741" r:id="rId2"/>
    <p:sldId id="2996" r:id="rId3"/>
    <p:sldId id="2986" r:id="rId4"/>
    <p:sldId id="3021" r:id="rId5"/>
    <p:sldId id="2988" r:id="rId6"/>
    <p:sldId id="2987" r:id="rId7"/>
    <p:sldId id="2991" r:id="rId8"/>
    <p:sldId id="2993" r:id="rId9"/>
    <p:sldId id="2995" r:id="rId10"/>
    <p:sldId id="3034" r:id="rId11"/>
    <p:sldId id="2994" r:id="rId12"/>
    <p:sldId id="2992" r:id="rId13"/>
    <p:sldId id="3036" r:id="rId14"/>
    <p:sldId id="3037" r:id="rId15"/>
    <p:sldId id="3024" r:id="rId16"/>
    <p:sldId id="2999" r:id="rId17"/>
    <p:sldId id="3011" r:id="rId18"/>
    <p:sldId id="3015" r:id="rId19"/>
    <p:sldId id="3019" r:id="rId20"/>
    <p:sldId id="3020" r:id="rId21"/>
    <p:sldId id="3014" r:id="rId22"/>
    <p:sldId id="3013" r:id="rId23"/>
    <p:sldId id="3017" r:id="rId24"/>
    <p:sldId id="3012" r:id="rId25"/>
    <p:sldId id="3033" r:id="rId26"/>
    <p:sldId id="3032" r:id="rId27"/>
    <p:sldId id="3016" r:id="rId28"/>
    <p:sldId id="3053" r:id="rId29"/>
    <p:sldId id="3054" r:id="rId30"/>
    <p:sldId id="3039" r:id="rId31"/>
    <p:sldId id="3055" r:id="rId32"/>
    <p:sldId id="3056" r:id="rId33"/>
    <p:sldId id="3057" r:id="rId34"/>
    <p:sldId id="3052" r:id="rId35"/>
    <p:sldId id="3040" r:id="rId36"/>
    <p:sldId id="3041" r:id="rId37"/>
    <p:sldId id="3042" r:id="rId38"/>
    <p:sldId id="3038" r:id="rId39"/>
    <p:sldId id="3051" r:id="rId40"/>
    <p:sldId id="3027" r:id="rId41"/>
    <p:sldId id="3028" r:id="rId42"/>
    <p:sldId id="3022" r:id="rId43"/>
    <p:sldId id="3002" r:id="rId44"/>
    <p:sldId id="3026" r:id="rId45"/>
    <p:sldId id="3058" r:id="rId46"/>
    <p:sldId id="3029" r:id="rId47"/>
    <p:sldId id="3046" r:id="rId48"/>
    <p:sldId id="3045" r:id="rId49"/>
    <p:sldId id="3047" r:id="rId50"/>
    <p:sldId id="3044" r:id="rId51"/>
    <p:sldId id="3048" r:id="rId52"/>
    <p:sldId id="3049" r:id="rId53"/>
    <p:sldId id="3065" r:id="rId54"/>
    <p:sldId id="3066" r:id="rId55"/>
    <p:sldId id="3067" r:id="rId56"/>
    <p:sldId id="3050" r:id="rId57"/>
    <p:sldId id="3043" r:id="rId58"/>
    <p:sldId id="3030" r:id="rId59"/>
    <p:sldId id="3003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5E8C"/>
    <a:srgbClr val="152C47"/>
    <a:srgbClr val="FF9900"/>
    <a:srgbClr val="70AD47"/>
    <a:srgbClr val="ED7D31"/>
    <a:srgbClr val="4472C4"/>
    <a:srgbClr val="000000"/>
    <a:srgbClr val="5B9BD5"/>
    <a:srgbClr val="FFC000"/>
    <a:srgbClr val="76BE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1" autoAdjust="0"/>
    <p:restoredTop sz="94660"/>
  </p:normalViewPr>
  <p:slideViewPr>
    <p:cSldViewPr snapToGrid="0">
      <p:cViewPr varScale="1">
        <p:scale>
          <a:sx n="94" d="100"/>
          <a:sy n="94" d="100"/>
        </p:scale>
        <p:origin x="269" y="1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jame\Desktop\Research\DRB\Pywr-DRB\NYCOptimization\outputs\supplemental\anvil_scaling_experiment\HPC_cost_calculato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jame\Desktop\Research\DRB\Pywr-DRB\NYCOptimization\outputs\supplemental\anvil_scaling_experiment\HPC_cost_calculator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Service Unit Split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B0E-41F7-B1AF-33899D87406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B0E-41F7-B1AF-33899D87406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B0E-41F7-B1AF-33899D87406D}"/>
              </c:ext>
            </c:extLst>
          </c:dPt>
          <c:dLbls>
            <c:dLbl>
              <c:idx val="0"/>
              <c:layout>
                <c:manualLayout>
                  <c:x val="2.3414754006812977E-2"/>
                  <c:y val="3.6039217006458138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0E-41F7-B1AF-33899D87406D}"/>
                </c:ext>
              </c:extLst>
            </c:dLbl>
            <c:dLbl>
              <c:idx val="1"/>
              <c:layout>
                <c:manualLayout>
                  <c:x val="-1.1442452672139386E-2"/>
                  <c:y val="1.21662596893611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B0E-41F7-B1AF-33899D87406D}"/>
                </c:ext>
              </c:extLst>
            </c:dLbl>
            <c:dLbl>
              <c:idx val="2"/>
              <c:layout>
                <c:manualLayout>
                  <c:x val="-2.8649578377170939E-2"/>
                  <c:y val="1.2515954841307558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B0E-41F7-B1AF-33899D8740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(Calculator!$A$35,Calculator!$A$41,Calculator!$A$49)</c:f>
              <c:strCache>
                <c:ptCount val="3"/>
                <c:pt idx="0">
                  <c:v>search_su</c:v>
                </c:pt>
                <c:pt idx="1">
                  <c:v>reeval_su</c:v>
                </c:pt>
                <c:pt idx="2">
                  <c:v>UNUSED ALLOCATION</c:v>
                </c:pt>
              </c:strCache>
            </c:strRef>
          </c:cat>
          <c:val>
            <c:numRef>
              <c:f>(Calculator!$B$35,Calculator!$B$41,Calculator!$B$49)</c:f>
              <c:numCache>
                <c:formatCode>#,##0</c:formatCode>
                <c:ptCount val="3"/>
                <c:pt idx="0">
                  <c:v>497266.51044957462</c:v>
                </c:pt>
                <c:pt idx="1">
                  <c:v>85205.315708333321</c:v>
                </c:pt>
                <c:pt idx="2">
                  <c:v>167528.17384209204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B0E-41F7-B1AF-33899D8740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Estimated Wallclock Runtime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EA3-4B47-A53A-BC9D7D36A7C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EA3-4B47-A53A-BC9D7D36A7C9}"/>
              </c:ext>
            </c:extLst>
          </c:dPt>
          <c:dLbls>
            <c:dLbl>
              <c:idx val="0"/>
              <c:layout>
                <c:manualLayout>
                  <c:x val="1.4393792689211055E-2"/>
                  <c:y val="-3.1548702651722854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A3-4B47-A53A-BC9D7D36A7C9}"/>
                </c:ext>
              </c:extLst>
            </c:dLbl>
            <c:dLbl>
              <c:idx val="1"/>
              <c:layout>
                <c:manualLayout>
                  <c:x val="-5.8357539613509125E-2"/>
                  <c:y val="-2.7084567075355219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282061970265387"/>
                      <c:h val="8.936861652739090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EA3-4B47-A53A-BC9D7D36A7C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(Calculator!$A$37,Calculator!$A$42)</c:f>
              <c:strCache>
                <c:ptCount val="2"/>
                <c:pt idx="0">
                  <c:v>search_walltime_parallel_hr</c:v>
                </c:pt>
                <c:pt idx="1">
                  <c:v>reeval_walltime_hr</c:v>
                </c:pt>
              </c:strCache>
            </c:strRef>
          </c:cat>
          <c:val>
            <c:numRef>
              <c:f>(Calculator!$B$37,Calculator!$B$42)</c:f>
              <c:numCache>
                <c:formatCode>0.00</c:formatCode>
                <c:ptCount val="2"/>
                <c:pt idx="0">
                  <c:v>8.0935304435152116</c:v>
                </c:pt>
                <c:pt idx="1">
                  <c:v>20.802079030354815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A3-4B47-A53A-BC9D7D36A7C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69C018-C870-4438-A84B-4FE07685CB1A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2E240-52A0-4F3B-8948-D649DD233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82E240-52A0-4F3B-8948-D649DD23319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03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4FE7-8C66-4743-AFA0-21790B847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5392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28C2C-4523-4AB5-875C-424449E57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3723"/>
            <a:ext cx="10515600" cy="540324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4BF80D-6B93-474B-98F9-988CCE685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7A066-CE2C-4C3E-8A11-C778AB1BD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74080E-5050-4AFE-96F3-B6D68ADFB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936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5017-91FB-4D79-8C13-829F3E355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C6528-7FE7-42DC-8812-4FC7D9BB9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E52444-6548-4714-A05A-DB4CA69CD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4434-CBC8-494E-9316-569066922B0F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0DBC68-12B0-4F99-8177-335149CA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AB8CE2-4622-46EA-9021-CE8E3F9AA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121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E3F94-9D2A-4142-AAAE-46DC709B84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47156"/>
            <a:ext cx="5181600" cy="502980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752DE-CD50-4650-934A-B943FD01E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47156"/>
            <a:ext cx="5181600" cy="502980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BB912D5-A03D-425E-B7B5-B2052897F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8" y="221699"/>
            <a:ext cx="10515600" cy="6407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EE853-BAED-4D86-B3C0-65A27CCFD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A0BF-603A-4330-B833-8B323A4A8B94}" type="datetime1">
              <a:rPr lang="en-US" smtClean="0"/>
              <a:t>8/5/2026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34D4EA5-860A-4C5E-8281-1CFBF9D6D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3AF3DB5-571B-44BB-B000-F92FDB390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0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8412D-CAA2-49BE-A44B-4983BCEB1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06602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6F3EF-0AFD-46DB-AB03-7C4EF84C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50113"/>
            <a:ext cx="5157787" cy="430105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7E526C-C6A2-44D4-B0DD-71B4271F4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6602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2EF87-71FB-46D1-A92B-04A7AD61EF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50113"/>
            <a:ext cx="5183188" cy="430105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D45B924-CE6E-46DE-90BB-9F4F35C88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512" y="129883"/>
            <a:ext cx="10515600" cy="6407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C5FBCE-E433-4016-8BFD-FDB59235F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BF10-8B7B-4623-97D8-6904151371CF}" type="datetime1">
              <a:rPr lang="en-US" smtClean="0"/>
              <a:t>8/5/2026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3BB3D3A-CCCC-432B-BACF-C93BC5B7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26E5E5-6F5C-4ACE-9DBA-E64E3B707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98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721223-7C9F-4F95-A1BA-7C9FDCBEB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481C-D26A-4816-8B65-2AAA1FEB2673}" type="datetime1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4096-46E0-4677-B787-2935A669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46EE9D-FD7E-4455-895A-29EA2FBEE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33990B-4A01-428E-9D72-2B806476A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608" y="146463"/>
            <a:ext cx="10515600" cy="6407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0815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C8BF3-BED2-4501-B2C7-4E46843D3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CDE97-08AC-4CAF-A7A0-E29E7CA30F01}" type="datetime1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63FBF1-CDDF-4BF9-9B87-83FEC66F3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445A1-9040-459B-86C0-02C7470E8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07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4A688-0CA4-431B-ADDC-32834D7A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B20EA-72CF-4079-B7DD-B9B3CDA88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6E1EA-E5FD-438B-8C96-3877F18FD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19F51-69E0-45DC-A8BC-4D6349500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A5FFA-1870-4734-B42E-43C1194FFD8C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61232-2366-4D62-B7CA-5E63956F6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76CC5-D813-45AB-AA50-8D965B252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31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250B5-467D-4F9E-9CC6-AFC082F0F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9A07D2-A44A-4414-A818-3A99BE4F85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B705A-29EC-485D-9A52-3CA53F245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DC1B1-B20D-4C41-8182-D37FD073A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D6F7-6552-402D-A751-A09744F93F8E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D99CF-BF9E-41DF-8AD2-DE9FC175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9EE16-BC54-4C4C-9665-5014B687B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48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649F0-4411-43EC-A30C-A84A170AF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DDEFE2-E01A-4A14-A55A-FC55D06A1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39995-3E7F-4750-8BE0-B9D1DB7D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4F196-E106-4934-AF6E-C2845AFC15C9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CAD9A-35DC-4CE3-98F9-98944B6F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049F1-39F4-41B7-B018-7C9611EFB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520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715726-8339-4BAA-9962-95F8D7E1C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5452D-2343-4F8E-882A-288D8B075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43DB4-E5E2-42B4-A259-81F8D0876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FA749-348B-479E-95C5-7F24A07B6DCA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90557-9781-4FA8-B110-87EF7F729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25C6-4201-41B0-962A-9AC95B97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98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DFDB2-EEFA-41E1-ADD0-786E6A681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55320"/>
            <a:ext cx="10515600" cy="5521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5A9D5-3B67-4C64-B77C-82CEAF2AFA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419EC-5555-45BC-92A4-8D35FA23061E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0200F-2D21-443F-9167-135A0BCE7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Trevor Amestoy | Cornell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6CF31-F3A3-4E15-B806-50EFF00A0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261EA1F-C7D5-4CC8-AC9B-768BA980598E}"/>
              </a:ext>
            </a:extLst>
          </p:cNvPr>
          <p:cNvCxnSpPr>
            <a:cxnSpLocks/>
          </p:cNvCxnSpPr>
          <p:nvPr userDrawn="1"/>
        </p:nvCxnSpPr>
        <p:spPr>
          <a:xfrm>
            <a:off x="838200" y="6492875"/>
            <a:ext cx="10515600" cy="0"/>
          </a:xfrm>
          <a:prstGeom prst="line">
            <a:avLst/>
          </a:prstGeom>
          <a:ln w="38100">
            <a:solidFill>
              <a:srgbClr val="152C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285BBCA-83FD-3CCF-78EB-6199996FFB0C}"/>
              </a:ext>
            </a:extLst>
          </p:cNvPr>
          <p:cNvSpPr/>
          <p:nvPr userDrawn="1"/>
        </p:nvSpPr>
        <p:spPr>
          <a:xfrm>
            <a:off x="0" y="-2"/>
            <a:ext cx="12192000" cy="539943"/>
          </a:xfrm>
          <a:prstGeom prst="rect">
            <a:avLst/>
          </a:prstGeom>
          <a:solidFill>
            <a:srgbClr val="152C47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D1BC3-D5B6-4BA6-8BE7-C5CF26FBA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22" y="0"/>
            <a:ext cx="11952317" cy="5399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85179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>
              <a:lumMod val="8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2859D-0235-3C27-0F9C-B0B19C08F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F2449-0DB4-24E9-335D-AB3977555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2E33B-137B-4CD4-3AB4-F91F2F3C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9EA12-D4E0-B17B-E0B1-68A8BC970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7920F1-B276-C35C-7748-C14CFB60983A}"/>
              </a:ext>
            </a:extLst>
          </p:cNvPr>
          <p:cNvSpPr txBox="1"/>
          <p:nvPr/>
        </p:nvSpPr>
        <p:spPr>
          <a:xfrm>
            <a:off x="838200" y="2688587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Proposal:</a:t>
            </a:r>
          </a:p>
          <a:p>
            <a:r>
              <a:rPr lang="en-US" sz="3600" dirty="0"/>
              <a:t>“</a:t>
            </a:r>
            <a:r>
              <a:rPr lang="en-US" sz="3600" i="1" dirty="0"/>
              <a:t>NEW TITLE”</a:t>
            </a:r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Summer 2026</a:t>
            </a:r>
          </a:p>
        </p:txBody>
      </p:sp>
    </p:spTree>
    <p:extLst>
      <p:ext uri="{BB962C8B-B14F-4D97-AF65-F5344CB8AC3E}">
        <p14:creationId xmlns:p14="http://schemas.microsoft.com/office/powerpoint/2010/main" val="1545454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20416-05D9-CFC5-8EA0-CDAE3246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A2887-C5CE-D99C-0519-4D110644B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2153"/>
            <a:ext cx="5747081" cy="4594810"/>
          </a:xfrm>
        </p:spPr>
        <p:txBody>
          <a:bodyPr>
            <a:normAutofit/>
          </a:bodyPr>
          <a:lstStyle/>
          <a:p>
            <a:r>
              <a:rPr lang="en-US" sz="2400" dirty="0"/>
              <a:t>Motivation &amp; Literature Review</a:t>
            </a:r>
          </a:p>
          <a:p>
            <a:r>
              <a:rPr lang="en-US" sz="2400" dirty="0"/>
              <a:t>Proposal </a:t>
            </a:r>
          </a:p>
          <a:p>
            <a:pPr lvl="1"/>
            <a:r>
              <a:rPr lang="en-US" sz="2200" dirty="0"/>
              <a:t>Hypothesis</a:t>
            </a:r>
          </a:p>
          <a:p>
            <a:pPr lvl="1"/>
            <a:r>
              <a:rPr lang="en-US" sz="2200" dirty="0"/>
              <a:t>Research Questions</a:t>
            </a:r>
          </a:p>
          <a:p>
            <a:pPr lvl="1"/>
            <a:r>
              <a:rPr lang="en-US" sz="2200" dirty="0"/>
              <a:t>Planned Contributions</a:t>
            </a:r>
          </a:p>
          <a:p>
            <a:r>
              <a:rPr lang="en-US" sz="2400" dirty="0"/>
              <a:t>Experimental Design</a:t>
            </a:r>
          </a:p>
          <a:p>
            <a:pPr lvl="1"/>
            <a:r>
              <a:rPr lang="en-US" sz="2200" dirty="0"/>
              <a:t>Re-evaluation under climate change uncertainty</a:t>
            </a:r>
          </a:p>
          <a:p>
            <a:r>
              <a:rPr lang="en-US" sz="2400" dirty="0"/>
              <a:t>MOEA Problem Formulation</a:t>
            </a:r>
          </a:p>
          <a:p>
            <a:pPr lvl="1"/>
            <a:r>
              <a:rPr lang="en-US" sz="2200" dirty="0"/>
              <a:t>Decision Variables</a:t>
            </a:r>
          </a:p>
          <a:p>
            <a:pPr lvl="1"/>
            <a:r>
              <a:rPr lang="en-US" sz="2200" dirty="0"/>
              <a:t>Objectives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3CE01-CD76-427A-B2C9-95842F95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74B40-0BF2-188F-99E1-66B1D3DFB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C4B2C-D3E1-9816-554E-7A41B2263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EE99B3-48B5-6578-F143-BFF23796C28F}"/>
              </a:ext>
            </a:extLst>
          </p:cNvPr>
          <p:cNvSpPr txBox="1"/>
          <p:nvPr/>
        </p:nvSpPr>
        <p:spPr>
          <a:xfrm>
            <a:off x="6392782" y="1582153"/>
            <a:ext cx="53790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152C47"/>
                </a:solidFill>
              </a:rPr>
              <a:t>Supplemental</a:t>
            </a:r>
            <a:r>
              <a:rPr lang="en-US" sz="2400" i="1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Anvil scaling experiments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Parametric sampling of uncertain monthly streamflow changes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11AAA8-DDF8-78C2-AA16-CAF28447DADE}"/>
              </a:ext>
            </a:extLst>
          </p:cNvPr>
          <p:cNvCxnSpPr/>
          <p:nvPr/>
        </p:nvCxnSpPr>
        <p:spPr>
          <a:xfrm>
            <a:off x="6031832" y="1283368"/>
            <a:ext cx="0" cy="46281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17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E933A-FDFA-6856-721F-E293AC0A5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18BF3-F7AA-AF05-124E-0777DC6F5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E4140-0A49-6821-E2DA-C17BEAA6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B932A-3645-B078-4689-6039D3437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66D1F-4D2C-EDFA-1002-32E3C1F7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71CE1A-3A62-5C98-8C5E-E7A9E956F4CA}"/>
              </a:ext>
            </a:extLst>
          </p:cNvPr>
          <p:cNvSpPr txBox="1"/>
          <p:nvPr/>
        </p:nvSpPr>
        <p:spPr>
          <a:xfrm>
            <a:off x="459206" y="562067"/>
            <a:ext cx="95450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Motivation:</a:t>
            </a:r>
          </a:p>
          <a:p>
            <a:r>
              <a:rPr lang="en-US" sz="2000" dirty="0"/>
              <a:t>0. Scenario design is a key part of robustness frameworks and influences results.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500627-DD4F-2EF4-9DA7-73229538E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508" y="1292757"/>
            <a:ext cx="5003292" cy="50962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C36620-F67E-BB6C-68B6-9AA2B9BEE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35" y="1542848"/>
            <a:ext cx="5561464" cy="467713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1885AA2-D566-4BA6-DF9B-DD96ACD76BAE}"/>
              </a:ext>
            </a:extLst>
          </p:cNvPr>
          <p:cNvSpPr/>
          <p:nvPr/>
        </p:nvSpPr>
        <p:spPr>
          <a:xfrm>
            <a:off x="2917657" y="1798720"/>
            <a:ext cx="2782927" cy="163028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CD6FAF-0C87-6259-04D2-FE01B9F78368}"/>
              </a:ext>
            </a:extLst>
          </p:cNvPr>
          <p:cNvSpPr/>
          <p:nvPr/>
        </p:nvSpPr>
        <p:spPr>
          <a:xfrm>
            <a:off x="9129855" y="2187252"/>
            <a:ext cx="1669950" cy="112435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87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60722-1C0F-6B26-B862-7C93AE7E6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5A510-F1A2-0A61-8276-284E54EEF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FCC07-089F-4CEA-4B34-20870B26A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9DFA7-B3CA-3C1A-4E30-4D0619CEC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94A4F-5D24-D131-E983-3867A76A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53BF0F-E447-2FB9-B18F-684E201F0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135" y="965357"/>
            <a:ext cx="4016088" cy="40770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49E8A5-CE9A-35E4-BF39-F613222F8199}"/>
              </a:ext>
            </a:extLst>
          </p:cNvPr>
          <p:cNvSpPr txBox="1"/>
          <p:nvPr/>
        </p:nvSpPr>
        <p:spPr>
          <a:xfrm>
            <a:off x="6994358" y="5358063"/>
            <a:ext cx="3673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from </a:t>
            </a:r>
            <a:r>
              <a:rPr lang="en-US" dirty="0" err="1"/>
              <a:t>Jazmines</a:t>
            </a:r>
            <a:r>
              <a:rPr lang="en-US"/>
              <a:t> dissertation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3BDB36-601C-96E2-F359-3516AB161B46}"/>
              </a:ext>
            </a:extLst>
          </p:cNvPr>
          <p:cNvSpPr txBox="1"/>
          <p:nvPr/>
        </p:nvSpPr>
        <p:spPr>
          <a:xfrm>
            <a:off x="838200" y="778013"/>
            <a:ext cx="50171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Motivation:</a:t>
            </a:r>
          </a:p>
          <a:p>
            <a:endParaRPr lang="en-US" sz="2000" dirty="0"/>
          </a:p>
          <a:p>
            <a:r>
              <a:rPr lang="en-US" sz="2000" dirty="0"/>
              <a:t>1. Large stochastic ensembles of streamflows are necessary for capturing the full range of hydrologic conditions resulting from natural variability.</a:t>
            </a:r>
          </a:p>
        </p:txBody>
      </p:sp>
    </p:spTree>
    <p:extLst>
      <p:ext uri="{BB962C8B-B14F-4D97-AF65-F5344CB8AC3E}">
        <p14:creationId xmlns:p14="http://schemas.microsoft.com/office/powerpoint/2010/main" val="534715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63998-E7BE-4D8D-23F1-8E1DEA64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730F-AAA2-02DB-15E3-F196CA5C4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4CB97-1D03-762D-B5D5-4D2F19AA7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409E3-CFF8-9965-7868-43CBB5029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7201A-1CFA-73D5-5215-48BB530C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10A651-5A21-2176-FCDD-540ECAA8C73E}"/>
              </a:ext>
            </a:extLst>
          </p:cNvPr>
          <p:cNvSpPr txBox="1"/>
          <p:nvPr/>
        </p:nvSpPr>
        <p:spPr>
          <a:xfrm>
            <a:off x="838200" y="778013"/>
            <a:ext cx="50171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Motivation:</a:t>
            </a:r>
          </a:p>
          <a:p>
            <a:endParaRPr lang="en-US" sz="2000" dirty="0"/>
          </a:p>
          <a:p>
            <a:r>
              <a:rPr lang="en-US" sz="2000" dirty="0"/>
              <a:t>2. Large stochastic ensembles of streamflows are necessary for capturing the full range of hydrologic conditions resulting from natural variability.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F051E6-B3AA-F9F2-8F71-47AFBB313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900" y="2853391"/>
            <a:ext cx="7429661" cy="32667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E0035C-BC26-772D-261B-3667C5396AF7}"/>
              </a:ext>
            </a:extLst>
          </p:cNvPr>
          <p:cNvSpPr txBox="1"/>
          <p:nvPr/>
        </p:nvSpPr>
        <p:spPr>
          <a:xfrm>
            <a:off x="2897605" y="2757115"/>
            <a:ext cx="2855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Historical period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0B41D3-450D-4837-8D89-DC7480E04542}"/>
              </a:ext>
            </a:extLst>
          </p:cNvPr>
          <p:cNvSpPr txBox="1"/>
          <p:nvPr/>
        </p:nvSpPr>
        <p:spPr>
          <a:xfrm>
            <a:off x="6531142" y="3839957"/>
            <a:ext cx="2855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Historical period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913B59-FE50-5E47-96D4-271E4E8E327F}"/>
              </a:ext>
            </a:extLst>
          </p:cNvPr>
          <p:cNvSpPr/>
          <p:nvPr/>
        </p:nvSpPr>
        <p:spPr>
          <a:xfrm rot="16200000">
            <a:off x="714812" y="4167794"/>
            <a:ext cx="3266704" cy="3651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 drought magnitude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E86274-6A76-56E3-8F66-012DCD849211}"/>
              </a:ext>
            </a:extLst>
          </p:cNvPr>
          <p:cNvSpPr txBox="1"/>
          <p:nvPr/>
        </p:nvSpPr>
        <p:spPr>
          <a:xfrm>
            <a:off x="2897605" y="4338662"/>
            <a:ext cx="2029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Kirsch-Nowak ensemble of increasing size</a:t>
            </a:r>
          </a:p>
        </p:txBody>
      </p:sp>
    </p:spTree>
    <p:extLst>
      <p:ext uri="{BB962C8B-B14F-4D97-AF65-F5344CB8AC3E}">
        <p14:creationId xmlns:p14="http://schemas.microsoft.com/office/powerpoint/2010/main" val="1536672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FA75-CD9B-49DA-9214-FA6D0CFF1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FAC35-E34A-716E-8DA3-EBF494BF2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76E67-3DC6-7EAA-93F1-97AE4794B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7B8DF-E344-B9F5-AC6A-ABE7B1FC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B1270-DD62-26E9-101D-2E12C2EA4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95F87F-645D-11EE-5281-8C3345D6B5FE}"/>
              </a:ext>
            </a:extLst>
          </p:cNvPr>
          <p:cNvSpPr txBox="1"/>
          <p:nvPr/>
        </p:nvSpPr>
        <p:spPr>
          <a:xfrm>
            <a:off x="838199" y="778013"/>
            <a:ext cx="555457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Motivation:</a:t>
            </a:r>
          </a:p>
          <a:p>
            <a:endParaRPr lang="en-US" sz="2000" dirty="0"/>
          </a:p>
          <a:p>
            <a:r>
              <a:rPr lang="en-US" sz="2000" dirty="0"/>
              <a:t>3. When using long stochastic sequences much of the simulation period may be low-stress and require simulation/compute time that is not contributing meaningfully to improving solutions.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Eg.</a:t>
            </a:r>
            <a:r>
              <a:rPr lang="en-US" sz="2000" dirty="0"/>
              <a:t>, in the current stochastic ensembles 84-93% of ensemble years are in Normal conditions.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20BE4D-846A-2075-E085-A44EE9626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2778" y="1616324"/>
            <a:ext cx="5038821" cy="42315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33DA8FC-F5D9-0F8F-E03A-89C4A70A7C3D}"/>
              </a:ext>
            </a:extLst>
          </p:cNvPr>
          <p:cNvSpPr/>
          <p:nvPr/>
        </p:nvSpPr>
        <p:spPr>
          <a:xfrm>
            <a:off x="10107055" y="2101452"/>
            <a:ext cx="1146482" cy="81019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5079796-FAAC-F797-6842-43E3E63C223E}"/>
              </a:ext>
            </a:extLst>
          </p:cNvPr>
          <p:cNvSpPr/>
          <p:nvPr/>
        </p:nvSpPr>
        <p:spPr>
          <a:xfrm>
            <a:off x="9513497" y="2506547"/>
            <a:ext cx="593558" cy="425115"/>
          </a:xfrm>
          <a:prstGeom prst="rightArrow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62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1EF2C-8A97-E411-8D04-7CA64A6C0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0125-75DB-6FB7-2F1E-F059903B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EE278-4E38-D859-880E-5289A9AF1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69785-EE67-16FA-BE32-EFF79808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7C3D6-D36E-7261-AFA1-62FDC01F3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8E3D0E-B36B-6190-C596-DC0648E87AE4}"/>
              </a:ext>
            </a:extLst>
          </p:cNvPr>
          <p:cNvSpPr txBox="1"/>
          <p:nvPr/>
        </p:nvSpPr>
        <p:spPr>
          <a:xfrm>
            <a:off x="838199" y="778013"/>
            <a:ext cx="81717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Motivation:</a:t>
            </a:r>
          </a:p>
          <a:p>
            <a:endParaRPr lang="en-US" sz="2000" dirty="0"/>
          </a:p>
          <a:p>
            <a:r>
              <a:rPr lang="en-US" sz="2000" dirty="0"/>
              <a:t>4. There can be redundancy in streamflow scenarios resulting from sampling uncertain hydrologic drivers/forcings.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07993AA-1423-DA70-28B8-C024366A2380}"/>
              </a:ext>
            </a:extLst>
          </p:cNvPr>
          <p:cNvGrpSpPr/>
          <p:nvPr/>
        </p:nvGrpSpPr>
        <p:grpSpPr>
          <a:xfrm>
            <a:off x="123969" y="2562726"/>
            <a:ext cx="7263168" cy="2971800"/>
            <a:chOff x="1907005" y="2406316"/>
            <a:chExt cx="7880684" cy="32244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CF29606-F06F-CA0C-6738-FC8321DF3975}"/>
                </a:ext>
              </a:extLst>
            </p:cNvPr>
            <p:cNvSpPr/>
            <p:nvPr/>
          </p:nvSpPr>
          <p:spPr>
            <a:xfrm>
              <a:off x="1907005" y="2406316"/>
              <a:ext cx="7880684" cy="32244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803539D-70E5-91FB-6557-FC4DC12DCC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3838" y="2793076"/>
              <a:ext cx="0" cy="21376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D1A4FEF-85DE-7BE7-F797-8C5A9EFEAE16}"/>
                </a:ext>
              </a:extLst>
            </p:cNvPr>
            <p:cNvCxnSpPr>
              <a:cxnSpLocks/>
            </p:cNvCxnSpPr>
            <p:nvPr/>
          </p:nvCxnSpPr>
          <p:spPr>
            <a:xfrm>
              <a:off x="2833838" y="4930686"/>
              <a:ext cx="21817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428FFE-0197-E692-099E-D6E119838905}"/>
                </a:ext>
              </a:extLst>
            </p:cNvPr>
            <p:cNvSpPr txBox="1"/>
            <p:nvPr/>
          </p:nvSpPr>
          <p:spPr>
            <a:xfrm>
              <a:off x="2910840" y="5022928"/>
              <a:ext cx="2377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Hydro Uncertainty 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F5F4484-4C51-A217-06F0-094FB212AF90}"/>
                </a:ext>
              </a:extLst>
            </p:cNvPr>
            <p:cNvSpPr txBox="1"/>
            <p:nvPr/>
          </p:nvSpPr>
          <p:spPr>
            <a:xfrm rot="16200000">
              <a:off x="1275788" y="3557300"/>
              <a:ext cx="2377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Hydro Uncertainty 2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BABA156-82CA-2D2F-4A0E-64CAD276E499}"/>
                </a:ext>
              </a:extLst>
            </p:cNvPr>
            <p:cNvSpPr/>
            <p:nvPr/>
          </p:nvSpPr>
          <p:spPr>
            <a:xfrm>
              <a:off x="3345181" y="3338909"/>
              <a:ext cx="198118" cy="198118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E5F6D8A-9F12-0A82-B179-16B4548AAE86}"/>
                </a:ext>
              </a:extLst>
            </p:cNvPr>
            <p:cNvSpPr/>
            <p:nvPr/>
          </p:nvSpPr>
          <p:spPr>
            <a:xfrm>
              <a:off x="3444240" y="4254780"/>
              <a:ext cx="198118" cy="198118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8DEEF67-82BE-5E4E-5D73-6B2797DFF192}"/>
                </a:ext>
              </a:extLst>
            </p:cNvPr>
            <p:cNvSpPr/>
            <p:nvPr/>
          </p:nvSpPr>
          <p:spPr>
            <a:xfrm>
              <a:off x="4213860" y="3790625"/>
              <a:ext cx="198118" cy="19811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B148ED2-8008-C125-0949-D96DB55B5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4818" y="2793076"/>
              <a:ext cx="0" cy="21376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10B1578-3AF4-B27B-D950-BEBA6AD26E0F}"/>
                </a:ext>
              </a:extLst>
            </p:cNvPr>
            <p:cNvCxnSpPr>
              <a:cxnSpLocks/>
            </p:cNvCxnSpPr>
            <p:nvPr/>
          </p:nvCxnSpPr>
          <p:spPr>
            <a:xfrm>
              <a:off x="6864818" y="4930686"/>
              <a:ext cx="21817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B90ED65-86CB-334F-01FE-FEA143C97E94}"/>
                </a:ext>
              </a:extLst>
            </p:cNvPr>
            <p:cNvSpPr txBox="1"/>
            <p:nvPr/>
          </p:nvSpPr>
          <p:spPr>
            <a:xfrm>
              <a:off x="6941820" y="5022928"/>
              <a:ext cx="2377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Hazard Measure 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A266CFA-74C7-6AF0-A15E-3F162963AAB6}"/>
                </a:ext>
              </a:extLst>
            </p:cNvPr>
            <p:cNvSpPr txBox="1"/>
            <p:nvPr/>
          </p:nvSpPr>
          <p:spPr>
            <a:xfrm rot="16200000">
              <a:off x="5306768" y="3557300"/>
              <a:ext cx="2377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Hazard Measure 2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DC7C766-9AB6-AFD8-5B7A-E28BB36B4F69}"/>
                </a:ext>
              </a:extLst>
            </p:cNvPr>
            <p:cNvSpPr/>
            <p:nvPr/>
          </p:nvSpPr>
          <p:spPr>
            <a:xfrm rot="19703276">
              <a:off x="7448608" y="3600455"/>
              <a:ext cx="1519955" cy="982021"/>
            </a:xfrm>
            <a:prstGeom prst="ellipse">
              <a:avLst/>
            </a:prstGeom>
            <a:solidFill>
              <a:srgbClr val="70AD47">
                <a:alpha val="50196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1F7BABC-BDE2-34E2-1014-690519FD120A}"/>
                </a:ext>
              </a:extLst>
            </p:cNvPr>
            <p:cNvSpPr/>
            <p:nvPr/>
          </p:nvSpPr>
          <p:spPr>
            <a:xfrm rot="19703276">
              <a:off x="7093633" y="3437598"/>
              <a:ext cx="1519955" cy="807250"/>
            </a:xfrm>
            <a:prstGeom prst="ellipse">
              <a:avLst/>
            </a:prstGeom>
            <a:solidFill>
              <a:srgbClr val="ED7D31">
                <a:alpha val="50196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2344D6D-6390-E1F2-7E2B-68886BFD52A5}"/>
                </a:ext>
              </a:extLst>
            </p:cNvPr>
            <p:cNvSpPr/>
            <p:nvPr/>
          </p:nvSpPr>
          <p:spPr>
            <a:xfrm rot="19703276">
              <a:off x="7592981" y="3291289"/>
              <a:ext cx="1519955" cy="807250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CC83D925-9E13-EB15-EC28-EC0B93CEF1E0}"/>
                </a:ext>
              </a:extLst>
            </p:cNvPr>
            <p:cNvSpPr/>
            <p:nvPr/>
          </p:nvSpPr>
          <p:spPr>
            <a:xfrm>
              <a:off x="5287557" y="3598660"/>
              <a:ext cx="868680" cy="673497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1FDF1CDD-EE54-EDC0-538D-2779AC906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636" y="2588061"/>
            <a:ext cx="3858775" cy="29491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38553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A1AC8-0FEB-6A76-3AE6-96B28307C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4BD09-BC76-DEF7-989C-2ABF5F7E2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63957-6555-1DC8-8A00-01BDDAB9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7C5B7-4FBD-7903-5C39-00BFBB364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5CF22-B64A-69E7-CD88-6BC089FD4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52BB4C-34E4-4B5F-E898-BA9DDA6D6F5E}"/>
              </a:ext>
            </a:extLst>
          </p:cNvPr>
          <p:cNvSpPr txBox="1"/>
          <p:nvPr/>
        </p:nvSpPr>
        <p:spPr>
          <a:xfrm>
            <a:off x="838199" y="778013"/>
            <a:ext cx="81717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Motivation:</a:t>
            </a:r>
          </a:p>
          <a:p>
            <a:endParaRPr lang="en-US" sz="2000" dirty="0"/>
          </a:p>
          <a:p>
            <a:r>
              <a:rPr lang="en-US" sz="2000" dirty="0"/>
              <a:t>5. Rare, extreme drought hazard events drive the most consequential outcomes.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DB113A-9B3E-CB61-081D-B23CCF433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621" y="2101452"/>
            <a:ext cx="3178061" cy="378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76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F62CD-DC5F-986B-E70E-4D2A933F8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02C0F-E748-609F-5B8E-63C3C2CB5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2189A-34CF-402B-B16F-15F70A980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D8131-AC00-CA2C-6063-7A569C7B6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68551-5586-FD47-08CA-35DBB34F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FE477-4ACB-31CF-0539-93408E1F6D76}"/>
              </a:ext>
            </a:extLst>
          </p:cNvPr>
          <p:cNvSpPr txBox="1"/>
          <p:nvPr/>
        </p:nvSpPr>
        <p:spPr>
          <a:xfrm>
            <a:off x="838199" y="778013"/>
            <a:ext cx="109478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Motivation:</a:t>
            </a:r>
          </a:p>
          <a:p>
            <a:endParaRPr lang="en-US" sz="2000" dirty="0"/>
          </a:p>
          <a:p>
            <a:r>
              <a:rPr lang="en-US" sz="2000" dirty="0"/>
              <a:t>6. There is interest in finding efficient subsamples of the scenario space that produce more robust solutions.</a:t>
            </a:r>
          </a:p>
          <a:p>
            <a:endParaRPr lang="en-US" sz="20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7B9B7CB-03BF-78AD-A868-9E553CED4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845767"/>
              </p:ext>
            </p:extLst>
          </p:nvPr>
        </p:nvGraphicFramePr>
        <p:xfrm>
          <a:off x="548640" y="2442410"/>
          <a:ext cx="11109960" cy="336499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r>
                        <a:rPr sz="1800" b="1" i="0" dirty="0">
                          <a:solidFill>
                            <a:srgbClr val="212529"/>
                          </a:solidFill>
                          <a:latin typeface="Calibri"/>
                        </a:rPr>
                        <a:t>Antecedent</a:t>
                      </a: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212529"/>
                          </a:solidFill>
                          <a:latin typeface="Calibri"/>
                        </a:rPr>
                        <a:t>Established</a:t>
                      </a: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solidFill>
                            <a:srgbClr val="212529"/>
                          </a:solidFill>
                          <a:latin typeface="Calibri"/>
                        </a:rPr>
                        <a:t>Limitations</a:t>
                      </a:r>
                      <a:endParaRPr sz="1800" b="1" i="0" dirty="0">
                        <a:solidFill>
                          <a:srgbClr val="212529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Cohen et al. 2021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training-scenario properties drive out-of-sample robustness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Requires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problem-driven regret selection; a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preliminary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perfect-foresight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MOEA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run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for each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12529"/>
                          </a:solidFill>
                          <a:latin typeface="Calibri"/>
                        </a:rPr>
                        <a:t>Zaniolo et al. 2023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drought-type training ensembles change the policies found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Hazard metrics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imposed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a priori before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 generation;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hazards aren’t emergent</a:t>
                      </a:r>
                      <a:endParaRPr sz="1800" b="0" i="0" dirty="0">
                        <a:solidFill>
                          <a:srgbClr val="212529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12529"/>
                          </a:solidFill>
                          <a:latin typeface="Calibri"/>
                        </a:rPr>
                        <a:t>Zatarain Salazar et al. 2017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search-ensemble size vs fidelity vs cost tradeoff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</a:t>
                      </a:r>
                      <a:endParaRPr sz="1800" b="0" i="0" dirty="0">
                        <a:solidFill>
                          <a:srgbClr val="212529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Scenario selection relies on 1-dimensional aggregate mean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flow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 CDF sampling</a:t>
                      </a:r>
                      <a:endParaRPr sz="1800" b="0" i="0" dirty="0">
                        <a:solidFill>
                          <a:srgbClr val="212529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Bonham et al. 2024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space-filling subsampling + coverage metrics in water resources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P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ost-hoc robustness ranking, not the search ensemble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169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57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39345-89DB-2D80-F7BB-B4447B976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5DC44-394C-7C8B-4EE5-FA6A75CA4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48F92-4650-1A4C-6D98-D0612A5B6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0353A-EBDC-9A93-6495-52A2F707D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DF262-09AA-912A-D2BD-DFFFD596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10</a:t>
            </a:fld>
            <a:endParaRPr lang="en-US"/>
          </a:p>
        </p:txBody>
      </p:sp>
      <p:cxnSp>
        <p:nvCxnSpPr>
          <p:cNvPr id="3" name="Connector 4">
            <a:extLst>
              <a:ext uri="{FF2B5EF4-FFF2-40B4-BE49-F238E27FC236}">
                <a16:creationId xmlns:a16="http://schemas.microsoft.com/office/drawing/2014/main" id="{2186EA27-3F7D-C65E-AE69-FB1BBF6065FC}"/>
              </a:ext>
            </a:extLst>
          </p:cNvPr>
          <p:cNvCxnSpPr/>
          <p:nvPr/>
        </p:nvCxnSpPr>
        <p:spPr>
          <a:xfrm>
            <a:off x="777240" y="3474720"/>
            <a:ext cx="2148840" cy="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5">
            <a:extLst>
              <a:ext uri="{FF2B5EF4-FFF2-40B4-BE49-F238E27FC236}">
                <a16:creationId xmlns:a16="http://schemas.microsoft.com/office/drawing/2014/main" id="{4614492A-5FE8-4CC6-C03E-E3E1CAEAB2E3}"/>
              </a:ext>
            </a:extLst>
          </p:cNvPr>
          <p:cNvCxnSpPr/>
          <p:nvPr/>
        </p:nvCxnSpPr>
        <p:spPr>
          <a:xfrm flipV="1">
            <a:off x="777240" y="2148840"/>
            <a:ext cx="0" cy="132588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6">
            <a:extLst>
              <a:ext uri="{FF2B5EF4-FFF2-40B4-BE49-F238E27FC236}">
                <a16:creationId xmlns:a16="http://schemas.microsoft.com/office/drawing/2014/main" id="{B79838F9-331D-C74C-0D97-01A4B168850E}"/>
              </a:ext>
            </a:extLst>
          </p:cNvPr>
          <p:cNvCxnSpPr/>
          <p:nvPr/>
        </p:nvCxnSpPr>
        <p:spPr>
          <a:xfrm flipV="1">
            <a:off x="820216" y="2414016"/>
            <a:ext cx="343815" cy="464058"/>
          </a:xfrm>
          <a:prstGeom prst="line">
            <a:avLst/>
          </a:prstGeom>
          <a:ln w="22225">
            <a:solidFill>
              <a:srgbClr val="2E5E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7">
            <a:extLst>
              <a:ext uri="{FF2B5EF4-FFF2-40B4-BE49-F238E27FC236}">
                <a16:creationId xmlns:a16="http://schemas.microsoft.com/office/drawing/2014/main" id="{3F12E15C-5CC1-3442-ECBF-EA33DAFAE4CB}"/>
              </a:ext>
            </a:extLst>
          </p:cNvPr>
          <p:cNvCxnSpPr/>
          <p:nvPr/>
        </p:nvCxnSpPr>
        <p:spPr>
          <a:xfrm>
            <a:off x="1164031" y="2414016"/>
            <a:ext cx="300837" cy="596646"/>
          </a:xfrm>
          <a:prstGeom prst="line">
            <a:avLst/>
          </a:prstGeom>
          <a:ln w="22225">
            <a:solidFill>
              <a:srgbClr val="2E5E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8">
            <a:extLst>
              <a:ext uri="{FF2B5EF4-FFF2-40B4-BE49-F238E27FC236}">
                <a16:creationId xmlns:a16="http://schemas.microsoft.com/office/drawing/2014/main" id="{EC530929-1CE6-BD3D-890A-B8A9EEC0EC01}"/>
              </a:ext>
            </a:extLst>
          </p:cNvPr>
          <p:cNvCxnSpPr/>
          <p:nvPr/>
        </p:nvCxnSpPr>
        <p:spPr>
          <a:xfrm flipV="1">
            <a:off x="1464868" y="2281428"/>
            <a:ext cx="386792" cy="729234"/>
          </a:xfrm>
          <a:prstGeom prst="line">
            <a:avLst/>
          </a:prstGeom>
          <a:ln w="22225">
            <a:solidFill>
              <a:srgbClr val="2E5E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9">
            <a:extLst>
              <a:ext uri="{FF2B5EF4-FFF2-40B4-BE49-F238E27FC236}">
                <a16:creationId xmlns:a16="http://schemas.microsoft.com/office/drawing/2014/main" id="{9FF3326D-12F3-3B85-832F-950873893E5F}"/>
              </a:ext>
            </a:extLst>
          </p:cNvPr>
          <p:cNvCxnSpPr/>
          <p:nvPr/>
        </p:nvCxnSpPr>
        <p:spPr>
          <a:xfrm>
            <a:off x="1851660" y="2281428"/>
            <a:ext cx="279349" cy="530352"/>
          </a:xfrm>
          <a:prstGeom prst="line">
            <a:avLst/>
          </a:prstGeom>
          <a:ln w="22225">
            <a:solidFill>
              <a:srgbClr val="2E5E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10">
            <a:extLst>
              <a:ext uri="{FF2B5EF4-FFF2-40B4-BE49-F238E27FC236}">
                <a16:creationId xmlns:a16="http://schemas.microsoft.com/office/drawing/2014/main" id="{A942DB04-4B1C-D347-5325-047D91EB5674}"/>
              </a:ext>
            </a:extLst>
          </p:cNvPr>
          <p:cNvCxnSpPr/>
          <p:nvPr/>
        </p:nvCxnSpPr>
        <p:spPr>
          <a:xfrm flipV="1">
            <a:off x="2131009" y="2546604"/>
            <a:ext cx="365303" cy="265176"/>
          </a:xfrm>
          <a:prstGeom prst="line">
            <a:avLst/>
          </a:prstGeom>
          <a:ln w="22225">
            <a:solidFill>
              <a:srgbClr val="2E5E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11">
            <a:extLst>
              <a:ext uri="{FF2B5EF4-FFF2-40B4-BE49-F238E27FC236}">
                <a16:creationId xmlns:a16="http://schemas.microsoft.com/office/drawing/2014/main" id="{2CF7F91F-8524-76CB-6D42-32D6705CF64D}"/>
              </a:ext>
            </a:extLst>
          </p:cNvPr>
          <p:cNvCxnSpPr/>
          <p:nvPr/>
        </p:nvCxnSpPr>
        <p:spPr>
          <a:xfrm>
            <a:off x="2496312" y="2546604"/>
            <a:ext cx="365302" cy="397764"/>
          </a:xfrm>
          <a:prstGeom prst="line">
            <a:avLst/>
          </a:prstGeom>
          <a:ln w="22225">
            <a:solidFill>
              <a:srgbClr val="2E5E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12">
            <a:extLst>
              <a:ext uri="{FF2B5EF4-FFF2-40B4-BE49-F238E27FC236}">
                <a16:creationId xmlns:a16="http://schemas.microsoft.com/office/drawing/2014/main" id="{9E8BE119-2FE6-4811-886C-BDAF3B164ADB}"/>
              </a:ext>
            </a:extLst>
          </p:cNvPr>
          <p:cNvCxnSpPr/>
          <p:nvPr/>
        </p:nvCxnSpPr>
        <p:spPr>
          <a:xfrm>
            <a:off x="3657600" y="3474720"/>
            <a:ext cx="2148840" cy="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13">
            <a:extLst>
              <a:ext uri="{FF2B5EF4-FFF2-40B4-BE49-F238E27FC236}">
                <a16:creationId xmlns:a16="http://schemas.microsoft.com/office/drawing/2014/main" id="{D82F6433-495D-D24B-F667-38A15CFE2826}"/>
              </a:ext>
            </a:extLst>
          </p:cNvPr>
          <p:cNvCxnSpPr/>
          <p:nvPr/>
        </p:nvCxnSpPr>
        <p:spPr>
          <a:xfrm flipV="1">
            <a:off x="3657600" y="2148840"/>
            <a:ext cx="0" cy="132588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40">
            <a:extLst>
              <a:ext uri="{FF2B5EF4-FFF2-40B4-BE49-F238E27FC236}">
                <a16:creationId xmlns:a16="http://schemas.microsoft.com/office/drawing/2014/main" id="{DD07291D-8D0A-5EAA-21A6-3B8C1926E9B9}"/>
              </a:ext>
            </a:extLst>
          </p:cNvPr>
          <p:cNvCxnSpPr/>
          <p:nvPr/>
        </p:nvCxnSpPr>
        <p:spPr>
          <a:xfrm>
            <a:off x="6537960" y="3474720"/>
            <a:ext cx="2148840" cy="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41">
            <a:extLst>
              <a:ext uri="{FF2B5EF4-FFF2-40B4-BE49-F238E27FC236}">
                <a16:creationId xmlns:a16="http://schemas.microsoft.com/office/drawing/2014/main" id="{F8F3BCD6-2C9D-AA48-CD4A-1131C65BDBE7}"/>
              </a:ext>
            </a:extLst>
          </p:cNvPr>
          <p:cNvCxnSpPr/>
          <p:nvPr/>
        </p:nvCxnSpPr>
        <p:spPr>
          <a:xfrm flipV="1">
            <a:off x="6537960" y="2148840"/>
            <a:ext cx="0" cy="132588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DC070CE8-724B-9410-84D6-1B1E6040D044}"/>
              </a:ext>
            </a:extLst>
          </p:cNvPr>
          <p:cNvSpPr/>
          <p:nvPr/>
        </p:nvSpPr>
        <p:spPr>
          <a:xfrm>
            <a:off x="6739128" y="227685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DDBB4D7-1625-7A28-8CE3-A4BE5CE9285C}"/>
              </a:ext>
            </a:extLst>
          </p:cNvPr>
          <p:cNvSpPr/>
          <p:nvPr/>
        </p:nvSpPr>
        <p:spPr>
          <a:xfrm>
            <a:off x="6739128" y="271119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9996BF8-A271-9143-3A43-80B57757FAA0}"/>
              </a:ext>
            </a:extLst>
          </p:cNvPr>
          <p:cNvSpPr/>
          <p:nvPr/>
        </p:nvSpPr>
        <p:spPr>
          <a:xfrm>
            <a:off x="6739128" y="314553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C32A490-D2E6-A8CD-AC1B-8F6EFEA2C889}"/>
              </a:ext>
            </a:extLst>
          </p:cNvPr>
          <p:cNvSpPr/>
          <p:nvPr/>
        </p:nvSpPr>
        <p:spPr>
          <a:xfrm>
            <a:off x="7150608" y="227685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65B47D5-8439-2184-5E25-E8E3521D13EA}"/>
              </a:ext>
            </a:extLst>
          </p:cNvPr>
          <p:cNvSpPr/>
          <p:nvPr/>
        </p:nvSpPr>
        <p:spPr>
          <a:xfrm>
            <a:off x="7150608" y="271119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65F34F0-8A9B-B070-F076-C9E9997187F9}"/>
              </a:ext>
            </a:extLst>
          </p:cNvPr>
          <p:cNvSpPr/>
          <p:nvPr/>
        </p:nvSpPr>
        <p:spPr>
          <a:xfrm>
            <a:off x="7150608" y="314553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B7BC625-1F3B-EE00-6211-00E7F1953485}"/>
              </a:ext>
            </a:extLst>
          </p:cNvPr>
          <p:cNvSpPr/>
          <p:nvPr/>
        </p:nvSpPr>
        <p:spPr>
          <a:xfrm>
            <a:off x="7562088" y="227685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967DEEC-DC2F-1C78-D749-C3BFFB74D113}"/>
              </a:ext>
            </a:extLst>
          </p:cNvPr>
          <p:cNvSpPr/>
          <p:nvPr/>
        </p:nvSpPr>
        <p:spPr>
          <a:xfrm>
            <a:off x="7562088" y="271119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3D6871F1-71E0-B059-23A5-1F9AD7EDD411}"/>
              </a:ext>
            </a:extLst>
          </p:cNvPr>
          <p:cNvSpPr/>
          <p:nvPr/>
        </p:nvSpPr>
        <p:spPr>
          <a:xfrm>
            <a:off x="7562088" y="314553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6D9FE38-C905-4DB5-4A0F-C12C24810C1A}"/>
              </a:ext>
            </a:extLst>
          </p:cNvPr>
          <p:cNvSpPr/>
          <p:nvPr/>
        </p:nvSpPr>
        <p:spPr>
          <a:xfrm>
            <a:off x="7973568" y="227685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43BE52E-B979-F4A1-CF89-518629E222E5}"/>
              </a:ext>
            </a:extLst>
          </p:cNvPr>
          <p:cNvSpPr/>
          <p:nvPr/>
        </p:nvSpPr>
        <p:spPr>
          <a:xfrm>
            <a:off x="7973568" y="271119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8769CCA-ED7D-336A-72B0-DED07EE88926}"/>
              </a:ext>
            </a:extLst>
          </p:cNvPr>
          <p:cNvSpPr/>
          <p:nvPr/>
        </p:nvSpPr>
        <p:spPr>
          <a:xfrm>
            <a:off x="7973568" y="314553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F486D9E0-8A01-F8F3-FD81-F19BF8551DFE}"/>
              </a:ext>
            </a:extLst>
          </p:cNvPr>
          <p:cNvSpPr/>
          <p:nvPr/>
        </p:nvSpPr>
        <p:spPr>
          <a:xfrm>
            <a:off x="8385048" y="227685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C65865CE-2628-C074-95B6-81CF82B92504}"/>
              </a:ext>
            </a:extLst>
          </p:cNvPr>
          <p:cNvSpPr/>
          <p:nvPr/>
        </p:nvSpPr>
        <p:spPr>
          <a:xfrm>
            <a:off x="8385048" y="271119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D8705B4-3259-D9C5-E2D2-79E25885463D}"/>
              </a:ext>
            </a:extLst>
          </p:cNvPr>
          <p:cNvSpPr/>
          <p:nvPr/>
        </p:nvSpPr>
        <p:spPr>
          <a:xfrm>
            <a:off x="8385048" y="314553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7" name="Connector 57">
            <a:extLst>
              <a:ext uri="{FF2B5EF4-FFF2-40B4-BE49-F238E27FC236}">
                <a16:creationId xmlns:a16="http://schemas.microsoft.com/office/drawing/2014/main" id="{396BEB36-1E4B-551F-7067-4BF1D85D9BEF}"/>
              </a:ext>
            </a:extLst>
          </p:cNvPr>
          <p:cNvCxnSpPr/>
          <p:nvPr/>
        </p:nvCxnSpPr>
        <p:spPr>
          <a:xfrm>
            <a:off x="9418320" y="3474720"/>
            <a:ext cx="2148840" cy="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58">
            <a:extLst>
              <a:ext uri="{FF2B5EF4-FFF2-40B4-BE49-F238E27FC236}">
                <a16:creationId xmlns:a16="http://schemas.microsoft.com/office/drawing/2014/main" id="{22D923D8-2A08-16D9-9FF3-60FE01A47422}"/>
              </a:ext>
            </a:extLst>
          </p:cNvPr>
          <p:cNvCxnSpPr/>
          <p:nvPr/>
        </p:nvCxnSpPr>
        <p:spPr>
          <a:xfrm flipV="1">
            <a:off x="9418320" y="2148840"/>
            <a:ext cx="0" cy="132588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22601FCA-94BB-1E3D-EED5-8BA215B05025}"/>
              </a:ext>
            </a:extLst>
          </p:cNvPr>
          <p:cNvSpPr/>
          <p:nvPr/>
        </p:nvSpPr>
        <p:spPr>
          <a:xfrm>
            <a:off x="9772650" y="2457450"/>
            <a:ext cx="73152" cy="7315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B78A65A0-DA81-33A9-856C-4F57DDE23F20}"/>
              </a:ext>
            </a:extLst>
          </p:cNvPr>
          <p:cNvSpPr/>
          <p:nvPr/>
        </p:nvSpPr>
        <p:spPr>
          <a:xfrm>
            <a:off x="10147554" y="2825496"/>
            <a:ext cx="73152" cy="7315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6A7F62D-EB7F-B40B-008F-623767B04C14}"/>
              </a:ext>
            </a:extLst>
          </p:cNvPr>
          <p:cNvSpPr/>
          <p:nvPr/>
        </p:nvSpPr>
        <p:spPr>
          <a:xfrm>
            <a:off x="10428732" y="2404872"/>
            <a:ext cx="73152" cy="7315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520EFB3D-F53A-E3D2-88DF-9C56635BEDC9}"/>
              </a:ext>
            </a:extLst>
          </p:cNvPr>
          <p:cNvSpPr/>
          <p:nvPr/>
        </p:nvSpPr>
        <p:spPr>
          <a:xfrm>
            <a:off x="10653674" y="2983229"/>
            <a:ext cx="109728" cy="109728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96C8AE7-447A-EBD8-FAAA-B8599760F357}"/>
              </a:ext>
            </a:extLst>
          </p:cNvPr>
          <p:cNvSpPr/>
          <p:nvPr/>
        </p:nvSpPr>
        <p:spPr>
          <a:xfrm>
            <a:off x="10991088" y="2615184"/>
            <a:ext cx="73152" cy="7315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35A4A1BD-8D8F-E094-BB58-601124421A38}"/>
              </a:ext>
            </a:extLst>
          </p:cNvPr>
          <p:cNvSpPr/>
          <p:nvPr/>
        </p:nvSpPr>
        <p:spPr>
          <a:xfrm>
            <a:off x="9960102" y="3035808"/>
            <a:ext cx="73152" cy="7315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E7F48DC-D3D5-93E4-0FC6-7CBF33474552}"/>
              </a:ext>
            </a:extLst>
          </p:cNvPr>
          <p:cNvSpPr/>
          <p:nvPr/>
        </p:nvSpPr>
        <p:spPr>
          <a:xfrm>
            <a:off x="10803636" y="2299715"/>
            <a:ext cx="109728" cy="109728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EC7DD367-7345-EFC7-75DA-A8380553BFF5}"/>
              </a:ext>
            </a:extLst>
          </p:cNvPr>
          <p:cNvSpPr/>
          <p:nvPr/>
        </p:nvSpPr>
        <p:spPr>
          <a:xfrm>
            <a:off x="11178540" y="2878074"/>
            <a:ext cx="73152" cy="7315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685546D7-2958-BDCF-84E6-B0C14B2F698C}"/>
              </a:ext>
            </a:extLst>
          </p:cNvPr>
          <p:cNvSpPr/>
          <p:nvPr/>
        </p:nvSpPr>
        <p:spPr>
          <a:xfrm>
            <a:off x="10335006" y="2667762"/>
            <a:ext cx="73152" cy="7315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48F01634-4849-FE77-27DD-3E8B5B6A5574}"/>
              </a:ext>
            </a:extLst>
          </p:cNvPr>
          <p:cNvSpPr/>
          <p:nvPr/>
        </p:nvSpPr>
        <p:spPr>
          <a:xfrm>
            <a:off x="11084814" y="3140963"/>
            <a:ext cx="109728" cy="109728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E697743-9DE9-D5DE-923F-E18D0F48A2C9}"/>
              </a:ext>
            </a:extLst>
          </p:cNvPr>
          <p:cNvSpPr txBox="1"/>
          <p:nvPr/>
        </p:nvSpPr>
        <p:spPr>
          <a:xfrm>
            <a:off x="548640" y="4089054"/>
            <a:ext cx="2651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212529"/>
                </a:solidFill>
                <a:latin typeface="Calibri"/>
              </a:rPr>
              <a:t>I. </a:t>
            </a:r>
            <a:r>
              <a:rPr lang="en-US" sz="1800" b="1" i="0" dirty="0">
                <a:solidFill>
                  <a:srgbClr val="212529"/>
                </a:solidFill>
                <a:latin typeface="Calibri"/>
              </a:rPr>
              <a:t>Trace</a:t>
            </a:r>
            <a:r>
              <a:rPr sz="1800" b="1" i="0" dirty="0">
                <a:solidFill>
                  <a:srgbClr val="212529"/>
                </a:solidFill>
                <a:latin typeface="Calibri"/>
              </a:rPr>
              <a:t>-based</a:t>
            </a:r>
          </a:p>
          <a:p>
            <a:pPr algn="ctr"/>
            <a:r>
              <a:rPr lang="en-US" sz="1800" b="0" i="0" dirty="0">
                <a:solidFill>
                  <a:srgbClr val="5F6B7A"/>
                </a:solidFill>
                <a:latin typeface="Calibri"/>
              </a:rPr>
              <a:t>Historic series, </a:t>
            </a:r>
            <a:r>
              <a:rPr sz="1800" b="0" i="0" dirty="0">
                <a:solidFill>
                  <a:srgbClr val="5F6B7A"/>
                </a:solidFill>
                <a:latin typeface="Calibri"/>
              </a:rPr>
              <a:t>single traces, design event</a:t>
            </a:r>
            <a:r>
              <a:rPr lang="en-US" sz="1800" b="0" i="0" dirty="0">
                <a:solidFill>
                  <a:srgbClr val="5F6B7A"/>
                </a:solidFill>
                <a:latin typeface="Calibri"/>
              </a:rPr>
              <a:t>s</a:t>
            </a:r>
            <a:endParaRPr sz="1800" b="0" i="0" dirty="0">
              <a:solidFill>
                <a:srgbClr val="5F6B7A"/>
              </a:solidFill>
              <a:latin typeface="Calibri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CCD0793-1595-43FB-7E29-CEE656F9329C}"/>
              </a:ext>
            </a:extLst>
          </p:cNvPr>
          <p:cNvSpPr txBox="1"/>
          <p:nvPr/>
        </p:nvSpPr>
        <p:spPr>
          <a:xfrm>
            <a:off x="3429000" y="4089054"/>
            <a:ext cx="2651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212529"/>
                </a:solidFill>
                <a:latin typeface="Calibri"/>
              </a:rPr>
              <a:t>II. Distribution-driven</a:t>
            </a:r>
          </a:p>
          <a:p>
            <a:pPr algn="ctr"/>
            <a:r>
              <a:rPr sz="1800" b="0" i="0" dirty="0">
                <a:solidFill>
                  <a:srgbClr val="5F6B7A"/>
                </a:solidFill>
                <a:latin typeface="Calibri"/>
              </a:rPr>
              <a:t>sample an assumed distribution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11B95FF-739E-649C-E817-968AD31FDA6A}"/>
              </a:ext>
            </a:extLst>
          </p:cNvPr>
          <p:cNvSpPr txBox="1"/>
          <p:nvPr/>
        </p:nvSpPr>
        <p:spPr>
          <a:xfrm>
            <a:off x="6309360" y="4089054"/>
            <a:ext cx="2651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212529"/>
                </a:solidFill>
                <a:latin typeface="Calibri"/>
              </a:rPr>
              <a:t>III. Bottom-up coverage</a:t>
            </a:r>
          </a:p>
          <a:p>
            <a:pPr algn="ctr"/>
            <a:r>
              <a:rPr sz="1800" b="0" i="0" dirty="0">
                <a:solidFill>
                  <a:srgbClr val="5F6B7A"/>
                </a:solidFill>
                <a:latin typeface="Calibri"/>
              </a:rPr>
              <a:t>span a</a:t>
            </a:r>
            <a:r>
              <a:rPr lang="en-US" dirty="0">
                <a:solidFill>
                  <a:srgbClr val="5F6B7A"/>
                </a:solidFill>
                <a:latin typeface="Calibri"/>
              </a:rPr>
              <a:t> deeply uncertain parameter </a:t>
            </a:r>
            <a:r>
              <a:rPr sz="1800" b="0" i="0" dirty="0">
                <a:solidFill>
                  <a:srgbClr val="5F6B7A"/>
                </a:solidFill>
                <a:latin typeface="Calibri"/>
              </a:rPr>
              <a:t>space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DD1C088-5F60-F8A7-05F9-BCFDD058DEB9}"/>
              </a:ext>
            </a:extLst>
          </p:cNvPr>
          <p:cNvSpPr txBox="1"/>
          <p:nvPr/>
        </p:nvSpPr>
        <p:spPr>
          <a:xfrm>
            <a:off x="9189720" y="4089054"/>
            <a:ext cx="2651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212529"/>
                </a:solidFill>
                <a:latin typeface="Calibri"/>
              </a:rPr>
              <a:t>IV. Problem-driven</a:t>
            </a:r>
          </a:p>
          <a:p>
            <a:pPr algn="ctr"/>
            <a:r>
              <a:rPr sz="1800" b="0" i="0" dirty="0">
                <a:solidFill>
                  <a:srgbClr val="5F6B7A"/>
                </a:solidFill>
                <a:latin typeface="Calibri"/>
              </a:rPr>
              <a:t>select by decision relevance</a:t>
            </a:r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AC472536-16B0-A63C-0321-FAD137F323F9}"/>
              </a:ext>
            </a:extLst>
          </p:cNvPr>
          <p:cNvSpPr/>
          <p:nvPr/>
        </p:nvSpPr>
        <p:spPr>
          <a:xfrm>
            <a:off x="3688461" y="2346066"/>
            <a:ext cx="1714500" cy="1082934"/>
          </a:xfrm>
          <a:custGeom>
            <a:avLst/>
            <a:gdLst>
              <a:gd name="csX0" fmla="*/ 0 w 1714500"/>
              <a:gd name="csY0" fmla="*/ 1005198 h 1060797"/>
              <a:gd name="csX1" fmla="*/ 162427 w 1714500"/>
              <a:gd name="csY1" fmla="*/ 572061 h 1060797"/>
              <a:gd name="csX2" fmla="*/ 499311 w 1714500"/>
              <a:gd name="csY2" fmla="*/ 561 h 1060797"/>
              <a:gd name="csX3" fmla="*/ 878306 w 1714500"/>
              <a:gd name="csY3" fmla="*/ 680345 h 1060797"/>
              <a:gd name="csX4" fmla="*/ 1269332 w 1714500"/>
              <a:gd name="csY4" fmla="*/ 1011214 h 1060797"/>
              <a:gd name="csX5" fmla="*/ 1714500 w 1714500"/>
              <a:gd name="csY5" fmla="*/ 1053324 h 1060797"/>
              <a:gd name="csX0" fmla="*/ 0 w 1714500"/>
              <a:gd name="csY0" fmla="*/ 1004726 h 1060325"/>
              <a:gd name="csX1" fmla="*/ 162427 w 1714500"/>
              <a:gd name="csY1" fmla="*/ 571589 h 1060325"/>
              <a:gd name="csX2" fmla="*/ 499311 w 1714500"/>
              <a:gd name="csY2" fmla="*/ 89 h 1060325"/>
              <a:gd name="csX3" fmla="*/ 872290 w 1714500"/>
              <a:gd name="csY3" fmla="*/ 613700 h 1060325"/>
              <a:gd name="csX4" fmla="*/ 1269332 w 1714500"/>
              <a:gd name="csY4" fmla="*/ 1010742 h 1060325"/>
              <a:gd name="csX5" fmla="*/ 1714500 w 1714500"/>
              <a:gd name="csY5" fmla="*/ 1052852 h 1060325"/>
              <a:gd name="csX0" fmla="*/ 0 w 1714500"/>
              <a:gd name="csY0" fmla="*/ 1004737 h 1060336"/>
              <a:gd name="csX1" fmla="*/ 162427 w 1714500"/>
              <a:gd name="csY1" fmla="*/ 571600 h 1060336"/>
              <a:gd name="csX2" fmla="*/ 499311 w 1714500"/>
              <a:gd name="csY2" fmla="*/ 100 h 1060336"/>
              <a:gd name="csX3" fmla="*/ 872290 w 1714500"/>
              <a:gd name="csY3" fmla="*/ 613711 h 1060336"/>
              <a:gd name="csX4" fmla="*/ 1269332 w 1714500"/>
              <a:gd name="csY4" fmla="*/ 1010753 h 1060336"/>
              <a:gd name="csX5" fmla="*/ 1714500 w 1714500"/>
              <a:gd name="csY5" fmla="*/ 1052863 h 1060336"/>
              <a:gd name="csX0" fmla="*/ 0 w 1714500"/>
              <a:gd name="csY0" fmla="*/ 1082934 h 1082934"/>
              <a:gd name="csX1" fmla="*/ 162427 w 1714500"/>
              <a:gd name="csY1" fmla="*/ 571592 h 1082934"/>
              <a:gd name="csX2" fmla="*/ 499311 w 1714500"/>
              <a:gd name="csY2" fmla="*/ 92 h 1082934"/>
              <a:gd name="csX3" fmla="*/ 872290 w 1714500"/>
              <a:gd name="csY3" fmla="*/ 613703 h 1082934"/>
              <a:gd name="csX4" fmla="*/ 1269332 w 1714500"/>
              <a:gd name="csY4" fmla="*/ 1010745 h 1082934"/>
              <a:gd name="csX5" fmla="*/ 1714500 w 1714500"/>
              <a:gd name="csY5" fmla="*/ 1052855 h 10829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14500" h="1082934">
                <a:moveTo>
                  <a:pt x="0" y="1082934"/>
                </a:moveTo>
                <a:cubicBezTo>
                  <a:pt x="39604" y="950085"/>
                  <a:pt x="79209" y="752065"/>
                  <a:pt x="162427" y="571592"/>
                </a:cubicBezTo>
                <a:cubicBezTo>
                  <a:pt x="245645" y="391119"/>
                  <a:pt x="381001" y="-6926"/>
                  <a:pt x="499311" y="92"/>
                </a:cubicBezTo>
                <a:cubicBezTo>
                  <a:pt x="617621" y="7110"/>
                  <a:pt x="743953" y="445261"/>
                  <a:pt x="872290" y="613703"/>
                </a:cubicBezTo>
                <a:cubicBezTo>
                  <a:pt x="1000627" y="782145"/>
                  <a:pt x="1129966" y="948582"/>
                  <a:pt x="1269332" y="1010745"/>
                </a:cubicBezTo>
                <a:cubicBezTo>
                  <a:pt x="1408698" y="1072908"/>
                  <a:pt x="1561599" y="1062881"/>
                  <a:pt x="1714500" y="1052855"/>
                </a:cubicBezTo>
              </a:path>
            </a:pathLst>
          </a:custGeom>
          <a:noFill/>
          <a:ln w="28575">
            <a:solidFill>
              <a:srgbClr val="2E5E8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EDADC3C-E6B3-9769-280C-5421BDAEC6B5}"/>
              </a:ext>
            </a:extLst>
          </p:cNvPr>
          <p:cNvSpPr txBox="1"/>
          <p:nvPr/>
        </p:nvSpPr>
        <p:spPr>
          <a:xfrm>
            <a:off x="5119137" y="3474720"/>
            <a:ext cx="628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value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3232ABB-4AD7-52B7-E4EA-4034014328DE}"/>
              </a:ext>
            </a:extLst>
          </p:cNvPr>
          <p:cNvSpPr txBox="1"/>
          <p:nvPr/>
        </p:nvSpPr>
        <p:spPr>
          <a:xfrm>
            <a:off x="6988215" y="3429000"/>
            <a:ext cx="15574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Uncertain param A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9EFE887-9202-7D1A-84CF-9F214B82DBC8}"/>
              </a:ext>
            </a:extLst>
          </p:cNvPr>
          <p:cNvSpPr txBox="1"/>
          <p:nvPr/>
        </p:nvSpPr>
        <p:spPr>
          <a:xfrm rot="16200000">
            <a:off x="5551234" y="2639603"/>
            <a:ext cx="15510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Uncertain param B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35E74D8-63FD-52EC-8AF2-618D0D9080C8}"/>
              </a:ext>
            </a:extLst>
          </p:cNvPr>
          <p:cNvSpPr txBox="1"/>
          <p:nvPr/>
        </p:nvSpPr>
        <p:spPr>
          <a:xfrm rot="16200000">
            <a:off x="3125763" y="2339251"/>
            <a:ext cx="734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Density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D4EE4FC-D1C9-7AC9-E541-99CFAEB24957}"/>
              </a:ext>
            </a:extLst>
          </p:cNvPr>
          <p:cNvSpPr txBox="1"/>
          <p:nvPr/>
        </p:nvSpPr>
        <p:spPr>
          <a:xfrm rot="16200000">
            <a:off x="288926" y="2250983"/>
            <a:ext cx="589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Value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EDE5A7B-70EE-C36F-C181-E95B0E9999D2}"/>
              </a:ext>
            </a:extLst>
          </p:cNvPr>
          <p:cNvSpPr txBox="1"/>
          <p:nvPr/>
        </p:nvSpPr>
        <p:spPr>
          <a:xfrm>
            <a:off x="2341083" y="3443333"/>
            <a:ext cx="5966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Time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EF1277C-D42C-D512-1BF7-46A0BEE2D7AA}"/>
              </a:ext>
            </a:extLst>
          </p:cNvPr>
          <p:cNvSpPr txBox="1"/>
          <p:nvPr/>
        </p:nvSpPr>
        <p:spPr>
          <a:xfrm>
            <a:off x="10991088" y="3474720"/>
            <a:ext cx="643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Obj A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44415F0-5221-0F39-4CA5-D04ECBE4EDC0}"/>
              </a:ext>
            </a:extLst>
          </p:cNvPr>
          <p:cNvSpPr txBox="1"/>
          <p:nvPr/>
        </p:nvSpPr>
        <p:spPr>
          <a:xfrm rot="16200000">
            <a:off x="8940638" y="2225212"/>
            <a:ext cx="579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Obj B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7272CE6-8F0B-06AD-63CA-4411CFEE9470}"/>
              </a:ext>
            </a:extLst>
          </p:cNvPr>
          <p:cNvSpPr txBox="1"/>
          <p:nvPr/>
        </p:nvSpPr>
        <p:spPr>
          <a:xfrm>
            <a:off x="3339122" y="813875"/>
            <a:ext cx="59626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Common scenario design approaches used in the water resources optimization literature.</a:t>
            </a:r>
          </a:p>
        </p:txBody>
      </p:sp>
    </p:spTree>
    <p:extLst>
      <p:ext uri="{BB962C8B-B14F-4D97-AF65-F5344CB8AC3E}">
        <p14:creationId xmlns:p14="http://schemas.microsoft.com/office/powerpoint/2010/main" val="110717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6BA9C-1E59-3313-B49A-77F14C170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7C6D3-7663-9AA1-F5A3-5575565F9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Proposal: Hypothesis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CFF71-CC35-BD33-9815-0331B8E31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C6F51-66D6-3AE0-7E79-9D2F7853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10429-999A-C7A2-4886-32C721D8B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CCB6F5-6973-9AB2-B7DB-993ACA78E888}"/>
              </a:ext>
            </a:extLst>
          </p:cNvPr>
          <p:cNvSpPr txBox="1"/>
          <p:nvPr/>
        </p:nvSpPr>
        <p:spPr>
          <a:xfrm>
            <a:off x="838199" y="778013"/>
            <a:ext cx="88043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Idea:</a:t>
            </a:r>
          </a:p>
          <a:p>
            <a:endParaRPr lang="en-US" sz="2000" dirty="0"/>
          </a:p>
          <a:p>
            <a:r>
              <a:rPr lang="en-US" sz="2000" dirty="0"/>
              <a:t>Create a space-filling sample of the hazard space, evaluate candidate policies using this deeply uncertain </a:t>
            </a:r>
            <a:r>
              <a:rPr lang="en-US" sz="2000" i="1" dirty="0"/>
              <a:t>hazard </a:t>
            </a:r>
            <a:r>
              <a:rPr lang="en-US" sz="2000" dirty="0"/>
              <a:t>space.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2CEF9B-7BB3-F48D-3A36-85CE22212A4D}"/>
              </a:ext>
            </a:extLst>
          </p:cNvPr>
          <p:cNvCxnSpPr>
            <a:cxnSpLocks/>
          </p:cNvCxnSpPr>
          <p:nvPr/>
        </p:nvCxnSpPr>
        <p:spPr>
          <a:xfrm flipV="1">
            <a:off x="1134578" y="2709256"/>
            <a:ext cx="0" cy="213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0CD14F-C238-3D18-6F53-139D0168975B}"/>
              </a:ext>
            </a:extLst>
          </p:cNvPr>
          <p:cNvCxnSpPr>
            <a:cxnSpLocks/>
          </p:cNvCxnSpPr>
          <p:nvPr/>
        </p:nvCxnSpPr>
        <p:spPr>
          <a:xfrm>
            <a:off x="1134578" y="4846866"/>
            <a:ext cx="21817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454500C-297B-06B9-B180-DB53E0818F8E}"/>
              </a:ext>
            </a:extLst>
          </p:cNvPr>
          <p:cNvSpPr txBox="1"/>
          <p:nvPr/>
        </p:nvSpPr>
        <p:spPr>
          <a:xfrm>
            <a:off x="1211580" y="4939108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Hydro Uncertainty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F71ADB-1FDA-3BCD-9B4D-7A33B0AA9A5D}"/>
              </a:ext>
            </a:extLst>
          </p:cNvPr>
          <p:cNvSpPr txBox="1"/>
          <p:nvPr/>
        </p:nvSpPr>
        <p:spPr>
          <a:xfrm rot="16200000">
            <a:off x="-423472" y="3473480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Hydro Uncertainty 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56EBD2C-1717-6323-EE29-1CAA389911BA}"/>
              </a:ext>
            </a:extLst>
          </p:cNvPr>
          <p:cNvSpPr/>
          <p:nvPr/>
        </p:nvSpPr>
        <p:spPr>
          <a:xfrm>
            <a:off x="1645921" y="3255089"/>
            <a:ext cx="198118" cy="19811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0CABF9A-6B37-8BDC-2842-77145A19BBD6}"/>
              </a:ext>
            </a:extLst>
          </p:cNvPr>
          <p:cNvSpPr/>
          <p:nvPr/>
        </p:nvSpPr>
        <p:spPr>
          <a:xfrm>
            <a:off x="1744980" y="4170960"/>
            <a:ext cx="198118" cy="19811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092B72B-2F61-1A1A-06BE-90A8806A9DB1}"/>
              </a:ext>
            </a:extLst>
          </p:cNvPr>
          <p:cNvSpPr/>
          <p:nvPr/>
        </p:nvSpPr>
        <p:spPr>
          <a:xfrm>
            <a:off x="2514600" y="3706805"/>
            <a:ext cx="198118" cy="19811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00097B9-654E-6616-C5C6-147E9964DA21}"/>
              </a:ext>
            </a:extLst>
          </p:cNvPr>
          <p:cNvCxnSpPr>
            <a:cxnSpLocks/>
          </p:cNvCxnSpPr>
          <p:nvPr/>
        </p:nvCxnSpPr>
        <p:spPr>
          <a:xfrm flipV="1">
            <a:off x="5165558" y="2709256"/>
            <a:ext cx="0" cy="213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A2E8388-F2B6-D022-C57C-46F011D768F9}"/>
              </a:ext>
            </a:extLst>
          </p:cNvPr>
          <p:cNvCxnSpPr>
            <a:cxnSpLocks/>
          </p:cNvCxnSpPr>
          <p:nvPr/>
        </p:nvCxnSpPr>
        <p:spPr>
          <a:xfrm>
            <a:off x="5165558" y="4846866"/>
            <a:ext cx="21817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A42C673-11FC-83E5-FAF1-EE7E4EBFB30A}"/>
              </a:ext>
            </a:extLst>
          </p:cNvPr>
          <p:cNvSpPr txBox="1"/>
          <p:nvPr/>
        </p:nvSpPr>
        <p:spPr>
          <a:xfrm>
            <a:off x="5242560" y="4939108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72CB7E-6A38-3C45-1AE8-B72EA4C1F0D9}"/>
              </a:ext>
            </a:extLst>
          </p:cNvPr>
          <p:cNvSpPr txBox="1"/>
          <p:nvPr/>
        </p:nvSpPr>
        <p:spPr>
          <a:xfrm rot="16200000">
            <a:off x="3607508" y="3473480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D040C9E-53E7-FBCF-394E-A1A285D69AA7}"/>
              </a:ext>
            </a:extLst>
          </p:cNvPr>
          <p:cNvSpPr/>
          <p:nvPr/>
        </p:nvSpPr>
        <p:spPr>
          <a:xfrm rot="19703276">
            <a:off x="5749348" y="3516635"/>
            <a:ext cx="1519955" cy="982021"/>
          </a:xfrm>
          <a:prstGeom prst="ellipse">
            <a:avLst/>
          </a:prstGeom>
          <a:solidFill>
            <a:srgbClr val="70AD47">
              <a:alpha val="50196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AB138A2-5BF8-7D77-3465-9A2B8AE7B1AF}"/>
              </a:ext>
            </a:extLst>
          </p:cNvPr>
          <p:cNvSpPr/>
          <p:nvPr/>
        </p:nvSpPr>
        <p:spPr>
          <a:xfrm rot="19703276">
            <a:off x="5394373" y="3353778"/>
            <a:ext cx="1519955" cy="807250"/>
          </a:xfrm>
          <a:prstGeom prst="ellipse">
            <a:avLst/>
          </a:prstGeom>
          <a:solidFill>
            <a:srgbClr val="ED7D31">
              <a:alpha val="50196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047837D-2B26-406F-B68F-63CB40D6991E}"/>
              </a:ext>
            </a:extLst>
          </p:cNvPr>
          <p:cNvSpPr/>
          <p:nvPr/>
        </p:nvSpPr>
        <p:spPr>
          <a:xfrm rot="19703276">
            <a:off x="5893721" y="3207469"/>
            <a:ext cx="1519955" cy="807250"/>
          </a:xfrm>
          <a:prstGeom prst="ellipse">
            <a:avLst/>
          </a:prstGeom>
          <a:solidFill>
            <a:srgbClr val="4472C4">
              <a:alpha val="50196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E0B763DE-7D54-FD8C-3ED0-1952FF1CB85B}"/>
              </a:ext>
            </a:extLst>
          </p:cNvPr>
          <p:cNvSpPr/>
          <p:nvPr/>
        </p:nvSpPr>
        <p:spPr>
          <a:xfrm>
            <a:off x="3588297" y="3514840"/>
            <a:ext cx="868680" cy="67349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DB15ECB-961C-7773-B0F2-124C574C41F6}"/>
              </a:ext>
            </a:extLst>
          </p:cNvPr>
          <p:cNvCxnSpPr>
            <a:cxnSpLocks/>
          </p:cNvCxnSpPr>
          <p:nvPr/>
        </p:nvCxnSpPr>
        <p:spPr>
          <a:xfrm flipV="1">
            <a:off x="8899357" y="2709255"/>
            <a:ext cx="0" cy="213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617199A-CC2C-BE16-C334-96FC34C720B7}"/>
              </a:ext>
            </a:extLst>
          </p:cNvPr>
          <p:cNvCxnSpPr>
            <a:cxnSpLocks/>
          </p:cNvCxnSpPr>
          <p:nvPr/>
        </p:nvCxnSpPr>
        <p:spPr>
          <a:xfrm>
            <a:off x="8899357" y="4846865"/>
            <a:ext cx="21817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FC07EDB-2FB5-03C7-8F20-4847B7EDE0E5}"/>
              </a:ext>
            </a:extLst>
          </p:cNvPr>
          <p:cNvSpPr txBox="1"/>
          <p:nvPr/>
        </p:nvSpPr>
        <p:spPr>
          <a:xfrm>
            <a:off x="8976359" y="4939107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F639F2-DC19-44B0-13AB-C5D14C2EA929}"/>
              </a:ext>
            </a:extLst>
          </p:cNvPr>
          <p:cNvSpPr txBox="1"/>
          <p:nvPr/>
        </p:nvSpPr>
        <p:spPr>
          <a:xfrm rot="16200000">
            <a:off x="7341307" y="3473479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E71D9C8-4EBB-4B70-840E-E9B71819C331}"/>
              </a:ext>
            </a:extLst>
          </p:cNvPr>
          <p:cNvSpPr/>
          <p:nvPr/>
        </p:nvSpPr>
        <p:spPr>
          <a:xfrm rot="19703276">
            <a:off x="9483147" y="3516634"/>
            <a:ext cx="1519955" cy="98202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109E8AB-F5C7-F0B2-ECE3-C555D8638C32}"/>
              </a:ext>
            </a:extLst>
          </p:cNvPr>
          <p:cNvSpPr/>
          <p:nvPr/>
        </p:nvSpPr>
        <p:spPr>
          <a:xfrm rot="19703276">
            <a:off x="9128172" y="3353777"/>
            <a:ext cx="1519955" cy="807250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653983B-42FA-F3E9-9A43-46E2D541E80A}"/>
              </a:ext>
            </a:extLst>
          </p:cNvPr>
          <p:cNvSpPr/>
          <p:nvPr/>
        </p:nvSpPr>
        <p:spPr>
          <a:xfrm rot="19703276">
            <a:off x="9627520" y="3207468"/>
            <a:ext cx="1519955" cy="807250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389FE76-E34B-C8FE-C2FB-2600E2AE9022}"/>
              </a:ext>
            </a:extLst>
          </p:cNvPr>
          <p:cNvSpPr/>
          <p:nvPr/>
        </p:nvSpPr>
        <p:spPr>
          <a:xfrm>
            <a:off x="9338544" y="381000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27140FE-5E10-E719-7EE7-22D26885013A}"/>
              </a:ext>
            </a:extLst>
          </p:cNvPr>
          <p:cNvSpPr/>
          <p:nvPr/>
        </p:nvSpPr>
        <p:spPr>
          <a:xfrm>
            <a:off x="9356796" y="401742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5FEBB7-8B0E-0F93-EBDE-57CDCC436EE3}"/>
              </a:ext>
            </a:extLst>
          </p:cNvPr>
          <p:cNvSpPr/>
          <p:nvPr/>
        </p:nvSpPr>
        <p:spPr>
          <a:xfrm>
            <a:off x="9384627" y="416353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629E52F-AA19-0945-0FA2-553A68480353}"/>
              </a:ext>
            </a:extLst>
          </p:cNvPr>
          <p:cNvSpPr/>
          <p:nvPr/>
        </p:nvSpPr>
        <p:spPr>
          <a:xfrm>
            <a:off x="9577207" y="349743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221173E-34A7-4504-4A98-BF3EB0A24D6B}"/>
              </a:ext>
            </a:extLst>
          </p:cNvPr>
          <p:cNvSpPr/>
          <p:nvPr/>
        </p:nvSpPr>
        <p:spPr>
          <a:xfrm>
            <a:off x="9910814" y="355330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90B5C37-EE29-E59D-2FAB-C8A110E18B8F}"/>
              </a:ext>
            </a:extLst>
          </p:cNvPr>
          <p:cNvSpPr/>
          <p:nvPr/>
        </p:nvSpPr>
        <p:spPr>
          <a:xfrm>
            <a:off x="9547578" y="386955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57F5A2A-4A9C-44D2-88C0-63B805F31723}"/>
              </a:ext>
            </a:extLst>
          </p:cNvPr>
          <p:cNvSpPr/>
          <p:nvPr/>
        </p:nvSpPr>
        <p:spPr>
          <a:xfrm>
            <a:off x="9710632" y="368313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0CA6F04-C2E0-7CA2-D9B8-969C3576B92F}"/>
              </a:ext>
            </a:extLst>
          </p:cNvPr>
          <p:cNvSpPr/>
          <p:nvPr/>
        </p:nvSpPr>
        <p:spPr>
          <a:xfrm>
            <a:off x="9710631" y="344190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918338F-FC96-B4EA-0CDB-A21A3E20E0CA}"/>
              </a:ext>
            </a:extLst>
          </p:cNvPr>
          <p:cNvSpPr/>
          <p:nvPr/>
        </p:nvSpPr>
        <p:spPr>
          <a:xfrm>
            <a:off x="9916771" y="330668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1CC223D-28CB-DE73-5701-9FBAF7FC018D}"/>
              </a:ext>
            </a:extLst>
          </p:cNvPr>
          <p:cNvSpPr/>
          <p:nvPr/>
        </p:nvSpPr>
        <p:spPr>
          <a:xfrm>
            <a:off x="10141709" y="328467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697495F-C7C7-EE41-8355-86A0A55FE50A}"/>
              </a:ext>
            </a:extLst>
          </p:cNvPr>
          <p:cNvSpPr/>
          <p:nvPr/>
        </p:nvSpPr>
        <p:spPr>
          <a:xfrm>
            <a:off x="10308773" y="320085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2601EEA-106E-E50A-3A6B-D1D0BC6F1509}"/>
              </a:ext>
            </a:extLst>
          </p:cNvPr>
          <p:cNvSpPr/>
          <p:nvPr/>
        </p:nvSpPr>
        <p:spPr>
          <a:xfrm>
            <a:off x="10498785" y="3120962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EA63A09-3389-6CE2-E16C-FDF8ECC9AB38}"/>
              </a:ext>
            </a:extLst>
          </p:cNvPr>
          <p:cNvSpPr/>
          <p:nvPr/>
        </p:nvSpPr>
        <p:spPr>
          <a:xfrm>
            <a:off x="10461173" y="335325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789B99B-6F22-CBAD-CED9-C73962D306B8}"/>
              </a:ext>
            </a:extLst>
          </p:cNvPr>
          <p:cNvSpPr/>
          <p:nvPr/>
        </p:nvSpPr>
        <p:spPr>
          <a:xfrm>
            <a:off x="10613573" y="350565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ED76A51-80C4-5ECD-2D5A-AD795CE4DF95}"/>
              </a:ext>
            </a:extLst>
          </p:cNvPr>
          <p:cNvSpPr/>
          <p:nvPr/>
        </p:nvSpPr>
        <p:spPr>
          <a:xfrm>
            <a:off x="10661034" y="323721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3DB566D-76BD-1A16-8FA1-3E2819BC4EC9}"/>
              </a:ext>
            </a:extLst>
          </p:cNvPr>
          <p:cNvSpPr/>
          <p:nvPr/>
        </p:nvSpPr>
        <p:spPr>
          <a:xfrm>
            <a:off x="10736423" y="307805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9972EA7-C5EA-6460-C1F9-7C26126D1797}"/>
              </a:ext>
            </a:extLst>
          </p:cNvPr>
          <p:cNvSpPr/>
          <p:nvPr/>
        </p:nvSpPr>
        <p:spPr>
          <a:xfrm>
            <a:off x="10056845" y="348309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5745481-F3DD-0EFE-2A06-617BAE5AD962}"/>
              </a:ext>
            </a:extLst>
          </p:cNvPr>
          <p:cNvSpPr/>
          <p:nvPr/>
        </p:nvSpPr>
        <p:spPr>
          <a:xfrm>
            <a:off x="9867759" y="3788791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86F7F1F-9E38-FEC2-13B5-7DA1077CD7D0}"/>
              </a:ext>
            </a:extLst>
          </p:cNvPr>
          <p:cNvSpPr/>
          <p:nvPr/>
        </p:nvSpPr>
        <p:spPr>
          <a:xfrm>
            <a:off x="9824704" y="402427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62BF006-BD69-D2AA-6044-A337AD9B8557}"/>
              </a:ext>
            </a:extLst>
          </p:cNvPr>
          <p:cNvSpPr/>
          <p:nvPr/>
        </p:nvSpPr>
        <p:spPr>
          <a:xfrm>
            <a:off x="9781649" y="4259759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A818590-B306-688C-A091-404E2CA6E791}"/>
              </a:ext>
            </a:extLst>
          </p:cNvPr>
          <p:cNvSpPr/>
          <p:nvPr/>
        </p:nvSpPr>
        <p:spPr>
          <a:xfrm>
            <a:off x="9629251" y="402925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9FC8EE1-6C8C-31D0-1C91-DD1127E3A415}"/>
              </a:ext>
            </a:extLst>
          </p:cNvPr>
          <p:cNvSpPr/>
          <p:nvPr/>
        </p:nvSpPr>
        <p:spPr>
          <a:xfrm>
            <a:off x="9532140" y="420224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B1A961F-7019-6200-0FE4-B38DAC402765}"/>
              </a:ext>
            </a:extLst>
          </p:cNvPr>
          <p:cNvSpPr/>
          <p:nvPr/>
        </p:nvSpPr>
        <p:spPr>
          <a:xfrm>
            <a:off x="9617754" y="438448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ADD148B-CF51-067E-82A9-A41375B8CCC6}"/>
              </a:ext>
            </a:extLst>
          </p:cNvPr>
          <p:cNvSpPr/>
          <p:nvPr/>
        </p:nvSpPr>
        <p:spPr>
          <a:xfrm>
            <a:off x="9840687" y="4503759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4A500C4-E8D3-7CA3-855A-F4F698589007}"/>
              </a:ext>
            </a:extLst>
          </p:cNvPr>
          <p:cNvSpPr/>
          <p:nvPr/>
        </p:nvSpPr>
        <p:spPr>
          <a:xfrm>
            <a:off x="10094247" y="448154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D12D77B-A6CD-CE80-1F1C-6B910D294DE7}"/>
              </a:ext>
            </a:extLst>
          </p:cNvPr>
          <p:cNvSpPr/>
          <p:nvPr/>
        </p:nvSpPr>
        <p:spPr>
          <a:xfrm>
            <a:off x="10330132" y="439559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C42445E-2D35-9CE1-4DE2-9A18470E8C5B}"/>
              </a:ext>
            </a:extLst>
          </p:cNvPr>
          <p:cNvSpPr/>
          <p:nvPr/>
        </p:nvSpPr>
        <p:spPr>
          <a:xfrm>
            <a:off x="10518650" y="427946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E6E3D0C-641F-D939-A896-340495FFB023}"/>
              </a:ext>
            </a:extLst>
          </p:cNvPr>
          <p:cNvSpPr/>
          <p:nvPr/>
        </p:nvSpPr>
        <p:spPr>
          <a:xfrm>
            <a:off x="10708495" y="4123498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304A0CD-8CC4-2D65-9476-74867B431328}"/>
              </a:ext>
            </a:extLst>
          </p:cNvPr>
          <p:cNvSpPr/>
          <p:nvPr/>
        </p:nvSpPr>
        <p:spPr>
          <a:xfrm>
            <a:off x="10064587" y="427415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FD3F6DF-46D9-BC14-95AB-9A6AD53D7BD2}"/>
              </a:ext>
            </a:extLst>
          </p:cNvPr>
          <p:cNvSpPr/>
          <p:nvPr/>
        </p:nvSpPr>
        <p:spPr>
          <a:xfrm>
            <a:off x="10102739" y="401742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6049E86-B37A-FCB1-9F9A-1C65B3C09AAF}"/>
              </a:ext>
            </a:extLst>
          </p:cNvPr>
          <p:cNvSpPr/>
          <p:nvPr/>
        </p:nvSpPr>
        <p:spPr>
          <a:xfrm>
            <a:off x="10140891" y="376069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F5B08E2-3A40-C453-41D9-7D575746D275}"/>
              </a:ext>
            </a:extLst>
          </p:cNvPr>
          <p:cNvSpPr/>
          <p:nvPr/>
        </p:nvSpPr>
        <p:spPr>
          <a:xfrm>
            <a:off x="10237658" y="355542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42CE8FB-13C9-F4F4-7BC2-D5FCB78EBF50}"/>
              </a:ext>
            </a:extLst>
          </p:cNvPr>
          <p:cNvSpPr/>
          <p:nvPr/>
        </p:nvSpPr>
        <p:spPr>
          <a:xfrm>
            <a:off x="10429991" y="366323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F20759A-444A-EA6D-64DF-3FAE17219D3F}"/>
              </a:ext>
            </a:extLst>
          </p:cNvPr>
          <p:cNvSpPr/>
          <p:nvPr/>
        </p:nvSpPr>
        <p:spPr>
          <a:xfrm>
            <a:off x="10582391" y="381563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1D4B050-CFF7-DF92-ED80-E61651CF51A1}"/>
              </a:ext>
            </a:extLst>
          </p:cNvPr>
          <p:cNvSpPr/>
          <p:nvPr/>
        </p:nvSpPr>
        <p:spPr>
          <a:xfrm>
            <a:off x="10770467" y="367026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36751F70-3225-7CBE-8DD7-8E9AD0F37369}"/>
              </a:ext>
            </a:extLst>
          </p:cNvPr>
          <p:cNvSpPr/>
          <p:nvPr/>
        </p:nvSpPr>
        <p:spPr>
          <a:xfrm>
            <a:off x="10876544" y="340166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71DDE86B-AFD5-F82E-7CA2-B6CE654E94B2}"/>
              </a:ext>
            </a:extLst>
          </p:cNvPr>
          <p:cNvSpPr/>
          <p:nvPr/>
        </p:nvSpPr>
        <p:spPr>
          <a:xfrm>
            <a:off x="10943886" y="317838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94AAC9E-FB82-6064-6029-B3FAE6A5AECE}"/>
              </a:ext>
            </a:extLst>
          </p:cNvPr>
          <p:cNvSpPr/>
          <p:nvPr/>
        </p:nvSpPr>
        <p:spPr>
          <a:xfrm>
            <a:off x="10817928" y="390105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480C762-839C-E711-10FF-22A8AD732986}"/>
              </a:ext>
            </a:extLst>
          </p:cNvPr>
          <p:cNvSpPr/>
          <p:nvPr/>
        </p:nvSpPr>
        <p:spPr>
          <a:xfrm>
            <a:off x="10540614" y="403068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B06F9E9-06CA-19E8-6478-FD25E361642C}"/>
              </a:ext>
            </a:extLst>
          </p:cNvPr>
          <p:cNvSpPr/>
          <p:nvPr/>
        </p:nvSpPr>
        <p:spPr>
          <a:xfrm>
            <a:off x="10263300" y="416032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EFB6B91-96BF-3367-AFB5-787A2639804D}"/>
              </a:ext>
            </a:extLst>
          </p:cNvPr>
          <p:cNvSpPr/>
          <p:nvPr/>
        </p:nvSpPr>
        <p:spPr>
          <a:xfrm>
            <a:off x="10330132" y="387642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F8F05D5-5D06-87EC-06E4-4375EEDD3F5B}"/>
              </a:ext>
            </a:extLst>
          </p:cNvPr>
          <p:cNvSpPr/>
          <p:nvPr/>
        </p:nvSpPr>
        <p:spPr>
          <a:xfrm>
            <a:off x="9205381" y="394851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730AD03-B9C7-2B16-592C-AD9B6A9769CD}"/>
              </a:ext>
            </a:extLst>
          </p:cNvPr>
          <p:cNvSpPr/>
          <p:nvPr/>
        </p:nvSpPr>
        <p:spPr>
          <a:xfrm>
            <a:off x="9488620" y="369486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364EC305-3CA0-2805-BDC5-B71D6994AE12}"/>
              </a:ext>
            </a:extLst>
          </p:cNvPr>
          <p:cNvSpPr/>
          <p:nvPr/>
        </p:nvSpPr>
        <p:spPr>
          <a:xfrm>
            <a:off x="7451726" y="3469115"/>
            <a:ext cx="868680" cy="67349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13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84CF8-D66A-A834-93A0-CF2AB4E0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2D668-AF4E-97A9-FD2C-4EB136FCB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Proposal: Hypothesis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F46A6-4BB7-D4B6-E2B2-5347D7551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87B42-500B-A67C-421E-834131155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9F595-86A3-FCB4-9DB6-F008895B5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A7B01-BDFB-0C0C-5785-AFAD4EC3BC6D}"/>
              </a:ext>
            </a:extLst>
          </p:cNvPr>
          <p:cNvSpPr txBox="1"/>
          <p:nvPr/>
        </p:nvSpPr>
        <p:spPr>
          <a:xfrm>
            <a:off x="838199" y="778013"/>
            <a:ext cx="87569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Idea:</a:t>
            </a:r>
          </a:p>
          <a:p>
            <a:endParaRPr lang="en-US" sz="2000" dirty="0"/>
          </a:p>
          <a:p>
            <a:r>
              <a:rPr lang="en-US" sz="2000" dirty="0"/>
              <a:t>Create a space-filling sample of the hazard space, evaluate candidate policies using this deeply uncertain </a:t>
            </a:r>
            <a:r>
              <a:rPr lang="en-US" sz="2000" i="1" dirty="0"/>
              <a:t>hazard </a:t>
            </a:r>
            <a:r>
              <a:rPr lang="en-US" sz="2000" dirty="0"/>
              <a:t>space.</a:t>
            </a:r>
          </a:p>
          <a:p>
            <a:endParaRPr lang="en-US" sz="2000" dirty="0"/>
          </a:p>
          <a:p>
            <a:r>
              <a:rPr lang="en-US" sz="2000" dirty="0"/>
              <a:t>We can then combine this with factorial samples of other deeply uncertain factors.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54FD7C-2D00-7E8D-A84E-C7CA41D43697}"/>
              </a:ext>
            </a:extLst>
          </p:cNvPr>
          <p:cNvCxnSpPr>
            <a:cxnSpLocks/>
          </p:cNvCxnSpPr>
          <p:nvPr/>
        </p:nvCxnSpPr>
        <p:spPr>
          <a:xfrm flipV="1">
            <a:off x="2284609" y="3195585"/>
            <a:ext cx="0" cy="213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BBB351E-B358-6D61-A55F-DFEE46D975D3}"/>
              </a:ext>
            </a:extLst>
          </p:cNvPr>
          <p:cNvCxnSpPr>
            <a:cxnSpLocks/>
          </p:cNvCxnSpPr>
          <p:nvPr/>
        </p:nvCxnSpPr>
        <p:spPr>
          <a:xfrm>
            <a:off x="2284609" y="5333195"/>
            <a:ext cx="21817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2159FB8-83C5-9A0F-71F0-556977EEDA1A}"/>
              </a:ext>
            </a:extLst>
          </p:cNvPr>
          <p:cNvSpPr txBox="1"/>
          <p:nvPr/>
        </p:nvSpPr>
        <p:spPr>
          <a:xfrm>
            <a:off x="2361611" y="5425437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2E75B4-4B69-789B-0844-1B78AD10F942}"/>
              </a:ext>
            </a:extLst>
          </p:cNvPr>
          <p:cNvSpPr txBox="1"/>
          <p:nvPr/>
        </p:nvSpPr>
        <p:spPr>
          <a:xfrm rot="16200000">
            <a:off x="726559" y="3959809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D2F37C5-9AA9-8CB2-36B0-A5BA344FFA71}"/>
              </a:ext>
            </a:extLst>
          </p:cNvPr>
          <p:cNvSpPr/>
          <p:nvPr/>
        </p:nvSpPr>
        <p:spPr>
          <a:xfrm rot="19703276">
            <a:off x="2868399" y="4002964"/>
            <a:ext cx="1519955" cy="98202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75EE864-9F98-B7E7-AB9C-5FFEBC133D92}"/>
              </a:ext>
            </a:extLst>
          </p:cNvPr>
          <p:cNvSpPr/>
          <p:nvPr/>
        </p:nvSpPr>
        <p:spPr>
          <a:xfrm rot="19703276">
            <a:off x="2513424" y="3840107"/>
            <a:ext cx="1519955" cy="807250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82A393C-981D-6B15-4F02-CC7651A19B66}"/>
              </a:ext>
            </a:extLst>
          </p:cNvPr>
          <p:cNvSpPr/>
          <p:nvPr/>
        </p:nvSpPr>
        <p:spPr>
          <a:xfrm rot="19703276">
            <a:off x="3012772" y="3693798"/>
            <a:ext cx="1519955" cy="807250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53E4201-9EF0-BA91-37EF-50A0A35B5B80}"/>
              </a:ext>
            </a:extLst>
          </p:cNvPr>
          <p:cNvSpPr/>
          <p:nvPr/>
        </p:nvSpPr>
        <p:spPr>
          <a:xfrm>
            <a:off x="2723796" y="429633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553C4BB-BB53-9F07-5E5A-4A1A0791DBC3}"/>
              </a:ext>
            </a:extLst>
          </p:cNvPr>
          <p:cNvSpPr/>
          <p:nvPr/>
        </p:nvSpPr>
        <p:spPr>
          <a:xfrm>
            <a:off x="2742048" y="450375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36C3C85-6F10-5223-6C32-372D0AF2BE50}"/>
              </a:ext>
            </a:extLst>
          </p:cNvPr>
          <p:cNvSpPr/>
          <p:nvPr/>
        </p:nvSpPr>
        <p:spPr>
          <a:xfrm>
            <a:off x="2769879" y="464986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1920947-F10C-BECB-DABC-22EAD5650B99}"/>
              </a:ext>
            </a:extLst>
          </p:cNvPr>
          <p:cNvSpPr/>
          <p:nvPr/>
        </p:nvSpPr>
        <p:spPr>
          <a:xfrm>
            <a:off x="2962459" y="398376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238AA69-FABB-C561-AF26-6DE78E1251E9}"/>
              </a:ext>
            </a:extLst>
          </p:cNvPr>
          <p:cNvSpPr/>
          <p:nvPr/>
        </p:nvSpPr>
        <p:spPr>
          <a:xfrm>
            <a:off x="3296066" y="403963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F3C696D-37AE-D1BF-0784-E2D51D00D787}"/>
              </a:ext>
            </a:extLst>
          </p:cNvPr>
          <p:cNvSpPr/>
          <p:nvPr/>
        </p:nvSpPr>
        <p:spPr>
          <a:xfrm>
            <a:off x="2932830" y="435588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3D8885D-651C-8E6F-1674-8503FE86EC85}"/>
              </a:ext>
            </a:extLst>
          </p:cNvPr>
          <p:cNvSpPr/>
          <p:nvPr/>
        </p:nvSpPr>
        <p:spPr>
          <a:xfrm>
            <a:off x="3095884" y="416946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110E77C-9989-0C58-99A5-7A02EDD87A9A}"/>
              </a:ext>
            </a:extLst>
          </p:cNvPr>
          <p:cNvSpPr/>
          <p:nvPr/>
        </p:nvSpPr>
        <p:spPr>
          <a:xfrm>
            <a:off x="3095883" y="392823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66E9515-E60F-3B65-E3F0-330084A15326}"/>
              </a:ext>
            </a:extLst>
          </p:cNvPr>
          <p:cNvSpPr/>
          <p:nvPr/>
        </p:nvSpPr>
        <p:spPr>
          <a:xfrm>
            <a:off x="3302023" y="379301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0D12F70-36DB-B251-3EA5-D4CEBDC5CB91}"/>
              </a:ext>
            </a:extLst>
          </p:cNvPr>
          <p:cNvSpPr/>
          <p:nvPr/>
        </p:nvSpPr>
        <p:spPr>
          <a:xfrm>
            <a:off x="3526961" y="377100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83CB85C-9063-C5C8-1536-3DF11FE1E988}"/>
              </a:ext>
            </a:extLst>
          </p:cNvPr>
          <p:cNvSpPr/>
          <p:nvPr/>
        </p:nvSpPr>
        <p:spPr>
          <a:xfrm>
            <a:off x="3694025" y="368718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FF8408D-70A5-F5E3-81BA-F327656FF43F}"/>
              </a:ext>
            </a:extLst>
          </p:cNvPr>
          <p:cNvSpPr/>
          <p:nvPr/>
        </p:nvSpPr>
        <p:spPr>
          <a:xfrm>
            <a:off x="3884037" y="3607292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C9AA046-2D88-3AC0-E888-C37EB22D3296}"/>
              </a:ext>
            </a:extLst>
          </p:cNvPr>
          <p:cNvSpPr/>
          <p:nvPr/>
        </p:nvSpPr>
        <p:spPr>
          <a:xfrm>
            <a:off x="3846425" y="383958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B5F0D19-BC2C-D7DE-AD0A-0308DA32218B}"/>
              </a:ext>
            </a:extLst>
          </p:cNvPr>
          <p:cNvSpPr/>
          <p:nvPr/>
        </p:nvSpPr>
        <p:spPr>
          <a:xfrm>
            <a:off x="3998825" y="399198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84DA4B0-A30D-E1C0-A8E1-8766CAE16AB7}"/>
              </a:ext>
            </a:extLst>
          </p:cNvPr>
          <p:cNvSpPr/>
          <p:nvPr/>
        </p:nvSpPr>
        <p:spPr>
          <a:xfrm>
            <a:off x="4046286" y="372354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78DF12C-87DA-CFCB-C16A-A05DACFE3C00}"/>
              </a:ext>
            </a:extLst>
          </p:cNvPr>
          <p:cNvSpPr/>
          <p:nvPr/>
        </p:nvSpPr>
        <p:spPr>
          <a:xfrm>
            <a:off x="4121675" y="356438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B225F3F-7FC3-BAD1-EA65-E2686B51C7F1}"/>
              </a:ext>
            </a:extLst>
          </p:cNvPr>
          <p:cNvSpPr/>
          <p:nvPr/>
        </p:nvSpPr>
        <p:spPr>
          <a:xfrm>
            <a:off x="3442097" y="396942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A94C2DE-AD28-5184-D0EA-2E923F0AAE36}"/>
              </a:ext>
            </a:extLst>
          </p:cNvPr>
          <p:cNvSpPr/>
          <p:nvPr/>
        </p:nvSpPr>
        <p:spPr>
          <a:xfrm>
            <a:off x="3253011" y="4275121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6D87844-8A0B-032F-5C2F-78A606015820}"/>
              </a:ext>
            </a:extLst>
          </p:cNvPr>
          <p:cNvSpPr/>
          <p:nvPr/>
        </p:nvSpPr>
        <p:spPr>
          <a:xfrm>
            <a:off x="3209956" y="451060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86C0F8E-FC8D-E99B-66FD-D16ADEF6D7BE}"/>
              </a:ext>
            </a:extLst>
          </p:cNvPr>
          <p:cNvSpPr/>
          <p:nvPr/>
        </p:nvSpPr>
        <p:spPr>
          <a:xfrm>
            <a:off x="3166901" y="4746089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662D009-9426-0BF4-9F48-9A8FBBDC1182}"/>
              </a:ext>
            </a:extLst>
          </p:cNvPr>
          <p:cNvSpPr/>
          <p:nvPr/>
        </p:nvSpPr>
        <p:spPr>
          <a:xfrm>
            <a:off x="3014503" y="451558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170FE09-15CB-A264-232E-7B6E9F715B2D}"/>
              </a:ext>
            </a:extLst>
          </p:cNvPr>
          <p:cNvSpPr/>
          <p:nvPr/>
        </p:nvSpPr>
        <p:spPr>
          <a:xfrm>
            <a:off x="2917392" y="468857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F87875D-7A6D-2817-A120-E73E933BE015}"/>
              </a:ext>
            </a:extLst>
          </p:cNvPr>
          <p:cNvSpPr/>
          <p:nvPr/>
        </p:nvSpPr>
        <p:spPr>
          <a:xfrm>
            <a:off x="3003006" y="487081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9310F0A-35FA-2C5D-349F-65533798C7BF}"/>
              </a:ext>
            </a:extLst>
          </p:cNvPr>
          <p:cNvSpPr/>
          <p:nvPr/>
        </p:nvSpPr>
        <p:spPr>
          <a:xfrm>
            <a:off x="3225939" y="4990089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E0CB60C-F4AE-760C-A043-25EE1BBF0470}"/>
              </a:ext>
            </a:extLst>
          </p:cNvPr>
          <p:cNvSpPr/>
          <p:nvPr/>
        </p:nvSpPr>
        <p:spPr>
          <a:xfrm>
            <a:off x="3479499" y="496787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A056260-804D-C33F-7053-ADF336690005}"/>
              </a:ext>
            </a:extLst>
          </p:cNvPr>
          <p:cNvSpPr/>
          <p:nvPr/>
        </p:nvSpPr>
        <p:spPr>
          <a:xfrm>
            <a:off x="3715384" y="488192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83259DB-7F4D-A826-81FE-19A7512FFD92}"/>
              </a:ext>
            </a:extLst>
          </p:cNvPr>
          <p:cNvSpPr/>
          <p:nvPr/>
        </p:nvSpPr>
        <p:spPr>
          <a:xfrm>
            <a:off x="3903902" y="476579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5D95F82-443E-BFA0-B77A-7098C6FE9214}"/>
              </a:ext>
            </a:extLst>
          </p:cNvPr>
          <p:cNvSpPr/>
          <p:nvPr/>
        </p:nvSpPr>
        <p:spPr>
          <a:xfrm>
            <a:off x="4093747" y="4609828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CAB71C0-D8DD-21B6-EE7A-46EBD739086F}"/>
              </a:ext>
            </a:extLst>
          </p:cNvPr>
          <p:cNvSpPr/>
          <p:nvPr/>
        </p:nvSpPr>
        <p:spPr>
          <a:xfrm>
            <a:off x="3449839" y="476048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5F82C2A-C86F-1572-221F-43A6B8589006}"/>
              </a:ext>
            </a:extLst>
          </p:cNvPr>
          <p:cNvSpPr/>
          <p:nvPr/>
        </p:nvSpPr>
        <p:spPr>
          <a:xfrm>
            <a:off x="3487991" y="450375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E2C9BE9-F5EF-1BC8-0A30-582C4F0FC1C8}"/>
              </a:ext>
            </a:extLst>
          </p:cNvPr>
          <p:cNvSpPr/>
          <p:nvPr/>
        </p:nvSpPr>
        <p:spPr>
          <a:xfrm>
            <a:off x="3526143" y="424702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62E8F75-2C83-A4D5-EF34-748BD3C67859}"/>
              </a:ext>
            </a:extLst>
          </p:cNvPr>
          <p:cNvSpPr/>
          <p:nvPr/>
        </p:nvSpPr>
        <p:spPr>
          <a:xfrm>
            <a:off x="3622910" y="404175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D0FFF17-A1DB-9232-534C-6F139C1975C8}"/>
              </a:ext>
            </a:extLst>
          </p:cNvPr>
          <p:cNvSpPr/>
          <p:nvPr/>
        </p:nvSpPr>
        <p:spPr>
          <a:xfrm>
            <a:off x="3815243" y="414956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215CADF-B94D-E0A1-2852-A9E1A4F1C358}"/>
              </a:ext>
            </a:extLst>
          </p:cNvPr>
          <p:cNvSpPr/>
          <p:nvPr/>
        </p:nvSpPr>
        <p:spPr>
          <a:xfrm>
            <a:off x="3967643" y="430196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165AC93-FA14-CD26-AD2E-0B5B920AA043}"/>
              </a:ext>
            </a:extLst>
          </p:cNvPr>
          <p:cNvSpPr/>
          <p:nvPr/>
        </p:nvSpPr>
        <p:spPr>
          <a:xfrm>
            <a:off x="4155719" y="415659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82A484D-07A4-B1F4-551B-25CAC18097AD}"/>
              </a:ext>
            </a:extLst>
          </p:cNvPr>
          <p:cNvSpPr/>
          <p:nvPr/>
        </p:nvSpPr>
        <p:spPr>
          <a:xfrm>
            <a:off x="4261796" y="388799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6187365-D07E-1F04-FF55-168367E7D809}"/>
              </a:ext>
            </a:extLst>
          </p:cNvPr>
          <p:cNvSpPr/>
          <p:nvPr/>
        </p:nvSpPr>
        <p:spPr>
          <a:xfrm>
            <a:off x="4329138" y="366471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9FD87CE-2E7C-610A-241E-2C25948CC6DF}"/>
              </a:ext>
            </a:extLst>
          </p:cNvPr>
          <p:cNvSpPr/>
          <p:nvPr/>
        </p:nvSpPr>
        <p:spPr>
          <a:xfrm>
            <a:off x="4203180" y="438738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177C71E-A2DC-51A4-07E6-37C996ECC601}"/>
              </a:ext>
            </a:extLst>
          </p:cNvPr>
          <p:cNvSpPr/>
          <p:nvPr/>
        </p:nvSpPr>
        <p:spPr>
          <a:xfrm>
            <a:off x="3925866" y="451701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DB6C123-F975-9320-2D59-04C37BCF1B29}"/>
              </a:ext>
            </a:extLst>
          </p:cNvPr>
          <p:cNvSpPr/>
          <p:nvPr/>
        </p:nvSpPr>
        <p:spPr>
          <a:xfrm>
            <a:off x="3648552" y="464665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F37A9A1-6E6E-4E55-9893-AA79A9F82A75}"/>
              </a:ext>
            </a:extLst>
          </p:cNvPr>
          <p:cNvSpPr/>
          <p:nvPr/>
        </p:nvSpPr>
        <p:spPr>
          <a:xfrm>
            <a:off x="3715384" y="436275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74E0AAB-D2C8-9DF0-F055-2CF1ABED7789}"/>
              </a:ext>
            </a:extLst>
          </p:cNvPr>
          <p:cNvSpPr/>
          <p:nvPr/>
        </p:nvSpPr>
        <p:spPr>
          <a:xfrm>
            <a:off x="2590633" y="443484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66F82C2-C8D6-32CE-C5F5-08E4DAEFB502}"/>
              </a:ext>
            </a:extLst>
          </p:cNvPr>
          <p:cNvSpPr/>
          <p:nvPr/>
        </p:nvSpPr>
        <p:spPr>
          <a:xfrm>
            <a:off x="2873872" y="418119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E9F4FD3-C467-F81D-A8E1-4DFDEE478044}"/>
              </a:ext>
            </a:extLst>
          </p:cNvPr>
          <p:cNvCxnSpPr/>
          <p:nvPr/>
        </p:nvCxnSpPr>
        <p:spPr>
          <a:xfrm>
            <a:off x="6788831" y="3339400"/>
            <a:ext cx="0" cy="21374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DAAD7C7D-C384-FF53-4D4C-E89C4645ECCE}"/>
              </a:ext>
            </a:extLst>
          </p:cNvPr>
          <p:cNvSpPr/>
          <p:nvPr/>
        </p:nvSpPr>
        <p:spPr>
          <a:xfrm>
            <a:off x="6748988" y="375963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6207C8F-2E50-32D8-098B-5466BE369BBF}"/>
              </a:ext>
            </a:extLst>
          </p:cNvPr>
          <p:cNvSpPr/>
          <p:nvPr/>
        </p:nvSpPr>
        <p:spPr>
          <a:xfrm>
            <a:off x="6748987" y="420704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C4D740E-EC42-62BD-7BED-A99C37C5D9C6}"/>
              </a:ext>
            </a:extLst>
          </p:cNvPr>
          <p:cNvSpPr/>
          <p:nvPr/>
        </p:nvSpPr>
        <p:spPr>
          <a:xfrm>
            <a:off x="6748986" y="465444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249993C2-9F52-80B3-75B7-E9A9C8442362}"/>
              </a:ext>
            </a:extLst>
          </p:cNvPr>
          <p:cNvSpPr/>
          <p:nvPr/>
        </p:nvSpPr>
        <p:spPr>
          <a:xfrm>
            <a:off x="6748985" y="510185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80C8710-8EC2-B891-ADA6-DC986E041938}"/>
              </a:ext>
            </a:extLst>
          </p:cNvPr>
          <p:cNvCxnSpPr/>
          <p:nvPr/>
        </p:nvCxnSpPr>
        <p:spPr>
          <a:xfrm>
            <a:off x="8125678" y="3355335"/>
            <a:ext cx="0" cy="21374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C3D253EE-604C-C5E9-475C-F81386D9AB46}"/>
              </a:ext>
            </a:extLst>
          </p:cNvPr>
          <p:cNvSpPr/>
          <p:nvPr/>
        </p:nvSpPr>
        <p:spPr>
          <a:xfrm>
            <a:off x="8085835" y="3775568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E19945D1-66C3-8439-3F58-40AB6463B7FB}"/>
              </a:ext>
            </a:extLst>
          </p:cNvPr>
          <p:cNvSpPr/>
          <p:nvPr/>
        </p:nvSpPr>
        <p:spPr>
          <a:xfrm>
            <a:off x="8085834" y="422297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9DA8675-D88B-F883-7317-D1C9CCF57928}"/>
              </a:ext>
            </a:extLst>
          </p:cNvPr>
          <p:cNvSpPr/>
          <p:nvPr/>
        </p:nvSpPr>
        <p:spPr>
          <a:xfrm>
            <a:off x="8085833" y="4670382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5C5C5B1-8B36-B616-4444-35CAC88D2268}"/>
              </a:ext>
            </a:extLst>
          </p:cNvPr>
          <p:cNvSpPr/>
          <p:nvPr/>
        </p:nvSpPr>
        <p:spPr>
          <a:xfrm>
            <a:off x="8085832" y="5117789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6EE41291-0DEF-03BF-5A0C-F2BD90FA7411}"/>
              </a:ext>
            </a:extLst>
          </p:cNvPr>
          <p:cNvCxnSpPr/>
          <p:nvPr/>
        </p:nvCxnSpPr>
        <p:spPr>
          <a:xfrm>
            <a:off x="9462525" y="3371270"/>
            <a:ext cx="0" cy="21374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E7873869-31B4-AF89-F61C-E5B1255F65AA}"/>
              </a:ext>
            </a:extLst>
          </p:cNvPr>
          <p:cNvSpPr/>
          <p:nvPr/>
        </p:nvSpPr>
        <p:spPr>
          <a:xfrm>
            <a:off x="9422682" y="379150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94240CE6-D3A2-FF25-8CEA-BB18844C2467}"/>
              </a:ext>
            </a:extLst>
          </p:cNvPr>
          <p:cNvSpPr/>
          <p:nvPr/>
        </p:nvSpPr>
        <p:spPr>
          <a:xfrm>
            <a:off x="9422681" y="423891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AF895932-FC6F-F5AE-19AF-3A76BF7DEC7E}"/>
              </a:ext>
            </a:extLst>
          </p:cNvPr>
          <p:cNvSpPr/>
          <p:nvPr/>
        </p:nvSpPr>
        <p:spPr>
          <a:xfrm>
            <a:off x="9422680" y="468631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9755DA87-04F0-DAAA-567C-1B6031D9AA7A}"/>
              </a:ext>
            </a:extLst>
          </p:cNvPr>
          <p:cNvSpPr/>
          <p:nvPr/>
        </p:nvSpPr>
        <p:spPr>
          <a:xfrm>
            <a:off x="9422679" y="513372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D8BB28-EEB2-B1F6-40A9-76176D00D77B}"/>
              </a:ext>
            </a:extLst>
          </p:cNvPr>
          <p:cNvSpPr txBox="1"/>
          <p:nvPr/>
        </p:nvSpPr>
        <p:spPr>
          <a:xfrm>
            <a:off x="5531988" y="4064348"/>
            <a:ext cx="655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3822047-334D-C74E-F839-3248B9F56557}"/>
              </a:ext>
            </a:extLst>
          </p:cNvPr>
          <p:cNvSpPr txBox="1"/>
          <p:nvPr/>
        </p:nvSpPr>
        <p:spPr>
          <a:xfrm>
            <a:off x="7259225" y="4062430"/>
            <a:ext cx="655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9E64440-62C6-8B7B-C68F-FB665203B61F}"/>
              </a:ext>
            </a:extLst>
          </p:cNvPr>
          <p:cNvSpPr txBox="1"/>
          <p:nvPr/>
        </p:nvSpPr>
        <p:spPr>
          <a:xfrm>
            <a:off x="8584616" y="4084575"/>
            <a:ext cx="655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1F95284-0572-445B-9553-EBB6EEE447C9}"/>
              </a:ext>
            </a:extLst>
          </p:cNvPr>
          <p:cNvSpPr txBox="1"/>
          <p:nvPr/>
        </p:nvSpPr>
        <p:spPr>
          <a:xfrm>
            <a:off x="6551291" y="5691137"/>
            <a:ext cx="3283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Deeply uncertain with socioeconomic factors</a:t>
            </a:r>
          </a:p>
        </p:txBody>
      </p:sp>
      <p:sp>
        <p:nvSpPr>
          <p:cNvPr id="103" name="Right Brace 102">
            <a:extLst>
              <a:ext uri="{FF2B5EF4-FFF2-40B4-BE49-F238E27FC236}">
                <a16:creationId xmlns:a16="http://schemas.microsoft.com/office/drawing/2014/main" id="{0AABB125-5ABB-4732-A32B-89B815A94FB3}"/>
              </a:ext>
            </a:extLst>
          </p:cNvPr>
          <p:cNvSpPr/>
          <p:nvPr/>
        </p:nvSpPr>
        <p:spPr>
          <a:xfrm rot="5400000">
            <a:off x="8013032" y="4168538"/>
            <a:ext cx="280736" cy="298260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59805-2797-B537-A218-2281F46A3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65E16-4027-ADCD-9461-3D8D9DE3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Proposal: Hypothesis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386BC-2FAB-0866-1476-5199EF003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74A31-1725-5CAC-EB01-89E71C41F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864DD-68C5-F238-9296-344FFFEB9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754130A-BCC5-3406-3A5D-A53279BB8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736003"/>
              </p:ext>
            </p:extLst>
          </p:nvPr>
        </p:nvGraphicFramePr>
        <p:xfrm>
          <a:off x="548640" y="1371600"/>
          <a:ext cx="11109960" cy="336499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212529"/>
                          </a:solidFill>
                          <a:latin typeface="Calibri"/>
                        </a:rPr>
                        <a:t>Antecedent</a:t>
                      </a: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212529"/>
                          </a:solidFill>
                          <a:latin typeface="Calibri"/>
                        </a:rPr>
                        <a:t>Established</a:t>
                      </a: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solidFill>
                            <a:srgbClr val="212529"/>
                          </a:solidFill>
                          <a:latin typeface="Calibri"/>
                        </a:rPr>
                        <a:t>Limitations</a:t>
                      </a:r>
                      <a:endParaRPr sz="1800" b="1" i="0" dirty="0">
                        <a:solidFill>
                          <a:srgbClr val="212529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Cohen et al. 2021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training-scenario properties drive out-of-sample robustness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Requires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problem-driven regret selection; a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preliminary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perfect-foresight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MOEA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run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for each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12529"/>
                          </a:solidFill>
                          <a:latin typeface="Calibri"/>
                        </a:rPr>
                        <a:t>Zaniolo et al. 2023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drought-type training ensembles change the policies found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Hazard metrics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imposed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a priori before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 generation;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hazards aren’t emergent</a:t>
                      </a:r>
                      <a:endParaRPr sz="1800" b="0" i="0" dirty="0">
                        <a:solidFill>
                          <a:srgbClr val="212529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12529"/>
                          </a:solidFill>
                          <a:latin typeface="Calibri"/>
                        </a:rPr>
                        <a:t>Zatarain Salazar et al. 2017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search-ensemble size vs fidelity vs cost tradeoff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</a:t>
                      </a:r>
                      <a:endParaRPr sz="1800" b="0" i="0" dirty="0">
                        <a:solidFill>
                          <a:srgbClr val="212529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Scenario selection relies on 1-dimensional aggregate mean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flow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 CDF sampling</a:t>
                      </a:r>
                      <a:endParaRPr sz="1800" b="0" i="0" dirty="0">
                        <a:solidFill>
                          <a:srgbClr val="212529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Bonham et al. 2024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space-filling subsampling + coverage metrics in water resources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P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ost-hoc robustness ranking, not the search ensemble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169344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7427AE6D-F54F-080B-00D4-8528A88344DF}"/>
              </a:ext>
            </a:extLst>
          </p:cNvPr>
          <p:cNvSpPr/>
          <p:nvPr/>
        </p:nvSpPr>
        <p:spPr>
          <a:xfrm>
            <a:off x="548640" y="5010949"/>
            <a:ext cx="11109960" cy="1234440"/>
          </a:xfrm>
          <a:prstGeom prst="rect">
            <a:avLst/>
          </a:prstGeom>
          <a:solidFill>
            <a:srgbClr val="E9EFF5"/>
          </a:solidFill>
          <a:ln w="1587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/>
            <a:r>
              <a:rPr sz="2000" b="1" i="0" dirty="0">
                <a:solidFill>
                  <a:srgbClr val="212529"/>
                </a:solidFill>
                <a:latin typeface="Calibri"/>
              </a:rPr>
              <a:t>Gap.</a:t>
            </a:r>
            <a:r>
              <a:rPr sz="2000" b="0" i="0" dirty="0">
                <a:solidFill>
                  <a:srgbClr val="212529"/>
                </a:solidFill>
                <a:latin typeface="Calibri"/>
              </a:rPr>
              <a:t>  No study builds the MOEA search ensemble by space-filling selection in a multi-dimensional hazard space</a:t>
            </a:r>
            <a:r>
              <a:rPr lang="en-US" sz="2000" dirty="0">
                <a:solidFill>
                  <a:srgbClr val="212529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212529"/>
                </a:solidFill>
                <a:latin typeface="Calibri"/>
              </a:rPr>
              <a:t>and tests it on a held-out ensemble spanning deep climate uncertainty.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BEEEA0-90A3-2648-8DD3-B2D6EF80DB58}"/>
              </a:ext>
            </a:extLst>
          </p:cNvPr>
          <p:cNvSpPr txBox="1"/>
          <p:nvPr/>
        </p:nvSpPr>
        <p:spPr>
          <a:xfrm>
            <a:off x="548640" y="727911"/>
            <a:ext cx="9059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Comparison with relevant and recent publications:</a:t>
            </a:r>
          </a:p>
        </p:txBody>
      </p:sp>
    </p:spTree>
    <p:extLst>
      <p:ext uri="{BB962C8B-B14F-4D97-AF65-F5344CB8AC3E}">
        <p14:creationId xmlns:p14="http://schemas.microsoft.com/office/powerpoint/2010/main" val="2440423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EED8E-0BD7-8CF0-A29E-7D0974878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F06DD-1FBB-F759-D336-AAAFF93CE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Proposal: Hypothesis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CF1CA-6947-63A6-E179-E509613AE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ED131-1532-AE4F-044B-21A580C81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611B8-A6B2-6664-C0B5-BFBC7FBFE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6235A2-48E9-CF43-5CC5-2B76F5B30A9F}"/>
              </a:ext>
            </a:extLst>
          </p:cNvPr>
          <p:cNvSpPr/>
          <p:nvPr/>
        </p:nvSpPr>
        <p:spPr>
          <a:xfrm>
            <a:off x="640080" y="1528071"/>
            <a:ext cx="3200400" cy="1005840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800" b="1" i="0">
                <a:solidFill>
                  <a:srgbClr val="212529"/>
                </a:solidFill>
                <a:latin typeface="Calibri"/>
              </a:rPr>
              <a:t>Input space</a:t>
            </a:r>
            <a:r>
              <a:rPr sz="1800" b="0" i="0">
                <a:solidFill>
                  <a:srgbClr val="212529"/>
                </a:solidFill>
                <a:latin typeface="Calibri"/>
              </a:rPr>
              <a:t>
generator &amp; climate-forcing parameters θ</a:t>
            </a:r>
          </a:p>
        </p:txBody>
      </p:sp>
      <p:cxnSp>
        <p:nvCxnSpPr>
          <p:cNvPr id="9" name="Connector 4">
            <a:extLst>
              <a:ext uri="{FF2B5EF4-FFF2-40B4-BE49-F238E27FC236}">
                <a16:creationId xmlns:a16="http://schemas.microsoft.com/office/drawing/2014/main" id="{B2C782B0-FFE6-FEF7-7193-0238A4ABDF29}"/>
              </a:ext>
            </a:extLst>
          </p:cNvPr>
          <p:cNvCxnSpPr/>
          <p:nvPr/>
        </p:nvCxnSpPr>
        <p:spPr>
          <a:xfrm>
            <a:off x="3840480" y="2030990"/>
            <a:ext cx="68580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88AD29F-7655-144D-DAF4-D2BCB86C8BB7}"/>
              </a:ext>
            </a:extLst>
          </p:cNvPr>
          <p:cNvSpPr txBox="1"/>
          <p:nvPr/>
        </p:nvSpPr>
        <p:spPr>
          <a:xfrm>
            <a:off x="3364992" y="260706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F6B7A"/>
                </a:solidFill>
                <a:latin typeface="Calibri"/>
              </a:rPr>
              <a:t>generate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953CF9-AE96-C509-CBB2-CBD23E083FD7}"/>
              </a:ext>
            </a:extLst>
          </p:cNvPr>
          <p:cNvSpPr/>
          <p:nvPr/>
        </p:nvSpPr>
        <p:spPr>
          <a:xfrm>
            <a:off x="4526280" y="1528071"/>
            <a:ext cx="3200400" cy="1005840"/>
          </a:xfrm>
          <a:prstGeom prst="rect">
            <a:avLst/>
          </a:prstGeom>
          <a:solidFill>
            <a:srgbClr val="E9EFF5"/>
          </a:solidFill>
          <a:ln w="222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800" b="1" i="0">
                <a:solidFill>
                  <a:srgbClr val="212529"/>
                </a:solidFill>
                <a:latin typeface="Calibri"/>
              </a:rPr>
              <a:t>Hazard space</a:t>
            </a:r>
            <a:r>
              <a:rPr sz="1800" b="0" i="0">
                <a:solidFill>
                  <a:srgbClr val="212529"/>
                </a:solidFill>
                <a:latin typeface="Calibri"/>
              </a:rPr>
              <a:t>
drought / low-flow / high-flow metrics per sequence</a:t>
            </a:r>
          </a:p>
        </p:txBody>
      </p:sp>
      <p:cxnSp>
        <p:nvCxnSpPr>
          <p:cNvPr id="13" name="Connector 7">
            <a:extLst>
              <a:ext uri="{FF2B5EF4-FFF2-40B4-BE49-F238E27FC236}">
                <a16:creationId xmlns:a16="http://schemas.microsoft.com/office/drawing/2014/main" id="{2FC2A174-BFF1-628D-5AA1-C5AA4908D441}"/>
              </a:ext>
            </a:extLst>
          </p:cNvPr>
          <p:cNvCxnSpPr/>
          <p:nvPr/>
        </p:nvCxnSpPr>
        <p:spPr>
          <a:xfrm>
            <a:off x="7726679" y="2030990"/>
            <a:ext cx="685801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2FEF9D4-1DA0-E989-ECD9-0B92F8209128}"/>
              </a:ext>
            </a:extLst>
          </p:cNvPr>
          <p:cNvSpPr txBox="1"/>
          <p:nvPr/>
        </p:nvSpPr>
        <p:spPr>
          <a:xfrm>
            <a:off x="7251192" y="260706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F6B7A"/>
                </a:solidFill>
                <a:latin typeface="Calibri"/>
              </a:rPr>
              <a:t>simulate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23E08F-5993-2E15-3BF6-B9B4196C5022}"/>
              </a:ext>
            </a:extLst>
          </p:cNvPr>
          <p:cNvSpPr/>
          <p:nvPr/>
        </p:nvSpPr>
        <p:spPr>
          <a:xfrm>
            <a:off x="8412480" y="1528071"/>
            <a:ext cx="3200400" cy="1005840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800" b="1" i="0">
                <a:solidFill>
                  <a:srgbClr val="212529"/>
                </a:solidFill>
                <a:latin typeface="Calibri"/>
              </a:rPr>
              <a:t>Outcome space</a:t>
            </a:r>
            <a:r>
              <a:rPr sz="1800" b="0" i="0">
                <a:solidFill>
                  <a:srgbClr val="212529"/>
                </a:solidFill>
                <a:latin typeface="Calibri"/>
              </a:rPr>
              <a:t>
objective values of a policy under a scenario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797857-712E-EABB-FC82-3010423F8545}"/>
              </a:ext>
            </a:extLst>
          </p:cNvPr>
          <p:cNvSpPr txBox="1"/>
          <p:nvPr/>
        </p:nvSpPr>
        <p:spPr>
          <a:xfrm>
            <a:off x="548640" y="3931920"/>
            <a:ext cx="11091672" cy="1936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b="0" i="0" dirty="0">
                <a:solidFill>
                  <a:srgbClr val="212529"/>
                </a:solidFill>
                <a:latin typeface="Calibri"/>
              </a:rPr>
              <a:t>hazard </a:t>
            </a:r>
            <a:r>
              <a:rPr lang="en-US" sz="2000" b="0" i="0" dirty="0">
                <a:solidFill>
                  <a:srgbClr val="212529"/>
                </a:solidFill>
                <a:latin typeface="Calibri"/>
              </a:rPr>
              <a:t>metrics </a:t>
            </a:r>
            <a:r>
              <a:rPr sz="2000" b="0" i="0" dirty="0">
                <a:solidFill>
                  <a:srgbClr val="212529"/>
                </a:solidFill>
                <a:latin typeface="Calibri"/>
              </a:rPr>
              <a:t>are </a:t>
            </a:r>
            <a:r>
              <a:rPr sz="2000" b="1" i="0" dirty="0">
                <a:solidFill>
                  <a:srgbClr val="212529"/>
                </a:solidFill>
                <a:latin typeface="Calibri"/>
              </a:rPr>
              <a:t>measured on </a:t>
            </a:r>
            <a:r>
              <a:rPr lang="en-US" sz="2000" b="1" i="0" dirty="0">
                <a:solidFill>
                  <a:srgbClr val="212529"/>
                </a:solidFill>
                <a:latin typeface="Calibri"/>
              </a:rPr>
              <a:t>realized </a:t>
            </a:r>
            <a:r>
              <a:rPr sz="2000" b="1" i="0" dirty="0">
                <a:solidFill>
                  <a:srgbClr val="212529"/>
                </a:solidFill>
                <a:latin typeface="Calibri"/>
              </a:rPr>
              <a:t>sequences, before any simulation</a:t>
            </a:r>
            <a:r>
              <a:rPr sz="2000" b="0" i="0" dirty="0">
                <a:solidFill>
                  <a:srgbClr val="212529"/>
                </a:solidFill>
                <a:latin typeface="Calibri"/>
              </a:rPr>
              <a:t> (drought event metrics; flow indices)</a:t>
            </a:r>
            <a:endParaRPr lang="en-US" sz="2000" b="0" i="0" dirty="0">
              <a:solidFill>
                <a:srgbClr val="212529"/>
              </a:solidFill>
              <a:latin typeface="Calibri"/>
            </a:endParaRPr>
          </a:p>
          <a:p>
            <a:pPr marL="342900" indent="-342900">
              <a:lnSpc>
                <a:spcPct val="10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sz="2000" b="0" i="0" dirty="0">
              <a:solidFill>
                <a:srgbClr val="212529"/>
              </a:solidFill>
              <a:latin typeface="Calibri"/>
            </a:endParaRPr>
          </a:p>
          <a:p>
            <a:pPr marL="342900" indent="-342900">
              <a:lnSpc>
                <a:spcPct val="10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b="0" i="0" dirty="0">
                <a:solidFill>
                  <a:srgbClr val="212529"/>
                </a:solidFill>
                <a:latin typeface="Calibri"/>
              </a:rPr>
              <a:t>so hazard-space ensemble design is a </a:t>
            </a:r>
            <a:r>
              <a:rPr sz="2000" b="1" i="0" dirty="0">
                <a:solidFill>
                  <a:srgbClr val="212529"/>
                </a:solidFill>
                <a:latin typeface="Calibri"/>
              </a:rPr>
              <a:t>simulation-free, pre-optimization step</a:t>
            </a:r>
            <a:r>
              <a:rPr sz="2000" b="0" i="0" dirty="0">
                <a:solidFill>
                  <a:srgbClr val="212529"/>
                </a:solidFill>
                <a:latin typeface="Calibri"/>
              </a:rPr>
              <a:t>, reusable across problem formulations</a:t>
            </a:r>
          </a:p>
        </p:txBody>
      </p:sp>
    </p:spTree>
    <p:extLst>
      <p:ext uri="{BB962C8B-B14F-4D97-AF65-F5344CB8AC3E}">
        <p14:creationId xmlns:p14="http://schemas.microsoft.com/office/powerpoint/2010/main" val="457095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7A287-3543-767A-4084-4BAC6E021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A88B1-AE28-C539-2525-97C724B62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21143-CC70-D5F2-3594-49AA59087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8FDA7-6A68-219E-9AE3-B533AFAF8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1E5BAE-CD01-F243-FD93-D0DA1B390612}"/>
              </a:ext>
            </a:extLst>
          </p:cNvPr>
          <p:cNvSpPr/>
          <p:nvPr/>
        </p:nvSpPr>
        <p:spPr>
          <a:xfrm>
            <a:off x="0" y="1491916"/>
            <a:ext cx="12191999" cy="3481137"/>
          </a:xfrm>
          <a:prstGeom prst="rect">
            <a:avLst/>
          </a:prstGeom>
          <a:solidFill>
            <a:srgbClr val="152C47"/>
          </a:solidFill>
          <a:ln>
            <a:solidFill>
              <a:srgbClr val="152C4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Experimental Design</a:t>
            </a:r>
          </a:p>
        </p:txBody>
      </p:sp>
    </p:spTree>
    <p:extLst>
      <p:ext uri="{BB962C8B-B14F-4D97-AF65-F5344CB8AC3E}">
        <p14:creationId xmlns:p14="http://schemas.microsoft.com/office/powerpoint/2010/main" val="4119345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CAB3C-45B6-128E-DF01-7C8A79894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DCB9C-0931-949F-B60B-6BC036E1C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Planned Methods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62734-F3FB-92A3-47A5-CEA0CE569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5134D-F7E5-6CC3-2C8A-5CAB550DB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70502-04F9-E5F7-6D2F-D38481DB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16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338F18-4189-8694-382F-E3AA315F5F16}"/>
              </a:ext>
            </a:extLst>
          </p:cNvPr>
          <p:cNvSpPr/>
          <p:nvPr/>
        </p:nvSpPr>
        <p:spPr>
          <a:xfrm>
            <a:off x="593557" y="1053280"/>
            <a:ext cx="3312696" cy="45173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EDC918-C336-11B3-95B5-FE747F554028}"/>
              </a:ext>
            </a:extLst>
          </p:cNvPr>
          <p:cNvSpPr txBox="1"/>
          <p:nvPr/>
        </p:nvSpPr>
        <p:spPr>
          <a:xfrm>
            <a:off x="593557" y="716926"/>
            <a:ext cx="3312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Scenario Design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A20D58-4A57-AA51-B240-B35DC3F5A8A6}"/>
              </a:ext>
            </a:extLst>
          </p:cNvPr>
          <p:cNvSpPr txBox="1"/>
          <p:nvPr/>
        </p:nvSpPr>
        <p:spPr>
          <a:xfrm>
            <a:off x="4730416" y="1797970"/>
            <a:ext cx="2907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MOEA Optimization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AF03CB-FDE7-5B10-B405-BF53F29E2A1D}"/>
              </a:ext>
            </a:extLst>
          </p:cNvPr>
          <p:cNvSpPr/>
          <p:nvPr/>
        </p:nvSpPr>
        <p:spPr>
          <a:xfrm>
            <a:off x="739942" y="1600199"/>
            <a:ext cx="2991853" cy="400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Historical trace (baseline)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BE372C-0CBA-6090-256E-3D1C84FEF182}"/>
              </a:ext>
            </a:extLst>
          </p:cNvPr>
          <p:cNvSpPr/>
          <p:nvPr/>
        </p:nvSpPr>
        <p:spPr>
          <a:xfrm>
            <a:off x="739942" y="2162826"/>
            <a:ext cx="2991853" cy="4351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Well characterized (probabilistic) ensemble generated from Kirsch Nowak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6F570B-7291-F23A-F13E-ED5A2E79BAEE}"/>
              </a:ext>
            </a:extLst>
          </p:cNvPr>
          <p:cNvSpPr/>
          <p:nvPr/>
        </p:nvSpPr>
        <p:spPr>
          <a:xfrm>
            <a:off x="739941" y="4350138"/>
            <a:ext cx="2991853" cy="396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C000"/>
                </a:solidFill>
              </a:rPr>
              <a:t>Ensemble generated by sampling deeply uncertain stream change parameters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6D4517-0FF7-38B2-804E-083932D2D77F}"/>
              </a:ext>
            </a:extLst>
          </p:cNvPr>
          <p:cNvSpPr/>
          <p:nvPr/>
        </p:nvSpPr>
        <p:spPr>
          <a:xfrm>
            <a:off x="739940" y="4908757"/>
            <a:ext cx="2991853" cy="396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C000"/>
                </a:solidFill>
              </a:rPr>
              <a:t>Deep uncertainty hazard space-filling subsample ensemble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FD477BF-4C5B-0165-B2D7-4A7F69AEF6A8}"/>
              </a:ext>
            </a:extLst>
          </p:cNvPr>
          <p:cNvSpPr/>
          <p:nvPr/>
        </p:nvSpPr>
        <p:spPr>
          <a:xfrm>
            <a:off x="4991103" y="2633419"/>
            <a:ext cx="1251284" cy="125128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MM-</a:t>
            </a:r>
            <a:r>
              <a:rPr lang="en-US" sz="1200" dirty="0" err="1"/>
              <a:t>BorgMOEA</a:t>
            </a:r>
            <a:endParaRPr lang="en-US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6694EF-C641-28D1-34F6-9DB61613268B}"/>
              </a:ext>
            </a:extLst>
          </p:cNvPr>
          <p:cNvSpPr/>
          <p:nvPr/>
        </p:nvSpPr>
        <p:spPr>
          <a:xfrm>
            <a:off x="6477002" y="2847981"/>
            <a:ext cx="822158" cy="8221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Approximate Pareto Front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BBD8A6-CF70-EB7C-27B7-276874E0C261}"/>
              </a:ext>
            </a:extLst>
          </p:cNvPr>
          <p:cNvSpPr txBox="1"/>
          <p:nvPr/>
        </p:nvSpPr>
        <p:spPr>
          <a:xfrm>
            <a:off x="4831178" y="3977989"/>
            <a:ext cx="2512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Fixed (N-year, NFE) per optimization</a:t>
            </a:r>
          </a:p>
          <a:p>
            <a:r>
              <a:rPr lang="en-US" sz="1200" dirty="0"/>
              <a:t>10 seeds per run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DDBC32-8686-24DA-58DD-2FAC8C222FA6}"/>
              </a:ext>
            </a:extLst>
          </p:cNvPr>
          <p:cNvSpPr/>
          <p:nvPr/>
        </p:nvSpPr>
        <p:spPr>
          <a:xfrm>
            <a:off x="8700834" y="1290888"/>
            <a:ext cx="3312696" cy="50502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150C08-8435-99BB-38BB-A6E34EB56330}"/>
              </a:ext>
            </a:extLst>
          </p:cNvPr>
          <p:cNvSpPr txBox="1"/>
          <p:nvPr/>
        </p:nvSpPr>
        <p:spPr>
          <a:xfrm>
            <a:off x="8700834" y="954535"/>
            <a:ext cx="3312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Robustness Comparison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D5BF976-BDF4-AB7A-B0B3-8CDBD239BE71}"/>
              </a:ext>
            </a:extLst>
          </p:cNvPr>
          <p:cNvSpPr/>
          <p:nvPr/>
        </p:nvSpPr>
        <p:spPr>
          <a:xfrm>
            <a:off x="9099882" y="1590153"/>
            <a:ext cx="2514600" cy="14037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Re-evaluation of pareto-approximate solutions across large ensemble of climate change uncertainties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6BA623-54FA-D216-B1E6-18B6F71B59A5}"/>
              </a:ext>
            </a:extLst>
          </p:cNvPr>
          <p:cNvSpPr/>
          <p:nvPr/>
        </p:nvSpPr>
        <p:spPr>
          <a:xfrm>
            <a:off x="4892842" y="2162826"/>
            <a:ext cx="2582779" cy="227682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BD15E7-2CE2-D934-F8F9-B9672A54824D}"/>
              </a:ext>
            </a:extLst>
          </p:cNvPr>
          <p:cNvSpPr/>
          <p:nvPr/>
        </p:nvSpPr>
        <p:spPr>
          <a:xfrm>
            <a:off x="739939" y="2760320"/>
            <a:ext cx="2991853" cy="396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Multi-metric hazard space filling ensemble, sampled from very large stochastic ensemble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A3EB5D5-78F0-C337-E764-580BE16D92BA}"/>
              </a:ext>
            </a:extLst>
          </p:cNvPr>
          <p:cNvSpPr/>
          <p:nvPr/>
        </p:nvSpPr>
        <p:spPr>
          <a:xfrm>
            <a:off x="9099882" y="3259061"/>
            <a:ext cx="1138992" cy="10181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Multi-criteria satisficing robustness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C12205F-7B9D-4DC8-1BDD-9EACE2ECF4CF}"/>
              </a:ext>
            </a:extLst>
          </p:cNvPr>
          <p:cNvSpPr/>
          <p:nvPr/>
        </p:nvSpPr>
        <p:spPr>
          <a:xfrm>
            <a:off x="10481506" y="3259060"/>
            <a:ext cx="1138992" cy="10181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Regret metric (TBD)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5A0D33-8C53-B489-5B78-695B1E355492}"/>
              </a:ext>
            </a:extLst>
          </p:cNvPr>
          <p:cNvCxnSpPr>
            <a:cxnSpLocks/>
            <a:stCxn id="7" idx="3"/>
            <a:endCxn id="21" idx="1"/>
          </p:cNvCxnSpPr>
          <p:nvPr/>
        </p:nvCxnSpPr>
        <p:spPr>
          <a:xfrm flipV="1">
            <a:off x="3906253" y="3301240"/>
            <a:ext cx="986589" cy="1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8E37428-CE4B-58E9-E32F-8A5A40269E07}"/>
              </a:ext>
            </a:extLst>
          </p:cNvPr>
          <p:cNvCxnSpPr>
            <a:cxnSpLocks/>
            <a:stCxn id="15" idx="6"/>
            <a:endCxn id="16" idx="1"/>
          </p:cNvCxnSpPr>
          <p:nvPr/>
        </p:nvCxnSpPr>
        <p:spPr>
          <a:xfrm flipV="1">
            <a:off x="6242387" y="3259060"/>
            <a:ext cx="23461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6A33F47-F9B5-C2D9-0041-5235A131945A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 flipV="1">
            <a:off x="7299160" y="2292005"/>
            <a:ext cx="1800722" cy="967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BD3154D-775A-5D3D-8E9B-C2E9ACA3BFFE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>
            <a:off x="10357182" y="2993857"/>
            <a:ext cx="693820" cy="265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94D88C5-8879-3BDA-E43D-2882CD043354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9669378" y="2993857"/>
            <a:ext cx="687804" cy="265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568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99D7C-BDBA-E90F-0B14-55BFC0FC9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B9944-C98E-CF84-7863-ABF23EB08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Experimental Design: Re-evaluation under climate change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9D362-029F-BCBE-D137-5CC630165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40969-331C-544A-D1B5-78812D642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043FE-E403-7D6B-FCF0-CF2FC3115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17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F0ECD6-76DD-54FD-1AC3-0B69AE491835}"/>
              </a:ext>
            </a:extLst>
          </p:cNvPr>
          <p:cNvSpPr/>
          <p:nvPr/>
        </p:nvSpPr>
        <p:spPr>
          <a:xfrm>
            <a:off x="9357360" y="1717040"/>
            <a:ext cx="2415540" cy="2336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64280B-2E2A-2BAD-B8C0-EB2D63C99078}"/>
              </a:ext>
            </a:extLst>
          </p:cNvPr>
          <p:cNvSpPr/>
          <p:nvPr/>
        </p:nvSpPr>
        <p:spPr>
          <a:xfrm>
            <a:off x="9982200" y="1986280"/>
            <a:ext cx="1976120" cy="391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8460E61-BCFC-1D03-005B-E56178423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105" y="1265376"/>
            <a:ext cx="6484989" cy="18329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7B112C4-5E91-E5FC-63A2-6821EA9CC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104" y="3681058"/>
            <a:ext cx="6595009" cy="22117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2554392-FA67-3E57-3DD8-A01089128B78}"/>
              </a:ext>
            </a:extLst>
          </p:cNvPr>
          <p:cNvSpPr txBox="1"/>
          <p:nvPr/>
        </p:nvSpPr>
        <p:spPr>
          <a:xfrm>
            <a:off x="528320" y="2062044"/>
            <a:ext cx="418592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Inspired by parametric harmonic formulation from Quinn et al. (2018).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Instead of parameterizing the </a:t>
            </a:r>
            <a:r>
              <a:rPr lang="en-US" sz="2000" b="1" dirty="0"/>
              <a:t>log-space streamflow</a:t>
            </a:r>
            <a:r>
              <a:rPr lang="en-US" sz="2000" dirty="0"/>
              <a:t>, parameterize the </a:t>
            </a:r>
            <a:r>
              <a:rPr lang="en-US" sz="2000" b="1" dirty="0"/>
              <a:t>relative change in streamflow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53936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8FFF4-3684-EBBE-9531-74270DED7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7E8E0-A1AC-1435-F370-604E1B43D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Experimental Design: Re-evaluation under climate change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BEA6E-13CC-6BB5-FC2A-D34ACFCFC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3D3FF-1876-9E45-B7D5-33A72A2EB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14CED-AE00-931F-3ECD-7DC6A218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18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4E12E1-2E36-AD46-4D57-8D44FF7134F1}"/>
              </a:ext>
            </a:extLst>
          </p:cNvPr>
          <p:cNvSpPr/>
          <p:nvPr/>
        </p:nvSpPr>
        <p:spPr>
          <a:xfrm>
            <a:off x="9357360" y="1717040"/>
            <a:ext cx="2415540" cy="2336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4B4699-44B3-D492-8371-4DCF88D8A1E0}"/>
              </a:ext>
            </a:extLst>
          </p:cNvPr>
          <p:cNvSpPr/>
          <p:nvPr/>
        </p:nvSpPr>
        <p:spPr>
          <a:xfrm>
            <a:off x="9982200" y="1986280"/>
            <a:ext cx="1976120" cy="391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784DAD-8F61-0E3E-E95E-40FBC9F2A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77" y="3568728"/>
            <a:ext cx="11890844" cy="2307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48D096-4527-52C7-A9A2-8E0B30145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795" y="2413000"/>
            <a:ext cx="8830408" cy="5392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BE2520-E1AD-FE73-4B48-CC43C27174B8}"/>
              </a:ext>
            </a:extLst>
          </p:cNvPr>
          <p:cNvSpPr txBox="1"/>
          <p:nvPr/>
        </p:nvSpPr>
        <p:spPr>
          <a:xfrm>
            <a:off x="1418492" y="1308194"/>
            <a:ext cx="9935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Can a 3 parameter harmonic capture CMIP6 informed monthly flow changes?</a:t>
            </a:r>
          </a:p>
        </p:txBody>
      </p:sp>
    </p:spTree>
    <p:extLst>
      <p:ext uri="{BB962C8B-B14F-4D97-AF65-F5344CB8AC3E}">
        <p14:creationId xmlns:p14="http://schemas.microsoft.com/office/powerpoint/2010/main" val="3662282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65CCA-4E37-ED6A-E76B-FF9EFA23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A20C4-E72A-CE72-0F97-1ABF311F5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Experimental Design: Re-evaluation under climate change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BF356-46DD-A55D-5192-602DBC148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862EF-845D-C630-7A5F-A127FB0A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97AB5-1599-F47B-7464-A2F420B5C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19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748517-B1A3-DE40-C846-BE8F80075B83}"/>
              </a:ext>
            </a:extLst>
          </p:cNvPr>
          <p:cNvSpPr/>
          <p:nvPr/>
        </p:nvSpPr>
        <p:spPr>
          <a:xfrm>
            <a:off x="9357360" y="1717040"/>
            <a:ext cx="2415540" cy="2336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B451E0-7144-4FB2-7AF7-DD38337FD275}"/>
              </a:ext>
            </a:extLst>
          </p:cNvPr>
          <p:cNvSpPr/>
          <p:nvPr/>
        </p:nvSpPr>
        <p:spPr>
          <a:xfrm>
            <a:off x="9982200" y="1986280"/>
            <a:ext cx="1976120" cy="391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348353-8AA7-9750-6CED-F55121AA7F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63"/>
          <a:stretch>
            <a:fillRect/>
          </a:stretch>
        </p:blipFill>
        <p:spPr>
          <a:xfrm>
            <a:off x="838200" y="839883"/>
            <a:ext cx="6572250" cy="54053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F37D79C-4B7F-04CE-869A-7281528A5D26}"/>
              </a:ext>
            </a:extLst>
          </p:cNvPr>
          <p:cNvSpPr/>
          <p:nvPr/>
        </p:nvSpPr>
        <p:spPr>
          <a:xfrm>
            <a:off x="4638675" y="839883"/>
            <a:ext cx="3448050" cy="2589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AF84FA-328B-1D28-BC65-E6CEF984543D}"/>
              </a:ext>
            </a:extLst>
          </p:cNvPr>
          <p:cNvSpPr txBox="1"/>
          <p:nvPr/>
        </p:nvSpPr>
        <p:spPr>
          <a:xfrm>
            <a:off x="8020050" y="1207745"/>
            <a:ext cx="39382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Range &amp; spread of harmonic parameters for all of the CMIP6 streamflow traces (same data as paper 2) 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Fit the 3-parameter harmonic to each trace using OLS.</a:t>
            </a:r>
          </a:p>
        </p:txBody>
      </p:sp>
    </p:spTree>
    <p:extLst>
      <p:ext uri="{BB962C8B-B14F-4D97-AF65-F5344CB8AC3E}">
        <p14:creationId xmlns:p14="http://schemas.microsoft.com/office/powerpoint/2010/main" val="517468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F9C34-04F8-3D66-8D70-F36F54564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4A793-B7D2-47F5-4A1D-300F265A6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Experimental Design: Re-evaluation under climate change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3EE2C-D632-C100-E499-D7D3D014D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E095E-4010-78B3-0CF6-6F8E42B46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EB26F-B9A5-AA2A-8ED7-A04A49FB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20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036BCC-27F8-27F3-CB25-D07B65C0E401}"/>
              </a:ext>
            </a:extLst>
          </p:cNvPr>
          <p:cNvSpPr/>
          <p:nvPr/>
        </p:nvSpPr>
        <p:spPr>
          <a:xfrm>
            <a:off x="9357360" y="1717040"/>
            <a:ext cx="2415540" cy="2336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DD2091-44DD-B66D-9BF8-E9B32D55585F}"/>
              </a:ext>
            </a:extLst>
          </p:cNvPr>
          <p:cNvSpPr/>
          <p:nvPr/>
        </p:nvSpPr>
        <p:spPr>
          <a:xfrm>
            <a:off x="9982200" y="1986280"/>
            <a:ext cx="1976120" cy="391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09F6A3A-B56C-717A-D4D4-5C5299F6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59" y="1594796"/>
            <a:ext cx="9606280" cy="407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711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45952-2B17-2C42-524F-4A813A5D8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0DC1C-362B-1674-9F74-D83E8C292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Experimental Design: Re-evaluation under climate change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19B17-E2E8-BB70-D5E0-0C4F8562B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42DDA-CA34-AF87-9542-3361C721F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86FA4-7463-1A02-1EE8-7780C27CD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21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239A1D-0173-0B31-E766-09BA7200616C}"/>
              </a:ext>
            </a:extLst>
          </p:cNvPr>
          <p:cNvSpPr/>
          <p:nvPr/>
        </p:nvSpPr>
        <p:spPr>
          <a:xfrm>
            <a:off x="9357360" y="1717040"/>
            <a:ext cx="2415540" cy="2336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965F3E-21DA-AD64-67AC-7147E1360237}"/>
              </a:ext>
            </a:extLst>
          </p:cNvPr>
          <p:cNvSpPr/>
          <p:nvPr/>
        </p:nvSpPr>
        <p:spPr>
          <a:xfrm>
            <a:off x="9982200" y="1986280"/>
            <a:ext cx="1976120" cy="391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D6A40B-9161-9E64-091A-489B81D12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99" y="1494630"/>
            <a:ext cx="11353800" cy="404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838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41BE9-AF55-50D3-4A56-D12C9374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85B7A-D9C2-BEFD-B03C-F1CDDE359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Experimental Design: Re-evaluation under climate change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46678-2A29-AD6A-4B2E-3F2B6B0B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498EB-D4E2-628C-BB88-5E2E5F88C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9E94A-00B2-A060-D468-70EB04D6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1DBF50-E2A8-A3CC-0579-7D69F07B6F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-2126"/>
          <a:stretch>
            <a:fillRect/>
          </a:stretch>
        </p:blipFill>
        <p:spPr>
          <a:xfrm>
            <a:off x="444500" y="1251215"/>
            <a:ext cx="11595100" cy="395680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687BC9E-3433-CB18-D116-8C16666CE837}"/>
              </a:ext>
            </a:extLst>
          </p:cNvPr>
          <p:cNvSpPr/>
          <p:nvPr/>
        </p:nvSpPr>
        <p:spPr>
          <a:xfrm>
            <a:off x="9357360" y="1717040"/>
            <a:ext cx="2415540" cy="2336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75EB-EC0C-0EE6-3255-EDE7037C4508}"/>
              </a:ext>
            </a:extLst>
          </p:cNvPr>
          <p:cNvSpPr/>
          <p:nvPr/>
        </p:nvSpPr>
        <p:spPr>
          <a:xfrm>
            <a:off x="9982200" y="1986280"/>
            <a:ext cx="1976120" cy="391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8B7A6D-C546-48B9-5DAA-E9F5CE04AD99}"/>
              </a:ext>
            </a:extLst>
          </p:cNvPr>
          <p:cNvSpPr/>
          <p:nvPr/>
        </p:nvSpPr>
        <p:spPr>
          <a:xfrm>
            <a:off x="4216400" y="1412240"/>
            <a:ext cx="7467600" cy="352552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CBC960-FCFB-66A6-3B0A-EEC45FF2BBB6}"/>
              </a:ext>
            </a:extLst>
          </p:cNvPr>
          <p:cNvSpPr/>
          <p:nvPr/>
        </p:nvSpPr>
        <p:spPr>
          <a:xfrm>
            <a:off x="3502660" y="1233425"/>
            <a:ext cx="7467600" cy="3007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EE4B5D-F645-2150-4FC6-02B2228115EA}"/>
              </a:ext>
            </a:extLst>
          </p:cNvPr>
          <p:cNvSpPr txBox="1"/>
          <p:nvPr/>
        </p:nvSpPr>
        <p:spPr>
          <a:xfrm>
            <a:off x="4870539" y="2072064"/>
            <a:ext cx="7240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Grey = LHS samples inside the hypercube containing 90% of CMIP6 scenarios</a:t>
            </a:r>
          </a:p>
          <a:p>
            <a:endParaRPr lang="en-US" dirty="0"/>
          </a:p>
          <a:p>
            <a:r>
              <a:rPr lang="en-US" dirty="0"/>
              <a:t>Color markers = fitted parameters from LHS ensemble</a:t>
            </a:r>
          </a:p>
        </p:txBody>
      </p:sp>
    </p:spTree>
    <p:extLst>
      <p:ext uri="{BB962C8B-B14F-4D97-AF65-F5344CB8AC3E}">
        <p14:creationId xmlns:p14="http://schemas.microsoft.com/office/powerpoint/2010/main" val="1846297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8F093-075B-8FA9-C241-DC58D2920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1E561-B2B4-CFCD-8062-A8A7A84FA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Experimental Design: Re-evaluation under climate change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A90B1-B266-4DC7-CA54-8452410CE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D6B4D-AD19-A8B2-8AEC-EF0A8DD6C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E16F3-95F5-409E-2513-8724CED5C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24C08E-C5A5-A270-7655-AE4BC5B87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251215"/>
            <a:ext cx="11353800" cy="395680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D3AE170-48D1-6345-BE9E-6838AAC3002F}"/>
              </a:ext>
            </a:extLst>
          </p:cNvPr>
          <p:cNvSpPr/>
          <p:nvPr/>
        </p:nvSpPr>
        <p:spPr>
          <a:xfrm>
            <a:off x="9357360" y="1717040"/>
            <a:ext cx="2415540" cy="2336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255C3C-9EAC-B9AD-33E9-8456BDD0B750}"/>
              </a:ext>
            </a:extLst>
          </p:cNvPr>
          <p:cNvSpPr/>
          <p:nvPr/>
        </p:nvSpPr>
        <p:spPr>
          <a:xfrm>
            <a:off x="9982200" y="1986280"/>
            <a:ext cx="1976120" cy="391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47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56EFA-07C7-BD47-2D0E-CF3BD59EC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70964-940B-D4D0-D549-830C90E6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Experimental Design: Re-evaluation under climate change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23D69-C35A-F7C1-769E-2F6F357BF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45C73-19B7-3E82-70A2-5EADFB114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87C99-7E82-1E93-9947-BFB2BAC20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A6B0F1-BB78-2418-275B-05B2802A2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" y="1341474"/>
            <a:ext cx="11663680" cy="454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72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75F86-B142-EC8E-1EB2-FF9F493D1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62F3C-D16F-62CF-8B05-2D6431D31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Experimental Design: Re-evaluation under climate change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2F4B4-5037-9292-81C5-F6D90DD41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3B103-0D9D-BE47-9A8E-344D024D3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91093-B21B-5D33-4AF5-9C075FE35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C4FC1DE-783D-8155-65AA-31B4CDEF5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241" y="1086871"/>
            <a:ext cx="6332238" cy="507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46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5A31A-8FB7-A335-B156-96EB647A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137D3-6260-327B-2B73-017956ED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E8657-2123-A4F2-8100-4465384A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A9FCB-0257-17AF-12DE-2962D8B1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26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9DB5A-714E-077C-CA06-DDDFC8F4841E}"/>
              </a:ext>
            </a:extLst>
          </p:cNvPr>
          <p:cNvSpPr/>
          <p:nvPr/>
        </p:nvSpPr>
        <p:spPr>
          <a:xfrm>
            <a:off x="0" y="1491916"/>
            <a:ext cx="12191999" cy="3481137"/>
          </a:xfrm>
          <a:prstGeom prst="rect">
            <a:avLst/>
          </a:prstGeom>
          <a:solidFill>
            <a:srgbClr val="152C47"/>
          </a:solidFill>
          <a:ln>
            <a:solidFill>
              <a:srgbClr val="152C4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NYC Reservoir Operations</a:t>
            </a:r>
          </a:p>
          <a:p>
            <a:pPr algn="ctr"/>
            <a:r>
              <a:rPr lang="en-US" sz="3200" i="1" dirty="0">
                <a:solidFill>
                  <a:schemeClr val="bg1"/>
                </a:solidFill>
              </a:rPr>
              <a:t>Problem Formulation</a:t>
            </a:r>
          </a:p>
        </p:txBody>
      </p:sp>
    </p:spTree>
    <p:extLst>
      <p:ext uri="{BB962C8B-B14F-4D97-AF65-F5344CB8AC3E}">
        <p14:creationId xmlns:p14="http://schemas.microsoft.com/office/powerpoint/2010/main" val="273668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1D24F-E74D-AFF0-CA24-B50DDA8E5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C2972-D1BD-C66B-9295-AAC8A5CB0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8D578-2DCA-1AB4-CC6C-DB0CAFF7D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B7A09-E48B-4222-F4B8-CD5046B8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16CF3-92E3-6BE7-6F1E-1A8FAE36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654779-3964-394F-D48D-FFA8A2053608}"/>
              </a:ext>
            </a:extLst>
          </p:cNvPr>
          <p:cNvSpPr txBox="1"/>
          <p:nvPr/>
        </p:nvSpPr>
        <p:spPr>
          <a:xfrm>
            <a:off x="505766" y="702904"/>
            <a:ext cx="11104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Overview of the FFMP operational rules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78204F-A1AA-7716-5BAE-3803E8351E24}"/>
              </a:ext>
            </a:extLst>
          </p:cNvPr>
          <p:cNvSpPr/>
          <p:nvPr/>
        </p:nvSpPr>
        <p:spPr>
          <a:xfrm>
            <a:off x="932564" y="2371637"/>
            <a:ext cx="3916974" cy="3856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Max NYC &amp; NJ Diversion Limits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3229DC-1F45-E15B-5F76-1972316E718A}"/>
              </a:ext>
            </a:extLst>
          </p:cNvPr>
          <p:cNvSpPr/>
          <p:nvPr/>
        </p:nvSpPr>
        <p:spPr>
          <a:xfrm>
            <a:off x="932564" y="1902280"/>
            <a:ext cx="391697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Minimum Flow Target at Montague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801F91D-2E21-79F5-7571-60ED6C07E903}"/>
              </a:ext>
            </a:extLst>
          </p:cNvPr>
          <p:cNvSpPr txBox="1"/>
          <p:nvPr/>
        </p:nvSpPr>
        <p:spPr>
          <a:xfrm>
            <a:off x="838200" y="1366010"/>
            <a:ext cx="586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Supreme Court established:</a:t>
            </a:r>
          </a:p>
          <a:p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30BA20-6175-36B5-17D9-493793DABCD5}"/>
              </a:ext>
            </a:extLst>
          </p:cNvPr>
          <p:cNvSpPr txBox="1"/>
          <p:nvPr/>
        </p:nvSpPr>
        <p:spPr>
          <a:xfrm>
            <a:off x="838200" y="3093013"/>
            <a:ext cx="11104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i="1" dirty="0"/>
              <a:t>Flexible Flow Management Program (FFMP, 2017)</a:t>
            </a:r>
            <a:r>
              <a:rPr lang="en-US" dirty="0"/>
              <a:t> was established, via unanimous consent from the Decree parties, to provide </a:t>
            </a:r>
            <a:r>
              <a:rPr lang="en-US" i="1" dirty="0"/>
              <a:t>flexibility</a:t>
            </a:r>
            <a:r>
              <a:rPr lang="en-US" dirty="0"/>
              <a:t> to these requirements during periods of drought to alleviate water stress.</a:t>
            </a:r>
          </a:p>
          <a:p>
            <a:endParaRPr lang="en-US" dirty="0"/>
          </a:p>
          <a:p>
            <a:r>
              <a:rPr lang="en-US" dirty="0"/>
              <a:t>The FFMP recognizes the inherent tension between </a:t>
            </a:r>
            <a:r>
              <a:rPr lang="en-US" i="1" dirty="0"/>
              <a:t>water diversions</a:t>
            </a:r>
            <a:r>
              <a:rPr lang="en-US" dirty="0"/>
              <a:t> and </a:t>
            </a:r>
            <a:r>
              <a:rPr lang="en-US" i="1" dirty="0"/>
              <a:t>downstream flow targets. </a:t>
            </a:r>
            <a:endParaRPr lang="en-US" dirty="0"/>
          </a:p>
          <a:p>
            <a:endParaRPr lang="en-US" dirty="0"/>
          </a:p>
          <a:p>
            <a:r>
              <a:rPr lang="en-US" dirty="0"/>
              <a:t>As drought stress increases: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NYC and NJ diversion allocations </a:t>
            </a:r>
            <a:r>
              <a:rPr lang="en-US" b="1" dirty="0"/>
              <a:t>decrease</a:t>
            </a:r>
            <a:r>
              <a:rPr lang="en-US" dirty="0"/>
              <a:t>, leading to municipal supply curtailment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Montague (and Trenton) streamflow targets </a:t>
            </a:r>
            <a:r>
              <a:rPr lang="en-US" b="1" dirty="0"/>
              <a:t>decrease</a:t>
            </a:r>
            <a:r>
              <a:rPr lang="en-US" dirty="0"/>
              <a:t>, leading to downstream environmental and supply risk.</a:t>
            </a:r>
          </a:p>
        </p:txBody>
      </p:sp>
      <p:sp>
        <p:nvSpPr>
          <p:cNvPr id="50" name="Right Brace 49">
            <a:extLst>
              <a:ext uri="{FF2B5EF4-FFF2-40B4-BE49-F238E27FC236}">
                <a16:creationId xmlns:a16="http://schemas.microsoft.com/office/drawing/2014/main" id="{F12594A5-9839-9567-A975-5872612CD4F4}"/>
              </a:ext>
            </a:extLst>
          </p:cNvPr>
          <p:cNvSpPr/>
          <p:nvPr/>
        </p:nvSpPr>
        <p:spPr>
          <a:xfrm>
            <a:off x="5176800" y="1719455"/>
            <a:ext cx="244800" cy="12312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AE00F-7FEB-F51C-6E26-DAB41D297105}"/>
              </a:ext>
            </a:extLst>
          </p:cNvPr>
          <p:cNvSpPr txBox="1"/>
          <p:nvPr/>
        </p:nvSpPr>
        <p:spPr>
          <a:xfrm>
            <a:off x="5485800" y="2012341"/>
            <a:ext cx="586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Court requires unanimous agreement from all DRBC Decree parties to modify these requirements.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5038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8230A-37F3-7F3E-68B1-2346EEE7B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056DD-D9C1-C197-7F61-2DD174276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68B96-5BCD-F3C1-5D45-1496763C1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766CB-5BB0-96F2-72AE-5C1CC9185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40DB6-F872-1686-66E3-A86C0CD0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1D8F58-F88E-771A-56B5-8703E79A1DFD}"/>
              </a:ext>
            </a:extLst>
          </p:cNvPr>
          <p:cNvSpPr txBox="1"/>
          <p:nvPr/>
        </p:nvSpPr>
        <p:spPr>
          <a:xfrm>
            <a:off x="505766" y="702904"/>
            <a:ext cx="11104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Overview of the FFMP operational rules</a:t>
            </a:r>
            <a:endParaRPr lang="en-US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C301DD-997E-D83F-3C39-78E64FA5F1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627"/>
          <a:stretch/>
        </p:blipFill>
        <p:spPr>
          <a:xfrm>
            <a:off x="714279" y="2348361"/>
            <a:ext cx="4205659" cy="298718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C7F5BF5-4202-CBDB-F45D-FE6AE5EE07F6}"/>
              </a:ext>
            </a:extLst>
          </p:cNvPr>
          <p:cNvSpPr/>
          <p:nvPr/>
        </p:nvSpPr>
        <p:spPr>
          <a:xfrm>
            <a:off x="7880564" y="1525002"/>
            <a:ext cx="3916974" cy="3856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Baseline</a:t>
            </a:r>
            <a:r>
              <a:rPr lang="en-US" sz="1600" dirty="0"/>
              <a:t> Max NYC &amp; NJ Diversion Limits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0A27C2-1B3C-04FB-4222-F8EA972FE2CE}"/>
              </a:ext>
            </a:extLst>
          </p:cNvPr>
          <p:cNvSpPr/>
          <p:nvPr/>
        </p:nvSpPr>
        <p:spPr>
          <a:xfrm>
            <a:off x="7880564" y="1055645"/>
            <a:ext cx="391697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Baseline </a:t>
            </a:r>
            <a:r>
              <a:rPr lang="en-US" sz="1600" dirty="0"/>
              <a:t>Minimum Flow Target at Montague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0FB0F1-4473-A21A-CF21-2B8436E4FC10}"/>
              </a:ext>
            </a:extLst>
          </p:cNvPr>
          <p:cNvSpPr/>
          <p:nvPr/>
        </p:nvSpPr>
        <p:spPr>
          <a:xfrm>
            <a:off x="7069547" y="4040239"/>
            <a:ext cx="4733327" cy="76293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Minimum Daily Reservoir Releases (L3-L5)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E21F75-A994-BAF4-4B55-02D7AA727DB1}"/>
              </a:ext>
            </a:extLst>
          </p:cNvPr>
          <p:cNvSpPr/>
          <p:nvPr/>
        </p:nvSpPr>
        <p:spPr>
          <a:xfrm>
            <a:off x="7069546" y="4923461"/>
            <a:ext cx="4733327" cy="76293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NYC Reservoir Flood Prevention Operations (L1)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45DB36A-D684-5B7D-BFCE-0CCF7FE5ADA2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4919938" y="3841953"/>
            <a:ext cx="2149609" cy="57975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701C62F-9AAC-F64C-7483-10A50D92D6D3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4919938" y="3841953"/>
            <a:ext cx="2149608" cy="146297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6938643-8270-740C-6208-038871A671AB}"/>
              </a:ext>
            </a:extLst>
          </p:cNvPr>
          <p:cNvSpPr txBox="1"/>
          <p:nvPr/>
        </p:nvSpPr>
        <p:spPr>
          <a:xfrm>
            <a:off x="8733202" y="722710"/>
            <a:ext cx="3206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Court Mandated (unchanged, fixed)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23D938-9176-DE15-826F-9775174BC6F0}"/>
              </a:ext>
            </a:extLst>
          </p:cNvPr>
          <p:cNvSpPr/>
          <p:nvPr/>
        </p:nvSpPr>
        <p:spPr>
          <a:xfrm>
            <a:off x="7069783" y="3157017"/>
            <a:ext cx="4727757" cy="76293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Montague flow target reduction (L3-L5)</a:t>
            </a:r>
            <a:endParaRPr lang="en-US" i="1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7689196-07E2-1FD9-B11D-EF9399BE896A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 flipV="1">
            <a:off x="4919938" y="3538485"/>
            <a:ext cx="2149845" cy="3034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1FCCAF20-8198-B4A4-2E2C-7D805C039126}"/>
              </a:ext>
            </a:extLst>
          </p:cNvPr>
          <p:cNvSpPr/>
          <p:nvPr/>
        </p:nvSpPr>
        <p:spPr>
          <a:xfrm>
            <a:off x="7069782" y="2231457"/>
            <a:ext cx="4727757" cy="76293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Allowable NYC &amp; NJ diversion reduction (L3-L5)</a:t>
            </a:r>
            <a:endParaRPr lang="en-US" i="1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8DDB38E-8C32-6D21-BDFE-C7894F2AC7CC}"/>
              </a:ext>
            </a:extLst>
          </p:cNvPr>
          <p:cNvCxnSpPr>
            <a:cxnSpLocks/>
            <a:stCxn id="13" idx="3"/>
            <a:endCxn id="34" idx="1"/>
          </p:cNvCxnSpPr>
          <p:nvPr/>
        </p:nvCxnSpPr>
        <p:spPr>
          <a:xfrm flipV="1">
            <a:off x="4919938" y="2612925"/>
            <a:ext cx="2149844" cy="122902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C85F254-1453-7926-AAD6-2A6FE5DCF707}"/>
              </a:ext>
            </a:extLst>
          </p:cNvPr>
          <p:cNvSpPr txBox="1"/>
          <p:nvPr/>
        </p:nvSpPr>
        <p:spPr>
          <a:xfrm>
            <a:off x="596741" y="1959272"/>
            <a:ext cx="4525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NYC storage zones dictate operational rules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DA324D-53C9-EEA2-50D2-DC1B631AD7E4}"/>
              </a:ext>
            </a:extLst>
          </p:cNvPr>
          <p:cNvSpPr txBox="1"/>
          <p:nvPr/>
        </p:nvSpPr>
        <p:spPr>
          <a:xfrm>
            <a:off x="4882376" y="2381155"/>
            <a:ext cx="2351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Storage Zone</a:t>
            </a:r>
          </a:p>
          <a:p>
            <a:pPr algn="ctr"/>
            <a:r>
              <a:rPr lang="en-US" sz="1400" b="1" dirty="0"/>
              <a:t>Determines</a:t>
            </a:r>
          </a:p>
        </p:txBody>
      </p:sp>
    </p:spTree>
    <p:extLst>
      <p:ext uri="{BB962C8B-B14F-4D97-AF65-F5344CB8AC3E}">
        <p14:creationId xmlns:p14="http://schemas.microsoft.com/office/powerpoint/2010/main" val="3433554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178E7-5ABE-2966-3625-B5AEB581E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E829E-3485-4E0D-0A38-3F8376F85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10954-886C-7A5B-33AA-9C4FB19A9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CDDBE-99AB-5941-03B3-6B52BF502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25205-8E7B-D584-BFAD-001F0D470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FD87EB-C02E-725E-E992-525139873A32}"/>
              </a:ext>
            </a:extLst>
          </p:cNvPr>
          <p:cNvSpPr txBox="1"/>
          <p:nvPr/>
        </p:nvSpPr>
        <p:spPr>
          <a:xfrm>
            <a:off x="3523800" y="469689"/>
            <a:ext cx="5475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Overview of the FFMP operational rules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EC9EF1-DB83-DC37-6B5F-F3D36E369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998" y="769447"/>
            <a:ext cx="6474001" cy="562982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5A9D91C-BFDF-14FE-107D-C8B87CF970D6}"/>
              </a:ext>
            </a:extLst>
          </p:cNvPr>
          <p:cNvSpPr/>
          <p:nvPr/>
        </p:nvSpPr>
        <p:spPr>
          <a:xfrm>
            <a:off x="396000" y="839021"/>
            <a:ext cx="1641600" cy="124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Storage zones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188519-EB26-9D4F-82E0-9EF04CAD6B02}"/>
              </a:ext>
            </a:extLst>
          </p:cNvPr>
          <p:cNvCxnSpPr>
            <a:stCxn id="8" idx="3"/>
          </p:cNvCxnSpPr>
          <p:nvPr/>
        </p:nvCxnSpPr>
        <p:spPr>
          <a:xfrm flipV="1">
            <a:off x="2037600" y="1461600"/>
            <a:ext cx="821398" cy="1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D66710E-34B5-C9A6-4AD9-DC560430814C}"/>
              </a:ext>
            </a:extLst>
          </p:cNvPr>
          <p:cNvSpPr/>
          <p:nvPr/>
        </p:nvSpPr>
        <p:spPr>
          <a:xfrm>
            <a:off x="396000" y="2493169"/>
            <a:ext cx="1641600" cy="124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Minimum daily release requirements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2407476-F035-3BAA-6885-E2BDE21D05B8}"/>
              </a:ext>
            </a:extLst>
          </p:cNvPr>
          <p:cNvCxnSpPr>
            <a:stCxn id="18" idx="3"/>
          </p:cNvCxnSpPr>
          <p:nvPr/>
        </p:nvCxnSpPr>
        <p:spPr>
          <a:xfrm flipV="1">
            <a:off x="2037600" y="3115748"/>
            <a:ext cx="821398" cy="1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9452DD9-7218-CA9E-14A8-7B050A0EBB87}"/>
              </a:ext>
            </a:extLst>
          </p:cNvPr>
          <p:cNvSpPr/>
          <p:nvPr/>
        </p:nvSpPr>
        <p:spPr>
          <a:xfrm>
            <a:off x="9908400" y="891726"/>
            <a:ext cx="1641600" cy="124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NYC &amp; NJ allocation reductions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B9CEEF7-AF82-222D-F0CF-1B6DA2488008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9315599" y="1166400"/>
            <a:ext cx="592801" cy="349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184EF5F-060F-F1E5-C63C-E13570973AEB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9315599" y="1516216"/>
            <a:ext cx="592801" cy="276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A23DC477-55FB-81A0-173D-0CC71B32C2DF}"/>
              </a:ext>
            </a:extLst>
          </p:cNvPr>
          <p:cNvSpPr/>
          <p:nvPr/>
        </p:nvSpPr>
        <p:spPr>
          <a:xfrm>
            <a:off x="396000" y="4180776"/>
            <a:ext cx="1641600" cy="124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Montague &amp; Trenton flow target reductions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44BE05B-ECBE-53DF-DC5B-1DB952C3A113}"/>
              </a:ext>
            </a:extLst>
          </p:cNvPr>
          <p:cNvCxnSpPr>
            <a:cxnSpLocks/>
          </p:cNvCxnSpPr>
          <p:nvPr/>
        </p:nvCxnSpPr>
        <p:spPr>
          <a:xfrm>
            <a:off x="2037600" y="4805266"/>
            <a:ext cx="8213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93FD83AB-F2E3-392F-8413-8FB59F1177D8}"/>
              </a:ext>
            </a:extLst>
          </p:cNvPr>
          <p:cNvSpPr/>
          <p:nvPr/>
        </p:nvSpPr>
        <p:spPr>
          <a:xfrm>
            <a:off x="9908400" y="4266943"/>
            <a:ext cx="1641600" cy="124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Daily releases while in flood zone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9C89BF7-45AF-27FD-B8D8-B4101FB73A5E}"/>
              </a:ext>
            </a:extLst>
          </p:cNvPr>
          <p:cNvCxnSpPr>
            <a:cxnSpLocks/>
          </p:cNvCxnSpPr>
          <p:nvPr/>
        </p:nvCxnSpPr>
        <p:spPr>
          <a:xfrm flipH="1">
            <a:off x="9315599" y="4891433"/>
            <a:ext cx="592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58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 animBg="1"/>
      <p:bldP spid="22" grpId="0" animBg="1"/>
      <p:bldP spid="41" grpId="0" animBg="1"/>
      <p:bldP spid="4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3C8DC-A59B-9434-473C-BC99F4092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4B0-9FDD-A41B-C769-BC780B2EA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</a:t>
            </a:r>
            <a:r>
              <a:rPr lang="en-US" i="1" dirty="0"/>
              <a:t>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C820E-983B-D67D-60F6-6CE4EA72F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166F3-5A5D-68F5-FB0C-09BFDAA35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469BF-8C95-DD84-C8F0-E8327A6B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30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FE54B7E-4721-4AB3-DE03-2564E51F4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435786"/>
              </p:ext>
            </p:extLst>
          </p:nvPr>
        </p:nvGraphicFramePr>
        <p:xfrm>
          <a:off x="979479" y="735550"/>
          <a:ext cx="10107621" cy="550203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47641">
                  <a:extLst>
                    <a:ext uri="{9D8B030D-6E8A-4147-A177-3AD203B41FA5}">
                      <a16:colId xmlns:a16="http://schemas.microsoft.com/office/drawing/2014/main" val="1651537186"/>
                    </a:ext>
                  </a:extLst>
                </a:gridCol>
                <a:gridCol w="2452838">
                  <a:extLst>
                    <a:ext uri="{9D8B030D-6E8A-4147-A177-3AD203B41FA5}">
                      <a16:colId xmlns:a16="http://schemas.microsoft.com/office/drawing/2014/main" val="36722869"/>
                    </a:ext>
                  </a:extLst>
                </a:gridCol>
                <a:gridCol w="5007142">
                  <a:extLst>
                    <a:ext uri="{9D8B030D-6E8A-4147-A177-3AD203B41FA5}">
                      <a16:colId xmlns:a16="http://schemas.microsoft.com/office/drawing/2014/main" val="3557325323"/>
                    </a:ext>
                  </a:extLst>
                </a:gridCol>
              </a:tblGrid>
              <a:tr h="210889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No. of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509822"/>
                  </a:ext>
                </a:extLst>
              </a:tr>
              <a:tr h="65727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Storage Zone Boundary </a:t>
                      </a:r>
                    </a:p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Vertical Shifts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x 6 zones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x 4 points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= 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 + cosine + sine components (3 each) of a single annual harmonic for each of the 6 storage-zone threshold curves L1b–L5. Raise/lower the rule curves as a fraction of capacity, evaluated at each curve's own corner date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5764831"/>
                  </a:ext>
                </a:extLst>
              </a:tr>
              <a:tr h="65727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Storage Zone Boundary </a:t>
                      </a:r>
                    </a:p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Temporal 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x 6 zones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x 4 points 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= 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Day-of-year phase shift (±30 days) for each of the 6 zone-boundary curves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2606916"/>
                  </a:ext>
                </a:extLst>
              </a:tr>
              <a:tr h="65727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Montague &amp; Trenton Streamflow Target Reduction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(2 zones + 1 zone x 4 seasons) x 2 flow targets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= 8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b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Multipliers on the Montague/Trenton monthly flow-target factor tables</a:t>
                      </a: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3363014810"/>
                  </a:ext>
                </a:extLst>
              </a:tr>
              <a:tr h="65727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NYC Diversion Reduction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x 3 zones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Fractional multipliers on the NYC diversion entitlement for the three drought stages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524069"/>
                  </a:ext>
                </a:extLst>
              </a:tr>
              <a:tr h="65727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NJ Diversion Reduction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x 2 zones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Fractional multipliers on the NJ diversion entitlement for L4-L5 drought stages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318520"/>
                  </a:ext>
                </a:extLst>
              </a:tr>
              <a:tr h="65727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Flood Mitigation Releases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x 3 reservoirs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x 2 zones 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=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Multipliers on the default L1a/L1b flood-release schedule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556750"/>
                  </a:ext>
                </a:extLst>
              </a:tr>
              <a:tr h="65727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Minimum Daily Release Scaling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x 4 seasons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 multiplier per FFMP on the conservation-zone (L1c-and-below) minimum-release baseline schedules across all three reservoirs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722795"/>
                  </a:ext>
                </a:extLst>
              </a:tr>
              <a:tr h="657274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+mn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1" dirty="0">
                          <a:latin typeface="+mn-lt"/>
                        </a:rPr>
                        <a:t>= 63 decision variables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+mn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465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4665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84743-198E-1ADD-DC9F-80BAA0BFF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7B289-17B9-4335-BD2E-072C619B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</a:t>
            </a:r>
            <a:r>
              <a:rPr lang="en-US" i="1" dirty="0"/>
              <a:t>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BC739-C6F0-F579-D506-06C0AEAFF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05DCE-DAC8-2EB5-CF57-D57CF1189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85CC8-1858-03A0-28BC-F4118B2E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31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AE49D7-7821-6B24-7464-D4E33FB78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0840"/>
            <a:ext cx="12192000" cy="357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4337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0EC2C-F327-54DE-ED6B-D02E4AB7D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37BBB-DD11-DE48-88BF-8C34A95A7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</a:t>
            </a:r>
            <a:r>
              <a:rPr lang="en-US" i="1" dirty="0"/>
              <a:t>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A7D69-2E0F-C5CF-9B8D-B5AA0A67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CA83C-5653-0274-BDD0-EC2EC9D11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8DAFB-A6D4-6917-AF8D-8BF17199F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F8FCBE-1842-9B38-17B1-221EF6E13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686" y="649364"/>
            <a:ext cx="6593114" cy="57334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EE4B73-D45B-5A2E-CA35-B3192856A04E}"/>
              </a:ext>
            </a:extLst>
          </p:cNvPr>
          <p:cNvSpPr txBox="1"/>
          <p:nvPr/>
        </p:nvSpPr>
        <p:spPr>
          <a:xfrm>
            <a:off x="601980" y="1039056"/>
            <a:ext cx="3794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Visualizing random decision variables and the resulting policy rules</a:t>
            </a:r>
          </a:p>
        </p:txBody>
      </p:sp>
    </p:spTree>
    <p:extLst>
      <p:ext uri="{BB962C8B-B14F-4D97-AF65-F5344CB8AC3E}">
        <p14:creationId xmlns:p14="http://schemas.microsoft.com/office/powerpoint/2010/main" val="33755083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76966-E256-D253-0A24-A8296B4ED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A3DF-AA2C-DEDA-10AF-48079188F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</a:t>
            </a:r>
            <a:r>
              <a:rPr lang="en-US" i="1" dirty="0"/>
              <a:t>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9E94F-2606-59B2-A492-3A2C072D5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0C15B-0707-1D6F-7C2E-5A31E8AE4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03FFF-343B-F28B-66EE-96299783E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17AE2-2068-93B5-2B7B-3EE68EE9993F}"/>
              </a:ext>
            </a:extLst>
          </p:cNvPr>
          <p:cNvSpPr txBox="1"/>
          <p:nvPr/>
        </p:nvSpPr>
        <p:spPr>
          <a:xfrm>
            <a:off x="601980" y="1039056"/>
            <a:ext cx="3794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Visualizing random decision variables and the resulting policy rules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B4019D-3658-6CA1-1668-04BDAA9FA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833" y="0"/>
            <a:ext cx="78863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306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BA4DF-B1DF-106B-BF19-0B59C3016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484E-CBF0-BF81-F263-28C52683E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</a:t>
            </a:r>
            <a:r>
              <a:rPr lang="en-US" i="1" dirty="0"/>
              <a:t>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94BD3-4D90-FD30-8129-A4A5F6275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B6D6-0E94-7321-38A3-0338AF84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E5850-75B4-2E53-B56F-239D722B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779DABC-BD2B-2B91-4A15-F8EE4B3BB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556848"/>
              </p:ext>
            </p:extLst>
          </p:nvPr>
        </p:nvGraphicFramePr>
        <p:xfrm>
          <a:off x="461319" y="947351"/>
          <a:ext cx="2570205" cy="506017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70205">
                  <a:extLst>
                    <a:ext uri="{9D8B030D-6E8A-4147-A177-3AD203B41FA5}">
                      <a16:colId xmlns:a16="http://schemas.microsoft.com/office/drawing/2014/main" val="1651537186"/>
                    </a:ext>
                  </a:extLst>
                </a:gridCol>
              </a:tblGrid>
              <a:tr h="45925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509822"/>
                  </a:ext>
                </a:extLst>
              </a:tr>
              <a:tr h="65727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Storage Zone Boundaries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5764831"/>
                  </a:ext>
                </a:extLst>
              </a:tr>
              <a:tr h="65727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Streamflow Target at Montague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3014810"/>
                  </a:ext>
                </a:extLst>
              </a:tr>
              <a:tr h="65727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Allowable NYC Diversion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524069"/>
                  </a:ext>
                </a:extLst>
              </a:tr>
              <a:tr h="65727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Flood Mitigation Releases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556750"/>
                  </a:ext>
                </a:extLst>
              </a:tr>
              <a:tr h="65727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Minimum Daily Releases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722795"/>
                  </a:ext>
                </a:extLst>
              </a:tr>
              <a:tr h="657274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235127"/>
                  </a:ext>
                </a:extLst>
              </a:tr>
              <a:tr h="657274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36739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134FBD3-F412-578A-0401-0C04174337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627"/>
          <a:stretch/>
        </p:blipFill>
        <p:spPr>
          <a:xfrm>
            <a:off x="3859202" y="1297482"/>
            <a:ext cx="4934913" cy="350515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103028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2AF66-3A14-335E-D08F-A5E1188FD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9EA4-ED50-7B22-DAA0-69F71A37F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2E9F5-A49A-72BE-A097-2C5CDE422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3EF78-4943-4272-969B-C4CFF1E76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F8A4D-A771-C5E0-002C-09A8803AF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87E840-0EFA-B4BF-4AAF-6CCF815A0349}"/>
              </a:ext>
            </a:extLst>
          </p:cNvPr>
          <p:cNvSpPr txBox="1"/>
          <p:nvPr/>
        </p:nvSpPr>
        <p:spPr>
          <a:xfrm>
            <a:off x="453150" y="746599"/>
            <a:ext cx="107051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Operational parameters: </a:t>
            </a:r>
            <a:r>
              <a:rPr lang="en-US" sz="2800" dirty="0"/>
              <a:t>NYC storage zones</a:t>
            </a:r>
          </a:p>
          <a:p>
            <a:pPr lvl="1"/>
            <a:endParaRPr 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4AA4E9-6E75-BB99-AB26-4204AD5E5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928" y="1259524"/>
            <a:ext cx="6416969" cy="28452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9321CB-87F3-18A3-7FF1-B40C11E17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012" y="3950562"/>
            <a:ext cx="6416969" cy="28452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F0AE21F-D710-3B84-9276-E9FDFD9C92E3}"/>
              </a:ext>
            </a:extLst>
          </p:cNvPr>
          <p:cNvSpPr txBox="1"/>
          <p:nvPr/>
        </p:nvSpPr>
        <p:spPr>
          <a:xfrm>
            <a:off x="542602" y="1908042"/>
            <a:ext cx="42149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2400" dirty="0">
              <a:solidFill>
                <a:srgbClr val="002060"/>
              </a:solidFill>
            </a:endParaRPr>
          </a:p>
          <a:p>
            <a:pPr lvl="1"/>
            <a:r>
              <a:rPr lang="en-US" sz="2400" dirty="0">
                <a:solidFill>
                  <a:srgbClr val="002060"/>
                </a:solidFill>
              </a:rPr>
              <a:t>Vertical Shift (+/- 10%)</a:t>
            </a:r>
          </a:p>
          <a:p>
            <a:pPr lvl="1"/>
            <a:r>
              <a:rPr lang="en-US" sz="2400" dirty="0">
                <a:solidFill>
                  <a:srgbClr val="002060"/>
                </a:solidFill>
              </a:rPr>
              <a:t>Temporal Shift (+/- 30 days)</a:t>
            </a:r>
          </a:p>
        </p:txBody>
      </p:sp>
    </p:spTree>
    <p:extLst>
      <p:ext uri="{BB962C8B-B14F-4D97-AF65-F5344CB8AC3E}">
        <p14:creationId xmlns:p14="http://schemas.microsoft.com/office/powerpoint/2010/main" val="32964503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CDECB-7068-1ACF-3FA1-3A4F6B251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E74E2-3AC1-0186-7FAF-1F9C80B2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F185C-577A-8EC5-4E11-6FAB93F97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6E7B3-D2CE-C6F4-83FC-775CC5E3C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0EB25-1DE4-DC8E-5B00-D167EF25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36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DE1713-385E-F517-6D6F-0DB478648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19273"/>
            <a:ext cx="9967290" cy="495019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3EC586B-58F6-187B-99EE-D2BB1F2D3110}"/>
              </a:ext>
            </a:extLst>
          </p:cNvPr>
          <p:cNvSpPr txBox="1"/>
          <p:nvPr/>
        </p:nvSpPr>
        <p:spPr>
          <a:xfrm>
            <a:off x="453150" y="746599"/>
            <a:ext cx="107051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Operational parameters: </a:t>
            </a:r>
            <a:r>
              <a:rPr lang="en-US" sz="2800" dirty="0"/>
              <a:t>Minimum daily release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470859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FB20-3333-809B-1ABD-11572357C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923EF-23B5-0ADC-2270-D08E5633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486C8-E487-B390-7A70-C8BC5FC49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3C7C4-F2FA-D3EC-54D1-019CD5FDF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EF098-985A-17EE-D3A3-5E386281E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CF4D0-518C-0FCC-4A6D-33B84FCCAFE9}"/>
              </a:ext>
            </a:extLst>
          </p:cNvPr>
          <p:cNvSpPr txBox="1"/>
          <p:nvPr/>
        </p:nvSpPr>
        <p:spPr>
          <a:xfrm>
            <a:off x="453150" y="1291482"/>
            <a:ext cx="51928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Operational parameters:</a:t>
            </a:r>
          </a:p>
          <a:p>
            <a:endParaRPr lang="en-US" sz="2800" b="1" dirty="0"/>
          </a:p>
          <a:p>
            <a:pPr marL="457200" indent="-457200">
              <a:buAutoNum type="arabicPeriod"/>
            </a:pPr>
            <a:r>
              <a:rPr lang="en-US" sz="2800" dirty="0"/>
              <a:t>NYC Storage Zones (L1a-L5)</a:t>
            </a:r>
          </a:p>
          <a:p>
            <a:pPr marL="457200" indent="-457200">
              <a:buAutoNum type="arabicPeriod"/>
            </a:pPr>
            <a:r>
              <a:rPr lang="en-US" sz="2800" dirty="0"/>
              <a:t>Minimum daily release</a:t>
            </a:r>
          </a:p>
          <a:p>
            <a:pPr marL="457200" indent="-457200">
              <a:buAutoNum type="arabicPeriod"/>
            </a:pPr>
            <a:endParaRPr lang="en-US" sz="2800" dirty="0"/>
          </a:p>
          <a:p>
            <a:pPr lvl="1"/>
            <a:r>
              <a:rPr lang="en-US" sz="2800" dirty="0"/>
              <a:t>For each season:</a:t>
            </a:r>
          </a:p>
          <a:p>
            <a:pPr lvl="2"/>
            <a:r>
              <a:rPr lang="en-US" sz="2800" dirty="0"/>
              <a:t>Scale magnitude (+/- 10%)</a:t>
            </a:r>
          </a:p>
          <a:p>
            <a:pPr lvl="2"/>
            <a:r>
              <a:rPr lang="en-US" sz="2800" dirty="0"/>
              <a:t>Temporal shift (+/- 30 days)</a:t>
            </a:r>
          </a:p>
          <a:p>
            <a:pPr lvl="1"/>
            <a:endParaRPr lang="en-US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74E78D-06CA-B2E2-F98A-E86A25964B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59" t="5864" b="46783"/>
          <a:stretch>
            <a:fillRect/>
          </a:stretch>
        </p:blipFill>
        <p:spPr>
          <a:xfrm>
            <a:off x="5645996" y="2501314"/>
            <a:ext cx="5929208" cy="372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9078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9E3D1-0F34-7FC2-C6D5-1E0785C08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0F8A-2779-B14D-694B-FD5EAC285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Objective Definitions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0F6BD-4AE1-4A50-6A8C-7F3F12BD9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DE5BC-5C9A-808C-04D8-6FD4E96F3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65175-409E-8872-A490-7D7E36F5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38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03BB62-A209-50AF-9DE7-83141AAA0BCC}"/>
              </a:ext>
            </a:extLst>
          </p:cNvPr>
          <p:cNvSpPr txBox="1"/>
          <p:nvPr/>
        </p:nvSpPr>
        <p:spPr>
          <a:xfrm>
            <a:off x="543559" y="1147298"/>
            <a:ext cx="1110488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NYC objective definition notes:</a:t>
            </a:r>
          </a:p>
          <a:p>
            <a:endParaRPr lang="en-US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Focused on re-optimizing the </a:t>
            </a:r>
            <a:r>
              <a:rPr lang="en-US" sz="2400" b="1" i="1" dirty="0"/>
              <a:t>flexible flow management program </a:t>
            </a:r>
            <a:r>
              <a:rPr lang="en-US" sz="2400" i="1" dirty="0"/>
              <a:t>(i.e., changes to operations in drought zones) </a:t>
            </a:r>
            <a:r>
              <a:rPr lang="en-US" sz="2400" dirty="0"/>
              <a:t>and not the Court mandated NYC &amp; Montague diversions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As a result, objectives are defined </a:t>
            </a:r>
            <a:r>
              <a:rPr lang="en-US" sz="2400" i="1" dirty="0"/>
              <a:t>relative to the 1954 Supreme Court mandated requirements 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Currently not planning on using salt-front objectives since the </a:t>
            </a:r>
            <a:r>
              <a:rPr lang="en-US" sz="2400" dirty="0" err="1"/>
              <a:t>SalinityLSTM</a:t>
            </a:r>
            <a:r>
              <a:rPr lang="en-US" sz="2400" dirty="0"/>
              <a:t> does not extrapolate well above river mile ~95.  </a:t>
            </a:r>
          </a:p>
        </p:txBody>
      </p:sp>
    </p:spTree>
    <p:extLst>
      <p:ext uri="{BB962C8B-B14F-4D97-AF65-F5344CB8AC3E}">
        <p14:creationId xmlns:p14="http://schemas.microsoft.com/office/powerpoint/2010/main" val="15377057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7DD02-14DE-1AD8-EE4F-B8A18A87C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F65F-F981-0F32-014B-3CC525A9E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Objective Definitions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097B9-1F5B-56BF-6AB2-CDD852885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65F84-4A98-58F6-A1EC-1934BB493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47C4C-1D94-9F5D-17C6-4D1F4F91E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39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B8B6FFA-FF2E-CC8C-79D6-A9CD2C1B7C33}"/>
              </a:ext>
            </a:extLst>
          </p:cNvPr>
          <p:cNvGraphicFramePr>
            <a:graphicFrameLocks noGrp="1"/>
          </p:cNvGraphicFramePr>
          <p:nvPr/>
        </p:nvGraphicFramePr>
        <p:xfrm>
          <a:off x="66174" y="1024614"/>
          <a:ext cx="12001500" cy="49829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379947">
                  <a:extLst>
                    <a:ext uri="{9D8B030D-6E8A-4147-A177-3AD203B41FA5}">
                      <a16:colId xmlns:a16="http://schemas.microsoft.com/office/drawing/2014/main" val="1651537186"/>
                    </a:ext>
                  </a:extLst>
                </a:gridCol>
                <a:gridCol w="7621553">
                  <a:extLst>
                    <a:ext uri="{9D8B030D-6E8A-4147-A177-3AD203B41FA5}">
                      <a16:colId xmlns:a16="http://schemas.microsoft.com/office/drawing/2014/main" val="3557325323"/>
                    </a:ext>
                  </a:extLst>
                </a:gridCol>
              </a:tblGrid>
              <a:tr h="45224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Definition for Single-Trace Evaluation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509822"/>
                  </a:ext>
                </a:extLst>
              </a:tr>
              <a:tr h="647238">
                <a:tc>
                  <a:txBody>
                    <a:bodyPr/>
                    <a:lstStyle/>
                    <a:p>
                      <a:r>
                        <a:rPr lang="en-US" sz="1600" dirty="0"/>
                        <a:t>O1: NYC Delivery 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Percentage of simulated weeks when NYC diversion &gt;= 99% of demand (capped at 800MGD; Decree)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5764831"/>
                  </a:ext>
                </a:extLst>
              </a:tr>
              <a:tr h="647238">
                <a:tc>
                  <a:txBody>
                    <a:bodyPr/>
                    <a:lstStyle/>
                    <a:p>
                      <a:r>
                        <a:rPr lang="en-US" sz="1600" dirty="0"/>
                        <a:t>O2: NYC Delivery Shortage Vulnerability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Average shortage for the worst 10% of shortage weeks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3014810"/>
                  </a:ext>
                </a:extLst>
              </a:tr>
              <a:tr h="647238">
                <a:tc>
                  <a:txBody>
                    <a:bodyPr/>
                    <a:lstStyle/>
                    <a:p>
                      <a:r>
                        <a:rPr lang="en-US" sz="1600" dirty="0"/>
                        <a:t>O3: Montague Flow 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Percentage of simulated weeks with Montague flow above 1131MGD (Decree)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524069"/>
                  </a:ext>
                </a:extLst>
              </a:tr>
              <a:tr h="647238">
                <a:tc>
                  <a:txBody>
                    <a:bodyPr/>
                    <a:lstStyle/>
                    <a:p>
                      <a:r>
                        <a:rPr lang="en-US" sz="1600" dirty="0"/>
                        <a:t>O4: Montague Flow Shortage Vulnerability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Average shortage for the worst 10% of shortage weeks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556750"/>
                  </a:ext>
                </a:extLst>
              </a:tr>
              <a:tr h="647238">
                <a:tc>
                  <a:txBody>
                    <a:bodyPr/>
                    <a:lstStyle/>
                    <a:p>
                      <a:r>
                        <a:rPr lang="en-US" sz="1600" dirty="0"/>
                        <a:t>O5: Trenton Flow 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Percentage of simulated weeks with Trenton flow above 1938MGD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722795"/>
                  </a:ext>
                </a:extLst>
              </a:tr>
              <a:tr h="647238">
                <a:tc>
                  <a:txBody>
                    <a:bodyPr/>
                    <a:lstStyle/>
                    <a:p>
                      <a:r>
                        <a:rPr lang="en-US" sz="1600" dirty="0"/>
                        <a:t>O6: Flood Days Below NYC Reservoirs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Number of days that any of the 3 NYC flood gauges &gt; “major flood” stage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235127"/>
                  </a:ext>
                </a:extLst>
              </a:tr>
              <a:tr h="647238">
                <a:tc>
                  <a:txBody>
                    <a:bodyPr/>
                    <a:lstStyle/>
                    <a:p>
                      <a:r>
                        <a:rPr lang="en-US" sz="1600" dirty="0"/>
                        <a:t>O7: Minimum NYC Storage Outcomes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Lowest 5% storage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367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964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BB541-B496-DC2C-08DA-DAE370BD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CD805-4BDC-CF92-9B51-5E8C4F714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Objective Definitions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A1119-7762-5435-09BA-E03A234C7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23D72-7E6E-EAF7-6FAA-BA868ECF9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FCFBC-CB02-71B8-7BF7-18E74297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EF3883-A36E-212F-B639-B7CEF8396996}"/>
              </a:ext>
            </a:extLst>
          </p:cNvPr>
          <p:cNvSpPr txBox="1"/>
          <p:nvPr/>
        </p:nvSpPr>
        <p:spPr>
          <a:xfrm>
            <a:off x="467457" y="2653168"/>
            <a:ext cx="39403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There is minimal, and frequently negative, spearman correlation between objectives.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A8E0BA3-F486-8653-7320-38C52079C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21" y="1287379"/>
            <a:ext cx="5982122" cy="501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999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AEB69-796A-C087-0C20-6FE60D8D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8B9C0-174E-9857-C32E-178C0E265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Objective Definitions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C438A-DBC8-3608-D37F-0405174B0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8903B-3FAD-01B4-FF46-3045589D3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1E03A-CE5D-EB31-06D7-E15C8F66A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349CE0-E422-DEF4-5185-08D624AB0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84" y="1623046"/>
            <a:ext cx="9156032" cy="36231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13D1FB-3B6E-57E6-E770-115E1B7BDF1D}"/>
              </a:ext>
            </a:extLst>
          </p:cNvPr>
          <p:cNvSpPr txBox="1"/>
          <p:nvPr/>
        </p:nvSpPr>
        <p:spPr>
          <a:xfrm>
            <a:off x="2478505" y="757989"/>
            <a:ext cx="7784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small random sample (24) of decision variables reveals improvements in performance are possible (with tradeoffs potentially necessary).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3D184E-C941-807E-52F6-1AB71CB8480F}"/>
              </a:ext>
            </a:extLst>
          </p:cNvPr>
          <p:cNvSpPr/>
          <p:nvPr/>
        </p:nvSpPr>
        <p:spPr>
          <a:xfrm>
            <a:off x="84221" y="1235863"/>
            <a:ext cx="2286000" cy="75197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Current FFMP rules prioritize NYC diversion reliability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7C20A75-503A-7FBF-C841-E0692462C108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370221" y="1611850"/>
            <a:ext cx="511342" cy="4455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049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F10D3-8789-FA0B-56F0-A953E6E54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50415-35BF-C45C-CFBE-67641FBD3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06E39-B13C-3784-D33B-0D58EC129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4B744-9ECA-D23E-B82F-9BB14B64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42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5990F6-06F5-ADA1-1AD5-AB7A93506070}"/>
              </a:ext>
            </a:extLst>
          </p:cNvPr>
          <p:cNvSpPr/>
          <p:nvPr/>
        </p:nvSpPr>
        <p:spPr>
          <a:xfrm>
            <a:off x="0" y="1491916"/>
            <a:ext cx="12191999" cy="3481137"/>
          </a:xfrm>
          <a:prstGeom prst="rect">
            <a:avLst/>
          </a:prstGeom>
          <a:solidFill>
            <a:srgbClr val="152C47"/>
          </a:solidFill>
          <a:ln>
            <a:solidFill>
              <a:srgbClr val="152C4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Supplemental</a:t>
            </a:r>
          </a:p>
        </p:txBody>
      </p:sp>
    </p:spTree>
    <p:extLst>
      <p:ext uri="{BB962C8B-B14F-4D97-AF65-F5344CB8AC3E}">
        <p14:creationId xmlns:p14="http://schemas.microsoft.com/office/powerpoint/2010/main" val="10623107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6F978-9DCD-BC46-E3B9-2C652D651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C0603-6362-4A76-D7A3-401D5D07A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1BD1E-A7AF-3DDE-5932-C1FC6094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A6066-420A-C7AA-A7DD-8DAE736F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E91253-71DD-FB14-E91F-D9CE9251C9AB}"/>
              </a:ext>
            </a:extLst>
          </p:cNvPr>
          <p:cNvSpPr/>
          <p:nvPr/>
        </p:nvSpPr>
        <p:spPr>
          <a:xfrm>
            <a:off x="0" y="1491916"/>
            <a:ext cx="12191999" cy="3481137"/>
          </a:xfrm>
          <a:prstGeom prst="rect">
            <a:avLst/>
          </a:prstGeom>
          <a:solidFill>
            <a:srgbClr val="152C47"/>
          </a:solidFill>
          <a:ln>
            <a:solidFill>
              <a:srgbClr val="152C4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Supplemental: 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Anvil Scaling Experiments</a:t>
            </a:r>
          </a:p>
        </p:txBody>
      </p:sp>
    </p:spTree>
    <p:extLst>
      <p:ext uri="{BB962C8B-B14F-4D97-AF65-F5344CB8AC3E}">
        <p14:creationId xmlns:p14="http://schemas.microsoft.com/office/powerpoint/2010/main" val="2915958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0CB99-675D-1823-2B8B-84A51C86C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3495C-1464-C48D-4B2E-3C80D079F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44540-2FFC-E3A1-10CF-10E26769A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2BDD8-8AC8-2798-EFAC-633DE4F66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88996-7963-EDCC-2525-9DB8C06F9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44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FC8C1B-C957-C412-8823-D1988A232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3367"/>
            <a:ext cx="10515600" cy="489359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Parallelism &amp; Efficiency Levers: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Number of nodes</a:t>
            </a:r>
          </a:p>
          <a:p>
            <a:r>
              <a:rPr lang="en-US" dirty="0"/>
              <a:t>Number of core per node</a:t>
            </a:r>
          </a:p>
          <a:p>
            <a:r>
              <a:rPr lang="en-US" dirty="0"/>
              <a:t>Number of MM-Borg islands &amp; workers </a:t>
            </a:r>
          </a:p>
          <a:p>
            <a:r>
              <a:rPr lang="en-US" dirty="0"/>
              <a:t>Number of realizations per Pywr-DRB simulation (</a:t>
            </a:r>
            <a:r>
              <a:rPr lang="en-US" dirty="0" err="1"/>
              <a:t>pywr</a:t>
            </a:r>
            <a:r>
              <a:rPr lang="en-US" dirty="0"/>
              <a:t> internal parallel)</a:t>
            </a:r>
          </a:p>
        </p:txBody>
      </p:sp>
    </p:spTree>
    <p:extLst>
      <p:ext uri="{BB962C8B-B14F-4D97-AF65-F5344CB8AC3E}">
        <p14:creationId xmlns:p14="http://schemas.microsoft.com/office/powerpoint/2010/main" val="9345817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0A4F8-5506-6FC8-7598-7CC2CE757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0837-3659-E985-B388-576BA662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C556F-66F5-4061-43E8-0BA9B0E91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5143C-EB81-6115-272F-32AC964B8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AFEDE-E0A0-E375-16B8-E5F1AB3A1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0EF781-047C-5987-572F-F649E9C6E3FF}"/>
              </a:ext>
            </a:extLst>
          </p:cNvPr>
          <p:cNvSpPr txBox="1"/>
          <p:nvPr/>
        </p:nvSpPr>
        <p:spPr>
          <a:xfrm>
            <a:off x="780394" y="935283"/>
            <a:ext cx="1057340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Goal:</a:t>
            </a:r>
            <a:r>
              <a:rPr lang="en-US" dirty="0"/>
              <a:t> Before committing to large scale MM-Borg optimization, measure (a) how densely we can pack model evaluations on a node and (b) how well MM-Borg's parallelism scales.</a:t>
            </a:r>
          </a:p>
          <a:p>
            <a:endParaRPr lang="en-US" dirty="0"/>
          </a:p>
          <a:p>
            <a:r>
              <a:rPr lang="en-US" i="1" dirty="0"/>
              <a:t>Anvil node: 128 cores, 256 GB</a:t>
            </a:r>
            <a:endParaRPr lang="en-US" b="1" i="1" dirty="0"/>
          </a:p>
          <a:p>
            <a:endParaRPr lang="en-US" b="1" dirty="0"/>
          </a:p>
          <a:p>
            <a:r>
              <a:rPr lang="en-US" b="1" dirty="0"/>
              <a:t>Test 1: Efficiency of running K workers on a single node with.</a:t>
            </a:r>
            <a:r>
              <a:rPr lang="en-US" dirty="0"/>
              <a:t> </a:t>
            </a:r>
          </a:p>
          <a:p>
            <a:r>
              <a:rPr lang="en-US" dirty="0"/>
              <a:t>On one node, run K independent copies of the MM-Borg worker evaluation (a 20-realization, 20-year synthetic streamflow ensemble through Pywr-DRB). Each rank times one ‘cold’ + several warm evaluations and records peak memory. Sweeping K reveals when contention or memory becomes the limit.</a:t>
            </a:r>
          </a:p>
          <a:p>
            <a:endParaRPr lang="en-US" dirty="0"/>
          </a:p>
          <a:p>
            <a:r>
              <a:rPr lang="en-US" b="1" dirty="0"/>
              <a:t>Test 2: MM-Borg strong scaling.</a:t>
            </a:r>
            <a:r>
              <a:rPr lang="en-US" dirty="0"/>
              <a:t> </a:t>
            </a:r>
          </a:p>
          <a:p>
            <a:r>
              <a:rPr lang="en-US" dirty="0"/>
              <a:t>MM-Borg runs at a fixed budget of 1,280 evaluations, using a short simulation window (~6 s/eval) so runs are cheap.  Geometries: 8, 16, 32, 64 workers on one island, plus 2×32 and 4×16 island splits at 64 slots. Two random seeds each. Wall time to finish the fixed budget gives speedup and parallel efficiency.</a:t>
            </a:r>
          </a:p>
        </p:txBody>
      </p:sp>
    </p:spTree>
    <p:extLst>
      <p:ext uri="{BB962C8B-B14F-4D97-AF65-F5344CB8AC3E}">
        <p14:creationId xmlns:p14="http://schemas.microsoft.com/office/powerpoint/2010/main" val="15196442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491B8-0383-D292-8094-3DE51CE9E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F8428-8163-2DDB-6D91-62C3095AF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DDD24-B690-53C8-C3DE-6E135BDD1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39A41-9863-3FCE-928F-17A699400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3795-9FD6-F8FF-15D7-B50AA0DA2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CA3855-D477-A773-77D5-095BDEA19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409" y="1223837"/>
            <a:ext cx="6522448" cy="50090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57C7AF-E340-9E23-1D85-5F0270D037C5}"/>
              </a:ext>
            </a:extLst>
          </p:cNvPr>
          <p:cNvSpPr txBox="1"/>
          <p:nvPr/>
        </p:nvSpPr>
        <p:spPr>
          <a:xfrm>
            <a:off x="289249" y="1203649"/>
            <a:ext cx="374935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Run K copies of the evaluation at the same time, K = 1, 8, 16, 32, 48, 64, 96, 128 core.</a:t>
            </a:r>
          </a:p>
          <a:p>
            <a:endParaRPr lang="en-US" sz="2000" dirty="0"/>
          </a:p>
          <a:p>
            <a:r>
              <a:rPr lang="en-US" sz="2000" dirty="0"/>
              <a:t>Every rank times one "cold" evaluation (first one, caches empty) then several "warm" ones, using the exact code path a Borg worker uses.</a:t>
            </a:r>
          </a:p>
          <a:p>
            <a:endParaRPr lang="en-US" sz="2000" dirty="0"/>
          </a:p>
          <a:p>
            <a:r>
              <a:rPr lang="en-US" sz="2000" dirty="0"/>
              <a:t>Question: does crowding more evaluations onto one node make each one slower?</a:t>
            </a:r>
          </a:p>
          <a:p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3319F3-DBA0-6B97-5F9B-D016F5463E91}"/>
              </a:ext>
            </a:extLst>
          </p:cNvPr>
          <p:cNvSpPr txBox="1"/>
          <p:nvPr/>
        </p:nvSpPr>
        <p:spPr>
          <a:xfrm>
            <a:off x="6634066" y="723929"/>
            <a:ext cx="352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= 20 realizations x 20 years</a:t>
            </a:r>
          </a:p>
        </p:txBody>
      </p:sp>
    </p:spTree>
    <p:extLst>
      <p:ext uri="{BB962C8B-B14F-4D97-AF65-F5344CB8AC3E}">
        <p14:creationId xmlns:p14="http://schemas.microsoft.com/office/powerpoint/2010/main" val="19820163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BF713-EB5B-971C-ED53-B91A2F5D2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BF1B-D693-BB89-CCA4-C490F2222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68AFB-5034-D5FC-0F52-3B8FE862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7E88A-F013-A100-3476-D468A803C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13F95-61A1-3B5D-8DC1-8AC67F44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879964-63F4-D714-9300-4287AB0D8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409" y="1223837"/>
            <a:ext cx="6522448" cy="50090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CB85C1-77DF-B8F7-02A0-5B475345FB27}"/>
              </a:ext>
            </a:extLst>
          </p:cNvPr>
          <p:cNvSpPr txBox="1"/>
          <p:nvPr/>
        </p:nvSpPr>
        <p:spPr>
          <a:xfrm>
            <a:off x="289249" y="1203649"/>
            <a:ext cx="374935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Packing is nearly free up to K=32 (only 1% slower than running alone), then costs 17% at full density K=128 (64.0 s -&gt; 74.7 s).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However, a 17% per-evaluation penalty is worth it for 128× the parallelism.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8D8B19-2D70-C42E-9D3F-D699E4D65E1F}"/>
              </a:ext>
            </a:extLst>
          </p:cNvPr>
          <p:cNvSpPr txBox="1"/>
          <p:nvPr/>
        </p:nvSpPr>
        <p:spPr>
          <a:xfrm>
            <a:off x="6634066" y="723929"/>
            <a:ext cx="352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= 20 realizations x 20 years</a:t>
            </a:r>
          </a:p>
        </p:txBody>
      </p:sp>
    </p:spTree>
    <p:extLst>
      <p:ext uri="{BB962C8B-B14F-4D97-AF65-F5344CB8AC3E}">
        <p14:creationId xmlns:p14="http://schemas.microsoft.com/office/powerpoint/2010/main" val="5482381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BCC59-AC33-583B-B62F-05CADFE4A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9CC0E-952E-39E0-91A5-58885D660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431E0-07C0-74C9-0E2A-31050339C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79305-9909-9870-C7FE-E908D14E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95D0B-0364-4BBA-45C4-F9D37492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CA1905-B13F-7C61-A9C3-24E930A12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836" y="759321"/>
            <a:ext cx="6007522" cy="56324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A3A905-CC31-2E57-D6B5-AA3AFBB5C7B3}"/>
              </a:ext>
            </a:extLst>
          </p:cNvPr>
          <p:cNvSpPr txBox="1"/>
          <p:nvPr/>
        </p:nvSpPr>
        <p:spPr>
          <a:xfrm>
            <a:off x="503853" y="1231641"/>
            <a:ext cx="44973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Top panel:</a:t>
            </a:r>
            <a:r>
              <a:rPr lang="en-US" dirty="0"/>
              <a:t> Evaluations completed per node-hour, rising almost linearly with K to a maximum at K=128.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Bottom panel:</a:t>
            </a:r>
            <a:r>
              <a:rPr lang="en-US" dirty="0"/>
              <a:t> SUs burned per 1,000 evaluations, decreasing as K rises and flattening out well before K=128 (open squares show the unbatched B=1 case for contrast).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89D055-F70D-3053-E558-82DCBD3C3D5D}"/>
              </a:ext>
            </a:extLst>
          </p:cNvPr>
          <p:cNvSpPr txBox="1"/>
          <p:nvPr/>
        </p:nvSpPr>
        <p:spPr>
          <a:xfrm>
            <a:off x="6997960" y="524093"/>
            <a:ext cx="352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= 20 realizations x 20 years</a:t>
            </a:r>
          </a:p>
        </p:txBody>
      </p:sp>
    </p:spTree>
    <p:extLst>
      <p:ext uri="{BB962C8B-B14F-4D97-AF65-F5344CB8AC3E}">
        <p14:creationId xmlns:p14="http://schemas.microsoft.com/office/powerpoint/2010/main" val="1772727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03587-C886-3159-CB20-00C9037C4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6ACB4-A79C-79EA-1909-675E3E096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9A45F-EF21-1BC7-46E0-2F2AEA7EC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57F70-0808-AE30-E335-A596D9920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44709-345A-AF8B-8900-CAD483881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958DFC-EDEF-AA12-D32F-67FB5013A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836" y="759321"/>
            <a:ext cx="6007522" cy="56324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EB62DB-5EA4-4D09-3465-6EB45EA7BCC9}"/>
              </a:ext>
            </a:extLst>
          </p:cNvPr>
          <p:cNvSpPr txBox="1"/>
          <p:nvPr/>
        </p:nvSpPr>
        <p:spPr>
          <a:xfrm>
            <a:off x="503853" y="1231641"/>
            <a:ext cx="449735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Take-aways</a:t>
            </a:r>
          </a:p>
          <a:p>
            <a:endParaRPr lang="en-US" i="1" dirty="0"/>
          </a:p>
          <a:p>
            <a:r>
              <a:rPr lang="en-US" i="1" dirty="0"/>
              <a:t>Top:</a:t>
            </a:r>
            <a:r>
              <a:rPr lang="en-US" dirty="0"/>
              <a:t> Throughput scales nearly linearly (56 evals/node-</a:t>
            </a:r>
            <a:r>
              <a:rPr lang="en-US" dirty="0" err="1"/>
              <a:t>hr</a:t>
            </a:r>
            <a:r>
              <a:rPr lang="en-US" dirty="0"/>
              <a:t> at K=1 to 6,166 at K=128), about 110x. </a:t>
            </a:r>
          </a:p>
          <a:p>
            <a:endParaRPr lang="en-US" dirty="0"/>
          </a:p>
          <a:p>
            <a:r>
              <a:rPr lang="en-US" dirty="0"/>
              <a:t>The 17% per-evaluation slowdown never overtakes the parallelism benefit.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i="1" dirty="0"/>
              <a:t>Bottom:</a:t>
            </a:r>
            <a:r>
              <a:rPr lang="en-US" dirty="0"/>
              <a:t> Cost per 1,000 evaluations drops from 2,275 SU to 21 SU. </a:t>
            </a:r>
          </a:p>
          <a:p>
            <a:endParaRPr lang="en-US" dirty="0"/>
          </a:p>
          <a:p>
            <a:r>
              <a:rPr lang="en-US" dirty="0"/>
              <a:t>Most of the savings arrive by K~=40; beyond that the curve is flat, so K=128 is good but also okay if we need to use less (due to memory)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EC480C-59DF-740A-A7C0-35F6A4D3C3AC}"/>
              </a:ext>
            </a:extLst>
          </p:cNvPr>
          <p:cNvSpPr txBox="1"/>
          <p:nvPr/>
        </p:nvSpPr>
        <p:spPr>
          <a:xfrm>
            <a:off x="7109928" y="473531"/>
            <a:ext cx="352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= 20 realizations x 20 years</a:t>
            </a:r>
          </a:p>
        </p:txBody>
      </p:sp>
    </p:spTree>
    <p:extLst>
      <p:ext uri="{BB962C8B-B14F-4D97-AF65-F5344CB8AC3E}">
        <p14:creationId xmlns:p14="http://schemas.microsoft.com/office/powerpoint/2010/main" val="24553839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996F8-F34C-9B0E-CC07-8A0B8DB29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398C5-829C-B9FB-73D1-71A94BDA6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555FE-8063-4784-E655-2439E52E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B9688-E9FC-C204-0821-4DDE28F14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4033-228E-24B6-5EAF-D07FF373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50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57EC18-7E24-880E-CF9F-633CEA63F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595" y="978971"/>
            <a:ext cx="9162661" cy="39421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801BA97-7C8E-6C68-7D09-651C176DC764}"/>
              </a:ext>
            </a:extLst>
          </p:cNvPr>
          <p:cNvSpPr txBox="1"/>
          <p:nvPr/>
        </p:nvSpPr>
        <p:spPr>
          <a:xfrm>
            <a:off x="802431" y="4921111"/>
            <a:ext cx="103289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Left panel:</a:t>
            </a:r>
            <a:r>
              <a:rPr lang="en-US" dirty="0"/>
              <a:t> Peak memory used by a single rank across packing densities, for the typical (median) and worst (max) rank memory usage.</a:t>
            </a:r>
          </a:p>
          <a:p>
            <a:endParaRPr lang="en-US" dirty="0"/>
          </a:p>
          <a:p>
            <a:r>
              <a:rPr lang="en-US" b="1" dirty="0"/>
              <a:t>Right panel:</a:t>
            </a:r>
            <a:r>
              <a:rPr lang="en-US" dirty="0"/>
              <a:t> Total node memory implied by K ranks at the worst-case per-rank footprint, against the 256 GB node limit (red dashed line).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6151CC-1012-73B2-7026-202BE9FD6895}"/>
              </a:ext>
            </a:extLst>
          </p:cNvPr>
          <p:cNvSpPr txBox="1"/>
          <p:nvPr/>
        </p:nvSpPr>
        <p:spPr>
          <a:xfrm>
            <a:off x="4506687" y="611742"/>
            <a:ext cx="352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= 20 realizations x 20 years</a:t>
            </a:r>
          </a:p>
        </p:txBody>
      </p:sp>
    </p:spTree>
    <p:extLst>
      <p:ext uri="{BB962C8B-B14F-4D97-AF65-F5344CB8AC3E}">
        <p14:creationId xmlns:p14="http://schemas.microsoft.com/office/powerpoint/2010/main" val="3377063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0EAE8-25BA-F984-81D2-173384CFA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515F-71E8-A5E4-25EE-49B89AAC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94A13-5436-A967-2B18-01B7BA04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E5D81-B087-034E-CB34-2C3D9B7C2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31AE0-8948-DA52-64F4-9E2CB3885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51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92AB13-3E40-EBA1-907C-5D0200BCC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162" y="1115781"/>
            <a:ext cx="8749005" cy="38297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A45252-D14C-CD01-2F91-2E6A5BE4F656}"/>
              </a:ext>
            </a:extLst>
          </p:cNvPr>
          <p:cNvSpPr txBox="1"/>
          <p:nvPr/>
        </p:nvSpPr>
        <p:spPr>
          <a:xfrm>
            <a:off x="2659224" y="746449"/>
            <a:ext cx="7175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Short 4 year simulation, 1,280 NFE, 2 random seeds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1D33CD-F65B-B753-9D0F-2AAD3E1567D6}"/>
              </a:ext>
            </a:extLst>
          </p:cNvPr>
          <p:cNvSpPr txBox="1"/>
          <p:nvPr/>
        </p:nvSpPr>
        <p:spPr>
          <a:xfrm>
            <a:off x="1558213" y="5034333"/>
            <a:ext cx="92093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1600" b="1" i="0" dirty="0">
                <a:effectLst/>
              </a:rPr>
              <a:t>Left panel:</a:t>
            </a:r>
            <a:r>
              <a:rPr lang="en-US" sz="1600" b="0" i="0" dirty="0">
                <a:effectLst/>
              </a:rPr>
              <a:t> Wall time to finish the fixed evaluation budget as evaluation slots increase from 8 to 64 (log-log).</a:t>
            </a:r>
          </a:p>
          <a:p>
            <a:pPr indent="0" algn="l">
              <a:buNone/>
            </a:pPr>
            <a:r>
              <a:rPr lang="en-US" sz="1600" b="1" i="0" dirty="0">
                <a:effectLst/>
              </a:rPr>
              <a:t>Middle panel:</a:t>
            </a:r>
            <a:r>
              <a:rPr lang="en-US" sz="1600" b="0" i="0" dirty="0">
                <a:effectLst/>
              </a:rPr>
              <a:t> Speedup relative to the smallest 8-slot run, against the ideal linear line, with the two multi-island geometries overlaid.</a:t>
            </a:r>
          </a:p>
          <a:p>
            <a:pPr indent="0" algn="l">
              <a:buNone/>
            </a:pPr>
            <a:r>
              <a:rPr lang="en-US" sz="1600" b="1" i="0" dirty="0">
                <a:effectLst/>
              </a:rPr>
              <a:t>Right panel:</a:t>
            </a:r>
            <a:r>
              <a:rPr lang="en-US" sz="1600" b="0" i="0" dirty="0">
                <a:effectLst/>
              </a:rPr>
              <a:t> Parallel efficiency (fraction of ideal speedup retained) as slots increase.</a:t>
            </a:r>
          </a:p>
        </p:txBody>
      </p:sp>
    </p:spTree>
    <p:extLst>
      <p:ext uri="{BB962C8B-B14F-4D97-AF65-F5344CB8AC3E}">
        <p14:creationId xmlns:p14="http://schemas.microsoft.com/office/powerpoint/2010/main" val="25447368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551FC-D2EB-D51F-D192-577A167E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F12BF-1CE7-2BCE-D793-FD22DCAE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EC038-4880-3350-C8BF-5FAEBCE66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A9C0E-2C37-3E5C-4935-253C504F4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2760D-BCD3-81FA-D94B-246A014B2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291B1B-80F3-D98F-B0E6-5C64B6C7E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83" y="970850"/>
            <a:ext cx="7369833" cy="53086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A2FC43-6A1D-CB1E-CDE6-84352C77CF82}"/>
              </a:ext>
            </a:extLst>
          </p:cNvPr>
          <p:cNvSpPr txBox="1"/>
          <p:nvPr/>
        </p:nvSpPr>
        <p:spPr>
          <a:xfrm>
            <a:off x="7531768" y="1307432"/>
            <a:ext cx="39944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Projected runtime combines the two measured pieces: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Evalutation</a:t>
            </a:r>
            <a:r>
              <a:rPr lang="en-US" dirty="0"/>
              <a:t> runtime pack at K*=128 ranks/node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Borg scaling efficiency (assume 73% parallel efficiency)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For 750k NFE, 16 nodes and 4 islands:</a:t>
            </a:r>
          </a:p>
          <a:p>
            <a:r>
              <a:rPr lang="en-US" dirty="0"/>
              <a:t> = ~23k SU</a:t>
            </a:r>
          </a:p>
          <a:p>
            <a:r>
              <a:rPr lang="en-US" dirty="0"/>
              <a:t> = 10.5 </a:t>
            </a:r>
            <a:r>
              <a:rPr lang="en-US" dirty="0" err="1"/>
              <a:t>hr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4187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54A4F-0C13-D143-22F5-8BA9F4A63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82ACD-25FD-41F1-52CB-65D316731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6301E-572D-99FB-803D-5B0B7CB9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AB81F-7AD1-0548-AD66-8946CCBDD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E0664-465D-2535-8ABD-4E150E1C2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53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D44059-A060-0E2F-FB52-5334408B9002}"/>
              </a:ext>
            </a:extLst>
          </p:cNvPr>
          <p:cNvSpPr txBox="1"/>
          <p:nvPr/>
        </p:nvSpPr>
        <p:spPr>
          <a:xfrm>
            <a:off x="838200" y="898447"/>
            <a:ext cx="656082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Setup Anvil allocation calculator (based on Lillian’s advice)</a:t>
            </a:r>
          </a:p>
          <a:p>
            <a:endParaRPr lang="en-US" sz="2000" i="1" dirty="0"/>
          </a:p>
          <a:p>
            <a:r>
              <a:rPr lang="en-US" sz="2000" dirty="0"/>
              <a:t>Based on results of runtime &amp; scaling experiments and experimental settings, estimate the total SUs needed for optimizations.</a:t>
            </a:r>
          </a:p>
          <a:p>
            <a:endParaRPr lang="en-US" sz="2000" dirty="0"/>
          </a:p>
          <a:p>
            <a:r>
              <a:rPr lang="en-US" sz="2000" b="1" dirty="0"/>
              <a:t>Current scale assumptions:</a:t>
            </a:r>
          </a:p>
          <a:p>
            <a:endParaRPr lang="en-US" sz="2000" dirty="0"/>
          </a:p>
          <a:p>
            <a:r>
              <a:rPr lang="en-US" sz="2000" i="1" dirty="0"/>
              <a:t>Optimization</a:t>
            </a:r>
          </a:p>
          <a:p>
            <a:r>
              <a:rPr lang="en-US" sz="2000" dirty="0"/>
              <a:t>500k NFE</a:t>
            </a:r>
          </a:p>
          <a:p>
            <a:r>
              <a:rPr lang="en-US" dirty="0"/>
              <a:t>1,000 years per evaluation </a:t>
            </a:r>
          </a:p>
          <a:p>
            <a:r>
              <a:rPr lang="en-US" dirty="0"/>
              <a:t>3x formulation designs</a:t>
            </a:r>
          </a:p>
          <a:p>
            <a:r>
              <a:rPr lang="en-US" dirty="0"/>
              <a:t>5x seeds per design</a:t>
            </a:r>
          </a:p>
          <a:p>
            <a:endParaRPr lang="en-US" dirty="0"/>
          </a:p>
          <a:p>
            <a:r>
              <a:rPr lang="en-US" i="1" dirty="0"/>
              <a:t>Re-evaluation</a:t>
            </a:r>
          </a:p>
          <a:p>
            <a:r>
              <a:rPr lang="en-US" dirty="0"/>
              <a:t>1,500 solutions re-evaluated </a:t>
            </a:r>
          </a:p>
          <a:p>
            <a:r>
              <a:rPr lang="en-US" dirty="0"/>
              <a:t>10,000 realizations x 100 years (1M years) per solution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BDBCEF-7F1E-A1A5-F5E7-4B5E486E2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570" y="1007849"/>
            <a:ext cx="4747671" cy="522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8305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F47F2-51AF-F9A0-2910-6A5F243B0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442F3-A5D7-FFDE-4EF9-8A80DC677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C7FD2-D18D-0058-761A-EE26FB48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697AC-3D05-BB8D-DE9D-8DCDFB005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443A4-1AF9-2549-AE47-0977CD17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54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DB42A4-B8CB-A5FC-608E-9B2A429BA64E}"/>
              </a:ext>
            </a:extLst>
          </p:cNvPr>
          <p:cNvSpPr txBox="1"/>
          <p:nvPr/>
        </p:nvSpPr>
        <p:spPr>
          <a:xfrm>
            <a:off x="838200" y="898447"/>
            <a:ext cx="65608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Setup Anvil allocation calculator (based on Lillian’s advice)</a:t>
            </a:r>
          </a:p>
          <a:p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DD07201-295A-EED6-86CE-20F042A9D607}"/>
              </a:ext>
            </a:extLst>
          </p:cNvPr>
          <p:cNvGraphicFramePr>
            <a:graphicFrameLocks/>
          </p:cNvGraphicFramePr>
          <p:nvPr/>
        </p:nvGraphicFramePr>
        <p:xfrm>
          <a:off x="762873" y="2021747"/>
          <a:ext cx="5101973" cy="3595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E0A91B0-F827-6184-C2D5-3B312F10ECDC}"/>
              </a:ext>
            </a:extLst>
          </p:cNvPr>
          <p:cNvSpPr/>
          <p:nvPr/>
        </p:nvSpPr>
        <p:spPr>
          <a:xfrm>
            <a:off x="7033470" y="3932653"/>
            <a:ext cx="2927758" cy="14009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 optimizations total:</a:t>
            </a:r>
          </a:p>
          <a:p>
            <a:pPr algn="ctr"/>
            <a:r>
              <a:rPr lang="en-US" dirty="0"/>
              <a:t>3 formulations x 5 seeds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Uses ~500 SU of allocation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7E4313-0598-9FEB-1A73-A639573B516C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5243119" y="4555222"/>
            <a:ext cx="1790351" cy="77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A5A9E2D-7035-7391-E8C5-D79C2881AE22}"/>
              </a:ext>
            </a:extLst>
          </p:cNvPr>
          <p:cNvSpPr/>
          <p:nvPr/>
        </p:nvSpPr>
        <p:spPr>
          <a:xfrm>
            <a:off x="7033470" y="1804945"/>
            <a:ext cx="2927758" cy="14009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Saving some budget for re-runs if needed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D94F609-BF73-1D13-4200-BDC9A5BAF3CC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2516697" y="2505426"/>
            <a:ext cx="4516773" cy="267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616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D76A4-89A5-43F9-5E9B-054727212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E41D4-97C4-A494-43EA-4CF58873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793E0-6E72-9BE1-EE8F-648C2CE0E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E591D-8C6A-DB52-7D7B-AD0C17E6C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405E0-E86B-91B8-BCC2-6BF9EAF4A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55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EFA79F-004A-E3BC-D7C9-64C1C2CA8060}"/>
              </a:ext>
            </a:extLst>
          </p:cNvPr>
          <p:cNvSpPr txBox="1"/>
          <p:nvPr/>
        </p:nvSpPr>
        <p:spPr>
          <a:xfrm>
            <a:off x="838200" y="898447"/>
            <a:ext cx="65608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Setup Anvil allocation calculator (based on Lillian’s advice)</a:t>
            </a:r>
          </a:p>
          <a:p>
            <a:endParaRPr lang="en-US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E7CB8FC-5F64-22D2-15B2-134DB085586A}"/>
              </a:ext>
            </a:extLst>
          </p:cNvPr>
          <p:cNvGraphicFramePr>
            <a:graphicFrameLocks/>
          </p:cNvGraphicFramePr>
          <p:nvPr/>
        </p:nvGraphicFramePr>
        <p:xfrm>
          <a:off x="1044106" y="2002028"/>
          <a:ext cx="5473065" cy="3692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EE11798-DF3B-EF85-0B37-8CEBE19F1308}"/>
              </a:ext>
            </a:extLst>
          </p:cNvPr>
          <p:cNvSpPr txBox="1"/>
          <p:nvPr/>
        </p:nvSpPr>
        <p:spPr>
          <a:xfrm>
            <a:off x="7033094" y="1722857"/>
            <a:ext cx="4114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Wallclock</a:t>
            </a:r>
            <a:r>
              <a:rPr lang="en-US" sz="2000" dirty="0"/>
              <a:t> time assuming use of 32 full nodes for each run.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870D37-6EE2-5824-B44A-F6F87CB8CBF7}"/>
              </a:ext>
            </a:extLst>
          </p:cNvPr>
          <p:cNvSpPr/>
          <p:nvPr/>
        </p:nvSpPr>
        <p:spPr>
          <a:xfrm>
            <a:off x="7033470" y="3932653"/>
            <a:ext cx="4114424" cy="14009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8hr per optimization run/seed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Total = (8x15hr) if all of them are run in serial.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AFE77C-AC51-AF18-BB81-FAB3C30AFE06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158531" y="2925347"/>
            <a:ext cx="1874939" cy="1707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1359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AE2D-0AD1-32C4-3B79-B6C6C74C9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0E49-56DE-A883-DAC8-E5B7C6947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77EA2-3639-42AF-B965-BFFDEAA77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25AEE-70BC-7606-7CEE-361BDAF1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DC38B-7046-B3EF-2CFD-FA28D13B0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146DEA-6733-244D-6653-D8B5F689A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115" y="1053540"/>
            <a:ext cx="8289837" cy="35798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CF6D1A-A96D-2507-F4D6-A322D3D25EC6}"/>
              </a:ext>
            </a:extLst>
          </p:cNvPr>
          <p:cNvSpPr txBox="1"/>
          <p:nvPr/>
        </p:nvSpPr>
        <p:spPr>
          <a:xfrm>
            <a:off x="838199" y="5055285"/>
            <a:ext cx="106158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2000" b="1" i="0" dirty="0">
                <a:effectLst/>
                <a:latin typeface="-apple-system"/>
              </a:rPr>
              <a:t>Left panel:</a:t>
            </a:r>
            <a:r>
              <a:rPr lang="en-US" sz="2000" b="0" i="0" dirty="0">
                <a:effectLst/>
                <a:latin typeface="-apple-system"/>
              </a:rPr>
              <a:t> Wall time per evaluation as B increases, for an isolated rank and a fully-packed node.</a:t>
            </a:r>
          </a:p>
          <a:p>
            <a:pPr indent="0" algn="l">
              <a:buNone/>
            </a:pPr>
            <a:r>
              <a:rPr lang="en-US" sz="2000" b="1" i="0" dirty="0">
                <a:effectLst/>
                <a:latin typeface="-apple-system"/>
              </a:rPr>
              <a:t>Middle panel:</a:t>
            </a:r>
            <a:r>
              <a:rPr lang="en-US" sz="2000" b="0" i="0" dirty="0">
                <a:effectLst/>
                <a:latin typeface="-apple-system"/>
              </a:rPr>
              <a:t> Peak per-rank memory as B increases.</a:t>
            </a:r>
          </a:p>
          <a:p>
            <a:pPr indent="0" algn="l">
              <a:buNone/>
            </a:pPr>
            <a:r>
              <a:rPr lang="en-US" sz="2000" b="1" i="0" dirty="0">
                <a:effectLst/>
                <a:latin typeface="-apple-system"/>
              </a:rPr>
              <a:t>Right panel:</a:t>
            </a:r>
            <a:r>
              <a:rPr lang="en-US" sz="2000" b="0" i="0" dirty="0">
                <a:effectLst/>
                <a:latin typeface="-apple-system"/>
              </a:rPr>
              <a:t> SU cost per 1,000 evaluations as B increases.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9D4BE6-892B-FE0B-0B6E-3D5749CEFB07}"/>
              </a:ext>
            </a:extLst>
          </p:cNvPr>
          <p:cNvSpPr txBox="1"/>
          <p:nvPr/>
        </p:nvSpPr>
        <p:spPr>
          <a:xfrm>
            <a:off x="4174549" y="547420"/>
            <a:ext cx="352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= 20 realizations x 20 years</a:t>
            </a:r>
          </a:p>
        </p:txBody>
      </p:sp>
    </p:spTree>
    <p:extLst>
      <p:ext uri="{BB962C8B-B14F-4D97-AF65-F5344CB8AC3E}">
        <p14:creationId xmlns:p14="http://schemas.microsoft.com/office/powerpoint/2010/main" val="42703590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2B92D-EB9A-161B-C933-E5495B11F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AFE9-A3D0-5450-A56D-133A88249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55397-D9E8-D999-2C6F-D0E9138A9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07BB0-E546-A28D-90F3-21B13F1FF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6C873-3D3E-9B2B-6519-4DA68923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57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E3F7A1-6054-738B-DA55-44A7A4C3A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446" y="1769472"/>
            <a:ext cx="9565105" cy="372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2758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ECBE8-2950-2AD4-260D-D35E5B12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D9AF3-09C0-8C30-72E5-9DAE4008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2FCD1-183C-68FF-23D0-A5634B01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17BD4-A8BE-F354-886D-591221CD9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E0DF4-CCCD-8981-6EB0-18659619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07B171-0651-CB93-F656-2660FD29F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37" y="1577273"/>
            <a:ext cx="10551695" cy="411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360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2E244-DABE-A64C-38EB-98BCA7C09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08B06-F533-364B-CC6A-73BE1E9BD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E9374-6D41-4CCE-6308-46863DD1F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02429-E1B9-5A37-1198-84000082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CF2D04-1D72-4EFD-B8C8-C0CC9752E831}"/>
              </a:ext>
            </a:extLst>
          </p:cNvPr>
          <p:cNvSpPr/>
          <p:nvPr/>
        </p:nvSpPr>
        <p:spPr>
          <a:xfrm>
            <a:off x="0" y="1491916"/>
            <a:ext cx="12191999" cy="3481137"/>
          </a:xfrm>
          <a:prstGeom prst="rect">
            <a:avLst/>
          </a:prstGeom>
          <a:solidFill>
            <a:srgbClr val="152C47"/>
          </a:solidFill>
          <a:ln>
            <a:solidFill>
              <a:srgbClr val="152C4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Supplemental: 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Parametric Sampling of Uncertain 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Monthly Streamflow Change Factors</a:t>
            </a:r>
          </a:p>
        </p:txBody>
      </p:sp>
    </p:spTree>
    <p:extLst>
      <p:ext uri="{BB962C8B-B14F-4D97-AF65-F5344CB8AC3E}">
        <p14:creationId xmlns:p14="http://schemas.microsoft.com/office/powerpoint/2010/main" val="521135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174934</TotalTime>
  <Words>3182</Words>
  <Application>Microsoft Office PowerPoint</Application>
  <PresentationFormat>Widescreen</PresentationFormat>
  <Paragraphs>601</Paragraphs>
  <Slides>59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-apple-system</vt:lpstr>
      <vt:lpstr>Arial</vt:lpstr>
      <vt:lpstr>Calibri</vt:lpstr>
      <vt:lpstr>Calibri Light</vt:lpstr>
      <vt:lpstr>Office Theme</vt:lpstr>
      <vt:lpstr>PowerPoint Presentation</vt:lpstr>
      <vt:lpstr>Content</vt:lpstr>
      <vt:lpstr>Motivation &amp; Literature Review</vt:lpstr>
      <vt:lpstr>Motivation &amp; Literature Review</vt:lpstr>
      <vt:lpstr>Motivation &amp; Literature Review</vt:lpstr>
      <vt:lpstr>Motivation &amp; Literature Review</vt:lpstr>
      <vt:lpstr>Motivation &amp; Literature Review</vt:lpstr>
      <vt:lpstr>Motivation &amp; Literature Review</vt:lpstr>
      <vt:lpstr>Motivation &amp; Literature Review</vt:lpstr>
      <vt:lpstr>Motivation &amp; Literature Review</vt:lpstr>
      <vt:lpstr>Proposal: Hypothesis</vt:lpstr>
      <vt:lpstr>Proposal: Hypothesis</vt:lpstr>
      <vt:lpstr>Proposal: Hypothesis</vt:lpstr>
      <vt:lpstr>Proposal: Hypothesis</vt:lpstr>
      <vt:lpstr>PowerPoint Presentation</vt:lpstr>
      <vt:lpstr>Planned Methods</vt:lpstr>
      <vt:lpstr>Experimental Design: Re-evaluation under climate change uncertainty</vt:lpstr>
      <vt:lpstr>Experimental Design: Re-evaluation under climate change uncertainty</vt:lpstr>
      <vt:lpstr>Experimental Design: Re-evaluation under climate change uncertainty</vt:lpstr>
      <vt:lpstr>Experimental Design: Re-evaluation under climate change uncertainty</vt:lpstr>
      <vt:lpstr>Experimental Design: Re-evaluation under climate change uncertainty</vt:lpstr>
      <vt:lpstr>Experimental Design: Re-evaluation under climate change uncertainty</vt:lpstr>
      <vt:lpstr>Experimental Design: Re-evaluation under climate change uncertainty</vt:lpstr>
      <vt:lpstr>Experimental Design: Re-evaluation under climate change uncertainty</vt:lpstr>
      <vt:lpstr>Experimental Design: Re-evaluation under climate change uncertainty</vt:lpstr>
      <vt:lpstr>PowerPoint Presentation</vt:lpstr>
      <vt:lpstr>MOEA Problem Formulation: Decision Variables</vt:lpstr>
      <vt:lpstr>MOEA Problem Formulation: Decision Variables</vt:lpstr>
      <vt:lpstr>MOEA Problem Formulation: Decision Variables</vt:lpstr>
      <vt:lpstr>MOEA Problem Formulation: Decision Variables</vt:lpstr>
      <vt:lpstr>MOEA Problem Formulation: Decision Variables</vt:lpstr>
      <vt:lpstr>MOEA Problem Formulation: Decision Variables</vt:lpstr>
      <vt:lpstr>MOEA Problem Formulation: Decision Variables</vt:lpstr>
      <vt:lpstr>MOEA Problem Formulation: Decision Variables</vt:lpstr>
      <vt:lpstr>MOEA Problem Formulation: Decision Variables</vt:lpstr>
      <vt:lpstr>MOEA Problem Formulation: Decision Variables</vt:lpstr>
      <vt:lpstr>MOEA Problem Formulation: Decision Variables</vt:lpstr>
      <vt:lpstr>MOEA Problem Formulation: Objective Definitions</vt:lpstr>
      <vt:lpstr>MOEA Problem Formulation: Objective Definitions</vt:lpstr>
      <vt:lpstr>MOEA Problem Formulation: Objective Definitions</vt:lpstr>
      <vt:lpstr>MOEA Problem Formulation: Objective Definitions</vt:lpstr>
      <vt:lpstr>PowerPoint Presentation</vt:lpstr>
      <vt:lpstr>PowerPoint Presentation</vt:lpstr>
      <vt:lpstr>Anvil Scaling Experiment</vt:lpstr>
      <vt:lpstr>Anvil Scaling Experiment</vt:lpstr>
      <vt:lpstr>Anvil Scaling Experiments</vt:lpstr>
      <vt:lpstr>Anvil Scaling Experiments</vt:lpstr>
      <vt:lpstr>Anvil Scaling Experiments</vt:lpstr>
      <vt:lpstr>Anvil Scaling Experiments</vt:lpstr>
      <vt:lpstr>Anvil Scaling Experiments</vt:lpstr>
      <vt:lpstr>Anvil Scaling Experiments</vt:lpstr>
      <vt:lpstr>Anvil Scaling Experiments</vt:lpstr>
      <vt:lpstr>Anvil Scaling Experiment</vt:lpstr>
      <vt:lpstr>Anvil Scaling Experiment</vt:lpstr>
      <vt:lpstr>Anvil Scaling Experiment</vt:lpstr>
      <vt:lpstr>Anvil Scaling Experiments</vt:lpstr>
      <vt:lpstr>Anvil Scaling Experiments</vt:lpstr>
      <vt:lpstr>Anvil Scaling Experiments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Trevor James Amestoy</dc:creator>
  <cp:lastModifiedBy>Trevor Amestoy</cp:lastModifiedBy>
  <cp:revision>6056</cp:revision>
  <dcterms:created xsi:type="dcterms:W3CDTF">2023-01-16T16:31:12Z</dcterms:created>
  <dcterms:modified xsi:type="dcterms:W3CDTF">2026-08-05T19:34:02Z</dcterms:modified>
</cp:coreProperties>
</file>