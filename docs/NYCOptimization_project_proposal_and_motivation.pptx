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741" r:id="rId2"/>
    <p:sldId id="2996" r:id="rId3"/>
    <p:sldId id="2986" r:id="rId4"/>
    <p:sldId id="2988" r:id="rId5"/>
    <p:sldId id="2987" r:id="rId6"/>
    <p:sldId id="2989" r:id="rId7"/>
    <p:sldId id="2990" r:id="rId8"/>
    <p:sldId id="2991" r:id="rId9"/>
    <p:sldId id="2993" r:id="rId10"/>
    <p:sldId id="2995" r:id="rId11"/>
    <p:sldId id="3001" r:id="rId12"/>
    <p:sldId id="3000" r:id="rId13"/>
    <p:sldId id="2994" r:id="rId14"/>
    <p:sldId id="2992" r:id="rId15"/>
    <p:sldId id="2997" r:id="rId16"/>
    <p:sldId id="2998" r:id="rId17"/>
    <p:sldId id="299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70AD47"/>
    <a:srgbClr val="ED7D31"/>
    <a:srgbClr val="4472C4"/>
    <a:srgbClr val="000000"/>
    <a:srgbClr val="5B9BD5"/>
    <a:srgbClr val="FFC000"/>
    <a:srgbClr val="76BE9A"/>
    <a:srgbClr val="808080"/>
    <a:srgbClr val="152C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151" autoAdjust="0"/>
    <p:restoredTop sz="94660"/>
  </p:normalViewPr>
  <p:slideViewPr>
    <p:cSldViewPr snapToGrid="0">
      <p:cViewPr varScale="1">
        <p:scale>
          <a:sx n="95" d="100"/>
          <a:sy n="95" d="100"/>
        </p:scale>
        <p:origin x="245" y="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5T14:43:20.8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1538 321 9830,'-18'15'640,"0"-1"0,0 0 1,-2-1-1,1-1 0,-2-1 0,-34 14 0,5-2 7,-319 176 4434,294-152-3358,3 4 0,-114 102 0,118-88-1183,-65 82 0,99-103-558,2 1-1,2 1 0,-31 65 1,10 8 18,5 2 0,5 3 0,-31 164 0,61-229 0,-7 113 0,16 59 0,-3 41 0,-8 354 0,21-542 0,19 83 0,7 63 0,-13-80 0,-12-93 0,4 63 0,-12-11 0,-3-69 0,2 0 0,2 0 0,2 0 0,2-1 0,13 54 0,42 43 0,14 95 0,-70-214 0,1-1 0,0 0 0,1 0 0,1-1 0,12 18 0,-14-24 0,0-1 0,1 0 0,1-1 0,-1 1 0,1-1 0,0-1 0,1 0 0,-1 0 0,18 9 0,-12-8 10,-1-1 1,1-1 0,0 0 0,0-1 0,0 0 0,1-1 0,-1-1 0,1 0-1,23-1 1,-24-2-123,-1-1 0,0 0-1,0-1 1,0 0-1,0-1 1,-1-1 0,1 0-1,-1-1 1,-1 0-1,1 0 1,13-11 0,254-216-6213,-118 92 3570,-17 25 1239,4 7 0,5 7 0,230-115 0,419-212 1516,-322 125 0,-332 201 0,151-139 0,-257 204 273,67-80 0,-68 79 620,-34 34-911,-1-1 0,0 1 0,0-1 0,0 0 0,-1 0 0,0-1 0,7-11 0,-5 3-6,-1 0 1,-1-1-1,0 0 0,-1 1 1,-1-1-1,2-19 0,-2-7-61,-2-49-1,-5 30-53,-2 1 0,-28-110 0,-49-110-220,-47-101 205,70 211 126,41 121 28,-2 0 0,-3 2 0,-1 0 0,-55-72 0,9 27 0,-91-89 0,-95-59 0,-28-29 0,196 164 0,62 70 0,-2 1 0,-1 1 0,-1 2 0,-71-54 0,86 76 229,-1 0 0,0 1 0,-1 0 1,0 2-1,0 0 0,0 1 0,-1 1 0,-37-4 0,-10 5 1300,-82 5 0,79 0-1097,-8-1 534,25-2-269,0 3 1,-59 10-1,94-9-354,1 0 0,-1 2 0,1 0-1,0 1 1,0 1 0,1 0 0,-1 1 0,2 1 0,-1 0 0,-21 18 0,-6 13 1305,-70 83-1,61-56-1411,3 1-1,-40 77 1,46-65-236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5T14:43:43.4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1918 1 9830,'-5'0'233,"-1"1"-1,0 0 0,1 0 1,0 1-1,-1 0 1,1-1-1,0 2 1,-9 4-1,-40 27 605,40-25-538,-41 29 384,13-8 173,-2-2 1,0-1-1,-78 32 1,-175 78 4286,206-90-3211,-186 66 0,71-41-1889,166-55-44,0 1 0,-70 47 0,96-54 1,1 0 0,0 1 0,1 1 0,-17 23 0,-12 11 0,29-31 0,1 0 0,0 0 0,1 1 0,-16 35 0,18-34 0,-12 28 0,-16 60 0,8-21 0,3-15 0,5 2 0,2 0 0,-14 121 0,10 38 0,14-138 0,-7 169 0,14 8 0,4 253 0,4-432 0,18 92 0,8 87 0,-21-104 0,1 50 0,-11-183 0,2-1 0,1 0 0,1 0 0,2 0 0,1-1 0,22 50 0,-17-54 0,0-1 0,2 0 0,0-1 0,30 33 0,8 13 0,-33-42 0,2-1 0,1-1 0,0-2 0,2 0 0,1-1 0,32 20 0,-43-34 0,0-1 0,1-1 0,0 0 0,1-1 0,0-1 0,0-1 0,0 0 0,0-1 0,1-2 0,-1 1 0,34-2 0,-21-6-352,0-1 0,0-1 0,-1-2 0,0-1 0,47-24 0,1-5-1099,-1-4 1,-3-3-1,107-86 0,-7-32-1567,-71 61 1092,-61 60 850,49-65 0,12-13-297,-83 102 1503,2 1-1,0 1 1,35-21 0,-28 19 91,45-36 1,-53 37-79,0 1-1,2 2 1,0 0-1,1 1 1,0 1-1,1 1 1,0 1-1,35-9 1,180-63 1795,-141 48-2330,117-26 2337,-33 11-422,-62 11-1664,133-42 369,-193 64-739,-1-3-1,0-3 1,-2-2-1,-1-2 1,84-55-1,-115 63 288,0-1-1,-1-1 1,-1 0-1,-1-2 1,-1-1-1,-1-1 1,-1-1 0,-1-1-1,-2 0 1,0-1-1,-2-1 1,21-57 0,-21 36-33,-2 0 1,6-58-1,5-107-298,-19 159 520,12-853 35,-17 905 0,-11-158 0,8 142 0,0 0 0,-2 0 0,0 0 0,-2 1 0,-16-36 0,-6-3 0,8 15 0,-46-70 0,57 100 0,1 1 0,-2 0 0,0 0 0,0 1 0,-1 1 0,0 0 0,-1 0 0,0 1 0,-20-10 0,-4 3 378,0 1 0,-74-19 0,-87-6 1807,1 1-776,4 7 1289,51 12-907,-56-11 1092,-57-11-1487,25-4-2430,-90-22 776,292 59 261,-39-17 0,46 17-37,0 1 0,0 1-1,-28-6 1,15 8 59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05T14:44:47.4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272 24 9830,'-8'17'490,"1"-1"0,1 1 0,1 0 0,0 1 0,-3 31 0,-1 93 1517,6-59-513,-4 8-280,-2 37 804,9 177-1,3-277-1438,2 0-1,0 0 0,2-1 0,2 0 0,16 39 0,73 125 717,-87-172-1365,-5-10 70,0 0 0,1 0 0,0-1 0,0 0 0,1-1 0,0 1 0,1-1 0,0-1 0,0 0 0,0 0 0,0-1 0,1 0 0,12 4 0,11 3 0,0-1 0,60 11 0,-16-10 0,106 4 0,81-13 0,-186-3 0,120 0 0,767 27 0,138 46-149,-843-72-899,-1-10 1,330-56-1,-489 51 1621,0 5 1,122 4-1,196 29 905,-210-9-1384,220 2-94,0-37 0,98 0 0,-287 18 0,1058-15 0,-1193 18 0,129-3 0,-227 2-20,0 0 1,0 0 0,0-1-1,0 0 1,-1-1 0,1 1 0,0-1-1,0 0 1,8-5 0,-11 6-32,-1-1 1,1 0-1,-1-1 0,0 1 1,0 0-1,1-1 0,-2 1 1,1-1-1,0 1 1,0-1-1,-1 0 0,1 0 1,-1 0-1,0 0 0,0 0 1,0 0-1,-1 0 1,1 0-1,0-4 0,2-29-669,-2 0 0,-5-59-1,0 4-667,1 34 473,-3 0 0,-2 1 0,-2 0 1,-3 0-1,-2 1 0,-36-84 0,26 75 268,-44-77-1,52 111 517,-2 0 1,-41-49-1,48 66 198,0 1 0,-1 0 0,0 1 0,-1 0 0,0 1 0,-1 1 1,-26-12-1,8 7 636,-1 2 1,0 2 0,0 1-1,-65-9 1,-145 2 2381,186 14-2494,-259-3 2075,-105-6-226,361 4-2738,-68-16-1,-5-3-1056,-341-14 523,-7 32 2647,-1 0-893,250-2-876,-700-15-36,-2077 27-10,1790-3 0,1186 2 0,-1 2 0,-37 7 0,50-6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69C018-C870-4438-A84B-4FE07685CB1A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82E240-52A0-4F3B-8948-D649DD2331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363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44FE7-8C66-4743-AFA0-21790B847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1999" cy="5392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28C2C-4523-4AB5-875C-424449E57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73723"/>
            <a:ext cx="10515600" cy="540324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4BF80D-6B93-474B-98F9-988CCE685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7A066-CE2C-4C3E-8A11-C778AB1BD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74080E-5050-4AFE-96F3-B6D68ADFB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936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75017-91FB-4D79-8C13-829F3E35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C6528-7FE7-42DC-8812-4FC7D9BB95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E52444-6548-4714-A05A-DB4CA69CD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E4434-CBC8-494E-9316-569066922B0F}" type="datetime1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0DBC68-12B0-4F99-8177-335149CAF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AB8CE2-4622-46EA-9021-CE8E3F9A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21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E3F94-9D2A-4142-AAAE-46DC709B84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47156"/>
            <a:ext cx="5181600" cy="502980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1752DE-CD50-4650-934A-B943FD01E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47156"/>
            <a:ext cx="5181600" cy="502980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BB912D5-A03D-425E-B7B5-B2052897F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58" y="221699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FEE853-BAED-4D86-B3C0-65A27CCFD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4A0BF-603A-4330-B833-8B323A4A8B94}" type="datetime1">
              <a:rPr lang="en-US" smtClean="0"/>
              <a:t>6/12/2026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34D4EA5-860A-4C5E-8281-1CFBF9D6D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3AF3DB5-571B-44BB-B000-F92FDB390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40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8412D-CAA2-49BE-A44B-4983BCEB1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06602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A6F3EF-0AFD-46DB-AB03-7C4EF84CA6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950113"/>
            <a:ext cx="5157787" cy="43010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7E526C-C6A2-44D4-B0DD-71B4271F48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6602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2EF87-71FB-46D1-A92B-04A7AD61EF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50113"/>
            <a:ext cx="5183188" cy="430105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D45B924-CE6E-46DE-90BB-9F4F35C88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512" y="129883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C5FBCE-E433-4016-8BFD-FDB59235F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BBF10-8B7B-4623-97D8-6904151371CF}" type="datetime1">
              <a:rPr lang="en-US" smtClean="0"/>
              <a:t>6/12/2026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3BB3D3A-CCCC-432B-BACF-C93BC5B70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B26E5E5-6F5C-4ACE-9DBA-E64E3B707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298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21223-7C9F-4F95-A1BA-7C9FDCBEB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0481C-D26A-4816-8B65-2AAA1FEB2673}" type="datetime1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4096-46E0-4677-B787-2935A669A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46EE9D-FD7E-4455-895A-29EA2FBEE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333990B-4A01-428E-9D72-2B806476A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608" y="146463"/>
            <a:ext cx="10515600" cy="64071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70815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3C8BF3-BED2-4501-B2C7-4E46843D3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CDE97-08AC-4CAF-A7A0-E29E7CA30F01}" type="datetime1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63FBF1-CDDF-4BF9-9B87-83FEC66F3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445A1-9040-459B-86C0-02C7470E8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07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4A688-0CA4-431B-ADDC-32834D7A7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B20EA-72CF-4079-B7DD-B9B3CDA88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36E1EA-E5FD-438B-8C96-3877F18FDC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C19F51-69E0-45DC-A8BC-4D6349500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A5FFA-1870-4734-B42E-43C1194FFD8C}" type="datetime1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561232-2366-4D62-B7CA-5E63956F6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B76CC5-D813-45AB-AA50-8D965B252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431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250B5-467D-4F9E-9CC6-AFC082F0F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9A07D2-A44A-4414-A818-3A99BE4F85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8B705A-29EC-485D-9A52-3CA53F245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DDC1B1-B20D-4C41-8182-D37FD073A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D4D6F7-6552-402D-A751-A09744F93F8E}" type="datetime1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0D99CF-BF9E-41DF-8AD2-DE9FC175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F9EE16-BC54-4C4C-9665-5014B687B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48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649F0-4411-43EC-A30C-A84A170AF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DDEFE2-E01A-4A14-A55A-FC55D06A11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39995-3E7F-4750-8BE0-B9D1DB7D9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74F196-E106-4934-AF6E-C2845AFC15C9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CAD9A-35DC-4CE3-98F9-98944B6F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049F1-39F4-41B7-B018-7C9611EFB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520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715726-8339-4BAA-9962-95F8D7E1CC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05452D-2343-4F8E-882A-288D8B0755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43DB4-E5E2-42B4-A259-81F8D0876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FA749-348B-479E-95C5-7F24A07B6DCA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90557-9781-4FA8-B110-87EF7F729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25C6-4201-41B0-962A-9AC95B97D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098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3DFDB2-EEFA-41E1-ADD0-786E6A681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655320"/>
            <a:ext cx="10515600" cy="5521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C5A9D5-3B67-4C64-B77C-82CEAF2AFA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5419EC-5555-45BC-92A4-8D35FA23061E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0200F-2D21-443F-9167-135A0BCE70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Trevor Amestoy | Cornell University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6CF31-F3A3-4E15-B806-50EFF00A0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BC31C-09DE-4BD8-A52C-83E8CB812CB2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261EA1F-C7D5-4CC8-AC9B-768BA980598E}"/>
              </a:ext>
            </a:extLst>
          </p:cNvPr>
          <p:cNvCxnSpPr>
            <a:cxnSpLocks/>
          </p:cNvCxnSpPr>
          <p:nvPr userDrawn="1"/>
        </p:nvCxnSpPr>
        <p:spPr>
          <a:xfrm>
            <a:off x="838200" y="6492875"/>
            <a:ext cx="10515600" cy="0"/>
          </a:xfrm>
          <a:prstGeom prst="line">
            <a:avLst/>
          </a:prstGeom>
          <a:ln w="38100">
            <a:solidFill>
              <a:srgbClr val="152C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285BBCA-83FD-3CCF-78EB-6199996FFB0C}"/>
              </a:ext>
            </a:extLst>
          </p:cNvPr>
          <p:cNvSpPr/>
          <p:nvPr userDrawn="1"/>
        </p:nvSpPr>
        <p:spPr>
          <a:xfrm>
            <a:off x="0" y="-2"/>
            <a:ext cx="12192000" cy="539943"/>
          </a:xfrm>
          <a:prstGeom prst="rect">
            <a:avLst/>
          </a:prstGeom>
          <a:solidFill>
            <a:srgbClr val="152C47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6D1BC3-D5B6-4BA6-8BE7-C5CF26FBA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22" y="0"/>
            <a:ext cx="11952317" cy="5399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85179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>
              <a:lumMod val="8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customXml" Target="../ink/ink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2859D-0235-3C27-0F9C-B0B19C08F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9F2449-0DB4-24E9-335D-AB3977555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2E33B-137B-4CD4-3AB4-F91F2F3C2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09EA12-D4E0-B17B-E0B1-68A8BC970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7920F1-B276-C35C-7748-C14CFB60983A}"/>
              </a:ext>
            </a:extLst>
          </p:cNvPr>
          <p:cNvSpPr txBox="1"/>
          <p:nvPr/>
        </p:nvSpPr>
        <p:spPr>
          <a:xfrm>
            <a:off x="838200" y="2688587"/>
            <a:ext cx="1051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Proposal</a:t>
            </a:r>
          </a:p>
          <a:p>
            <a:endParaRPr lang="en-US" sz="3600" dirty="0"/>
          </a:p>
          <a:p>
            <a:r>
              <a:rPr lang="en-US" sz="3600" dirty="0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1545454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20416-05D9-CFC5-8EA0-CDAE3246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A2887-C5CE-D99C-0519-4D110644B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153"/>
            <a:ext cx="10515600" cy="4594810"/>
          </a:xfrm>
        </p:spPr>
        <p:txBody>
          <a:bodyPr>
            <a:normAutofit/>
          </a:bodyPr>
          <a:lstStyle/>
          <a:p>
            <a:r>
              <a:rPr lang="en-US" sz="2400" dirty="0"/>
              <a:t>Motivation &amp; Literature Review</a:t>
            </a:r>
          </a:p>
          <a:p>
            <a:r>
              <a:rPr lang="en-US" sz="2400" dirty="0"/>
              <a:t>Proposal </a:t>
            </a:r>
          </a:p>
          <a:p>
            <a:pPr lvl="1"/>
            <a:r>
              <a:rPr lang="en-US" sz="2200" dirty="0"/>
              <a:t>Hypothesis</a:t>
            </a:r>
          </a:p>
          <a:p>
            <a:pPr lvl="1"/>
            <a:r>
              <a:rPr lang="en-US" sz="2200" dirty="0"/>
              <a:t>Research Questions</a:t>
            </a:r>
          </a:p>
          <a:p>
            <a:pPr lvl="1"/>
            <a:r>
              <a:rPr lang="en-US" sz="2200" dirty="0"/>
              <a:t>Planned Contributions</a:t>
            </a:r>
          </a:p>
          <a:p>
            <a:r>
              <a:rPr lang="en-US" sz="2400" dirty="0"/>
              <a:t>Planned Methods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3CE01-CD76-427A-B2C9-95842F950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74B40-0BF2-188F-99E1-66B1D3DFB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EC4B2C-D3E1-9816-554E-7A41B2263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1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933A-FDFA-6856-721F-E293AC0A5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18BF3-F7AA-AF05-124E-0777DC6F5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E4140-0A49-6821-E2DA-C17BEAA6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B932A-3645-B078-4689-6039D343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66D1F-4D2C-EDFA-1002-32E3C1F7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BE2F75-8C9D-B14B-072E-2E8B595974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3135" y="965357"/>
            <a:ext cx="4016088" cy="40770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940D4C-A906-2C36-E24D-61ADBAB7CF14}"/>
              </a:ext>
            </a:extLst>
          </p:cNvPr>
          <p:cNvSpPr txBox="1"/>
          <p:nvPr/>
        </p:nvSpPr>
        <p:spPr>
          <a:xfrm>
            <a:off x="6994358" y="5358063"/>
            <a:ext cx="3673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from </a:t>
            </a:r>
            <a:r>
              <a:rPr lang="en-US" dirty="0" err="1"/>
              <a:t>Jazmines</a:t>
            </a:r>
            <a:r>
              <a:rPr lang="en-US"/>
              <a:t> dissertation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71CE1A-3A62-5C98-8C5E-E7A9E956F4CA}"/>
              </a:ext>
            </a:extLst>
          </p:cNvPr>
          <p:cNvSpPr txBox="1"/>
          <p:nvPr/>
        </p:nvSpPr>
        <p:spPr>
          <a:xfrm>
            <a:off x="838200" y="778013"/>
            <a:ext cx="50171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1. Large stochastic ensembles of streamflows are necessary for capturing the full range of hydrologic conditions resulting from natural variability.</a:t>
            </a:r>
          </a:p>
        </p:txBody>
      </p:sp>
    </p:spTree>
    <p:extLst>
      <p:ext uri="{BB962C8B-B14F-4D97-AF65-F5344CB8AC3E}">
        <p14:creationId xmlns:p14="http://schemas.microsoft.com/office/powerpoint/2010/main" val="881987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63998-E7BE-4D8D-23F1-8E1DEA643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730F-AAA2-02DB-15E3-F196CA5C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4CB97-1D03-762D-B5D5-4D2F19AA7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0409E3-CFF8-9965-7868-43CBB5029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7201A-1CFA-73D5-5215-48BB530C4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10A651-5A21-2176-FCDD-540ECAA8C73E}"/>
              </a:ext>
            </a:extLst>
          </p:cNvPr>
          <p:cNvSpPr txBox="1"/>
          <p:nvPr/>
        </p:nvSpPr>
        <p:spPr>
          <a:xfrm>
            <a:off x="838200" y="778013"/>
            <a:ext cx="50171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2. Large stochastic ensembles of streamflows are necessary for capturing the full range of hydrologic conditions resulting from natural variability.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4F051E6-B3AA-F9F2-8F71-47AFBB313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190" y="2955755"/>
            <a:ext cx="7429661" cy="326670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E0035C-BC26-772D-261B-3667C5396AF7}"/>
              </a:ext>
            </a:extLst>
          </p:cNvPr>
          <p:cNvSpPr txBox="1"/>
          <p:nvPr/>
        </p:nvSpPr>
        <p:spPr>
          <a:xfrm>
            <a:off x="3769895" y="2859479"/>
            <a:ext cx="285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Historical period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0B41D3-450D-4837-8D89-DC7480E04542}"/>
              </a:ext>
            </a:extLst>
          </p:cNvPr>
          <p:cNvSpPr txBox="1"/>
          <p:nvPr/>
        </p:nvSpPr>
        <p:spPr>
          <a:xfrm>
            <a:off x="7403432" y="3942321"/>
            <a:ext cx="2855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Historical period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913B59-FE50-5E47-96D4-271E4E8E327F}"/>
              </a:ext>
            </a:extLst>
          </p:cNvPr>
          <p:cNvSpPr/>
          <p:nvPr/>
        </p:nvSpPr>
        <p:spPr>
          <a:xfrm rot="16200000">
            <a:off x="1587102" y="4270158"/>
            <a:ext cx="3266704" cy="36512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Max drought magnitude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E86274-6A76-56E3-8F66-012DCD849211}"/>
              </a:ext>
            </a:extLst>
          </p:cNvPr>
          <p:cNvSpPr txBox="1"/>
          <p:nvPr/>
        </p:nvSpPr>
        <p:spPr>
          <a:xfrm>
            <a:off x="3769895" y="4441026"/>
            <a:ext cx="2029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Kirsch-Nowak ensemble of increasing size</a:t>
            </a:r>
          </a:p>
        </p:txBody>
      </p:sp>
    </p:spTree>
    <p:extLst>
      <p:ext uri="{BB962C8B-B14F-4D97-AF65-F5344CB8AC3E}">
        <p14:creationId xmlns:p14="http://schemas.microsoft.com/office/powerpoint/2010/main" val="1536672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2FA75-CD9B-49DA-9214-FA6D0CFF1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FAC35-E34A-716E-8DA3-EBF494BF2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76E67-3DC6-7EAA-93F1-97AE4794B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7B8DF-E344-B9F5-AC6A-ABE7B1FC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B1270-DD62-26E9-101D-2E12C2EA4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95F87F-645D-11EE-5281-8C3345D6B5FE}"/>
              </a:ext>
            </a:extLst>
          </p:cNvPr>
          <p:cNvSpPr txBox="1"/>
          <p:nvPr/>
        </p:nvSpPr>
        <p:spPr>
          <a:xfrm>
            <a:off x="838199" y="778013"/>
            <a:ext cx="555457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3. When using long stochastic sequences much of the simulation period may be low-stress and require simulation/compute time that is not contributing meaningfully to improving solutions.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 err="1"/>
              <a:t>Eg.</a:t>
            </a:r>
            <a:r>
              <a:rPr lang="en-US" sz="2000" dirty="0"/>
              <a:t>, in the current stochastic ensembles 84-93% of ensemble years are in Normal conditions.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820BE4D-846A-2075-E085-A44EE9626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2778" y="1616324"/>
            <a:ext cx="5038821" cy="423159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33DA8FC-F5D9-0F8F-E03A-89C4A70A7C3D}"/>
              </a:ext>
            </a:extLst>
          </p:cNvPr>
          <p:cNvSpPr/>
          <p:nvPr/>
        </p:nvSpPr>
        <p:spPr>
          <a:xfrm>
            <a:off x="10107055" y="2101452"/>
            <a:ext cx="1146482" cy="81019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5079796-FAAC-F797-6842-43E3E63C223E}"/>
              </a:ext>
            </a:extLst>
          </p:cNvPr>
          <p:cNvSpPr/>
          <p:nvPr/>
        </p:nvSpPr>
        <p:spPr>
          <a:xfrm>
            <a:off x="9513497" y="2506547"/>
            <a:ext cx="593558" cy="425115"/>
          </a:xfrm>
          <a:prstGeom prst="rightArrow">
            <a:avLst/>
          </a:prstGeom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62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063C-340C-DBB2-6812-3F0770D6F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C0274-4B06-4C85-9088-DABD3DA08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028B7-ED0F-09C7-4568-3960EE20C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81D91-E498-118F-43DB-FB46838FA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9F8B84-0F3B-393D-EF92-3A1069A22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C7D0E3-722F-3F00-61D2-2C0E82626316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4. There can be redundancy in streamflow scenarios resulting from sampling uncertain hydrologic drivers/forcings.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A99EFF-1720-BBDC-14A0-67EE1FC53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410" y="2977143"/>
            <a:ext cx="6186577" cy="292511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71EC0F35-9DBD-B6CF-5B2E-76930A634BB5}"/>
                  </a:ext>
                </a:extLst>
              </p14:cNvPr>
              <p14:cNvContentPartPr/>
              <p14:nvPr/>
            </p14:nvContentPartPr>
            <p14:xfrm>
              <a:off x="3416968" y="3509880"/>
              <a:ext cx="1451880" cy="1863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71EC0F35-9DBD-B6CF-5B2E-76930A634BB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98968" y="3492240"/>
                <a:ext cx="1487520" cy="18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1E40CB3-0B20-307A-1C41-0D55BE1D56EF}"/>
                  </a:ext>
                </a:extLst>
              </p14:cNvPr>
              <p14:cNvContentPartPr/>
              <p14:nvPr/>
            </p14:nvContentPartPr>
            <p14:xfrm>
              <a:off x="6480208" y="3689520"/>
              <a:ext cx="1556640" cy="16930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1E40CB3-0B20-307A-1C41-0D55BE1D56E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462208" y="3671880"/>
                <a:ext cx="1592280" cy="1728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5116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7395C-ABDD-5180-B703-C3970114B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827FA-98D8-06FA-D667-37BF3B69B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6F0-BEED-7165-DEAB-91CFFAA43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126E7D-8823-EE84-544A-8FB552A67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9A004-9522-3C7F-F15A-5CC527345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5BD1EF-478A-A5BE-0E5E-AE6F2DE676F9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4. There can be redundancy in streamflow scenarios resulting from sampling uncertain hydrologic drivers/forcings.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5B6999-1A91-909F-6494-D04B210F9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734" y="1977417"/>
            <a:ext cx="5204911" cy="397798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A9FB0967-D9FB-83C4-5B12-02BE7115C73F}"/>
                  </a:ext>
                </a:extLst>
              </p14:cNvPr>
              <p14:cNvContentPartPr/>
              <p14:nvPr/>
            </p14:nvContentPartPr>
            <p14:xfrm>
              <a:off x="6752368" y="5341200"/>
              <a:ext cx="3252960" cy="576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A9FB0967-D9FB-83C4-5B12-02BE7115C73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34368" y="5323560"/>
                <a:ext cx="3288600" cy="61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78693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1EF2C-8A97-E411-8D04-7CA64A6C0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C0125-75DB-6FB7-2F1E-F059903B6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EE278-4E38-D859-880E-5289A9AF1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69785-EE67-16FA-BE32-EFF798089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7C3D6-D36E-7261-AFA1-62FDC01F3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8E3D0E-B36B-6190-C596-DC0648E87AE4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4. There can be redundancy in streamflow scenarios resulting from sampling uncertain hydrologic drivers/forcings.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803539D-70E5-91FB-6557-FC4DC12DCC64}"/>
              </a:ext>
            </a:extLst>
          </p:cNvPr>
          <p:cNvCxnSpPr>
            <a:cxnSpLocks/>
          </p:cNvCxnSpPr>
          <p:nvPr/>
        </p:nvCxnSpPr>
        <p:spPr>
          <a:xfrm flipV="1">
            <a:off x="2833838" y="279307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D1A4FEF-85DE-7BE7-F797-8C5A9EFEAE16}"/>
              </a:ext>
            </a:extLst>
          </p:cNvPr>
          <p:cNvCxnSpPr>
            <a:cxnSpLocks/>
          </p:cNvCxnSpPr>
          <p:nvPr/>
        </p:nvCxnSpPr>
        <p:spPr>
          <a:xfrm>
            <a:off x="2833838" y="493068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8428FFE-0197-E692-099E-D6E119838905}"/>
              </a:ext>
            </a:extLst>
          </p:cNvPr>
          <p:cNvSpPr txBox="1"/>
          <p:nvPr/>
        </p:nvSpPr>
        <p:spPr>
          <a:xfrm>
            <a:off x="2910840" y="502292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5F4484-4C51-A217-06F0-094FB212AF90}"/>
              </a:ext>
            </a:extLst>
          </p:cNvPr>
          <p:cNvSpPr txBox="1"/>
          <p:nvPr/>
        </p:nvSpPr>
        <p:spPr>
          <a:xfrm rot="16200000">
            <a:off x="1275788" y="355730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BABA156-82CA-2D2F-4A0E-64CAD276E499}"/>
              </a:ext>
            </a:extLst>
          </p:cNvPr>
          <p:cNvSpPr/>
          <p:nvPr/>
        </p:nvSpPr>
        <p:spPr>
          <a:xfrm>
            <a:off x="3345181" y="3338909"/>
            <a:ext cx="198118" cy="198118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E5F6D8A-9F12-0A82-B179-16B4548AAE86}"/>
              </a:ext>
            </a:extLst>
          </p:cNvPr>
          <p:cNvSpPr/>
          <p:nvPr/>
        </p:nvSpPr>
        <p:spPr>
          <a:xfrm>
            <a:off x="3444240" y="4254780"/>
            <a:ext cx="198118" cy="19811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8DEEF67-82BE-5E4E-5D73-6B2797DFF192}"/>
              </a:ext>
            </a:extLst>
          </p:cNvPr>
          <p:cNvSpPr/>
          <p:nvPr/>
        </p:nvSpPr>
        <p:spPr>
          <a:xfrm>
            <a:off x="4213860" y="3790625"/>
            <a:ext cx="198118" cy="19811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B148ED2-8008-C125-0949-D96DB55B5EBC}"/>
              </a:ext>
            </a:extLst>
          </p:cNvPr>
          <p:cNvCxnSpPr>
            <a:cxnSpLocks/>
          </p:cNvCxnSpPr>
          <p:nvPr/>
        </p:nvCxnSpPr>
        <p:spPr>
          <a:xfrm flipV="1">
            <a:off x="6864818" y="279307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0B1578-3AF4-B27B-D950-BEBA6AD26E0F}"/>
              </a:ext>
            </a:extLst>
          </p:cNvPr>
          <p:cNvCxnSpPr>
            <a:cxnSpLocks/>
          </p:cNvCxnSpPr>
          <p:nvPr/>
        </p:nvCxnSpPr>
        <p:spPr>
          <a:xfrm>
            <a:off x="6864818" y="493068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B90ED65-86CB-334F-01FE-FEA143C97E94}"/>
              </a:ext>
            </a:extLst>
          </p:cNvPr>
          <p:cNvSpPr txBox="1"/>
          <p:nvPr/>
        </p:nvSpPr>
        <p:spPr>
          <a:xfrm>
            <a:off x="6941820" y="502292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266CFA-74C7-6AF0-A15E-3F162963AAB6}"/>
              </a:ext>
            </a:extLst>
          </p:cNvPr>
          <p:cNvSpPr txBox="1"/>
          <p:nvPr/>
        </p:nvSpPr>
        <p:spPr>
          <a:xfrm rot="16200000">
            <a:off x="5306768" y="355730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DC7C766-9AB6-AFD8-5B7A-E28BB36B4F69}"/>
              </a:ext>
            </a:extLst>
          </p:cNvPr>
          <p:cNvSpPr/>
          <p:nvPr/>
        </p:nvSpPr>
        <p:spPr>
          <a:xfrm rot="19703276">
            <a:off x="7448608" y="3600455"/>
            <a:ext cx="1519955" cy="982021"/>
          </a:xfrm>
          <a:prstGeom prst="ellipse">
            <a:avLst/>
          </a:prstGeom>
          <a:solidFill>
            <a:srgbClr val="70AD47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1F7BABC-BDE2-34E2-1014-690519FD120A}"/>
              </a:ext>
            </a:extLst>
          </p:cNvPr>
          <p:cNvSpPr/>
          <p:nvPr/>
        </p:nvSpPr>
        <p:spPr>
          <a:xfrm rot="19703276">
            <a:off x="7093633" y="3437598"/>
            <a:ext cx="1519955" cy="807250"/>
          </a:xfrm>
          <a:prstGeom prst="ellipse">
            <a:avLst/>
          </a:prstGeom>
          <a:solidFill>
            <a:srgbClr val="ED7D31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2344D6D-6390-E1F2-7E2B-68886BFD52A5}"/>
              </a:ext>
            </a:extLst>
          </p:cNvPr>
          <p:cNvSpPr/>
          <p:nvPr/>
        </p:nvSpPr>
        <p:spPr>
          <a:xfrm rot="19703276">
            <a:off x="7592981" y="3291289"/>
            <a:ext cx="1519955" cy="807250"/>
          </a:xfrm>
          <a:prstGeom prst="ellipse">
            <a:avLst/>
          </a:prstGeom>
          <a:solidFill>
            <a:srgbClr val="4472C4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C83D925-9E13-EB15-EC28-EC0B93CEF1E0}"/>
              </a:ext>
            </a:extLst>
          </p:cNvPr>
          <p:cNvSpPr/>
          <p:nvPr/>
        </p:nvSpPr>
        <p:spPr>
          <a:xfrm>
            <a:off x="5287557" y="3598660"/>
            <a:ext cx="868680" cy="67349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553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A1AC8-0FEB-6A76-3AE6-96B28307C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4BD09-BC76-DEF7-989C-2ABF5F7E2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63957-6555-1DC8-8A00-01BDDAB90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7C5B7-4FBD-7903-5C39-00BFBB364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5CF22-B64A-69E7-CD88-6BC089FD4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52BB4C-34E4-4B5F-E898-BA9DDA6D6F5E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5. Rare, extreme drought hazard events drive the most consequential outcomes.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DB113A-9B3E-CB61-081D-B23CCF433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621" y="2101452"/>
            <a:ext cx="3178061" cy="3787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376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F62CD-DC5F-986B-E70E-4D2A933F8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02C0F-E748-609F-5B8E-63C3C2CB5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2189A-34CF-402B-B16F-15F70A980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D8131-AC00-CA2C-6063-7A569C7B6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68551-5586-FD47-08CA-35DBB34F0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10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3FE477-4ACB-31CF-0539-93408E1F6D76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6. There is interest in finding efficient subsamples of the scenario space that produce reliable robustness measurements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372F3B-9803-EA30-A96D-9EA3AA2BE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790" y="2900032"/>
            <a:ext cx="8910263" cy="203065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4457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22C4-F82E-CFC7-2CE3-0511D9A95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CC535-C6E1-8136-0945-06A41B5E5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26C2A-8368-1166-5C7C-D21995DBE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D89A0-1616-1C2C-953F-9054C496F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96D3B4-A613-4309-E7A0-75EEE9622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11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FF7D84-4893-8B63-A57C-8317D328FD50}"/>
              </a:ext>
            </a:extLst>
          </p:cNvPr>
          <p:cNvSpPr txBox="1"/>
          <p:nvPr/>
        </p:nvSpPr>
        <p:spPr>
          <a:xfrm>
            <a:off x="838198" y="778013"/>
            <a:ext cx="100704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Motivation:</a:t>
            </a:r>
          </a:p>
          <a:p>
            <a:endParaRPr lang="en-US" sz="2000" dirty="0"/>
          </a:p>
          <a:p>
            <a:r>
              <a:rPr lang="en-US" sz="2000" dirty="0"/>
              <a:t>7. There is no study that has systematically compared different scenario design configurations in the MOEA literature.</a:t>
            </a:r>
          </a:p>
        </p:txBody>
      </p:sp>
    </p:spTree>
    <p:extLst>
      <p:ext uri="{BB962C8B-B14F-4D97-AF65-F5344CB8AC3E}">
        <p14:creationId xmlns:p14="http://schemas.microsoft.com/office/powerpoint/2010/main" val="857137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1B849-F87F-CD81-0985-D8C66DFD6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6CBA7-5E7E-23D5-67C1-8F93186AB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&amp; Literature Review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31857-769C-791E-FEB2-7CE66A275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904550-65A4-B37D-726B-D9791227A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C8DA4-DFB1-4267-CAE5-638924622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12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8D4B0F1-FD44-FF08-ED6E-ECA6B503B64D}"/>
              </a:ext>
            </a:extLst>
          </p:cNvPr>
          <p:cNvCxnSpPr/>
          <p:nvPr/>
        </p:nvCxnSpPr>
        <p:spPr>
          <a:xfrm>
            <a:off x="1195137" y="3592268"/>
            <a:ext cx="936858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BB1C5DD-FB3F-FBF1-1C5A-E12204A4E4FA}"/>
              </a:ext>
            </a:extLst>
          </p:cNvPr>
          <p:cNvSpPr txBox="1"/>
          <p:nvPr/>
        </p:nvSpPr>
        <p:spPr>
          <a:xfrm rot="16200000">
            <a:off x="-160422" y="1512675"/>
            <a:ext cx="14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Uncertain Parameters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D87C400-D5B4-1953-A5DF-4FAD2286CB64}"/>
              </a:ext>
            </a:extLst>
          </p:cNvPr>
          <p:cNvGrpSpPr/>
          <p:nvPr/>
        </p:nvGrpSpPr>
        <p:grpSpPr>
          <a:xfrm>
            <a:off x="1726041" y="1246292"/>
            <a:ext cx="1545035" cy="1545035"/>
            <a:chOff x="1726041" y="1246292"/>
            <a:chExt cx="1545035" cy="1545035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295DB53-FD57-EBC0-AC7A-E8D868CF87EA}"/>
                </a:ext>
              </a:extLst>
            </p:cNvPr>
            <p:cNvCxnSpPr>
              <a:cxnSpLocks/>
            </p:cNvCxnSpPr>
            <p:nvPr/>
          </p:nvCxnSpPr>
          <p:spPr>
            <a:xfrm>
              <a:off x="2498559" y="1246292"/>
              <a:ext cx="0" cy="1545035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04B4C74-5DDE-EC84-2A94-102E243FBEB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2498559" y="1246292"/>
              <a:ext cx="0" cy="1545035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" name="Oval 14">
            <a:extLst>
              <a:ext uri="{FF2B5EF4-FFF2-40B4-BE49-F238E27FC236}">
                <a16:creationId xmlns:a16="http://schemas.microsoft.com/office/drawing/2014/main" id="{0C29B08C-9488-278D-EABB-F6889647B7AE}"/>
              </a:ext>
            </a:extLst>
          </p:cNvPr>
          <p:cNvSpPr/>
          <p:nvPr/>
        </p:nvSpPr>
        <p:spPr>
          <a:xfrm>
            <a:off x="2437274" y="1958110"/>
            <a:ext cx="122570" cy="12257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8FEA238-1AFB-428D-3459-7A177F62B533}"/>
              </a:ext>
            </a:extLst>
          </p:cNvPr>
          <p:cNvGrpSpPr/>
          <p:nvPr/>
        </p:nvGrpSpPr>
        <p:grpSpPr>
          <a:xfrm>
            <a:off x="4038600" y="1246292"/>
            <a:ext cx="1545035" cy="1545035"/>
            <a:chOff x="1726041" y="1246292"/>
            <a:chExt cx="1545035" cy="1545035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515A5DF-583A-BEF2-2875-227B8F608D17}"/>
                </a:ext>
              </a:extLst>
            </p:cNvPr>
            <p:cNvCxnSpPr>
              <a:cxnSpLocks/>
            </p:cNvCxnSpPr>
            <p:nvPr/>
          </p:nvCxnSpPr>
          <p:spPr>
            <a:xfrm>
              <a:off x="2498559" y="1246292"/>
              <a:ext cx="0" cy="1545035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790523E-CFC2-3792-F553-339FFCAE2D19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2498559" y="1246292"/>
              <a:ext cx="0" cy="1545035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Oval 19">
            <a:extLst>
              <a:ext uri="{FF2B5EF4-FFF2-40B4-BE49-F238E27FC236}">
                <a16:creationId xmlns:a16="http://schemas.microsoft.com/office/drawing/2014/main" id="{0BF98F29-9637-F50C-3677-AB11F4F85F78}"/>
              </a:ext>
            </a:extLst>
          </p:cNvPr>
          <p:cNvSpPr/>
          <p:nvPr/>
        </p:nvSpPr>
        <p:spPr>
          <a:xfrm>
            <a:off x="4332932" y="2377395"/>
            <a:ext cx="122570" cy="12257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249BF58-A084-DCBD-3F93-54D547174986}"/>
              </a:ext>
            </a:extLst>
          </p:cNvPr>
          <p:cNvSpPr/>
          <p:nvPr/>
        </p:nvSpPr>
        <p:spPr>
          <a:xfrm>
            <a:off x="5166734" y="1534965"/>
            <a:ext cx="122570" cy="12257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3A246ED-5BBE-2475-1689-E541606E667C}"/>
              </a:ext>
            </a:extLst>
          </p:cNvPr>
          <p:cNvSpPr/>
          <p:nvPr/>
        </p:nvSpPr>
        <p:spPr>
          <a:xfrm>
            <a:off x="4332932" y="1530694"/>
            <a:ext cx="122570" cy="12257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21FE337-817B-BFE3-D936-882F2671D91A}"/>
              </a:ext>
            </a:extLst>
          </p:cNvPr>
          <p:cNvSpPr/>
          <p:nvPr/>
        </p:nvSpPr>
        <p:spPr>
          <a:xfrm>
            <a:off x="5166734" y="2376900"/>
            <a:ext cx="122570" cy="12257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0654C81-7517-9C7F-79E1-6FF9D07AC264}"/>
              </a:ext>
            </a:extLst>
          </p:cNvPr>
          <p:cNvSpPr/>
          <p:nvPr/>
        </p:nvSpPr>
        <p:spPr>
          <a:xfrm>
            <a:off x="4749832" y="1958110"/>
            <a:ext cx="122570" cy="12257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61D9343-EDF1-8035-A9BA-2DAD0C247C73}"/>
              </a:ext>
            </a:extLst>
          </p:cNvPr>
          <p:cNvSpPr/>
          <p:nvPr/>
        </p:nvSpPr>
        <p:spPr>
          <a:xfrm rot="19703276">
            <a:off x="4488793" y="4750682"/>
            <a:ext cx="966767" cy="762361"/>
          </a:xfrm>
          <a:prstGeom prst="ellipse">
            <a:avLst/>
          </a:prstGeom>
          <a:solidFill>
            <a:srgbClr val="FF9900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8FF9AA8-D58E-E285-2726-617DA3E9769A}"/>
              </a:ext>
            </a:extLst>
          </p:cNvPr>
          <p:cNvSpPr/>
          <p:nvPr/>
        </p:nvSpPr>
        <p:spPr>
          <a:xfrm rot="19703276">
            <a:off x="4162263" y="4629454"/>
            <a:ext cx="966768" cy="626682"/>
          </a:xfrm>
          <a:prstGeom prst="ellipse">
            <a:avLst/>
          </a:prstGeom>
          <a:solidFill>
            <a:srgbClr val="FF9900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CE319425-390F-65F4-8852-A04C875B9B6B}"/>
              </a:ext>
            </a:extLst>
          </p:cNvPr>
          <p:cNvSpPr/>
          <p:nvPr/>
        </p:nvSpPr>
        <p:spPr>
          <a:xfrm rot="19703276">
            <a:off x="4365744" y="4535028"/>
            <a:ext cx="903983" cy="428632"/>
          </a:xfrm>
          <a:prstGeom prst="ellipse">
            <a:avLst/>
          </a:prstGeom>
          <a:solidFill>
            <a:srgbClr val="FF9900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E85EB1-8207-8EBA-31AA-3D0DCCDC0048}"/>
              </a:ext>
            </a:extLst>
          </p:cNvPr>
          <p:cNvSpPr/>
          <p:nvPr/>
        </p:nvSpPr>
        <p:spPr>
          <a:xfrm rot="19703276">
            <a:off x="4830401" y="4595544"/>
            <a:ext cx="727462" cy="557469"/>
          </a:xfrm>
          <a:prstGeom prst="ellipse">
            <a:avLst/>
          </a:prstGeom>
          <a:solidFill>
            <a:srgbClr val="FF9900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02791D1-27E9-4A14-CFBA-497667D47A06}"/>
              </a:ext>
            </a:extLst>
          </p:cNvPr>
          <p:cNvCxnSpPr>
            <a:cxnSpLocks/>
          </p:cNvCxnSpPr>
          <p:nvPr/>
        </p:nvCxnSpPr>
        <p:spPr>
          <a:xfrm flipV="1">
            <a:off x="4038600" y="4195072"/>
            <a:ext cx="0" cy="1640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1863C06-C64B-8688-5467-AEC7E850BEBF}"/>
              </a:ext>
            </a:extLst>
          </p:cNvPr>
          <p:cNvCxnSpPr>
            <a:cxnSpLocks/>
          </p:cNvCxnSpPr>
          <p:nvPr/>
        </p:nvCxnSpPr>
        <p:spPr>
          <a:xfrm>
            <a:off x="4038600" y="5835766"/>
            <a:ext cx="17479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698BB64-DCA7-91E8-8065-93575BF43706}"/>
              </a:ext>
            </a:extLst>
          </p:cNvPr>
          <p:cNvCxnSpPr>
            <a:cxnSpLocks/>
          </p:cNvCxnSpPr>
          <p:nvPr/>
        </p:nvCxnSpPr>
        <p:spPr>
          <a:xfrm flipV="1">
            <a:off x="1756870" y="4195072"/>
            <a:ext cx="0" cy="1640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52A8B67-D03D-B357-8516-A33C68703F18}"/>
              </a:ext>
            </a:extLst>
          </p:cNvPr>
          <p:cNvCxnSpPr>
            <a:cxnSpLocks/>
          </p:cNvCxnSpPr>
          <p:nvPr/>
        </p:nvCxnSpPr>
        <p:spPr>
          <a:xfrm>
            <a:off x="1756870" y="5835766"/>
            <a:ext cx="17479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40C2C010-5303-25BC-EF58-437ED336B79C}"/>
              </a:ext>
            </a:extLst>
          </p:cNvPr>
          <p:cNvSpPr/>
          <p:nvPr/>
        </p:nvSpPr>
        <p:spPr>
          <a:xfrm rot="19703276">
            <a:off x="2068623" y="4857499"/>
            <a:ext cx="903983" cy="428632"/>
          </a:xfrm>
          <a:prstGeom prst="ellipse">
            <a:avLst/>
          </a:prstGeom>
          <a:solidFill>
            <a:srgbClr val="FF9900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85C5831-DAB5-FED9-8714-1CD9AD7DDA8B}"/>
              </a:ext>
            </a:extLst>
          </p:cNvPr>
          <p:cNvSpPr txBox="1"/>
          <p:nvPr/>
        </p:nvSpPr>
        <p:spPr>
          <a:xfrm rot="16200000">
            <a:off x="-160423" y="4498320"/>
            <a:ext cx="14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Hazard Space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1352B4-21EB-6E48-0850-E75574D883C0}"/>
              </a:ext>
            </a:extLst>
          </p:cNvPr>
          <p:cNvGrpSpPr/>
          <p:nvPr/>
        </p:nvGrpSpPr>
        <p:grpSpPr>
          <a:xfrm>
            <a:off x="6608368" y="1246292"/>
            <a:ext cx="1545035" cy="1545035"/>
            <a:chOff x="1726041" y="1246292"/>
            <a:chExt cx="1545035" cy="1545035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F8E70154-5F6A-3677-A851-3B3AFC628906}"/>
                </a:ext>
              </a:extLst>
            </p:cNvPr>
            <p:cNvCxnSpPr>
              <a:cxnSpLocks/>
            </p:cNvCxnSpPr>
            <p:nvPr/>
          </p:nvCxnSpPr>
          <p:spPr>
            <a:xfrm>
              <a:off x="2498559" y="1246292"/>
              <a:ext cx="0" cy="1545035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5F26F98-7959-42F4-8E43-2BCAA7C86B36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2498559" y="1246292"/>
              <a:ext cx="0" cy="1545035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Oval 59">
            <a:extLst>
              <a:ext uri="{FF2B5EF4-FFF2-40B4-BE49-F238E27FC236}">
                <a16:creationId xmlns:a16="http://schemas.microsoft.com/office/drawing/2014/main" id="{8B8D8E78-CA8F-B8F0-FD57-89F7B4B1C297}"/>
              </a:ext>
            </a:extLst>
          </p:cNvPr>
          <p:cNvSpPr/>
          <p:nvPr/>
        </p:nvSpPr>
        <p:spPr>
          <a:xfrm>
            <a:off x="6902700" y="2377395"/>
            <a:ext cx="122570" cy="12257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2009BED-1DC6-8414-A129-DA604E5AAB90}"/>
              </a:ext>
            </a:extLst>
          </p:cNvPr>
          <p:cNvSpPr/>
          <p:nvPr/>
        </p:nvSpPr>
        <p:spPr>
          <a:xfrm>
            <a:off x="7736502" y="1534965"/>
            <a:ext cx="122570" cy="12257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92ABBD0C-9FC9-4237-29FF-F0FAB58CEF72}"/>
              </a:ext>
            </a:extLst>
          </p:cNvPr>
          <p:cNvSpPr/>
          <p:nvPr/>
        </p:nvSpPr>
        <p:spPr>
          <a:xfrm>
            <a:off x="6902700" y="1530694"/>
            <a:ext cx="122570" cy="12257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D54864B-13EA-0358-F495-E43B59C997A4}"/>
              </a:ext>
            </a:extLst>
          </p:cNvPr>
          <p:cNvSpPr/>
          <p:nvPr/>
        </p:nvSpPr>
        <p:spPr>
          <a:xfrm>
            <a:off x="7736502" y="2376900"/>
            <a:ext cx="122570" cy="12257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996ED6F-8D76-015D-617A-26E27024AD51}"/>
              </a:ext>
            </a:extLst>
          </p:cNvPr>
          <p:cNvSpPr/>
          <p:nvPr/>
        </p:nvSpPr>
        <p:spPr>
          <a:xfrm>
            <a:off x="7319600" y="1958110"/>
            <a:ext cx="122570" cy="12257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0C31A02-FA9C-0E98-0F8F-17D41707C4FF}"/>
              </a:ext>
            </a:extLst>
          </p:cNvPr>
          <p:cNvSpPr/>
          <p:nvPr/>
        </p:nvSpPr>
        <p:spPr>
          <a:xfrm rot="19703276">
            <a:off x="7058561" y="4750682"/>
            <a:ext cx="966767" cy="762361"/>
          </a:xfrm>
          <a:prstGeom prst="ellipse">
            <a:avLst/>
          </a:prstGeom>
          <a:solidFill>
            <a:srgbClr val="FF9900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C9160261-1609-CB6E-584F-2C8B1F32D25B}"/>
              </a:ext>
            </a:extLst>
          </p:cNvPr>
          <p:cNvSpPr/>
          <p:nvPr/>
        </p:nvSpPr>
        <p:spPr>
          <a:xfrm rot="19703276">
            <a:off x="6732031" y="4629454"/>
            <a:ext cx="966768" cy="626682"/>
          </a:xfrm>
          <a:prstGeom prst="ellipse">
            <a:avLst/>
          </a:prstGeom>
          <a:solidFill>
            <a:srgbClr val="FF9900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E934643B-8CC4-F470-0643-DC7A73D8E94E}"/>
              </a:ext>
            </a:extLst>
          </p:cNvPr>
          <p:cNvSpPr/>
          <p:nvPr/>
        </p:nvSpPr>
        <p:spPr>
          <a:xfrm rot="19703276">
            <a:off x="6935512" y="4535028"/>
            <a:ext cx="903983" cy="428632"/>
          </a:xfrm>
          <a:prstGeom prst="ellipse">
            <a:avLst/>
          </a:prstGeom>
          <a:solidFill>
            <a:srgbClr val="FF9900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D8B0655-AA3E-B02F-1D95-D59385433ED9}"/>
              </a:ext>
            </a:extLst>
          </p:cNvPr>
          <p:cNvSpPr/>
          <p:nvPr/>
        </p:nvSpPr>
        <p:spPr>
          <a:xfrm rot="19703276">
            <a:off x="7400169" y="4595544"/>
            <a:ext cx="727462" cy="557469"/>
          </a:xfrm>
          <a:prstGeom prst="ellipse">
            <a:avLst/>
          </a:prstGeom>
          <a:solidFill>
            <a:srgbClr val="FF9900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BD6BF6D-079D-AE72-89E4-387F3DF2F9AE}"/>
              </a:ext>
            </a:extLst>
          </p:cNvPr>
          <p:cNvCxnSpPr>
            <a:cxnSpLocks/>
          </p:cNvCxnSpPr>
          <p:nvPr/>
        </p:nvCxnSpPr>
        <p:spPr>
          <a:xfrm flipV="1">
            <a:off x="6608368" y="4195072"/>
            <a:ext cx="0" cy="1640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BB03D94-3A61-E2EA-A8B4-61D036A367FF}"/>
              </a:ext>
            </a:extLst>
          </p:cNvPr>
          <p:cNvCxnSpPr>
            <a:cxnSpLocks/>
          </p:cNvCxnSpPr>
          <p:nvPr/>
        </p:nvCxnSpPr>
        <p:spPr>
          <a:xfrm>
            <a:off x="6608368" y="5835766"/>
            <a:ext cx="17479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9008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6BA9C-1E59-3313-B49A-77F14C170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7C6D3-7663-9AA1-F5A3-5575565F9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CFF71-CC35-BD33-9815-0331B8E31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C6F51-66D6-3AE0-7E79-9D2F78536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10429-999A-C7A2-4886-32C721D8B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CCB6F5-6973-9AB2-B7DB-993ACA78E888}"/>
              </a:ext>
            </a:extLst>
          </p:cNvPr>
          <p:cNvSpPr txBox="1"/>
          <p:nvPr/>
        </p:nvSpPr>
        <p:spPr>
          <a:xfrm>
            <a:off x="838199" y="778013"/>
            <a:ext cx="817178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Idea:</a:t>
            </a:r>
          </a:p>
          <a:p>
            <a:endParaRPr lang="en-US" sz="2000" dirty="0"/>
          </a:p>
          <a:p>
            <a:r>
              <a:rPr lang="en-US" sz="2000" dirty="0"/>
              <a:t>Create a space-filling sample of the hazard space, evaluate candidate policies using this deeply uncertain </a:t>
            </a:r>
            <a:r>
              <a:rPr lang="en-US" sz="2000" i="1" dirty="0"/>
              <a:t>hazard </a:t>
            </a:r>
            <a:r>
              <a:rPr lang="en-US" sz="2000" dirty="0"/>
              <a:t>space.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2CEF9B-7BB3-F48D-3A36-85CE22212A4D}"/>
              </a:ext>
            </a:extLst>
          </p:cNvPr>
          <p:cNvCxnSpPr>
            <a:cxnSpLocks/>
          </p:cNvCxnSpPr>
          <p:nvPr/>
        </p:nvCxnSpPr>
        <p:spPr>
          <a:xfrm flipV="1">
            <a:off x="1134578" y="270925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0CD14F-C238-3D18-6F53-139D0168975B}"/>
              </a:ext>
            </a:extLst>
          </p:cNvPr>
          <p:cNvCxnSpPr>
            <a:cxnSpLocks/>
          </p:cNvCxnSpPr>
          <p:nvPr/>
        </p:nvCxnSpPr>
        <p:spPr>
          <a:xfrm>
            <a:off x="1134578" y="484686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454500C-297B-06B9-B180-DB53E0818F8E}"/>
              </a:ext>
            </a:extLst>
          </p:cNvPr>
          <p:cNvSpPr txBox="1"/>
          <p:nvPr/>
        </p:nvSpPr>
        <p:spPr>
          <a:xfrm>
            <a:off x="1211580" y="493910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F71ADB-1FDA-3BCD-9B4D-7A33B0AA9A5D}"/>
              </a:ext>
            </a:extLst>
          </p:cNvPr>
          <p:cNvSpPr txBox="1"/>
          <p:nvPr/>
        </p:nvSpPr>
        <p:spPr>
          <a:xfrm rot="16200000">
            <a:off x="-423472" y="347348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Hydro Uncertainty 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6EBD2C-1717-6323-EE29-1CAA389911BA}"/>
              </a:ext>
            </a:extLst>
          </p:cNvPr>
          <p:cNvSpPr/>
          <p:nvPr/>
        </p:nvSpPr>
        <p:spPr>
          <a:xfrm>
            <a:off x="1645921" y="3255089"/>
            <a:ext cx="198118" cy="198118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0CABF9A-6B37-8BDC-2842-77145A19BBD6}"/>
              </a:ext>
            </a:extLst>
          </p:cNvPr>
          <p:cNvSpPr/>
          <p:nvPr/>
        </p:nvSpPr>
        <p:spPr>
          <a:xfrm>
            <a:off x="1744980" y="4170960"/>
            <a:ext cx="198118" cy="19811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092B72B-2F61-1A1A-06BE-90A8806A9DB1}"/>
              </a:ext>
            </a:extLst>
          </p:cNvPr>
          <p:cNvSpPr/>
          <p:nvPr/>
        </p:nvSpPr>
        <p:spPr>
          <a:xfrm>
            <a:off x="2514600" y="3706805"/>
            <a:ext cx="198118" cy="19811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00097B9-654E-6616-C5C6-147E9964DA21}"/>
              </a:ext>
            </a:extLst>
          </p:cNvPr>
          <p:cNvCxnSpPr>
            <a:cxnSpLocks/>
          </p:cNvCxnSpPr>
          <p:nvPr/>
        </p:nvCxnSpPr>
        <p:spPr>
          <a:xfrm flipV="1">
            <a:off x="5165558" y="2709256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A2E8388-F2B6-D022-C57C-46F011D768F9}"/>
              </a:ext>
            </a:extLst>
          </p:cNvPr>
          <p:cNvCxnSpPr>
            <a:cxnSpLocks/>
          </p:cNvCxnSpPr>
          <p:nvPr/>
        </p:nvCxnSpPr>
        <p:spPr>
          <a:xfrm>
            <a:off x="5165558" y="4846866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A42C673-11FC-83E5-FAF1-EE7E4EBFB30A}"/>
              </a:ext>
            </a:extLst>
          </p:cNvPr>
          <p:cNvSpPr txBox="1"/>
          <p:nvPr/>
        </p:nvSpPr>
        <p:spPr>
          <a:xfrm>
            <a:off x="5242560" y="4939108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72CB7E-6A38-3C45-1AE8-B72EA4C1F0D9}"/>
              </a:ext>
            </a:extLst>
          </p:cNvPr>
          <p:cNvSpPr txBox="1"/>
          <p:nvPr/>
        </p:nvSpPr>
        <p:spPr>
          <a:xfrm rot="16200000">
            <a:off x="3607508" y="3473480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D040C9E-53E7-FBCF-394E-A1A285D69AA7}"/>
              </a:ext>
            </a:extLst>
          </p:cNvPr>
          <p:cNvSpPr/>
          <p:nvPr/>
        </p:nvSpPr>
        <p:spPr>
          <a:xfrm rot="19703276">
            <a:off x="5749348" y="3516635"/>
            <a:ext cx="1519955" cy="982021"/>
          </a:xfrm>
          <a:prstGeom prst="ellipse">
            <a:avLst/>
          </a:prstGeom>
          <a:solidFill>
            <a:srgbClr val="70AD47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AB138A2-5BF8-7D77-3465-9A2B8AE7B1AF}"/>
              </a:ext>
            </a:extLst>
          </p:cNvPr>
          <p:cNvSpPr/>
          <p:nvPr/>
        </p:nvSpPr>
        <p:spPr>
          <a:xfrm rot="19703276">
            <a:off x="5394373" y="3353778"/>
            <a:ext cx="1519955" cy="807250"/>
          </a:xfrm>
          <a:prstGeom prst="ellipse">
            <a:avLst/>
          </a:prstGeom>
          <a:solidFill>
            <a:srgbClr val="ED7D31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047837D-2B26-406F-B68F-63CB40D6991E}"/>
              </a:ext>
            </a:extLst>
          </p:cNvPr>
          <p:cNvSpPr/>
          <p:nvPr/>
        </p:nvSpPr>
        <p:spPr>
          <a:xfrm rot="19703276">
            <a:off x="5893721" y="3207469"/>
            <a:ext cx="1519955" cy="807250"/>
          </a:xfrm>
          <a:prstGeom prst="ellipse">
            <a:avLst/>
          </a:prstGeom>
          <a:solidFill>
            <a:srgbClr val="4472C4">
              <a:alpha val="50196"/>
            </a:srgb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E0B763DE-7D54-FD8C-3ED0-1952FF1CB85B}"/>
              </a:ext>
            </a:extLst>
          </p:cNvPr>
          <p:cNvSpPr/>
          <p:nvPr/>
        </p:nvSpPr>
        <p:spPr>
          <a:xfrm>
            <a:off x="3588297" y="3514840"/>
            <a:ext cx="868680" cy="67349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DB15ECB-961C-7773-B0F2-124C574C41F6}"/>
              </a:ext>
            </a:extLst>
          </p:cNvPr>
          <p:cNvCxnSpPr>
            <a:cxnSpLocks/>
          </p:cNvCxnSpPr>
          <p:nvPr/>
        </p:nvCxnSpPr>
        <p:spPr>
          <a:xfrm flipV="1">
            <a:off x="8899357" y="2709255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617199A-CC2C-BE16-C334-96FC34C720B7}"/>
              </a:ext>
            </a:extLst>
          </p:cNvPr>
          <p:cNvCxnSpPr>
            <a:cxnSpLocks/>
          </p:cNvCxnSpPr>
          <p:nvPr/>
        </p:nvCxnSpPr>
        <p:spPr>
          <a:xfrm>
            <a:off x="8899357" y="4846865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FC07EDB-2FB5-03C7-8F20-4847B7EDE0E5}"/>
              </a:ext>
            </a:extLst>
          </p:cNvPr>
          <p:cNvSpPr txBox="1"/>
          <p:nvPr/>
        </p:nvSpPr>
        <p:spPr>
          <a:xfrm>
            <a:off x="8976359" y="4939107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F639F2-DC19-44B0-13AB-C5D14C2EA929}"/>
              </a:ext>
            </a:extLst>
          </p:cNvPr>
          <p:cNvSpPr txBox="1"/>
          <p:nvPr/>
        </p:nvSpPr>
        <p:spPr>
          <a:xfrm rot="16200000">
            <a:off x="7341307" y="3473479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E71D9C8-4EBB-4B70-840E-E9B71819C331}"/>
              </a:ext>
            </a:extLst>
          </p:cNvPr>
          <p:cNvSpPr/>
          <p:nvPr/>
        </p:nvSpPr>
        <p:spPr>
          <a:xfrm rot="19703276">
            <a:off x="9483147" y="3516634"/>
            <a:ext cx="1519955" cy="98202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109E8AB-F5C7-F0B2-ECE3-C555D8638C32}"/>
              </a:ext>
            </a:extLst>
          </p:cNvPr>
          <p:cNvSpPr/>
          <p:nvPr/>
        </p:nvSpPr>
        <p:spPr>
          <a:xfrm rot="19703276">
            <a:off x="9128172" y="3353777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653983B-42FA-F3E9-9A43-46E2D541E80A}"/>
              </a:ext>
            </a:extLst>
          </p:cNvPr>
          <p:cNvSpPr/>
          <p:nvPr/>
        </p:nvSpPr>
        <p:spPr>
          <a:xfrm rot="19703276">
            <a:off x="9627520" y="3207468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389FE76-E34B-C8FE-C2FB-2600E2AE9022}"/>
              </a:ext>
            </a:extLst>
          </p:cNvPr>
          <p:cNvSpPr/>
          <p:nvPr/>
        </p:nvSpPr>
        <p:spPr>
          <a:xfrm>
            <a:off x="9338544" y="381000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27140FE-5E10-E719-7EE7-22D26885013A}"/>
              </a:ext>
            </a:extLst>
          </p:cNvPr>
          <p:cNvSpPr/>
          <p:nvPr/>
        </p:nvSpPr>
        <p:spPr>
          <a:xfrm>
            <a:off x="9356796" y="4017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65FEBB7-8B0E-0F93-EBDE-57CDCC436EE3}"/>
              </a:ext>
            </a:extLst>
          </p:cNvPr>
          <p:cNvSpPr/>
          <p:nvPr/>
        </p:nvSpPr>
        <p:spPr>
          <a:xfrm>
            <a:off x="9384627" y="416353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629E52F-AA19-0945-0FA2-553A68480353}"/>
              </a:ext>
            </a:extLst>
          </p:cNvPr>
          <p:cNvSpPr/>
          <p:nvPr/>
        </p:nvSpPr>
        <p:spPr>
          <a:xfrm>
            <a:off x="9577207" y="349743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221173E-34A7-4504-4A98-BF3EB0A24D6B}"/>
              </a:ext>
            </a:extLst>
          </p:cNvPr>
          <p:cNvSpPr/>
          <p:nvPr/>
        </p:nvSpPr>
        <p:spPr>
          <a:xfrm>
            <a:off x="9910814" y="355330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190B5C37-EE29-E59D-2FAB-C8A110E18B8F}"/>
              </a:ext>
            </a:extLst>
          </p:cNvPr>
          <p:cNvSpPr/>
          <p:nvPr/>
        </p:nvSpPr>
        <p:spPr>
          <a:xfrm>
            <a:off x="9547578" y="38695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157F5A2A-4A9C-44D2-88C0-63B805F31723}"/>
              </a:ext>
            </a:extLst>
          </p:cNvPr>
          <p:cNvSpPr/>
          <p:nvPr/>
        </p:nvSpPr>
        <p:spPr>
          <a:xfrm>
            <a:off x="9710632" y="368313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0CA6F04-C2E0-7CA2-D9B8-969C3576B92F}"/>
              </a:ext>
            </a:extLst>
          </p:cNvPr>
          <p:cNvSpPr/>
          <p:nvPr/>
        </p:nvSpPr>
        <p:spPr>
          <a:xfrm>
            <a:off x="9710631" y="344190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918338F-FC96-B4EA-0CDB-A21A3E20E0CA}"/>
              </a:ext>
            </a:extLst>
          </p:cNvPr>
          <p:cNvSpPr/>
          <p:nvPr/>
        </p:nvSpPr>
        <p:spPr>
          <a:xfrm>
            <a:off x="9916771" y="33066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51CC223D-28CB-DE73-5701-9FBAF7FC018D}"/>
              </a:ext>
            </a:extLst>
          </p:cNvPr>
          <p:cNvSpPr/>
          <p:nvPr/>
        </p:nvSpPr>
        <p:spPr>
          <a:xfrm>
            <a:off x="10141709" y="328467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697495F-C7C7-EE41-8355-86A0A55FE50A}"/>
              </a:ext>
            </a:extLst>
          </p:cNvPr>
          <p:cNvSpPr/>
          <p:nvPr/>
        </p:nvSpPr>
        <p:spPr>
          <a:xfrm>
            <a:off x="10308773" y="32008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2601EEA-106E-E50A-3A6B-D1D0BC6F1509}"/>
              </a:ext>
            </a:extLst>
          </p:cNvPr>
          <p:cNvSpPr/>
          <p:nvPr/>
        </p:nvSpPr>
        <p:spPr>
          <a:xfrm>
            <a:off x="10498785" y="312096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7EA63A09-3389-6CE2-E16C-FDF8ECC9AB38}"/>
              </a:ext>
            </a:extLst>
          </p:cNvPr>
          <p:cNvSpPr/>
          <p:nvPr/>
        </p:nvSpPr>
        <p:spPr>
          <a:xfrm>
            <a:off x="10461173" y="33532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789B99B-6F22-CBAD-CED9-C73962D306B8}"/>
              </a:ext>
            </a:extLst>
          </p:cNvPr>
          <p:cNvSpPr/>
          <p:nvPr/>
        </p:nvSpPr>
        <p:spPr>
          <a:xfrm>
            <a:off x="10613573" y="350565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ED76A51-80C4-5ECD-2D5A-AD795CE4DF95}"/>
              </a:ext>
            </a:extLst>
          </p:cNvPr>
          <p:cNvSpPr/>
          <p:nvPr/>
        </p:nvSpPr>
        <p:spPr>
          <a:xfrm>
            <a:off x="10661034" y="323721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3DB566D-76BD-1A16-8FA1-3E2819BC4EC9}"/>
              </a:ext>
            </a:extLst>
          </p:cNvPr>
          <p:cNvSpPr/>
          <p:nvPr/>
        </p:nvSpPr>
        <p:spPr>
          <a:xfrm>
            <a:off x="10736423" y="307805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9972EA7-C5EA-6460-C1F9-7C26126D1797}"/>
              </a:ext>
            </a:extLst>
          </p:cNvPr>
          <p:cNvSpPr/>
          <p:nvPr/>
        </p:nvSpPr>
        <p:spPr>
          <a:xfrm>
            <a:off x="10056845" y="348309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5745481-F3DD-0EFE-2A06-617BAE5AD962}"/>
              </a:ext>
            </a:extLst>
          </p:cNvPr>
          <p:cNvSpPr/>
          <p:nvPr/>
        </p:nvSpPr>
        <p:spPr>
          <a:xfrm>
            <a:off x="9867759" y="3788791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86F7F1F-9E38-FEC2-13B5-7DA1077CD7D0}"/>
              </a:ext>
            </a:extLst>
          </p:cNvPr>
          <p:cNvSpPr/>
          <p:nvPr/>
        </p:nvSpPr>
        <p:spPr>
          <a:xfrm>
            <a:off x="9824704" y="402427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62BF006-BD69-D2AA-6044-A337AD9B8557}"/>
              </a:ext>
            </a:extLst>
          </p:cNvPr>
          <p:cNvSpPr/>
          <p:nvPr/>
        </p:nvSpPr>
        <p:spPr>
          <a:xfrm>
            <a:off x="9781649" y="425975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A818590-B306-688C-A091-404E2CA6E791}"/>
              </a:ext>
            </a:extLst>
          </p:cNvPr>
          <p:cNvSpPr/>
          <p:nvPr/>
        </p:nvSpPr>
        <p:spPr>
          <a:xfrm>
            <a:off x="9629251" y="40292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9FC8EE1-6C8C-31D0-1C91-DD1127E3A415}"/>
              </a:ext>
            </a:extLst>
          </p:cNvPr>
          <p:cNvSpPr/>
          <p:nvPr/>
        </p:nvSpPr>
        <p:spPr>
          <a:xfrm>
            <a:off x="9532140" y="420224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B1A961F-7019-6200-0FE4-B38DAC402765}"/>
              </a:ext>
            </a:extLst>
          </p:cNvPr>
          <p:cNvSpPr/>
          <p:nvPr/>
        </p:nvSpPr>
        <p:spPr>
          <a:xfrm>
            <a:off x="9617754" y="438448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ADD148B-CF51-067E-82A9-A41375B8CCC6}"/>
              </a:ext>
            </a:extLst>
          </p:cNvPr>
          <p:cNvSpPr/>
          <p:nvPr/>
        </p:nvSpPr>
        <p:spPr>
          <a:xfrm>
            <a:off x="9840687" y="450375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C4A500C4-E8D3-7CA3-855A-F4F698589007}"/>
              </a:ext>
            </a:extLst>
          </p:cNvPr>
          <p:cNvSpPr/>
          <p:nvPr/>
        </p:nvSpPr>
        <p:spPr>
          <a:xfrm>
            <a:off x="10094247" y="448154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D12D77B-A6CD-CE80-1F1C-6B910D294DE7}"/>
              </a:ext>
            </a:extLst>
          </p:cNvPr>
          <p:cNvSpPr/>
          <p:nvPr/>
        </p:nvSpPr>
        <p:spPr>
          <a:xfrm>
            <a:off x="10330132" y="439559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C42445E-2D35-9CE1-4DE2-9A18470E8C5B}"/>
              </a:ext>
            </a:extLst>
          </p:cNvPr>
          <p:cNvSpPr/>
          <p:nvPr/>
        </p:nvSpPr>
        <p:spPr>
          <a:xfrm>
            <a:off x="10518650" y="427946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E6E3D0C-641F-D939-A896-340495FFB023}"/>
              </a:ext>
            </a:extLst>
          </p:cNvPr>
          <p:cNvSpPr/>
          <p:nvPr/>
        </p:nvSpPr>
        <p:spPr>
          <a:xfrm>
            <a:off x="10708495" y="412349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304A0CD-8CC4-2D65-9476-74867B431328}"/>
              </a:ext>
            </a:extLst>
          </p:cNvPr>
          <p:cNvSpPr/>
          <p:nvPr/>
        </p:nvSpPr>
        <p:spPr>
          <a:xfrm>
            <a:off x="10064587" y="42741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EFD3F6DF-46D9-BC14-95AB-9A6AD53D7BD2}"/>
              </a:ext>
            </a:extLst>
          </p:cNvPr>
          <p:cNvSpPr/>
          <p:nvPr/>
        </p:nvSpPr>
        <p:spPr>
          <a:xfrm>
            <a:off x="10102739" y="40174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6049E86-B37A-FCB1-9F9A-1C65B3C09AAF}"/>
              </a:ext>
            </a:extLst>
          </p:cNvPr>
          <p:cNvSpPr/>
          <p:nvPr/>
        </p:nvSpPr>
        <p:spPr>
          <a:xfrm>
            <a:off x="10140891" y="376069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F5B08E2-3A40-C453-41D9-7D575746D275}"/>
              </a:ext>
            </a:extLst>
          </p:cNvPr>
          <p:cNvSpPr/>
          <p:nvPr/>
        </p:nvSpPr>
        <p:spPr>
          <a:xfrm>
            <a:off x="10237658" y="355542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442CE8FB-13C9-F4F4-7BC2-D5FCB78EBF50}"/>
              </a:ext>
            </a:extLst>
          </p:cNvPr>
          <p:cNvSpPr/>
          <p:nvPr/>
        </p:nvSpPr>
        <p:spPr>
          <a:xfrm>
            <a:off x="10429991" y="36632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F20759A-444A-EA6D-64DF-3FAE17219D3F}"/>
              </a:ext>
            </a:extLst>
          </p:cNvPr>
          <p:cNvSpPr/>
          <p:nvPr/>
        </p:nvSpPr>
        <p:spPr>
          <a:xfrm>
            <a:off x="10582391" y="38156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1D4B050-CFF7-DF92-ED80-E61651CF51A1}"/>
              </a:ext>
            </a:extLst>
          </p:cNvPr>
          <p:cNvSpPr/>
          <p:nvPr/>
        </p:nvSpPr>
        <p:spPr>
          <a:xfrm>
            <a:off x="10770467" y="367026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36751F70-3225-7CBE-8DD7-8E9AD0F37369}"/>
              </a:ext>
            </a:extLst>
          </p:cNvPr>
          <p:cNvSpPr/>
          <p:nvPr/>
        </p:nvSpPr>
        <p:spPr>
          <a:xfrm>
            <a:off x="10876544" y="340166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71DDE86B-AFD5-F82E-7CA2-B6CE654E94B2}"/>
              </a:ext>
            </a:extLst>
          </p:cNvPr>
          <p:cNvSpPr/>
          <p:nvPr/>
        </p:nvSpPr>
        <p:spPr>
          <a:xfrm>
            <a:off x="10943886" y="317838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94AAC9E-FB82-6064-6029-B3FAE6A5AECE}"/>
              </a:ext>
            </a:extLst>
          </p:cNvPr>
          <p:cNvSpPr/>
          <p:nvPr/>
        </p:nvSpPr>
        <p:spPr>
          <a:xfrm>
            <a:off x="10817928" y="39010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3480C762-839C-E711-10FF-22A8AD732986}"/>
              </a:ext>
            </a:extLst>
          </p:cNvPr>
          <p:cNvSpPr/>
          <p:nvPr/>
        </p:nvSpPr>
        <p:spPr>
          <a:xfrm>
            <a:off x="10540614" y="403068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3B06F9E9-06CA-19E8-6478-FD25E361642C}"/>
              </a:ext>
            </a:extLst>
          </p:cNvPr>
          <p:cNvSpPr/>
          <p:nvPr/>
        </p:nvSpPr>
        <p:spPr>
          <a:xfrm>
            <a:off x="10263300" y="416032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EFB6B91-96BF-3367-AFB5-787A2639804D}"/>
              </a:ext>
            </a:extLst>
          </p:cNvPr>
          <p:cNvSpPr/>
          <p:nvPr/>
        </p:nvSpPr>
        <p:spPr>
          <a:xfrm>
            <a:off x="10330132" y="3876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F8F05D5-5D06-87EC-06E4-4375EEDD3F5B}"/>
              </a:ext>
            </a:extLst>
          </p:cNvPr>
          <p:cNvSpPr/>
          <p:nvPr/>
        </p:nvSpPr>
        <p:spPr>
          <a:xfrm>
            <a:off x="9205381" y="394851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730AD03-B9C7-2B16-592C-AD9B6A9769CD}"/>
              </a:ext>
            </a:extLst>
          </p:cNvPr>
          <p:cNvSpPr/>
          <p:nvPr/>
        </p:nvSpPr>
        <p:spPr>
          <a:xfrm>
            <a:off x="9488620" y="369486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364EC305-3CA0-2805-BDC5-B71D6994AE12}"/>
              </a:ext>
            </a:extLst>
          </p:cNvPr>
          <p:cNvSpPr/>
          <p:nvPr/>
        </p:nvSpPr>
        <p:spPr>
          <a:xfrm>
            <a:off x="7451726" y="3469115"/>
            <a:ext cx="868680" cy="673497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3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84CF8-D66A-A834-93A0-CF2AB4E0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2D668-AF4E-97A9-FD2C-4EB136FCB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Hypothesis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F46A6-4BB7-D4B6-E2B2-5347D7551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87B42-500B-A67C-421E-834131155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9F595-86A3-FCB4-9DB6-F008895B5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7B01-BDFB-0C0C-5785-AFAD4EC3BC6D}"/>
              </a:ext>
            </a:extLst>
          </p:cNvPr>
          <p:cNvSpPr txBox="1"/>
          <p:nvPr/>
        </p:nvSpPr>
        <p:spPr>
          <a:xfrm>
            <a:off x="838198" y="778013"/>
            <a:ext cx="102468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Idea:</a:t>
            </a:r>
          </a:p>
          <a:p>
            <a:endParaRPr lang="en-US" sz="2000" dirty="0"/>
          </a:p>
          <a:p>
            <a:r>
              <a:rPr lang="en-US" sz="2000" dirty="0"/>
              <a:t>Create a space-filling sample of the hazard space, evaluate candidate policies using this deeply uncertain </a:t>
            </a:r>
            <a:r>
              <a:rPr lang="en-US" sz="2000" i="1" dirty="0"/>
              <a:t>hazard </a:t>
            </a:r>
            <a:r>
              <a:rPr lang="en-US" sz="2000" dirty="0"/>
              <a:t>space.</a:t>
            </a:r>
          </a:p>
          <a:p>
            <a:endParaRPr lang="en-US" sz="2000" dirty="0"/>
          </a:p>
          <a:p>
            <a:r>
              <a:rPr lang="en-US" sz="2000" dirty="0"/>
              <a:t>We can then combine this with factorial samples of other deeply uncertain factors.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754FD7C-2D00-7E8D-A84E-C7CA41D43697}"/>
              </a:ext>
            </a:extLst>
          </p:cNvPr>
          <p:cNvCxnSpPr>
            <a:cxnSpLocks/>
          </p:cNvCxnSpPr>
          <p:nvPr/>
        </p:nvCxnSpPr>
        <p:spPr>
          <a:xfrm flipV="1">
            <a:off x="2284609" y="3195585"/>
            <a:ext cx="0" cy="2137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BBB351E-B358-6D61-A55F-DFEE46D975D3}"/>
              </a:ext>
            </a:extLst>
          </p:cNvPr>
          <p:cNvCxnSpPr>
            <a:cxnSpLocks/>
          </p:cNvCxnSpPr>
          <p:nvPr/>
        </p:nvCxnSpPr>
        <p:spPr>
          <a:xfrm>
            <a:off x="2284609" y="5333195"/>
            <a:ext cx="21817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2159FB8-83C5-9A0F-71F0-556977EEDA1A}"/>
              </a:ext>
            </a:extLst>
          </p:cNvPr>
          <p:cNvSpPr txBox="1"/>
          <p:nvPr/>
        </p:nvSpPr>
        <p:spPr>
          <a:xfrm>
            <a:off x="2361611" y="5425437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2E75B4-4B69-789B-0844-1B78AD10F942}"/>
              </a:ext>
            </a:extLst>
          </p:cNvPr>
          <p:cNvSpPr txBox="1"/>
          <p:nvPr/>
        </p:nvSpPr>
        <p:spPr>
          <a:xfrm rot="16200000">
            <a:off x="726559" y="3959809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Hazard Measure 2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D2F37C5-9AA9-8CB2-36B0-A5BA344FFA71}"/>
              </a:ext>
            </a:extLst>
          </p:cNvPr>
          <p:cNvSpPr/>
          <p:nvPr/>
        </p:nvSpPr>
        <p:spPr>
          <a:xfrm rot="19703276">
            <a:off x="2868399" y="4002964"/>
            <a:ext cx="1519955" cy="982021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75EE864-9F98-B7E7-AB9C-5FFEBC133D92}"/>
              </a:ext>
            </a:extLst>
          </p:cNvPr>
          <p:cNvSpPr/>
          <p:nvPr/>
        </p:nvSpPr>
        <p:spPr>
          <a:xfrm rot="19703276">
            <a:off x="2513424" y="3840107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82A393C-981D-6B15-4F02-CC7651A19B66}"/>
              </a:ext>
            </a:extLst>
          </p:cNvPr>
          <p:cNvSpPr/>
          <p:nvPr/>
        </p:nvSpPr>
        <p:spPr>
          <a:xfrm rot="19703276">
            <a:off x="3012772" y="3693798"/>
            <a:ext cx="1519955" cy="807250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53E4201-9EF0-BA91-37EF-50A0A35B5B80}"/>
              </a:ext>
            </a:extLst>
          </p:cNvPr>
          <p:cNvSpPr/>
          <p:nvPr/>
        </p:nvSpPr>
        <p:spPr>
          <a:xfrm>
            <a:off x="2723796" y="429633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553C4BB-BB53-9F07-5E5A-4A1A0791DBC3}"/>
              </a:ext>
            </a:extLst>
          </p:cNvPr>
          <p:cNvSpPr/>
          <p:nvPr/>
        </p:nvSpPr>
        <p:spPr>
          <a:xfrm>
            <a:off x="2742048" y="45037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36C3C85-6F10-5223-6C32-372D0AF2BE50}"/>
              </a:ext>
            </a:extLst>
          </p:cNvPr>
          <p:cNvSpPr/>
          <p:nvPr/>
        </p:nvSpPr>
        <p:spPr>
          <a:xfrm>
            <a:off x="2769879" y="464986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1920947-F10C-BECB-DABC-22EAD5650B99}"/>
              </a:ext>
            </a:extLst>
          </p:cNvPr>
          <p:cNvSpPr/>
          <p:nvPr/>
        </p:nvSpPr>
        <p:spPr>
          <a:xfrm>
            <a:off x="2962459" y="398376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238AA69-FABB-C561-AF26-6DE78E1251E9}"/>
              </a:ext>
            </a:extLst>
          </p:cNvPr>
          <p:cNvSpPr/>
          <p:nvPr/>
        </p:nvSpPr>
        <p:spPr>
          <a:xfrm>
            <a:off x="3296066" y="403963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4F3C696D-37AE-D1BF-0784-E2D51D00D787}"/>
              </a:ext>
            </a:extLst>
          </p:cNvPr>
          <p:cNvSpPr/>
          <p:nvPr/>
        </p:nvSpPr>
        <p:spPr>
          <a:xfrm>
            <a:off x="2932830" y="435588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53D8885D-651C-8E6F-1674-8503FE86EC85}"/>
              </a:ext>
            </a:extLst>
          </p:cNvPr>
          <p:cNvSpPr/>
          <p:nvPr/>
        </p:nvSpPr>
        <p:spPr>
          <a:xfrm>
            <a:off x="3095884" y="416946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110E77C-9989-0C58-99A5-7A02EDD87A9A}"/>
              </a:ext>
            </a:extLst>
          </p:cNvPr>
          <p:cNvSpPr/>
          <p:nvPr/>
        </p:nvSpPr>
        <p:spPr>
          <a:xfrm>
            <a:off x="3095883" y="392823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66E9515-E60F-3B65-E3F0-330084A15326}"/>
              </a:ext>
            </a:extLst>
          </p:cNvPr>
          <p:cNvSpPr/>
          <p:nvPr/>
        </p:nvSpPr>
        <p:spPr>
          <a:xfrm>
            <a:off x="3302023" y="379301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0D12F70-36DB-B251-3EA5-D4CEBDC5CB91}"/>
              </a:ext>
            </a:extLst>
          </p:cNvPr>
          <p:cNvSpPr/>
          <p:nvPr/>
        </p:nvSpPr>
        <p:spPr>
          <a:xfrm>
            <a:off x="3526961" y="377100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83CB85C-9063-C5C8-1536-3DF11FE1E988}"/>
              </a:ext>
            </a:extLst>
          </p:cNvPr>
          <p:cNvSpPr/>
          <p:nvPr/>
        </p:nvSpPr>
        <p:spPr>
          <a:xfrm>
            <a:off x="3694025" y="36871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FF8408D-70A5-F5E3-81BA-F327656FF43F}"/>
              </a:ext>
            </a:extLst>
          </p:cNvPr>
          <p:cNvSpPr/>
          <p:nvPr/>
        </p:nvSpPr>
        <p:spPr>
          <a:xfrm>
            <a:off x="3884037" y="360729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C9AA046-2D88-3AC0-E888-C37EB22D3296}"/>
              </a:ext>
            </a:extLst>
          </p:cNvPr>
          <p:cNvSpPr/>
          <p:nvPr/>
        </p:nvSpPr>
        <p:spPr>
          <a:xfrm>
            <a:off x="3846425" y="38395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B5F0D19-BC2C-D7DE-AD0A-0308DA32218B}"/>
              </a:ext>
            </a:extLst>
          </p:cNvPr>
          <p:cNvSpPr/>
          <p:nvPr/>
        </p:nvSpPr>
        <p:spPr>
          <a:xfrm>
            <a:off x="3998825" y="3991986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84DA4B0-A30D-E1C0-A8E1-8766CAE16AB7}"/>
              </a:ext>
            </a:extLst>
          </p:cNvPr>
          <p:cNvSpPr/>
          <p:nvPr/>
        </p:nvSpPr>
        <p:spPr>
          <a:xfrm>
            <a:off x="4046286" y="372354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78DF12C-87DA-CFCB-C16A-A05DACFE3C00}"/>
              </a:ext>
            </a:extLst>
          </p:cNvPr>
          <p:cNvSpPr/>
          <p:nvPr/>
        </p:nvSpPr>
        <p:spPr>
          <a:xfrm>
            <a:off x="4121675" y="356438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1B225F3F-7FC3-BAD1-EA65-E2686B51C7F1}"/>
              </a:ext>
            </a:extLst>
          </p:cNvPr>
          <p:cNvSpPr/>
          <p:nvPr/>
        </p:nvSpPr>
        <p:spPr>
          <a:xfrm>
            <a:off x="3442097" y="396942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1A94C2DE-AD28-5184-D0EA-2E923F0AAE36}"/>
              </a:ext>
            </a:extLst>
          </p:cNvPr>
          <p:cNvSpPr/>
          <p:nvPr/>
        </p:nvSpPr>
        <p:spPr>
          <a:xfrm>
            <a:off x="3253011" y="4275121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C6D87844-8A0B-032F-5C2F-78A606015820}"/>
              </a:ext>
            </a:extLst>
          </p:cNvPr>
          <p:cNvSpPr/>
          <p:nvPr/>
        </p:nvSpPr>
        <p:spPr>
          <a:xfrm>
            <a:off x="3209956" y="451060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186C0F8E-FC8D-E99B-66FD-D16ADEF6D7BE}"/>
              </a:ext>
            </a:extLst>
          </p:cNvPr>
          <p:cNvSpPr/>
          <p:nvPr/>
        </p:nvSpPr>
        <p:spPr>
          <a:xfrm>
            <a:off x="3166901" y="47460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662D009-9426-0BF4-9F48-9A8FBBDC1182}"/>
              </a:ext>
            </a:extLst>
          </p:cNvPr>
          <p:cNvSpPr/>
          <p:nvPr/>
        </p:nvSpPr>
        <p:spPr>
          <a:xfrm>
            <a:off x="3014503" y="451558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170FE09-15CB-A264-232E-7B6E9F715B2D}"/>
              </a:ext>
            </a:extLst>
          </p:cNvPr>
          <p:cNvSpPr/>
          <p:nvPr/>
        </p:nvSpPr>
        <p:spPr>
          <a:xfrm>
            <a:off x="2917392" y="468857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2F87875D-7A6D-2817-A120-E73E933BE015}"/>
              </a:ext>
            </a:extLst>
          </p:cNvPr>
          <p:cNvSpPr/>
          <p:nvPr/>
        </p:nvSpPr>
        <p:spPr>
          <a:xfrm>
            <a:off x="3003006" y="487081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89310F0A-35FA-2C5D-349F-65533798C7BF}"/>
              </a:ext>
            </a:extLst>
          </p:cNvPr>
          <p:cNvSpPr/>
          <p:nvPr/>
        </p:nvSpPr>
        <p:spPr>
          <a:xfrm>
            <a:off x="3225939" y="49900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E0CB60C-F4AE-760C-A043-25EE1BBF0470}"/>
              </a:ext>
            </a:extLst>
          </p:cNvPr>
          <p:cNvSpPr/>
          <p:nvPr/>
        </p:nvSpPr>
        <p:spPr>
          <a:xfrm>
            <a:off x="3479499" y="496787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A056260-804D-C33F-7053-ADF336690005}"/>
              </a:ext>
            </a:extLst>
          </p:cNvPr>
          <p:cNvSpPr/>
          <p:nvPr/>
        </p:nvSpPr>
        <p:spPr>
          <a:xfrm>
            <a:off x="3715384" y="48819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C83259DB-7F4D-A826-81FE-19A7512FFD92}"/>
              </a:ext>
            </a:extLst>
          </p:cNvPr>
          <p:cNvSpPr/>
          <p:nvPr/>
        </p:nvSpPr>
        <p:spPr>
          <a:xfrm>
            <a:off x="3903902" y="476579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95D95F82-443E-BFA0-B77A-7098C6FE9214}"/>
              </a:ext>
            </a:extLst>
          </p:cNvPr>
          <p:cNvSpPr/>
          <p:nvPr/>
        </p:nvSpPr>
        <p:spPr>
          <a:xfrm>
            <a:off x="4093747" y="460982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CAB71C0-D8DD-21B6-EE7A-46EBD739086F}"/>
              </a:ext>
            </a:extLst>
          </p:cNvPr>
          <p:cNvSpPr/>
          <p:nvPr/>
        </p:nvSpPr>
        <p:spPr>
          <a:xfrm>
            <a:off x="3449839" y="476048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55F82C2A-C86F-1572-221F-43A6B8589006}"/>
              </a:ext>
            </a:extLst>
          </p:cNvPr>
          <p:cNvSpPr/>
          <p:nvPr/>
        </p:nvSpPr>
        <p:spPr>
          <a:xfrm>
            <a:off x="3487991" y="45037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DE2C9BE9-F5EF-1BC8-0A30-582C4F0FC1C8}"/>
              </a:ext>
            </a:extLst>
          </p:cNvPr>
          <p:cNvSpPr/>
          <p:nvPr/>
        </p:nvSpPr>
        <p:spPr>
          <a:xfrm>
            <a:off x="3526143" y="424702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D62E8F75-2C83-A4D5-EF34-748BD3C67859}"/>
              </a:ext>
            </a:extLst>
          </p:cNvPr>
          <p:cNvSpPr/>
          <p:nvPr/>
        </p:nvSpPr>
        <p:spPr>
          <a:xfrm>
            <a:off x="3622910" y="404175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2D0FFF17-A1DB-9232-534C-6F139C1975C8}"/>
              </a:ext>
            </a:extLst>
          </p:cNvPr>
          <p:cNvSpPr/>
          <p:nvPr/>
        </p:nvSpPr>
        <p:spPr>
          <a:xfrm>
            <a:off x="3815243" y="414956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7215CADF-B94D-E0A1-2852-A9E1A4F1C358}"/>
              </a:ext>
            </a:extLst>
          </p:cNvPr>
          <p:cNvSpPr/>
          <p:nvPr/>
        </p:nvSpPr>
        <p:spPr>
          <a:xfrm>
            <a:off x="3967643" y="430196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165AC93-FA14-CD26-AD2E-0B5B920AA043}"/>
              </a:ext>
            </a:extLst>
          </p:cNvPr>
          <p:cNvSpPr/>
          <p:nvPr/>
        </p:nvSpPr>
        <p:spPr>
          <a:xfrm>
            <a:off x="4155719" y="415659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282A484D-07A4-B1F4-551B-25CAC18097AD}"/>
              </a:ext>
            </a:extLst>
          </p:cNvPr>
          <p:cNvSpPr/>
          <p:nvPr/>
        </p:nvSpPr>
        <p:spPr>
          <a:xfrm>
            <a:off x="4261796" y="388799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26187365-D07E-1F04-FF55-168367E7D809}"/>
              </a:ext>
            </a:extLst>
          </p:cNvPr>
          <p:cNvSpPr/>
          <p:nvPr/>
        </p:nvSpPr>
        <p:spPr>
          <a:xfrm>
            <a:off x="4329138" y="366471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9FD87CE-2E7C-610A-241E-2C25948CC6DF}"/>
              </a:ext>
            </a:extLst>
          </p:cNvPr>
          <p:cNvSpPr/>
          <p:nvPr/>
        </p:nvSpPr>
        <p:spPr>
          <a:xfrm>
            <a:off x="4203180" y="438738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9177C71E-A2DC-51A4-07E6-37C996ECC601}"/>
              </a:ext>
            </a:extLst>
          </p:cNvPr>
          <p:cNvSpPr/>
          <p:nvPr/>
        </p:nvSpPr>
        <p:spPr>
          <a:xfrm>
            <a:off x="3925866" y="451701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FDB6C123-F975-9320-2D59-04C37BCF1B29}"/>
              </a:ext>
            </a:extLst>
          </p:cNvPr>
          <p:cNvSpPr/>
          <p:nvPr/>
        </p:nvSpPr>
        <p:spPr>
          <a:xfrm>
            <a:off x="3648552" y="464665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FF37A9A1-6E6E-4E55-9893-AA79A9F82A75}"/>
              </a:ext>
            </a:extLst>
          </p:cNvPr>
          <p:cNvSpPr/>
          <p:nvPr/>
        </p:nvSpPr>
        <p:spPr>
          <a:xfrm>
            <a:off x="3715384" y="436275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574E0AAB-D2C8-9DF0-F055-2CF1ABED7789}"/>
              </a:ext>
            </a:extLst>
          </p:cNvPr>
          <p:cNvSpPr/>
          <p:nvPr/>
        </p:nvSpPr>
        <p:spPr>
          <a:xfrm>
            <a:off x="2590633" y="443484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566F82C2-C8D6-32CE-C5F5-08E4DAEFB502}"/>
              </a:ext>
            </a:extLst>
          </p:cNvPr>
          <p:cNvSpPr/>
          <p:nvPr/>
        </p:nvSpPr>
        <p:spPr>
          <a:xfrm>
            <a:off x="2873872" y="418119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9F4FD3-C467-F81D-A8E1-4DFDEE478044}"/>
              </a:ext>
            </a:extLst>
          </p:cNvPr>
          <p:cNvCxnSpPr/>
          <p:nvPr/>
        </p:nvCxnSpPr>
        <p:spPr>
          <a:xfrm>
            <a:off x="6788831" y="3339400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Oval 81">
            <a:extLst>
              <a:ext uri="{FF2B5EF4-FFF2-40B4-BE49-F238E27FC236}">
                <a16:creationId xmlns:a16="http://schemas.microsoft.com/office/drawing/2014/main" id="{DAAD7C7D-C384-FF53-4D4C-E89C4645ECCE}"/>
              </a:ext>
            </a:extLst>
          </p:cNvPr>
          <p:cNvSpPr/>
          <p:nvPr/>
        </p:nvSpPr>
        <p:spPr>
          <a:xfrm>
            <a:off x="6748988" y="375963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16207C8F-2E50-32D8-098B-5466BE369BBF}"/>
              </a:ext>
            </a:extLst>
          </p:cNvPr>
          <p:cNvSpPr/>
          <p:nvPr/>
        </p:nvSpPr>
        <p:spPr>
          <a:xfrm>
            <a:off x="6748987" y="420704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1C4D740E-EC42-62BD-7BED-A99C37C5D9C6}"/>
              </a:ext>
            </a:extLst>
          </p:cNvPr>
          <p:cNvSpPr/>
          <p:nvPr/>
        </p:nvSpPr>
        <p:spPr>
          <a:xfrm>
            <a:off x="6748986" y="465444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249993C2-9F52-80B3-75B7-E9A9C8442362}"/>
              </a:ext>
            </a:extLst>
          </p:cNvPr>
          <p:cNvSpPr/>
          <p:nvPr/>
        </p:nvSpPr>
        <p:spPr>
          <a:xfrm>
            <a:off x="6748985" y="510185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C80C8710-8EC2-B891-ADA6-DC986E041938}"/>
              </a:ext>
            </a:extLst>
          </p:cNvPr>
          <p:cNvCxnSpPr/>
          <p:nvPr/>
        </p:nvCxnSpPr>
        <p:spPr>
          <a:xfrm>
            <a:off x="8125678" y="3355335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C3D253EE-604C-C5E9-475C-F81386D9AB46}"/>
              </a:ext>
            </a:extLst>
          </p:cNvPr>
          <p:cNvSpPr/>
          <p:nvPr/>
        </p:nvSpPr>
        <p:spPr>
          <a:xfrm>
            <a:off x="8085835" y="3775568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E19945D1-66C3-8439-3F58-40AB6463B7FB}"/>
              </a:ext>
            </a:extLst>
          </p:cNvPr>
          <p:cNvSpPr/>
          <p:nvPr/>
        </p:nvSpPr>
        <p:spPr>
          <a:xfrm>
            <a:off x="8085834" y="4222975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E9DA8675-D88B-F883-7317-D1C9CCF57928}"/>
              </a:ext>
            </a:extLst>
          </p:cNvPr>
          <p:cNvSpPr/>
          <p:nvPr/>
        </p:nvSpPr>
        <p:spPr>
          <a:xfrm>
            <a:off x="8085833" y="4670382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5C5C5B1-8B36-B616-4444-35CAC88D2268}"/>
              </a:ext>
            </a:extLst>
          </p:cNvPr>
          <p:cNvSpPr/>
          <p:nvPr/>
        </p:nvSpPr>
        <p:spPr>
          <a:xfrm>
            <a:off x="8085832" y="5117789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6EE41291-0DEF-03BF-5A0C-F2BD90FA7411}"/>
              </a:ext>
            </a:extLst>
          </p:cNvPr>
          <p:cNvCxnSpPr/>
          <p:nvPr/>
        </p:nvCxnSpPr>
        <p:spPr>
          <a:xfrm>
            <a:off x="9462525" y="3371270"/>
            <a:ext cx="0" cy="21374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Oval 94">
            <a:extLst>
              <a:ext uri="{FF2B5EF4-FFF2-40B4-BE49-F238E27FC236}">
                <a16:creationId xmlns:a16="http://schemas.microsoft.com/office/drawing/2014/main" id="{E7873869-31B4-AF89-F61C-E5B1255F65AA}"/>
              </a:ext>
            </a:extLst>
          </p:cNvPr>
          <p:cNvSpPr/>
          <p:nvPr/>
        </p:nvSpPr>
        <p:spPr>
          <a:xfrm>
            <a:off x="9422682" y="3791503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4240CE6-D3A2-FF25-8CEA-BB18844C2467}"/>
              </a:ext>
            </a:extLst>
          </p:cNvPr>
          <p:cNvSpPr/>
          <p:nvPr/>
        </p:nvSpPr>
        <p:spPr>
          <a:xfrm>
            <a:off x="9422681" y="4238910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AF895932-FC6F-F5AE-19AF-3A76BF7DEC7E}"/>
              </a:ext>
            </a:extLst>
          </p:cNvPr>
          <p:cNvSpPr/>
          <p:nvPr/>
        </p:nvSpPr>
        <p:spPr>
          <a:xfrm>
            <a:off x="9422680" y="4686317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9755DA87-04F0-DAAA-567C-1B6031D9AA7A}"/>
              </a:ext>
            </a:extLst>
          </p:cNvPr>
          <p:cNvSpPr/>
          <p:nvPr/>
        </p:nvSpPr>
        <p:spPr>
          <a:xfrm>
            <a:off x="9422679" y="5133724"/>
            <a:ext cx="94923" cy="94923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3D8BB28-EEB2-B1F6-40A9-76176D00D77B}"/>
              </a:ext>
            </a:extLst>
          </p:cNvPr>
          <p:cNvSpPr txBox="1"/>
          <p:nvPr/>
        </p:nvSpPr>
        <p:spPr>
          <a:xfrm>
            <a:off x="5531988" y="4064348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3822047-334D-C74E-F839-3248B9F56557}"/>
              </a:ext>
            </a:extLst>
          </p:cNvPr>
          <p:cNvSpPr txBox="1"/>
          <p:nvPr/>
        </p:nvSpPr>
        <p:spPr>
          <a:xfrm>
            <a:off x="7259225" y="4062430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9E64440-62C6-8B7B-C68F-FB665203B61F}"/>
              </a:ext>
            </a:extLst>
          </p:cNvPr>
          <p:cNvSpPr txBox="1"/>
          <p:nvPr/>
        </p:nvSpPr>
        <p:spPr>
          <a:xfrm>
            <a:off x="8584616" y="4084575"/>
            <a:ext cx="6550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X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1F95284-0572-445B-9553-EBB6EEE447C9}"/>
              </a:ext>
            </a:extLst>
          </p:cNvPr>
          <p:cNvSpPr txBox="1"/>
          <p:nvPr/>
        </p:nvSpPr>
        <p:spPr>
          <a:xfrm>
            <a:off x="6551291" y="5691137"/>
            <a:ext cx="32832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Deeply uncertain with socioeconomic factors</a:t>
            </a:r>
          </a:p>
        </p:txBody>
      </p:sp>
      <p:sp>
        <p:nvSpPr>
          <p:cNvPr id="103" name="Right Brace 102">
            <a:extLst>
              <a:ext uri="{FF2B5EF4-FFF2-40B4-BE49-F238E27FC236}">
                <a16:creationId xmlns:a16="http://schemas.microsoft.com/office/drawing/2014/main" id="{0AABB125-5ABB-4732-A32B-89B815A94FB3}"/>
              </a:ext>
            </a:extLst>
          </p:cNvPr>
          <p:cNvSpPr/>
          <p:nvPr/>
        </p:nvSpPr>
        <p:spPr>
          <a:xfrm rot="5400000">
            <a:off x="8013032" y="4168538"/>
            <a:ext cx="280736" cy="2982608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2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23F8A-2B9C-1BFD-4FE0-A82057754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07316-4BB5-25B3-7EAF-0213B6D24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1F2DD-5D11-D59D-D4E2-0F78B26E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EE7460-907B-9FA7-03ED-53AC3F44B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38D994-32D5-8411-6E8E-414DD0556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0926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BEC68-FA76-03F3-2949-C63F07BBD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886BF-0C00-374A-0D4A-EB77DF7D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Proposal: 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55E5B-4031-CE9C-6430-83824E7135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2909EC-121C-F9F7-DB78-200A2F8F4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786896-56A1-DA58-2537-EFFEA4125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363D49-5BE9-4F35-745B-ABD33B97A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171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CAB3C-45B6-128E-DF01-7C8A79894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DCB9C-0931-949F-B60B-6BC036E1C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Planned Methods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362734-F3FB-92A3-47A5-CEA0CE569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5134D-F7E5-6CC3-2C8A-5CAB550DB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870502-04F9-E5F7-6D2F-D38481DB0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17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338F18-4189-8694-382F-E3AA315F5F16}"/>
              </a:ext>
            </a:extLst>
          </p:cNvPr>
          <p:cNvSpPr/>
          <p:nvPr/>
        </p:nvSpPr>
        <p:spPr>
          <a:xfrm>
            <a:off x="593557" y="1053279"/>
            <a:ext cx="3312696" cy="5050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DC918-C336-11B3-95B5-FE747F554028}"/>
              </a:ext>
            </a:extLst>
          </p:cNvPr>
          <p:cNvSpPr txBox="1"/>
          <p:nvPr/>
        </p:nvSpPr>
        <p:spPr>
          <a:xfrm>
            <a:off x="593557" y="716926"/>
            <a:ext cx="331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Scenario Design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A20D58-4A57-AA51-B240-B35DC3F5A8A6}"/>
              </a:ext>
            </a:extLst>
          </p:cNvPr>
          <p:cNvSpPr txBox="1"/>
          <p:nvPr/>
        </p:nvSpPr>
        <p:spPr>
          <a:xfrm>
            <a:off x="4730416" y="714725"/>
            <a:ext cx="29076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MOEA Optimization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F03CB-FDE7-5B10-B405-BF53F29E2A1D}"/>
              </a:ext>
            </a:extLst>
          </p:cNvPr>
          <p:cNvSpPr/>
          <p:nvPr/>
        </p:nvSpPr>
        <p:spPr>
          <a:xfrm>
            <a:off x="739942" y="1600200"/>
            <a:ext cx="299185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Historical trace (baseline)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BE372C-0CBA-6090-256E-3D1C84FEF182}"/>
              </a:ext>
            </a:extLst>
          </p:cNvPr>
          <p:cNvSpPr/>
          <p:nvPr/>
        </p:nvSpPr>
        <p:spPr>
          <a:xfrm>
            <a:off x="739942" y="2162827"/>
            <a:ext cx="299185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Well characterized (probabilistic) ensemble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6F570B-7291-F23A-F13E-ED5A2E79BAEE}"/>
              </a:ext>
            </a:extLst>
          </p:cNvPr>
          <p:cNvSpPr/>
          <p:nvPr/>
        </p:nvSpPr>
        <p:spPr>
          <a:xfrm>
            <a:off x="739941" y="2725454"/>
            <a:ext cx="299185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Deep uncertainty representative (probabilistic) ensemble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6D4517-0FF7-38B2-804E-083932D2D77F}"/>
              </a:ext>
            </a:extLst>
          </p:cNvPr>
          <p:cNvSpPr/>
          <p:nvPr/>
        </p:nvSpPr>
        <p:spPr>
          <a:xfrm>
            <a:off x="739940" y="3681431"/>
            <a:ext cx="299185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Deep uncertainty hazard space-filling subsample ensemble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FD477BF-4C5B-0165-B2D7-4A7F69AEF6A8}"/>
              </a:ext>
            </a:extLst>
          </p:cNvPr>
          <p:cNvSpPr/>
          <p:nvPr/>
        </p:nvSpPr>
        <p:spPr>
          <a:xfrm>
            <a:off x="5773153" y="2640700"/>
            <a:ext cx="822158" cy="82215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MM-</a:t>
            </a:r>
            <a:r>
              <a:rPr lang="en-US" sz="1200" dirty="0" err="1"/>
              <a:t>BorgMOEA</a:t>
            </a:r>
            <a:endParaRPr lang="en-US" sz="12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694EF-C641-28D1-34F6-9DB61613268B}"/>
              </a:ext>
            </a:extLst>
          </p:cNvPr>
          <p:cNvSpPr/>
          <p:nvPr/>
        </p:nvSpPr>
        <p:spPr>
          <a:xfrm>
            <a:off x="7677148" y="3270352"/>
            <a:ext cx="822158" cy="8221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Pareto Front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BBD8A6-CF70-EB7C-27B7-276874E0C261}"/>
              </a:ext>
            </a:extLst>
          </p:cNvPr>
          <p:cNvSpPr txBox="1"/>
          <p:nvPr/>
        </p:nvSpPr>
        <p:spPr>
          <a:xfrm>
            <a:off x="4892842" y="5840359"/>
            <a:ext cx="16984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Fixed N-hour wall clock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BDDBC32-8686-24DA-58DD-2FAC8C222FA6}"/>
              </a:ext>
            </a:extLst>
          </p:cNvPr>
          <p:cNvSpPr/>
          <p:nvPr/>
        </p:nvSpPr>
        <p:spPr>
          <a:xfrm>
            <a:off x="8700834" y="1290888"/>
            <a:ext cx="3312696" cy="5050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150C08-8435-99BB-38BB-A6E34EB56330}"/>
              </a:ext>
            </a:extLst>
          </p:cNvPr>
          <p:cNvSpPr txBox="1"/>
          <p:nvPr/>
        </p:nvSpPr>
        <p:spPr>
          <a:xfrm>
            <a:off x="8700834" y="954535"/>
            <a:ext cx="33126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Robustness Comparison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D5BF976-BDF4-AB7A-B0B3-8CDBD239BE71}"/>
              </a:ext>
            </a:extLst>
          </p:cNvPr>
          <p:cNvSpPr/>
          <p:nvPr/>
        </p:nvSpPr>
        <p:spPr>
          <a:xfrm>
            <a:off x="9099882" y="1477124"/>
            <a:ext cx="2514600" cy="140370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Re-evaluation of pareto-approximate solutions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6BA623-54FA-D216-B1E6-18B6F71B59A5}"/>
              </a:ext>
            </a:extLst>
          </p:cNvPr>
          <p:cNvSpPr/>
          <p:nvPr/>
        </p:nvSpPr>
        <p:spPr>
          <a:xfrm>
            <a:off x="4892842" y="1053279"/>
            <a:ext cx="2582779" cy="505025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5683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170479</TotalTime>
  <Words>566</Words>
  <Application>Microsoft Office PowerPoint</Application>
  <PresentationFormat>Widescreen</PresentationFormat>
  <Paragraphs>149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Content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Motivation &amp; Literature Review</vt:lpstr>
      <vt:lpstr>Proposal: Hypothesis</vt:lpstr>
      <vt:lpstr>Proposal: Hypothesis</vt:lpstr>
      <vt:lpstr>Proposal: Research Questions</vt:lpstr>
      <vt:lpstr>Proposal: Research Questions</vt:lpstr>
      <vt:lpstr>Planned Methods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Trevor James Amestoy</dc:creator>
  <cp:lastModifiedBy>Trevor Amestoy</cp:lastModifiedBy>
  <cp:revision>5879</cp:revision>
  <dcterms:created xsi:type="dcterms:W3CDTF">2023-01-16T16:31:12Z</dcterms:created>
  <dcterms:modified xsi:type="dcterms:W3CDTF">2026-06-12T18:21:51Z</dcterms:modified>
</cp:coreProperties>
</file>