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6"/>
  </p:notesMasterIdLst>
  <p:sldIdLst>
    <p:sldId id="2741" r:id="rId2"/>
    <p:sldId id="2996" r:id="rId3"/>
    <p:sldId id="3024" r:id="rId4"/>
    <p:sldId id="2986" r:id="rId5"/>
    <p:sldId id="3021" r:id="rId6"/>
    <p:sldId id="2988" r:id="rId7"/>
    <p:sldId id="2987" r:id="rId8"/>
    <p:sldId id="2991" r:id="rId9"/>
    <p:sldId id="2993" r:id="rId10"/>
    <p:sldId id="2995" r:id="rId11"/>
    <p:sldId id="3034" r:id="rId12"/>
    <p:sldId id="2994" r:id="rId13"/>
    <p:sldId id="3087" r:id="rId14"/>
    <p:sldId id="3036" r:id="rId15"/>
    <p:sldId id="3037" r:id="rId16"/>
    <p:sldId id="3032" r:id="rId17"/>
    <p:sldId id="3016" r:id="rId18"/>
    <p:sldId id="3053" r:id="rId19"/>
    <p:sldId id="3072" r:id="rId20"/>
    <p:sldId id="3074" r:id="rId21"/>
    <p:sldId id="3070" r:id="rId22"/>
    <p:sldId id="3073" r:id="rId23"/>
    <p:sldId id="3071" r:id="rId24"/>
    <p:sldId id="3055" r:id="rId25"/>
    <p:sldId id="3054" r:id="rId26"/>
    <p:sldId id="3057" r:id="rId27"/>
    <p:sldId id="3068" r:id="rId28"/>
    <p:sldId id="3038" r:id="rId29"/>
    <p:sldId id="3075" r:id="rId30"/>
    <p:sldId id="3076" r:id="rId31"/>
    <p:sldId id="3051" r:id="rId32"/>
    <p:sldId id="3027" r:id="rId33"/>
    <p:sldId id="3079" r:id="rId34"/>
    <p:sldId id="3028" r:id="rId35"/>
    <p:sldId id="3080" r:id="rId36"/>
    <p:sldId id="3081" r:id="rId37"/>
    <p:sldId id="3082" r:id="rId38"/>
    <p:sldId id="3069" r:id="rId39"/>
    <p:sldId id="3089" r:id="rId40"/>
    <p:sldId id="3077" r:id="rId41"/>
    <p:sldId id="3090" r:id="rId42"/>
    <p:sldId id="3091" r:id="rId43"/>
    <p:sldId id="3078" r:id="rId44"/>
    <p:sldId id="3084" r:id="rId45"/>
    <p:sldId id="3011" r:id="rId46"/>
    <p:sldId id="3015" r:id="rId47"/>
    <p:sldId id="3019" r:id="rId48"/>
    <p:sldId id="3020" r:id="rId49"/>
    <p:sldId id="3014" r:id="rId50"/>
    <p:sldId id="3013" r:id="rId51"/>
    <p:sldId id="3017" r:id="rId52"/>
    <p:sldId id="3012" r:id="rId53"/>
    <p:sldId id="3033" r:id="rId54"/>
    <p:sldId id="3022" r:id="rId55"/>
    <p:sldId id="3003" r:id="rId56"/>
    <p:sldId id="3002" r:id="rId57"/>
    <p:sldId id="3026" r:id="rId58"/>
    <p:sldId id="3058" r:id="rId59"/>
    <p:sldId id="3029" r:id="rId60"/>
    <p:sldId id="3046" r:id="rId61"/>
    <p:sldId id="3045" r:id="rId62"/>
    <p:sldId id="3047" r:id="rId63"/>
    <p:sldId id="3044" r:id="rId64"/>
    <p:sldId id="3048" r:id="rId65"/>
    <p:sldId id="3049" r:id="rId66"/>
    <p:sldId id="3065" r:id="rId67"/>
    <p:sldId id="3066" r:id="rId68"/>
    <p:sldId id="3067" r:id="rId69"/>
    <p:sldId id="3050" r:id="rId70"/>
    <p:sldId id="3043" r:id="rId71"/>
    <p:sldId id="3030" r:id="rId72"/>
    <p:sldId id="3088" r:id="rId73"/>
    <p:sldId id="2999" r:id="rId74"/>
    <p:sldId id="2992" r:id="rId7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152C47"/>
    <a:srgbClr val="2E5E8C"/>
    <a:srgbClr val="FF9900"/>
    <a:srgbClr val="70AD47"/>
    <a:srgbClr val="ED7D31"/>
    <a:srgbClr val="000000"/>
    <a:srgbClr val="5B9BD5"/>
    <a:srgbClr val="FFC000"/>
    <a:srgbClr val="76BE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4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jame\Desktop\Research\DRB\Pywr-DRB\NYCOptimization\outputs\supplemental\anvil_scaling_experiment\HPC_cost_calculato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jame\Desktop\Research\DRB\Pywr-DRB\NYCOptimization\outputs\supplemental\anvil_scaling_experiment\HPC_cost_calculator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Service Unit Split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B0E-41F7-B1AF-33899D87406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B0E-41F7-B1AF-33899D87406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B0E-41F7-B1AF-33899D87406D}"/>
              </c:ext>
            </c:extLst>
          </c:dPt>
          <c:dLbls>
            <c:dLbl>
              <c:idx val="0"/>
              <c:layout>
                <c:manualLayout>
                  <c:x val="2.3414754006812977E-2"/>
                  <c:y val="3.6039217006458138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B0E-41F7-B1AF-33899D87406D}"/>
                </c:ext>
              </c:extLst>
            </c:dLbl>
            <c:dLbl>
              <c:idx val="1"/>
              <c:layout>
                <c:manualLayout>
                  <c:x val="-1.1442452672139386E-2"/>
                  <c:y val="1.21662596893611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B0E-41F7-B1AF-33899D87406D}"/>
                </c:ext>
              </c:extLst>
            </c:dLbl>
            <c:dLbl>
              <c:idx val="2"/>
              <c:layout>
                <c:manualLayout>
                  <c:x val="-2.8649578377170939E-2"/>
                  <c:y val="1.2515954841307558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B0E-41F7-B1AF-33899D8740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(Calculator!$A$35,Calculator!$A$41,Calculator!$A$49)</c:f>
              <c:strCache>
                <c:ptCount val="3"/>
                <c:pt idx="0">
                  <c:v>search_su</c:v>
                </c:pt>
                <c:pt idx="1">
                  <c:v>reeval_su</c:v>
                </c:pt>
                <c:pt idx="2">
                  <c:v>UNUSED ALLOCATION</c:v>
                </c:pt>
              </c:strCache>
            </c:strRef>
          </c:cat>
          <c:val>
            <c:numRef>
              <c:f>(Calculator!$B$35,Calculator!$B$41,Calculator!$B$49)</c:f>
              <c:numCache>
                <c:formatCode>#,##0</c:formatCode>
                <c:ptCount val="3"/>
                <c:pt idx="0">
                  <c:v>497266.51044957462</c:v>
                </c:pt>
                <c:pt idx="1">
                  <c:v>85205.315708333321</c:v>
                </c:pt>
                <c:pt idx="2">
                  <c:v>167528.17384209204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B0E-41F7-B1AF-33899D8740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Estimated Wallclock Runtime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EA3-4B47-A53A-BC9D7D36A7C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EA3-4B47-A53A-BC9D7D36A7C9}"/>
              </c:ext>
            </c:extLst>
          </c:dPt>
          <c:dLbls>
            <c:dLbl>
              <c:idx val="0"/>
              <c:layout>
                <c:manualLayout>
                  <c:x val="1.4393792689211055E-2"/>
                  <c:y val="-3.1548702651722854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EA3-4B47-A53A-BC9D7D36A7C9}"/>
                </c:ext>
              </c:extLst>
            </c:dLbl>
            <c:dLbl>
              <c:idx val="1"/>
              <c:layout>
                <c:manualLayout>
                  <c:x val="-5.8357539613509125E-2"/>
                  <c:y val="-2.7084567075355219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282061970265387"/>
                      <c:h val="8.936861652739090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CEA3-4B47-A53A-BC9D7D36A7C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(Calculator!$A$37,Calculator!$A$42)</c:f>
              <c:strCache>
                <c:ptCount val="2"/>
                <c:pt idx="0">
                  <c:v>search_walltime_parallel_hr</c:v>
                </c:pt>
                <c:pt idx="1">
                  <c:v>reeval_walltime_hr</c:v>
                </c:pt>
              </c:strCache>
            </c:strRef>
          </c:cat>
          <c:val>
            <c:numRef>
              <c:f>(Calculator!$B$37,Calculator!$B$42)</c:f>
              <c:numCache>
                <c:formatCode>0.00</c:formatCode>
                <c:ptCount val="2"/>
                <c:pt idx="0">
                  <c:v>8.0935304435152116</c:v>
                </c:pt>
                <c:pt idx="1">
                  <c:v>20.802079030354815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EA3-4B47-A53A-BC9D7D36A7C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69C018-C870-4438-A84B-4FE07685CB1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2E240-52A0-4F3B-8948-D649DD233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39D4-4676-6057-E0AD-E858C396D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D012BB-734F-D58C-1428-68F55A55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A09AEE-B445-0EE3-2CB0-AE8733A00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EC8FE-B886-4D4C-4706-8EAFBF86A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82E240-52A0-4F3B-8948-D649DD23319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158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0854A-4F20-BA74-E94B-D65BB5796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33B16E-AB71-5148-E966-E61CA289A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649B3D-EE6A-6B83-4953-0701ED66A7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5E927-3F1A-ECF7-644D-4A895D9229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82E240-52A0-4F3B-8948-D649DD23319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946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82E240-52A0-4F3B-8948-D649DD233190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43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44FE7-8C66-4743-AFA0-21790B847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5392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28C2C-4523-4AB5-875C-424449E57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3723"/>
            <a:ext cx="10515600" cy="540324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4BF80D-6B93-474B-98F9-988CCE685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B7A066-CE2C-4C3E-8A11-C778AB1BD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74080E-5050-4AFE-96F3-B6D68ADFB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936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5017-91FB-4D79-8C13-829F3E355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C6528-7FE7-42DC-8812-4FC7D9BB9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E52444-6548-4714-A05A-DB4CA69CD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E4434-CBC8-494E-9316-569066922B0F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0DBC68-12B0-4F99-8177-335149CAF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AB8CE2-4622-46EA-9021-CE8E3F9AA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121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E3F94-9D2A-4142-AAAE-46DC709B84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47156"/>
            <a:ext cx="5181600" cy="502980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1752DE-CD50-4650-934A-B943FD01E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47156"/>
            <a:ext cx="5181600" cy="502980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BB912D5-A03D-425E-B7B5-B2052897F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8" y="221699"/>
            <a:ext cx="10515600" cy="6407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EE853-BAED-4D86-B3C0-65A27CCFD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4A0BF-603A-4330-B833-8B323A4A8B94}" type="datetime1">
              <a:rPr lang="en-US" smtClean="0"/>
              <a:t>8/30/2026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34D4EA5-860A-4C5E-8281-1CFBF9D6D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3AF3DB5-571B-44BB-B000-F92FDB390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40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8412D-CAA2-49BE-A44B-4983BCEB1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06602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6F3EF-0AFD-46DB-AB03-7C4EF84CA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50113"/>
            <a:ext cx="5157787" cy="430105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7E526C-C6A2-44D4-B0DD-71B4271F4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6602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D2EF87-71FB-46D1-A92B-04A7AD61EF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50113"/>
            <a:ext cx="5183188" cy="430105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D45B924-CE6E-46DE-90BB-9F4F35C88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512" y="129883"/>
            <a:ext cx="10515600" cy="6407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C5FBCE-E433-4016-8BFD-FDB59235F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BF10-8B7B-4623-97D8-6904151371CF}" type="datetime1">
              <a:rPr lang="en-US" smtClean="0"/>
              <a:t>8/30/2026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3BB3D3A-CCCC-432B-BACF-C93BC5B70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B26E5E5-6F5C-4ACE-9DBA-E64E3B707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298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721223-7C9F-4F95-A1BA-7C9FDCBEB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0481C-D26A-4816-8B65-2AAA1FEB2673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4096-46E0-4677-B787-2935A669A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46EE9D-FD7E-4455-895A-29EA2FBEE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333990B-4A01-428E-9D72-2B806476A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608" y="146463"/>
            <a:ext cx="10515600" cy="6407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0815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3C8BF3-BED2-4501-B2C7-4E46843D3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CDE97-08AC-4CAF-A7A0-E29E7CA30F01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63FBF1-CDDF-4BF9-9B87-83FEC66F3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445A1-9040-459B-86C0-02C7470E8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07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4A688-0CA4-431B-ADDC-32834D7A7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B20EA-72CF-4079-B7DD-B9B3CDA88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6E1EA-E5FD-438B-8C96-3877F18FD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C19F51-69E0-45DC-A8BC-4D6349500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A5FFA-1870-4734-B42E-43C1194FFD8C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61232-2366-4D62-B7CA-5E63956F6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76CC5-D813-45AB-AA50-8D965B252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31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250B5-467D-4F9E-9CC6-AFC082F0F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9A07D2-A44A-4414-A818-3A99BE4F85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B705A-29EC-485D-9A52-3CA53F245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DC1B1-B20D-4C41-8182-D37FD073A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4D6F7-6552-402D-A751-A09744F93F8E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0D99CF-BF9E-41DF-8AD2-DE9FC175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9EE16-BC54-4C4C-9665-5014B687B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48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649F0-4411-43EC-A30C-A84A170AF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DDEFE2-E01A-4A14-A55A-FC55D06A1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39995-3E7F-4750-8BE0-B9D1DB7D9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4F196-E106-4934-AF6E-C2845AFC15C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CAD9A-35DC-4CE3-98F9-98944B6FB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049F1-39F4-41B7-B018-7C9611EFB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520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715726-8339-4BAA-9962-95F8D7E1CC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05452D-2343-4F8E-882A-288D8B0755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43DB4-E5E2-42B4-A259-81F8D0876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FA749-348B-479E-95C5-7F24A07B6DCA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90557-9781-4FA8-B110-87EF7F729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25C6-4201-41B0-962A-9AC95B97D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98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DFDB2-EEFA-41E1-ADD0-786E6A681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55320"/>
            <a:ext cx="10515600" cy="5521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5A9D5-3B67-4C64-B77C-82CEAF2AFA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419EC-5555-45BC-92A4-8D35FA23061E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0200F-2D21-443F-9167-135A0BCE70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Trevor Amestoy | Cornell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6CF31-F3A3-4E15-B806-50EFF00A0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BC31C-09DE-4BD8-A52C-83E8CB812CB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261EA1F-C7D5-4CC8-AC9B-768BA980598E}"/>
              </a:ext>
            </a:extLst>
          </p:cNvPr>
          <p:cNvCxnSpPr>
            <a:cxnSpLocks/>
          </p:cNvCxnSpPr>
          <p:nvPr userDrawn="1"/>
        </p:nvCxnSpPr>
        <p:spPr>
          <a:xfrm>
            <a:off x="838200" y="6492875"/>
            <a:ext cx="10515600" cy="0"/>
          </a:xfrm>
          <a:prstGeom prst="line">
            <a:avLst/>
          </a:prstGeom>
          <a:ln w="38100">
            <a:solidFill>
              <a:srgbClr val="152C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285BBCA-83FD-3CCF-78EB-6199996FFB0C}"/>
              </a:ext>
            </a:extLst>
          </p:cNvPr>
          <p:cNvSpPr/>
          <p:nvPr userDrawn="1"/>
        </p:nvSpPr>
        <p:spPr>
          <a:xfrm>
            <a:off x="0" y="-2"/>
            <a:ext cx="12192000" cy="539943"/>
          </a:xfrm>
          <a:prstGeom prst="rect">
            <a:avLst/>
          </a:prstGeom>
          <a:solidFill>
            <a:srgbClr val="152C47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D1BC3-D5B6-4BA6-8BE7-C5CF26FBA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22" y="0"/>
            <a:ext cx="11952317" cy="5399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85179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>
              <a:lumMod val="8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2859D-0235-3C27-0F9C-B0B19C08F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F2449-0DB4-24E9-335D-AB3977555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2E33B-137B-4CD4-3AB4-F91F2F3C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9EA12-D4E0-B17B-E0B1-68A8BC970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7920F1-B276-C35C-7748-C14CFB60983A}"/>
              </a:ext>
            </a:extLst>
          </p:cNvPr>
          <p:cNvSpPr txBox="1"/>
          <p:nvPr/>
        </p:nvSpPr>
        <p:spPr>
          <a:xfrm>
            <a:off x="838200" y="2070966"/>
            <a:ext cx="1051560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/>
              <a:t>Hazard-Space Scenario Selection for Robust Many-Objective Reservoir Policy Search in the Delaware River Basin</a:t>
            </a:r>
            <a:endParaRPr lang="en-US" sz="5400" i="1" dirty="0"/>
          </a:p>
          <a:p>
            <a:endParaRPr lang="en-US" sz="3600" dirty="0"/>
          </a:p>
          <a:p>
            <a:endParaRPr lang="en-US" sz="3600" dirty="0"/>
          </a:p>
          <a:p>
            <a:r>
              <a:rPr lang="en-US" sz="3600" dirty="0"/>
              <a:t>Summer 2026</a:t>
            </a:r>
          </a:p>
        </p:txBody>
      </p:sp>
    </p:spTree>
    <p:extLst>
      <p:ext uri="{BB962C8B-B14F-4D97-AF65-F5344CB8AC3E}">
        <p14:creationId xmlns:p14="http://schemas.microsoft.com/office/powerpoint/2010/main" val="1545454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20416-05D9-CFC5-8EA0-CDAE3246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A2887-C5CE-D99C-0519-4D110644B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2153"/>
            <a:ext cx="5747081" cy="4594810"/>
          </a:xfrm>
        </p:spPr>
        <p:txBody>
          <a:bodyPr>
            <a:normAutofit/>
          </a:bodyPr>
          <a:lstStyle/>
          <a:p>
            <a:r>
              <a:rPr lang="en-US" sz="2400" dirty="0"/>
              <a:t>Motivation &amp; Literature Review</a:t>
            </a:r>
          </a:p>
          <a:p>
            <a:r>
              <a:rPr lang="en-US" sz="2400" dirty="0"/>
              <a:t>Proposal </a:t>
            </a:r>
          </a:p>
          <a:p>
            <a:pPr lvl="1"/>
            <a:r>
              <a:rPr lang="en-US" sz="2200" dirty="0"/>
              <a:t>Hypothesis</a:t>
            </a:r>
          </a:p>
          <a:p>
            <a:pPr lvl="1"/>
            <a:r>
              <a:rPr lang="en-US" sz="2200" dirty="0"/>
              <a:t>Research Questions</a:t>
            </a:r>
          </a:p>
          <a:p>
            <a:pPr lvl="1"/>
            <a:r>
              <a:rPr lang="en-US" sz="2200" dirty="0"/>
              <a:t>Planned Contributions</a:t>
            </a:r>
          </a:p>
          <a:p>
            <a:r>
              <a:rPr lang="en-US" sz="2400" dirty="0"/>
              <a:t>Experimental Design</a:t>
            </a:r>
          </a:p>
          <a:p>
            <a:pPr lvl="1"/>
            <a:r>
              <a:rPr lang="en-US" sz="2200" dirty="0"/>
              <a:t>Re-evaluation under climate change uncertainty</a:t>
            </a:r>
          </a:p>
          <a:p>
            <a:r>
              <a:rPr lang="en-US" sz="2400" dirty="0"/>
              <a:t>MOEA Problem Formulation</a:t>
            </a:r>
          </a:p>
          <a:p>
            <a:pPr lvl="1"/>
            <a:r>
              <a:rPr lang="en-US" sz="2200" dirty="0"/>
              <a:t>Decision Variables</a:t>
            </a:r>
          </a:p>
          <a:p>
            <a:pPr lvl="1"/>
            <a:r>
              <a:rPr lang="en-US" sz="2200" dirty="0"/>
              <a:t>Objectives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3CE01-CD76-427A-B2C9-95842F950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74B40-0BF2-188F-99E1-66B1D3DFB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C4B2C-D3E1-9816-554E-7A41B2263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EE99B3-48B5-6578-F143-BFF23796C28F}"/>
              </a:ext>
            </a:extLst>
          </p:cNvPr>
          <p:cNvSpPr txBox="1"/>
          <p:nvPr/>
        </p:nvSpPr>
        <p:spPr>
          <a:xfrm>
            <a:off x="6392782" y="1582153"/>
            <a:ext cx="53790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152C47"/>
                </a:solidFill>
              </a:rPr>
              <a:t>Supplemental</a:t>
            </a:r>
            <a:r>
              <a:rPr lang="en-US" sz="2400" i="1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Anvil scaling experiments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Parametric sampling of uncertain monthly streamflow changes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11AAA8-DDF8-78C2-AA16-CAF28447DADE}"/>
              </a:ext>
            </a:extLst>
          </p:cNvPr>
          <p:cNvCxnSpPr/>
          <p:nvPr/>
        </p:nvCxnSpPr>
        <p:spPr>
          <a:xfrm>
            <a:off x="6031832" y="1283368"/>
            <a:ext cx="0" cy="46281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172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7A287-3543-767A-4084-4BAC6E021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A88B1-AE28-C539-2525-97C724B62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21143-CC70-D5F2-3594-49AA59087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8FDA7-6A68-219E-9AE3-B533AFAF8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1E5BAE-CD01-F243-FD93-D0DA1B390612}"/>
              </a:ext>
            </a:extLst>
          </p:cNvPr>
          <p:cNvSpPr/>
          <p:nvPr/>
        </p:nvSpPr>
        <p:spPr>
          <a:xfrm>
            <a:off x="0" y="1491916"/>
            <a:ext cx="12191999" cy="3481137"/>
          </a:xfrm>
          <a:prstGeom prst="rect">
            <a:avLst/>
          </a:prstGeom>
          <a:solidFill>
            <a:srgbClr val="152C47"/>
          </a:solidFill>
          <a:ln>
            <a:solidFill>
              <a:srgbClr val="152C4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chemeClr val="bg1"/>
                </a:solidFill>
              </a:rPr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1926522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E933A-FDFA-6856-721F-E293AC0A5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18BF3-F7AA-AF05-124E-0777DC6F5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Literature Review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E4140-0A49-6821-E2DA-C17BEAA6A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B932A-3645-B078-4689-6039D3437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66D1F-4D2C-EDFA-1002-32E3C1F7D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4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71CE1A-3A62-5C98-8C5E-E7A9E956F4CA}"/>
              </a:ext>
            </a:extLst>
          </p:cNvPr>
          <p:cNvSpPr txBox="1"/>
          <p:nvPr/>
        </p:nvSpPr>
        <p:spPr>
          <a:xfrm>
            <a:off x="459206" y="562067"/>
            <a:ext cx="95450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Motivation:</a:t>
            </a:r>
          </a:p>
          <a:p>
            <a:r>
              <a:rPr lang="en-US" sz="2000" dirty="0"/>
              <a:t>0. Scenario design is a key part of robustness frameworks and influences results.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500627-DD4F-2EF4-9DA7-73229538E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508" y="1292757"/>
            <a:ext cx="5003292" cy="50962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C36620-F67E-BB6C-68B6-9AA2B9BEE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535" y="1542848"/>
            <a:ext cx="5561464" cy="467713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1885AA2-D566-4BA6-DF9B-DD96ACD76BAE}"/>
              </a:ext>
            </a:extLst>
          </p:cNvPr>
          <p:cNvSpPr/>
          <p:nvPr/>
        </p:nvSpPr>
        <p:spPr>
          <a:xfrm>
            <a:off x="2917657" y="1798720"/>
            <a:ext cx="2782927" cy="163028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CD6FAF-0C87-6259-04D2-FE01B9F78368}"/>
              </a:ext>
            </a:extLst>
          </p:cNvPr>
          <p:cNvSpPr/>
          <p:nvPr/>
        </p:nvSpPr>
        <p:spPr>
          <a:xfrm>
            <a:off x="9129855" y="2187252"/>
            <a:ext cx="1669950" cy="112435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987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60722-1C0F-6B26-B862-7C93AE7E6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5A510-F1A2-0A61-8276-284E54EEF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Literature Review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FCC07-089F-4CEA-4B34-20870B26A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9DFA7-B3CA-3C1A-4E30-4D0619CEC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94A4F-5D24-D131-E983-3867A76A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53BF0F-E447-2FB9-B18F-684E201F0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135" y="965357"/>
            <a:ext cx="4016088" cy="40770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49E8A5-CE9A-35E4-BF39-F613222F8199}"/>
              </a:ext>
            </a:extLst>
          </p:cNvPr>
          <p:cNvSpPr txBox="1"/>
          <p:nvPr/>
        </p:nvSpPr>
        <p:spPr>
          <a:xfrm>
            <a:off x="6994358" y="5358063"/>
            <a:ext cx="3673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from </a:t>
            </a:r>
            <a:r>
              <a:rPr lang="en-US" dirty="0" err="1"/>
              <a:t>Jazmines</a:t>
            </a:r>
            <a:r>
              <a:rPr lang="en-US"/>
              <a:t> dissertation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3BDB36-601C-96E2-F359-3516AB161B46}"/>
              </a:ext>
            </a:extLst>
          </p:cNvPr>
          <p:cNvSpPr txBox="1"/>
          <p:nvPr/>
        </p:nvSpPr>
        <p:spPr>
          <a:xfrm>
            <a:off x="838200" y="778013"/>
            <a:ext cx="50171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Motivation:</a:t>
            </a:r>
          </a:p>
          <a:p>
            <a:endParaRPr lang="en-US" sz="2000" dirty="0"/>
          </a:p>
          <a:p>
            <a:r>
              <a:rPr lang="en-US" sz="2000" dirty="0"/>
              <a:t>1. Large stochastic ensembles of streamflows are necessary for capturing the full range of hydrologic conditions resulting from natural variability.</a:t>
            </a:r>
          </a:p>
        </p:txBody>
      </p:sp>
    </p:spTree>
    <p:extLst>
      <p:ext uri="{BB962C8B-B14F-4D97-AF65-F5344CB8AC3E}">
        <p14:creationId xmlns:p14="http://schemas.microsoft.com/office/powerpoint/2010/main" val="534715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63998-E7BE-4D8D-23F1-8E1DEA643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F730F-AAA2-02DB-15E3-F196CA5C4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Literature Review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4CB97-1D03-762D-B5D5-4D2F19AA7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409E3-CFF8-9965-7868-43CBB5029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7201A-1CFA-73D5-5215-48BB530C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10A651-5A21-2176-FCDD-540ECAA8C73E}"/>
              </a:ext>
            </a:extLst>
          </p:cNvPr>
          <p:cNvSpPr txBox="1"/>
          <p:nvPr/>
        </p:nvSpPr>
        <p:spPr>
          <a:xfrm>
            <a:off x="838200" y="778013"/>
            <a:ext cx="5017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Motivation:</a:t>
            </a:r>
          </a:p>
          <a:p>
            <a:endParaRPr lang="en-US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4F051E6-B3AA-F9F2-8F71-47AFBB313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900" y="2853391"/>
            <a:ext cx="7429661" cy="32667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4E0035C-BC26-772D-261B-3667C5396AF7}"/>
              </a:ext>
            </a:extLst>
          </p:cNvPr>
          <p:cNvSpPr txBox="1"/>
          <p:nvPr/>
        </p:nvSpPr>
        <p:spPr>
          <a:xfrm>
            <a:off x="2897605" y="2757115"/>
            <a:ext cx="2855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Historical period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0B41D3-450D-4837-8D89-DC7480E04542}"/>
              </a:ext>
            </a:extLst>
          </p:cNvPr>
          <p:cNvSpPr txBox="1"/>
          <p:nvPr/>
        </p:nvSpPr>
        <p:spPr>
          <a:xfrm>
            <a:off x="6531142" y="3839957"/>
            <a:ext cx="2855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Historical period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913B59-FE50-5E47-96D4-271E4E8E327F}"/>
              </a:ext>
            </a:extLst>
          </p:cNvPr>
          <p:cNvSpPr/>
          <p:nvPr/>
        </p:nvSpPr>
        <p:spPr>
          <a:xfrm rot="16200000">
            <a:off x="714812" y="4167794"/>
            <a:ext cx="3266704" cy="3651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Max drought magnitude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E86274-6A76-56E3-8F66-012DCD849211}"/>
              </a:ext>
            </a:extLst>
          </p:cNvPr>
          <p:cNvSpPr txBox="1"/>
          <p:nvPr/>
        </p:nvSpPr>
        <p:spPr>
          <a:xfrm>
            <a:off x="2897605" y="4338662"/>
            <a:ext cx="2029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Kirsch-Nowak ensemble of increasing size</a:t>
            </a:r>
          </a:p>
        </p:txBody>
      </p:sp>
    </p:spTree>
    <p:extLst>
      <p:ext uri="{BB962C8B-B14F-4D97-AF65-F5344CB8AC3E}">
        <p14:creationId xmlns:p14="http://schemas.microsoft.com/office/powerpoint/2010/main" val="1536672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FA75-CD9B-49DA-9214-FA6D0CFF1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FAC35-E34A-716E-8DA3-EBF494BF2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Literature Review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76E67-3DC6-7EAA-93F1-97AE4794B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7B8DF-E344-B9F5-AC6A-ABE7B1FC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B1270-DD62-26E9-101D-2E12C2EA4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95F87F-645D-11EE-5281-8C3345D6B5FE}"/>
              </a:ext>
            </a:extLst>
          </p:cNvPr>
          <p:cNvSpPr txBox="1"/>
          <p:nvPr/>
        </p:nvSpPr>
        <p:spPr>
          <a:xfrm>
            <a:off x="838199" y="778013"/>
            <a:ext cx="555457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Motivation:</a:t>
            </a:r>
          </a:p>
          <a:p>
            <a:endParaRPr lang="en-US" sz="2000" dirty="0"/>
          </a:p>
          <a:p>
            <a:r>
              <a:rPr lang="en-US" sz="2000" dirty="0"/>
              <a:t>3. When using long stochastic sequences much of the simulation period may be low-stress and require simulation/compute time that is not contributing meaningfully to improving solutions.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 err="1"/>
              <a:t>Eg.</a:t>
            </a:r>
            <a:r>
              <a:rPr lang="en-US" sz="2000" dirty="0"/>
              <a:t>, in the current stochastic ensembles 84-93% of ensemble years are in Normal conditions.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820BE4D-846A-2075-E085-A44EE9626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2778" y="1616324"/>
            <a:ext cx="5038821" cy="42315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33DA8FC-F5D9-0F8F-E03A-89C4A70A7C3D}"/>
              </a:ext>
            </a:extLst>
          </p:cNvPr>
          <p:cNvSpPr/>
          <p:nvPr/>
        </p:nvSpPr>
        <p:spPr>
          <a:xfrm>
            <a:off x="10107055" y="2101452"/>
            <a:ext cx="1146482" cy="81019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5079796-FAAC-F797-6842-43E3E63C223E}"/>
              </a:ext>
            </a:extLst>
          </p:cNvPr>
          <p:cNvSpPr/>
          <p:nvPr/>
        </p:nvSpPr>
        <p:spPr>
          <a:xfrm>
            <a:off x="9513497" y="2506547"/>
            <a:ext cx="593558" cy="425115"/>
          </a:xfrm>
          <a:prstGeom prst="rightArrow">
            <a:avLst/>
          </a:prstGeom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62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1EF2C-8A97-E411-8D04-7CA64A6C0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C0125-75DB-6FB7-2F1E-F059903B6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Literature Review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EE278-4E38-D859-880E-5289A9AF1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69785-EE67-16FA-BE32-EFF79808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7C3D6-D36E-7261-AFA1-62FDC01F3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8E3D0E-B36B-6190-C596-DC0648E87AE4}"/>
              </a:ext>
            </a:extLst>
          </p:cNvPr>
          <p:cNvSpPr txBox="1"/>
          <p:nvPr/>
        </p:nvSpPr>
        <p:spPr>
          <a:xfrm>
            <a:off x="838199" y="778013"/>
            <a:ext cx="81717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Motivation:</a:t>
            </a:r>
          </a:p>
          <a:p>
            <a:endParaRPr lang="en-US" sz="2000" dirty="0"/>
          </a:p>
          <a:p>
            <a:r>
              <a:rPr lang="en-US" sz="2000" dirty="0"/>
              <a:t>4. There can be redundancy in streamflow scenarios resulting from sampling uncertain hydrologic drivers/forcings.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07993AA-1423-DA70-28B8-C024366A2380}"/>
              </a:ext>
            </a:extLst>
          </p:cNvPr>
          <p:cNvGrpSpPr/>
          <p:nvPr/>
        </p:nvGrpSpPr>
        <p:grpSpPr>
          <a:xfrm>
            <a:off x="123969" y="2562726"/>
            <a:ext cx="7263168" cy="2971800"/>
            <a:chOff x="1907005" y="2406316"/>
            <a:chExt cx="7880684" cy="32244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CF29606-F06F-CA0C-6738-FC8321DF3975}"/>
                </a:ext>
              </a:extLst>
            </p:cNvPr>
            <p:cNvSpPr/>
            <p:nvPr/>
          </p:nvSpPr>
          <p:spPr>
            <a:xfrm>
              <a:off x="1907005" y="2406316"/>
              <a:ext cx="7880684" cy="322446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803539D-70E5-91FB-6557-FC4DC12DCC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3838" y="2793076"/>
              <a:ext cx="0" cy="21376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D1A4FEF-85DE-7BE7-F797-8C5A9EFEAE16}"/>
                </a:ext>
              </a:extLst>
            </p:cNvPr>
            <p:cNvCxnSpPr>
              <a:cxnSpLocks/>
            </p:cNvCxnSpPr>
            <p:nvPr/>
          </p:nvCxnSpPr>
          <p:spPr>
            <a:xfrm>
              <a:off x="2833838" y="4930686"/>
              <a:ext cx="21817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8428FFE-0197-E692-099E-D6E119838905}"/>
                </a:ext>
              </a:extLst>
            </p:cNvPr>
            <p:cNvSpPr txBox="1"/>
            <p:nvPr/>
          </p:nvSpPr>
          <p:spPr>
            <a:xfrm>
              <a:off x="2910840" y="5022928"/>
              <a:ext cx="2377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Hydro Uncertainty 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F5F4484-4C51-A217-06F0-094FB212AF90}"/>
                </a:ext>
              </a:extLst>
            </p:cNvPr>
            <p:cNvSpPr txBox="1"/>
            <p:nvPr/>
          </p:nvSpPr>
          <p:spPr>
            <a:xfrm rot="16200000">
              <a:off x="1275788" y="3557300"/>
              <a:ext cx="2377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Hydro Uncertainty 2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BABA156-82CA-2D2F-4A0E-64CAD276E499}"/>
                </a:ext>
              </a:extLst>
            </p:cNvPr>
            <p:cNvSpPr/>
            <p:nvPr/>
          </p:nvSpPr>
          <p:spPr>
            <a:xfrm>
              <a:off x="3345181" y="3338909"/>
              <a:ext cx="198118" cy="198118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E5F6D8A-9F12-0A82-B179-16B4548AAE86}"/>
                </a:ext>
              </a:extLst>
            </p:cNvPr>
            <p:cNvSpPr/>
            <p:nvPr/>
          </p:nvSpPr>
          <p:spPr>
            <a:xfrm>
              <a:off x="3444240" y="4254780"/>
              <a:ext cx="198118" cy="198118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8DEEF67-82BE-5E4E-5D73-6B2797DFF192}"/>
                </a:ext>
              </a:extLst>
            </p:cNvPr>
            <p:cNvSpPr/>
            <p:nvPr/>
          </p:nvSpPr>
          <p:spPr>
            <a:xfrm>
              <a:off x="4213860" y="3790625"/>
              <a:ext cx="198118" cy="19811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B148ED2-8008-C125-0949-D96DB55B5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4818" y="2793076"/>
              <a:ext cx="0" cy="21376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10B1578-3AF4-B27B-D950-BEBA6AD26E0F}"/>
                </a:ext>
              </a:extLst>
            </p:cNvPr>
            <p:cNvCxnSpPr>
              <a:cxnSpLocks/>
            </p:cNvCxnSpPr>
            <p:nvPr/>
          </p:nvCxnSpPr>
          <p:spPr>
            <a:xfrm>
              <a:off x="6864818" y="4930686"/>
              <a:ext cx="21817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B90ED65-86CB-334F-01FE-FEA143C97E94}"/>
                </a:ext>
              </a:extLst>
            </p:cNvPr>
            <p:cNvSpPr txBox="1"/>
            <p:nvPr/>
          </p:nvSpPr>
          <p:spPr>
            <a:xfrm>
              <a:off x="6941820" y="5022928"/>
              <a:ext cx="2377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Hazard Measure 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A266CFA-74C7-6AF0-A15E-3F162963AAB6}"/>
                </a:ext>
              </a:extLst>
            </p:cNvPr>
            <p:cNvSpPr txBox="1"/>
            <p:nvPr/>
          </p:nvSpPr>
          <p:spPr>
            <a:xfrm rot="16200000">
              <a:off x="5306768" y="3557300"/>
              <a:ext cx="2377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Hazard Measure 2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DC7C766-9AB6-AFD8-5B7A-E28BB36B4F69}"/>
                </a:ext>
              </a:extLst>
            </p:cNvPr>
            <p:cNvSpPr/>
            <p:nvPr/>
          </p:nvSpPr>
          <p:spPr>
            <a:xfrm rot="19703276">
              <a:off x="7448608" y="3600455"/>
              <a:ext cx="1519955" cy="982021"/>
            </a:xfrm>
            <a:prstGeom prst="ellipse">
              <a:avLst/>
            </a:prstGeom>
            <a:solidFill>
              <a:srgbClr val="70AD47">
                <a:alpha val="50196"/>
              </a:srgb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1F7BABC-BDE2-34E2-1014-690519FD120A}"/>
                </a:ext>
              </a:extLst>
            </p:cNvPr>
            <p:cNvSpPr/>
            <p:nvPr/>
          </p:nvSpPr>
          <p:spPr>
            <a:xfrm rot="19703276">
              <a:off x="7093633" y="3437598"/>
              <a:ext cx="1519955" cy="807250"/>
            </a:xfrm>
            <a:prstGeom prst="ellipse">
              <a:avLst/>
            </a:prstGeom>
            <a:solidFill>
              <a:srgbClr val="ED7D31">
                <a:alpha val="50196"/>
              </a:srgb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2344D6D-6390-E1F2-7E2B-68886BFD52A5}"/>
                </a:ext>
              </a:extLst>
            </p:cNvPr>
            <p:cNvSpPr/>
            <p:nvPr/>
          </p:nvSpPr>
          <p:spPr>
            <a:xfrm rot="19703276">
              <a:off x="7592981" y="3291289"/>
              <a:ext cx="1519955" cy="807250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CC83D925-9E13-EB15-EC28-EC0B93CEF1E0}"/>
                </a:ext>
              </a:extLst>
            </p:cNvPr>
            <p:cNvSpPr/>
            <p:nvPr/>
          </p:nvSpPr>
          <p:spPr>
            <a:xfrm>
              <a:off x="5287557" y="3598660"/>
              <a:ext cx="868680" cy="673497"/>
            </a:xfrm>
            <a:prstGeom prst="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1FDF1CDD-EE54-EDC0-538D-2779AC906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7636" y="2588061"/>
            <a:ext cx="3858775" cy="29491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38553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A1AC8-0FEB-6A76-3AE6-96B28307C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4BD09-BC76-DEF7-989C-2ABF5F7E2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Literature Review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63957-6555-1DC8-8A00-01BDDAB90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7C5B7-4FBD-7903-5C39-00BFBB364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5CF22-B64A-69E7-CD88-6BC089FD4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52BB4C-34E4-4B5F-E898-BA9DDA6D6F5E}"/>
              </a:ext>
            </a:extLst>
          </p:cNvPr>
          <p:cNvSpPr txBox="1"/>
          <p:nvPr/>
        </p:nvSpPr>
        <p:spPr>
          <a:xfrm>
            <a:off x="415505" y="778013"/>
            <a:ext cx="1161834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Motivation:</a:t>
            </a:r>
          </a:p>
          <a:p>
            <a:r>
              <a:rPr lang="en-US" sz="1600" dirty="0"/>
              <a:t>0. Scenario design is a key part of robustness frameworks and influences results.</a:t>
            </a:r>
          </a:p>
          <a:p>
            <a:endParaRPr lang="en-US" sz="1600" dirty="0"/>
          </a:p>
          <a:p>
            <a:r>
              <a:rPr lang="en-US" sz="1600" dirty="0"/>
              <a:t>1. Large stochastic ensembles of streamflows are necessary for capturing the full range of hydrologic conditions resulting from natural variability.</a:t>
            </a:r>
          </a:p>
          <a:p>
            <a:endParaRPr lang="en-US" sz="1600" dirty="0"/>
          </a:p>
          <a:p>
            <a:r>
              <a:rPr lang="en-US" sz="1600" dirty="0"/>
              <a:t>2. Large stochastic ensembles of streamflows are necessary for capturing the full range of hydrologic conditions resulting from natural variability.</a:t>
            </a:r>
          </a:p>
          <a:p>
            <a:endParaRPr lang="en-US" sz="1600" dirty="0"/>
          </a:p>
          <a:p>
            <a:r>
              <a:rPr lang="en-US" sz="1600" dirty="0"/>
              <a:t>3. When using long stochastic sequences much of the simulation period may be low-stress and require simulation/compute time that is not contributing meaningfully to improving solutions.</a:t>
            </a:r>
          </a:p>
          <a:p>
            <a:endParaRPr lang="en-US" sz="1600" dirty="0"/>
          </a:p>
          <a:p>
            <a:endParaRPr lang="en-US" sz="1600" dirty="0"/>
          </a:p>
          <a:p>
            <a:pPr lvl="1"/>
            <a:r>
              <a:rPr lang="en-US" sz="1600" dirty="0" err="1"/>
              <a:t>Eg.</a:t>
            </a:r>
            <a:r>
              <a:rPr lang="en-US" sz="1600" dirty="0"/>
              <a:t>, in the current stochastic ensembles 84-93% of ensemble years are in Normal conditions. </a:t>
            </a:r>
          </a:p>
          <a:p>
            <a:endParaRPr lang="en-US" sz="1600" dirty="0"/>
          </a:p>
          <a:p>
            <a:r>
              <a:rPr lang="en-US" sz="1600" dirty="0"/>
              <a:t>4. There can be redundancy in streamflow scenarios resulting from sampling uncertain hydrologic drivers/forcings.</a:t>
            </a:r>
          </a:p>
          <a:p>
            <a:endParaRPr lang="en-US" sz="1600" dirty="0"/>
          </a:p>
          <a:p>
            <a:r>
              <a:rPr lang="en-US" sz="1600" dirty="0"/>
              <a:t>5. Rare, extreme drought hazard events drive the most consequential outcomes.</a:t>
            </a:r>
          </a:p>
        </p:txBody>
      </p:sp>
    </p:spTree>
    <p:extLst>
      <p:ext uri="{BB962C8B-B14F-4D97-AF65-F5344CB8AC3E}">
        <p14:creationId xmlns:p14="http://schemas.microsoft.com/office/powerpoint/2010/main" val="2022376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F62CD-DC5F-986B-E70E-4D2A933F8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02C0F-E748-609F-5B8E-63C3C2CB5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Literature Review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2189A-34CF-402B-B16F-15F70A980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D8131-AC00-CA2C-6063-7A569C7B6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68551-5586-FD47-08CA-35DBB34F0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3FE477-4ACB-31CF-0539-93408E1F6D76}"/>
              </a:ext>
            </a:extLst>
          </p:cNvPr>
          <p:cNvSpPr txBox="1"/>
          <p:nvPr/>
        </p:nvSpPr>
        <p:spPr>
          <a:xfrm>
            <a:off x="838199" y="778013"/>
            <a:ext cx="109478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Motivation:</a:t>
            </a:r>
          </a:p>
          <a:p>
            <a:endParaRPr lang="en-US" sz="2000" dirty="0"/>
          </a:p>
          <a:p>
            <a:r>
              <a:rPr lang="en-US" sz="2000" dirty="0"/>
              <a:t>6. There is interest in finding efficient subsamples of the scenario space that produce more robust solutions.</a:t>
            </a:r>
          </a:p>
          <a:p>
            <a:endParaRPr lang="en-US" sz="200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7B9B7CB-03BF-78AD-A868-9E553CED4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845767"/>
              </p:ext>
            </p:extLst>
          </p:nvPr>
        </p:nvGraphicFramePr>
        <p:xfrm>
          <a:off x="548640" y="2442410"/>
          <a:ext cx="11109960" cy="336499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r>
                        <a:rPr sz="1800" b="1" i="0" dirty="0">
                          <a:solidFill>
                            <a:srgbClr val="212529"/>
                          </a:solidFill>
                          <a:latin typeface="Calibri"/>
                        </a:rPr>
                        <a:t>Antecedent</a:t>
                      </a:r>
                    </a:p>
                  </a:txBody>
                  <a:tcPr marL="73152" marR="73152" marT="27432" marB="27432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212529"/>
                          </a:solidFill>
                          <a:latin typeface="Calibri"/>
                        </a:rPr>
                        <a:t>Established</a:t>
                      </a:r>
                    </a:p>
                  </a:txBody>
                  <a:tcPr marL="73152" marR="73152" marT="27432" marB="27432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dirty="0">
                          <a:solidFill>
                            <a:srgbClr val="212529"/>
                          </a:solidFill>
                          <a:latin typeface="Calibri"/>
                        </a:rPr>
                        <a:t>Limitations</a:t>
                      </a:r>
                      <a:endParaRPr sz="1800" b="1" i="0" dirty="0">
                        <a:solidFill>
                          <a:srgbClr val="212529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E9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Cohen et al. 2021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training-scenario properties drive out-of-sample robustness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Requires 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problem-driven regret selection; a 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preliminary 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perfect-foresight 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MOEA 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run 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for each 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212529"/>
                          </a:solidFill>
                          <a:latin typeface="Calibri"/>
                        </a:rPr>
                        <a:t>Zaniolo et al. 2023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drought-type training ensembles change the policies found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Hazard metrics 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imposed 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a priori before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 generation; 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hazards aren’t emergent</a:t>
                      </a:r>
                      <a:endParaRPr sz="1800" b="0" i="0" dirty="0">
                        <a:solidFill>
                          <a:srgbClr val="212529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212529"/>
                          </a:solidFill>
                          <a:latin typeface="Calibri"/>
                        </a:rPr>
                        <a:t>Zatarain Salazar et al. 2017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search-ensemble size vs fidelity vs cost tradeoff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s</a:t>
                      </a:r>
                      <a:endParaRPr sz="1800" b="0" i="0" dirty="0">
                        <a:solidFill>
                          <a:srgbClr val="212529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Scenario selection relies on 1-dimensional aggregate mean 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flow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 CDF sampling</a:t>
                      </a:r>
                      <a:endParaRPr sz="1800" b="0" i="0" dirty="0">
                        <a:solidFill>
                          <a:srgbClr val="212529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Bonham et al. 2024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space-filling subsampling + coverage metrics in water resources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P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ost-hoc robustness ranking, not the search ensemble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169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57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39345-89DB-2D80-F7BB-B4447B976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5DC44-394C-7C8B-4EE5-FA6A75CA4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Literature Review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48F92-4650-1A4C-6D98-D0612A5B6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0353A-EBDC-9A93-6495-52A2F707D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DF262-09AA-912A-D2BD-DFFFD5961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11</a:t>
            </a:fld>
            <a:endParaRPr lang="en-US"/>
          </a:p>
        </p:txBody>
      </p:sp>
      <p:cxnSp>
        <p:nvCxnSpPr>
          <p:cNvPr id="3" name="Connector 4">
            <a:extLst>
              <a:ext uri="{FF2B5EF4-FFF2-40B4-BE49-F238E27FC236}">
                <a16:creationId xmlns:a16="http://schemas.microsoft.com/office/drawing/2014/main" id="{2186EA27-3F7D-C65E-AE69-FB1BBF6065FC}"/>
              </a:ext>
            </a:extLst>
          </p:cNvPr>
          <p:cNvCxnSpPr/>
          <p:nvPr/>
        </p:nvCxnSpPr>
        <p:spPr>
          <a:xfrm>
            <a:off x="777240" y="3474720"/>
            <a:ext cx="2148840" cy="0"/>
          </a:xfrm>
          <a:prstGeom prst="line">
            <a:avLst/>
          </a:prstGeom>
          <a:ln w="15240">
            <a:solidFill>
              <a:srgbClr val="9AA4A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5">
            <a:extLst>
              <a:ext uri="{FF2B5EF4-FFF2-40B4-BE49-F238E27FC236}">
                <a16:creationId xmlns:a16="http://schemas.microsoft.com/office/drawing/2014/main" id="{4614492A-5FE8-4CC6-C03E-E3E1CAEAB2E3}"/>
              </a:ext>
            </a:extLst>
          </p:cNvPr>
          <p:cNvCxnSpPr/>
          <p:nvPr/>
        </p:nvCxnSpPr>
        <p:spPr>
          <a:xfrm flipV="1">
            <a:off x="777240" y="2148840"/>
            <a:ext cx="0" cy="1325880"/>
          </a:xfrm>
          <a:prstGeom prst="line">
            <a:avLst/>
          </a:prstGeom>
          <a:ln w="15240">
            <a:solidFill>
              <a:srgbClr val="9AA4A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6">
            <a:extLst>
              <a:ext uri="{FF2B5EF4-FFF2-40B4-BE49-F238E27FC236}">
                <a16:creationId xmlns:a16="http://schemas.microsoft.com/office/drawing/2014/main" id="{B79838F9-331D-C74C-0D97-01A4B168850E}"/>
              </a:ext>
            </a:extLst>
          </p:cNvPr>
          <p:cNvCxnSpPr/>
          <p:nvPr/>
        </p:nvCxnSpPr>
        <p:spPr>
          <a:xfrm flipV="1">
            <a:off x="820216" y="2414016"/>
            <a:ext cx="343815" cy="464058"/>
          </a:xfrm>
          <a:prstGeom prst="line">
            <a:avLst/>
          </a:prstGeom>
          <a:ln w="22225">
            <a:solidFill>
              <a:srgbClr val="2E5E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7">
            <a:extLst>
              <a:ext uri="{FF2B5EF4-FFF2-40B4-BE49-F238E27FC236}">
                <a16:creationId xmlns:a16="http://schemas.microsoft.com/office/drawing/2014/main" id="{3F12E15C-5CC1-3442-ECBF-EA33DAFAE4CB}"/>
              </a:ext>
            </a:extLst>
          </p:cNvPr>
          <p:cNvCxnSpPr/>
          <p:nvPr/>
        </p:nvCxnSpPr>
        <p:spPr>
          <a:xfrm>
            <a:off x="1164031" y="2414016"/>
            <a:ext cx="300837" cy="596646"/>
          </a:xfrm>
          <a:prstGeom prst="line">
            <a:avLst/>
          </a:prstGeom>
          <a:ln w="22225">
            <a:solidFill>
              <a:srgbClr val="2E5E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8">
            <a:extLst>
              <a:ext uri="{FF2B5EF4-FFF2-40B4-BE49-F238E27FC236}">
                <a16:creationId xmlns:a16="http://schemas.microsoft.com/office/drawing/2014/main" id="{EC530929-1CE6-BD3D-890A-B8A9EEC0EC01}"/>
              </a:ext>
            </a:extLst>
          </p:cNvPr>
          <p:cNvCxnSpPr/>
          <p:nvPr/>
        </p:nvCxnSpPr>
        <p:spPr>
          <a:xfrm flipV="1">
            <a:off x="1464868" y="2281428"/>
            <a:ext cx="386792" cy="729234"/>
          </a:xfrm>
          <a:prstGeom prst="line">
            <a:avLst/>
          </a:prstGeom>
          <a:ln w="22225">
            <a:solidFill>
              <a:srgbClr val="2E5E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9">
            <a:extLst>
              <a:ext uri="{FF2B5EF4-FFF2-40B4-BE49-F238E27FC236}">
                <a16:creationId xmlns:a16="http://schemas.microsoft.com/office/drawing/2014/main" id="{9FF3326D-12F3-3B85-832F-950873893E5F}"/>
              </a:ext>
            </a:extLst>
          </p:cNvPr>
          <p:cNvCxnSpPr/>
          <p:nvPr/>
        </p:nvCxnSpPr>
        <p:spPr>
          <a:xfrm>
            <a:off x="1851660" y="2281428"/>
            <a:ext cx="279349" cy="530352"/>
          </a:xfrm>
          <a:prstGeom prst="line">
            <a:avLst/>
          </a:prstGeom>
          <a:ln w="22225">
            <a:solidFill>
              <a:srgbClr val="2E5E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10">
            <a:extLst>
              <a:ext uri="{FF2B5EF4-FFF2-40B4-BE49-F238E27FC236}">
                <a16:creationId xmlns:a16="http://schemas.microsoft.com/office/drawing/2014/main" id="{A942DB04-4B1C-D347-5325-047D91EB5674}"/>
              </a:ext>
            </a:extLst>
          </p:cNvPr>
          <p:cNvCxnSpPr/>
          <p:nvPr/>
        </p:nvCxnSpPr>
        <p:spPr>
          <a:xfrm flipV="1">
            <a:off x="2131009" y="2546604"/>
            <a:ext cx="365303" cy="265176"/>
          </a:xfrm>
          <a:prstGeom prst="line">
            <a:avLst/>
          </a:prstGeom>
          <a:ln w="22225">
            <a:solidFill>
              <a:srgbClr val="2E5E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11">
            <a:extLst>
              <a:ext uri="{FF2B5EF4-FFF2-40B4-BE49-F238E27FC236}">
                <a16:creationId xmlns:a16="http://schemas.microsoft.com/office/drawing/2014/main" id="{2CF7F91F-8524-76CB-6D42-32D6705CF64D}"/>
              </a:ext>
            </a:extLst>
          </p:cNvPr>
          <p:cNvCxnSpPr/>
          <p:nvPr/>
        </p:nvCxnSpPr>
        <p:spPr>
          <a:xfrm>
            <a:off x="2496312" y="2546604"/>
            <a:ext cx="365302" cy="397764"/>
          </a:xfrm>
          <a:prstGeom prst="line">
            <a:avLst/>
          </a:prstGeom>
          <a:ln w="22225">
            <a:solidFill>
              <a:srgbClr val="2E5E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12">
            <a:extLst>
              <a:ext uri="{FF2B5EF4-FFF2-40B4-BE49-F238E27FC236}">
                <a16:creationId xmlns:a16="http://schemas.microsoft.com/office/drawing/2014/main" id="{9E8BE119-2FE6-4811-886C-BDAF3B164ADB}"/>
              </a:ext>
            </a:extLst>
          </p:cNvPr>
          <p:cNvCxnSpPr/>
          <p:nvPr/>
        </p:nvCxnSpPr>
        <p:spPr>
          <a:xfrm>
            <a:off x="3657600" y="3474720"/>
            <a:ext cx="2148840" cy="0"/>
          </a:xfrm>
          <a:prstGeom prst="line">
            <a:avLst/>
          </a:prstGeom>
          <a:ln w="15240">
            <a:solidFill>
              <a:srgbClr val="9AA4A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13">
            <a:extLst>
              <a:ext uri="{FF2B5EF4-FFF2-40B4-BE49-F238E27FC236}">
                <a16:creationId xmlns:a16="http://schemas.microsoft.com/office/drawing/2014/main" id="{D82F6433-495D-D24B-F667-38A15CFE2826}"/>
              </a:ext>
            </a:extLst>
          </p:cNvPr>
          <p:cNvCxnSpPr/>
          <p:nvPr/>
        </p:nvCxnSpPr>
        <p:spPr>
          <a:xfrm flipV="1">
            <a:off x="3657600" y="2148840"/>
            <a:ext cx="0" cy="1325880"/>
          </a:xfrm>
          <a:prstGeom prst="line">
            <a:avLst/>
          </a:prstGeom>
          <a:ln w="15240">
            <a:solidFill>
              <a:srgbClr val="9AA4A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40">
            <a:extLst>
              <a:ext uri="{FF2B5EF4-FFF2-40B4-BE49-F238E27FC236}">
                <a16:creationId xmlns:a16="http://schemas.microsoft.com/office/drawing/2014/main" id="{DD07291D-8D0A-5EAA-21A6-3B8C1926E9B9}"/>
              </a:ext>
            </a:extLst>
          </p:cNvPr>
          <p:cNvCxnSpPr/>
          <p:nvPr/>
        </p:nvCxnSpPr>
        <p:spPr>
          <a:xfrm>
            <a:off x="6537960" y="3474720"/>
            <a:ext cx="2148840" cy="0"/>
          </a:xfrm>
          <a:prstGeom prst="line">
            <a:avLst/>
          </a:prstGeom>
          <a:ln w="15240">
            <a:solidFill>
              <a:srgbClr val="9AA4A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41">
            <a:extLst>
              <a:ext uri="{FF2B5EF4-FFF2-40B4-BE49-F238E27FC236}">
                <a16:creationId xmlns:a16="http://schemas.microsoft.com/office/drawing/2014/main" id="{F8F3BCD6-2C9D-AA48-CD4A-1131C65BDBE7}"/>
              </a:ext>
            </a:extLst>
          </p:cNvPr>
          <p:cNvCxnSpPr/>
          <p:nvPr/>
        </p:nvCxnSpPr>
        <p:spPr>
          <a:xfrm flipV="1">
            <a:off x="6537960" y="2148840"/>
            <a:ext cx="0" cy="1325880"/>
          </a:xfrm>
          <a:prstGeom prst="line">
            <a:avLst/>
          </a:prstGeom>
          <a:ln w="15240">
            <a:solidFill>
              <a:srgbClr val="9AA4A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DC070CE8-724B-9410-84D6-1B1E6040D044}"/>
              </a:ext>
            </a:extLst>
          </p:cNvPr>
          <p:cNvSpPr/>
          <p:nvPr/>
        </p:nvSpPr>
        <p:spPr>
          <a:xfrm>
            <a:off x="6739128" y="227685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3DDBB4D7-1625-7A28-8CE3-A4BE5CE9285C}"/>
              </a:ext>
            </a:extLst>
          </p:cNvPr>
          <p:cNvSpPr/>
          <p:nvPr/>
        </p:nvSpPr>
        <p:spPr>
          <a:xfrm>
            <a:off x="6739128" y="271119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89996BF8-A271-9143-3A43-80B57757FAA0}"/>
              </a:ext>
            </a:extLst>
          </p:cNvPr>
          <p:cNvSpPr/>
          <p:nvPr/>
        </p:nvSpPr>
        <p:spPr>
          <a:xfrm>
            <a:off x="6739128" y="314553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9C32A490-D2E6-A8CD-AC1B-8F6EFEA2C889}"/>
              </a:ext>
            </a:extLst>
          </p:cNvPr>
          <p:cNvSpPr/>
          <p:nvPr/>
        </p:nvSpPr>
        <p:spPr>
          <a:xfrm>
            <a:off x="7150608" y="227685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265B47D5-8439-2184-5E25-E8E3521D13EA}"/>
              </a:ext>
            </a:extLst>
          </p:cNvPr>
          <p:cNvSpPr/>
          <p:nvPr/>
        </p:nvSpPr>
        <p:spPr>
          <a:xfrm>
            <a:off x="7150608" y="271119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65F34F0-8A9B-B070-F076-C9E9997187F9}"/>
              </a:ext>
            </a:extLst>
          </p:cNvPr>
          <p:cNvSpPr/>
          <p:nvPr/>
        </p:nvSpPr>
        <p:spPr>
          <a:xfrm>
            <a:off x="7150608" y="314553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DB7BC625-1F3B-EE00-6211-00E7F1953485}"/>
              </a:ext>
            </a:extLst>
          </p:cNvPr>
          <p:cNvSpPr/>
          <p:nvPr/>
        </p:nvSpPr>
        <p:spPr>
          <a:xfrm>
            <a:off x="7562088" y="227685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C967DEEC-DC2F-1C78-D749-C3BFFB74D113}"/>
              </a:ext>
            </a:extLst>
          </p:cNvPr>
          <p:cNvSpPr/>
          <p:nvPr/>
        </p:nvSpPr>
        <p:spPr>
          <a:xfrm>
            <a:off x="7562088" y="271119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3D6871F1-71E0-B059-23A5-1F9AD7EDD411}"/>
              </a:ext>
            </a:extLst>
          </p:cNvPr>
          <p:cNvSpPr/>
          <p:nvPr/>
        </p:nvSpPr>
        <p:spPr>
          <a:xfrm>
            <a:off x="7562088" y="314553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6D9FE38-C905-4DB5-4A0F-C12C24810C1A}"/>
              </a:ext>
            </a:extLst>
          </p:cNvPr>
          <p:cNvSpPr/>
          <p:nvPr/>
        </p:nvSpPr>
        <p:spPr>
          <a:xfrm>
            <a:off x="7973568" y="227685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C43BE52E-B979-F4A1-CF89-518629E222E5}"/>
              </a:ext>
            </a:extLst>
          </p:cNvPr>
          <p:cNvSpPr/>
          <p:nvPr/>
        </p:nvSpPr>
        <p:spPr>
          <a:xfrm>
            <a:off x="7973568" y="271119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C8769CCA-ED7D-336A-72B0-DED07EE88926}"/>
              </a:ext>
            </a:extLst>
          </p:cNvPr>
          <p:cNvSpPr/>
          <p:nvPr/>
        </p:nvSpPr>
        <p:spPr>
          <a:xfrm>
            <a:off x="7973568" y="314553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F486D9E0-8A01-F8F3-FD81-F19BF8551DFE}"/>
              </a:ext>
            </a:extLst>
          </p:cNvPr>
          <p:cNvSpPr/>
          <p:nvPr/>
        </p:nvSpPr>
        <p:spPr>
          <a:xfrm>
            <a:off x="8385048" y="227685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C65865CE-2628-C074-95B6-81CF82B92504}"/>
              </a:ext>
            </a:extLst>
          </p:cNvPr>
          <p:cNvSpPr/>
          <p:nvPr/>
        </p:nvSpPr>
        <p:spPr>
          <a:xfrm>
            <a:off x="8385048" y="271119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BD8705B4-3259-D9C5-E2D2-79E25885463D}"/>
              </a:ext>
            </a:extLst>
          </p:cNvPr>
          <p:cNvSpPr/>
          <p:nvPr/>
        </p:nvSpPr>
        <p:spPr>
          <a:xfrm>
            <a:off x="8385048" y="3145536"/>
            <a:ext cx="82296" cy="82296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7" name="Connector 57">
            <a:extLst>
              <a:ext uri="{FF2B5EF4-FFF2-40B4-BE49-F238E27FC236}">
                <a16:creationId xmlns:a16="http://schemas.microsoft.com/office/drawing/2014/main" id="{396BEB36-1E4B-551F-7067-4BF1D85D9BEF}"/>
              </a:ext>
            </a:extLst>
          </p:cNvPr>
          <p:cNvCxnSpPr/>
          <p:nvPr/>
        </p:nvCxnSpPr>
        <p:spPr>
          <a:xfrm>
            <a:off x="9418320" y="3474720"/>
            <a:ext cx="2148840" cy="0"/>
          </a:xfrm>
          <a:prstGeom prst="line">
            <a:avLst/>
          </a:prstGeom>
          <a:ln w="15240">
            <a:solidFill>
              <a:srgbClr val="9AA4A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58">
            <a:extLst>
              <a:ext uri="{FF2B5EF4-FFF2-40B4-BE49-F238E27FC236}">
                <a16:creationId xmlns:a16="http://schemas.microsoft.com/office/drawing/2014/main" id="{22D923D8-2A08-16D9-9FF3-60FE01A47422}"/>
              </a:ext>
            </a:extLst>
          </p:cNvPr>
          <p:cNvCxnSpPr/>
          <p:nvPr/>
        </p:nvCxnSpPr>
        <p:spPr>
          <a:xfrm flipV="1">
            <a:off x="9418320" y="2148840"/>
            <a:ext cx="0" cy="1325880"/>
          </a:xfrm>
          <a:prstGeom prst="line">
            <a:avLst/>
          </a:prstGeom>
          <a:ln w="15240">
            <a:solidFill>
              <a:srgbClr val="9AA4A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>
            <a:extLst>
              <a:ext uri="{FF2B5EF4-FFF2-40B4-BE49-F238E27FC236}">
                <a16:creationId xmlns:a16="http://schemas.microsoft.com/office/drawing/2014/main" id="{22601FCA-94BB-1E3D-EED5-8BA215B05025}"/>
              </a:ext>
            </a:extLst>
          </p:cNvPr>
          <p:cNvSpPr/>
          <p:nvPr/>
        </p:nvSpPr>
        <p:spPr>
          <a:xfrm>
            <a:off x="9772650" y="2457450"/>
            <a:ext cx="73152" cy="7315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B78A65A0-DA81-33A9-856C-4F57DDE23F20}"/>
              </a:ext>
            </a:extLst>
          </p:cNvPr>
          <p:cNvSpPr/>
          <p:nvPr/>
        </p:nvSpPr>
        <p:spPr>
          <a:xfrm>
            <a:off x="10147554" y="2825496"/>
            <a:ext cx="73152" cy="7315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6A7F62D-EB7F-B40B-008F-623767B04C14}"/>
              </a:ext>
            </a:extLst>
          </p:cNvPr>
          <p:cNvSpPr/>
          <p:nvPr/>
        </p:nvSpPr>
        <p:spPr>
          <a:xfrm>
            <a:off x="10428732" y="2404872"/>
            <a:ext cx="73152" cy="7315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520EFB3D-F53A-E3D2-88DF-9C56635BEDC9}"/>
              </a:ext>
            </a:extLst>
          </p:cNvPr>
          <p:cNvSpPr/>
          <p:nvPr/>
        </p:nvSpPr>
        <p:spPr>
          <a:xfrm>
            <a:off x="10653674" y="2983229"/>
            <a:ext cx="109728" cy="109728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96C8AE7-447A-EBD8-FAAA-B8599760F357}"/>
              </a:ext>
            </a:extLst>
          </p:cNvPr>
          <p:cNvSpPr/>
          <p:nvPr/>
        </p:nvSpPr>
        <p:spPr>
          <a:xfrm>
            <a:off x="10991088" y="2615184"/>
            <a:ext cx="73152" cy="7315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35A4A1BD-8D8F-E094-BB58-601124421A38}"/>
              </a:ext>
            </a:extLst>
          </p:cNvPr>
          <p:cNvSpPr/>
          <p:nvPr/>
        </p:nvSpPr>
        <p:spPr>
          <a:xfrm>
            <a:off x="9960102" y="3035808"/>
            <a:ext cx="73152" cy="7315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3E7F48DC-D3D5-93E4-0FC6-7CBF33474552}"/>
              </a:ext>
            </a:extLst>
          </p:cNvPr>
          <p:cNvSpPr/>
          <p:nvPr/>
        </p:nvSpPr>
        <p:spPr>
          <a:xfrm>
            <a:off x="10803636" y="2299715"/>
            <a:ext cx="109728" cy="109728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EC7DD367-7345-EFC7-75DA-A8380553BFF5}"/>
              </a:ext>
            </a:extLst>
          </p:cNvPr>
          <p:cNvSpPr/>
          <p:nvPr/>
        </p:nvSpPr>
        <p:spPr>
          <a:xfrm>
            <a:off x="11178540" y="2878074"/>
            <a:ext cx="73152" cy="7315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685546D7-2958-BDCF-84E6-B0C14B2F698C}"/>
              </a:ext>
            </a:extLst>
          </p:cNvPr>
          <p:cNvSpPr/>
          <p:nvPr/>
        </p:nvSpPr>
        <p:spPr>
          <a:xfrm>
            <a:off x="10335006" y="2667762"/>
            <a:ext cx="73152" cy="73152"/>
          </a:xfrm>
          <a:prstGeom prst="ellipse">
            <a:avLst/>
          </a:prstGeom>
          <a:solidFill>
            <a:srgbClr val="9A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48F01634-4849-FE77-27DD-3E8B5B6A5574}"/>
              </a:ext>
            </a:extLst>
          </p:cNvPr>
          <p:cNvSpPr/>
          <p:nvPr/>
        </p:nvSpPr>
        <p:spPr>
          <a:xfrm>
            <a:off x="11084814" y="3140963"/>
            <a:ext cx="109728" cy="109728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E697743-9DE9-D5DE-923F-E18D0F48A2C9}"/>
              </a:ext>
            </a:extLst>
          </p:cNvPr>
          <p:cNvSpPr txBox="1"/>
          <p:nvPr/>
        </p:nvSpPr>
        <p:spPr>
          <a:xfrm>
            <a:off x="548640" y="4089054"/>
            <a:ext cx="2651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212529"/>
                </a:solidFill>
                <a:latin typeface="Calibri"/>
              </a:rPr>
              <a:t>I. </a:t>
            </a:r>
            <a:r>
              <a:rPr lang="en-US" sz="1800" b="1" i="0" dirty="0">
                <a:solidFill>
                  <a:srgbClr val="212529"/>
                </a:solidFill>
                <a:latin typeface="Calibri"/>
              </a:rPr>
              <a:t>Trace</a:t>
            </a:r>
            <a:r>
              <a:rPr sz="1800" b="1" i="0" dirty="0">
                <a:solidFill>
                  <a:srgbClr val="212529"/>
                </a:solidFill>
                <a:latin typeface="Calibri"/>
              </a:rPr>
              <a:t>-based</a:t>
            </a:r>
          </a:p>
          <a:p>
            <a:pPr algn="ctr"/>
            <a:r>
              <a:rPr lang="en-US" sz="1800" b="0" i="0" dirty="0">
                <a:solidFill>
                  <a:srgbClr val="5F6B7A"/>
                </a:solidFill>
                <a:latin typeface="Calibri"/>
              </a:rPr>
              <a:t>Historic series, </a:t>
            </a:r>
            <a:r>
              <a:rPr sz="1800" b="0" i="0" dirty="0">
                <a:solidFill>
                  <a:srgbClr val="5F6B7A"/>
                </a:solidFill>
                <a:latin typeface="Calibri"/>
              </a:rPr>
              <a:t>single traces, design event</a:t>
            </a:r>
            <a:r>
              <a:rPr lang="en-US" sz="1800" b="0" i="0" dirty="0">
                <a:solidFill>
                  <a:srgbClr val="5F6B7A"/>
                </a:solidFill>
                <a:latin typeface="Calibri"/>
              </a:rPr>
              <a:t>s</a:t>
            </a:r>
            <a:endParaRPr sz="1800" b="0" i="0" dirty="0">
              <a:solidFill>
                <a:srgbClr val="5F6B7A"/>
              </a:solidFill>
              <a:latin typeface="Calibri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CCD0793-1595-43FB-7E29-CEE656F9329C}"/>
              </a:ext>
            </a:extLst>
          </p:cNvPr>
          <p:cNvSpPr txBox="1"/>
          <p:nvPr/>
        </p:nvSpPr>
        <p:spPr>
          <a:xfrm>
            <a:off x="3429000" y="4089054"/>
            <a:ext cx="2651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212529"/>
                </a:solidFill>
                <a:latin typeface="Calibri"/>
              </a:rPr>
              <a:t>II. Distribution-driven</a:t>
            </a:r>
          </a:p>
          <a:p>
            <a:pPr algn="ctr"/>
            <a:r>
              <a:rPr sz="1800" b="0" i="0" dirty="0">
                <a:solidFill>
                  <a:srgbClr val="5F6B7A"/>
                </a:solidFill>
                <a:latin typeface="Calibri"/>
              </a:rPr>
              <a:t>sample an assumed distribution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11B95FF-739E-649C-E817-968AD31FDA6A}"/>
              </a:ext>
            </a:extLst>
          </p:cNvPr>
          <p:cNvSpPr txBox="1"/>
          <p:nvPr/>
        </p:nvSpPr>
        <p:spPr>
          <a:xfrm>
            <a:off x="6309360" y="4089054"/>
            <a:ext cx="2651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212529"/>
                </a:solidFill>
                <a:latin typeface="Calibri"/>
              </a:rPr>
              <a:t>III. Bottom-up coverage</a:t>
            </a:r>
          </a:p>
          <a:p>
            <a:pPr algn="ctr"/>
            <a:r>
              <a:rPr sz="1800" b="0" i="0" dirty="0">
                <a:solidFill>
                  <a:srgbClr val="5F6B7A"/>
                </a:solidFill>
                <a:latin typeface="Calibri"/>
              </a:rPr>
              <a:t>span a</a:t>
            </a:r>
            <a:r>
              <a:rPr lang="en-US" dirty="0">
                <a:solidFill>
                  <a:srgbClr val="5F6B7A"/>
                </a:solidFill>
                <a:latin typeface="Calibri"/>
              </a:rPr>
              <a:t> deeply uncertain parameter </a:t>
            </a:r>
            <a:r>
              <a:rPr sz="1800" b="0" i="0" dirty="0">
                <a:solidFill>
                  <a:srgbClr val="5F6B7A"/>
                </a:solidFill>
                <a:latin typeface="Calibri"/>
              </a:rPr>
              <a:t>space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DD1C088-5F60-F8A7-05F9-BCFDD058DEB9}"/>
              </a:ext>
            </a:extLst>
          </p:cNvPr>
          <p:cNvSpPr txBox="1"/>
          <p:nvPr/>
        </p:nvSpPr>
        <p:spPr>
          <a:xfrm>
            <a:off x="9189720" y="4089054"/>
            <a:ext cx="2651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212529"/>
                </a:solidFill>
                <a:latin typeface="Calibri"/>
              </a:rPr>
              <a:t>IV. Problem-driven</a:t>
            </a:r>
          </a:p>
          <a:p>
            <a:pPr algn="ctr"/>
            <a:r>
              <a:rPr sz="1800" b="0" i="0" dirty="0">
                <a:solidFill>
                  <a:srgbClr val="5F6B7A"/>
                </a:solidFill>
                <a:latin typeface="Calibri"/>
              </a:rPr>
              <a:t>select by decision relevance</a:t>
            </a:r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AC472536-16B0-A63C-0321-FAD137F323F9}"/>
              </a:ext>
            </a:extLst>
          </p:cNvPr>
          <p:cNvSpPr/>
          <p:nvPr/>
        </p:nvSpPr>
        <p:spPr>
          <a:xfrm>
            <a:off x="3688461" y="2346066"/>
            <a:ext cx="1714500" cy="1082934"/>
          </a:xfrm>
          <a:custGeom>
            <a:avLst/>
            <a:gdLst>
              <a:gd name="csX0" fmla="*/ 0 w 1714500"/>
              <a:gd name="csY0" fmla="*/ 1005198 h 1060797"/>
              <a:gd name="csX1" fmla="*/ 162427 w 1714500"/>
              <a:gd name="csY1" fmla="*/ 572061 h 1060797"/>
              <a:gd name="csX2" fmla="*/ 499311 w 1714500"/>
              <a:gd name="csY2" fmla="*/ 561 h 1060797"/>
              <a:gd name="csX3" fmla="*/ 878306 w 1714500"/>
              <a:gd name="csY3" fmla="*/ 680345 h 1060797"/>
              <a:gd name="csX4" fmla="*/ 1269332 w 1714500"/>
              <a:gd name="csY4" fmla="*/ 1011214 h 1060797"/>
              <a:gd name="csX5" fmla="*/ 1714500 w 1714500"/>
              <a:gd name="csY5" fmla="*/ 1053324 h 1060797"/>
              <a:gd name="csX0" fmla="*/ 0 w 1714500"/>
              <a:gd name="csY0" fmla="*/ 1004726 h 1060325"/>
              <a:gd name="csX1" fmla="*/ 162427 w 1714500"/>
              <a:gd name="csY1" fmla="*/ 571589 h 1060325"/>
              <a:gd name="csX2" fmla="*/ 499311 w 1714500"/>
              <a:gd name="csY2" fmla="*/ 89 h 1060325"/>
              <a:gd name="csX3" fmla="*/ 872290 w 1714500"/>
              <a:gd name="csY3" fmla="*/ 613700 h 1060325"/>
              <a:gd name="csX4" fmla="*/ 1269332 w 1714500"/>
              <a:gd name="csY4" fmla="*/ 1010742 h 1060325"/>
              <a:gd name="csX5" fmla="*/ 1714500 w 1714500"/>
              <a:gd name="csY5" fmla="*/ 1052852 h 1060325"/>
              <a:gd name="csX0" fmla="*/ 0 w 1714500"/>
              <a:gd name="csY0" fmla="*/ 1004737 h 1060336"/>
              <a:gd name="csX1" fmla="*/ 162427 w 1714500"/>
              <a:gd name="csY1" fmla="*/ 571600 h 1060336"/>
              <a:gd name="csX2" fmla="*/ 499311 w 1714500"/>
              <a:gd name="csY2" fmla="*/ 100 h 1060336"/>
              <a:gd name="csX3" fmla="*/ 872290 w 1714500"/>
              <a:gd name="csY3" fmla="*/ 613711 h 1060336"/>
              <a:gd name="csX4" fmla="*/ 1269332 w 1714500"/>
              <a:gd name="csY4" fmla="*/ 1010753 h 1060336"/>
              <a:gd name="csX5" fmla="*/ 1714500 w 1714500"/>
              <a:gd name="csY5" fmla="*/ 1052863 h 1060336"/>
              <a:gd name="csX0" fmla="*/ 0 w 1714500"/>
              <a:gd name="csY0" fmla="*/ 1082934 h 1082934"/>
              <a:gd name="csX1" fmla="*/ 162427 w 1714500"/>
              <a:gd name="csY1" fmla="*/ 571592 h 1082934"/>
              <a:gd name="csX2" fmla="*/ 499311 w 1714500"/>
              <a:gd name="csY2" fmla="*/ 92 h 1082934"/>
              <a:gd name="csX3" fmla="*/ 872290 w 1714500"/>
              <a:gd name="csY3" fmla="*/ 613703 h 1082934"/>
              <a:gd name="csX4" fmla="*/ 1269332 w 1714500"/>
              <a:gd name="csY4" fmla="*/ 1010745 h 1082934"/>
              <a:gd name="csX5" fmla="*/ 1714500 w 1714500"/>
              <a:gd name="csY5" fmla="*/ 1052855 h 10829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714500" h="1082934">
                <a:moveTo>
                  <a:pt x="0" y="1082934"/>
                </a:moveTo>
                <a:cubicBezTo>
                  <a:pt x="39604" y="950085"/>
                  <a:pt x="79209" y="752065"/>
                  <a:pt x="162427" y="571592"/>
                </a:cubicBezTo>
                <a:cubicBezTo>
                  <a:pt x="245645" y="391119"/>
                  <a:pt x="381001" y="-6926"/>
                  <a:pt x="499311" y="92"/>
                </a:cubicBezTo>
                <a:cubicBezTo>
                  <a:pt x="617621" y="7110"/>
                  <a:pt x="743953" y="445261"/>
                  <a:pt x="872290" y="613703"/>
                </a:cubicBezTo>
                <a:cubicBezTo>
                  <a:pt x="1000627" y="782145"/>
                  <a:pt x="1129966" y="948582"/>
                  <a:pt x="1269332" y="1010745"/>
                </a:cubicBezTo>
                <a:cubicBezTo>
                  <a:pt x="1408698" y="1072908"/>
                  <a:pt x="1561599" y="1062881"/>
                  <a:pt x="1714500" y="1052855"/>
                </a:cubicBezTo>
              </a:path>
            </a:pathLst>
          </a:custGeom>
          <a:noFill/>
          <a:ln w="28575">
            <a:solidFill>
              <a:srgbClr val="2E5E8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EDADC3C-E6B3-9769-280C-5421BDAEC6B5}"/>
              </a:ext>
            </a:extLst>
          </p:cNvPr>
          <p:cNvSpPr txBox="1"/>
          <p:nvPr/>
        </p:nvSpPr>
        <p:spPr>
          <a:xfrm>
            <a:off x="5119137" y="3474720"/>
            <a:ext cx="628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value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23232ABB-4AD7-52B7-E4EA-4034014328DE}"/>
              </a:ext>
            </a:extLst>
          </p:cNvPr>
          <p:cNvSpPr txBox="1"/>
          <p:nvPr/>
        </p:nvSpPr>
        <p:spPr>
          <a:xfrm>
            <a:off x="6988215" y="3429000"/>
            <a:ext cx="15574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Uncertain param A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9EFE887-9202-7D1A-84CF-9F214B82DBC8}"/>
              </a:ext>
            </a:extLst>
          </p:cNvPr>
          <p:cNvSpPr txBox="1"/>
          <p:nvPr/>
        </p:nvSpPr>
        <p:spPr>
          <a:xfrm rot="16200000">
            <a:off x="5551234" y="2639603"/>
            <a:ext cx="15510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Uncertain param B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35E74D8-63FD-52EC-8AF2-618D0D9080C8}"/>
              </a:ext>
            </a:extLst>
          </p:cNvPr>
          <p:cNvSpPr txBox="1"/>
          <p:nvPr/>
        </p:nvSpPr>
        <p:spPr>
          <a:xfrm rot="16200000">
            <a:off x="3125763" y="2339251"/>
            <a:ext cx="734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Density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D4EE4FC-D1C9-7AC9-E541-99CFAEB24957}"/>
              </a:ext>
            </a:extLst>
          </p:cNvPr>
          <p:cNvSpPr txBox="1"/>
          <p:nvPr/>
        </p:nvSpPr>
        <p:spPr>
          <a:xfrm rot="16200000">
            <a:off x="288926" y="2250983"/>
            <a:ext cx="5898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Value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EDE5A7B-70EE-C36F-C181-E95B0E9999D2}"/>
              </a:ext>
            </a:extLst>
          </p:cNvPr>
          <p:cNvSpPr txBox="1"/>
          <p:nvPr/>
        </p:nvSpPr>
        <p:spPr>
          <a:xfrm>
            <a:off x="2341083" y="3443333"/>
            <a:ext cx="5966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Time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EF1277C-D42C-D512-1BF7-46A0BEE2D7AA}"/>
              </a:ext>
            </a:extLst>
          </p:cNvPr>
          <p:cNvSpPr txBox="1"/>
          <p:nvPr/>
        </p:nvSpPr>
        <p:spPr>
          <a:xfrm>
            <a:off x="10991088" y="3474720"/>
            <a:ext cx="643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Obj A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44415F0-5221-0F39-4CA5-D04ECBE4EDC0}"/>
              </a:ext>
            </a:extLst>
          </p:cNvPr>
          <p:cNvSpPr txBox="1"/>
          <p:nvPr/>
        </p:nvSpPr>
        <p:spPr>
          <a:xfrm rot="16200000">
            <a:off x="8940638" y="2225212"/>
            <a:ext cx="5790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Obj B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7272CE6-8F0B-06AD-63CA-4411CFEE9470}"/>
              </a:ext>
            </a:extLst>
          </p:cNvPr>
          <p:cNvSpPr txBox="1"/>
          <p:nvPr/>
        </p:nvSpPr>
        <p:spPr>
          <a:xfrm>
            <a:off x="3339122" y="813875"/>
            <a:ext cx="59626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Common scenario design approaches used in the water resources optimization literature.</a:t>
            </a:r>
          </a:p>
        </p:txBody>
      </p:sp>
    </p:spTree>
    <p:extLst>
      <p:ext uri="{BB962C8B-B14F-4D97-AF65-F5344CB8AC3E}">
        <p14:creationId xmlns:p14="http://schemas.microsoft.com/office/powerpoint/2010/main" val="110717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6BA9C-1E59-3313-B49A-77F14C170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7C6D3-7663-9AA1-F5A3-5575565F9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Proposal: Hypothesis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CFF71-CC35-BD33-9815-0331B8E31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C6F51-66D6-3AE0-7E79-9D2F7853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10429-999A-C7A2-4886-32C721D8B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CCB6F5-6973-9AB2-B7DB-993ACA78E888}"/>
              </a:ext>
            </a:extLst>
          </p:cNvPr>
          <p:cNvSpPr txBox="1"/>
          <p:nvPr/>
        </p:nvSpPr>
        <p:spPr>
          <a:xfrm>
            <a:off x="838199" y="778013"/>
            <a:ext cx="41426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Idea:</a:t>
            </a:r>
          </a:p>
          <a:p>
            <a:endParaRPr lang="en-US" sz="2000" dirty="0"/>
          </a:p>
          <a:p>
            <a:r>
              <a:rPr lang="en-US" sz="2000" dirty="0"/>
              <a:t>Create a space-filling sample of the hazard space, evaluate candidate policies using this deeply uncertain </a:t>
            </a:r>
            <a:r>
              <a:rPr lang="en-US" sz="2000" i="1" dirty="0"/>
              <a:t>hazard </a:t>
            </a:r>
            <a:r>
              <a:rPr lang="en-US" sz="2000" dirty="0"/>
              <a:t>space.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00097B9-654E-6616-C5C6-147E9964DA21}"/>
              </a:ext>
            </a:extLst>
          </p:cNvPr>
          <p:cNvCxnSpPr>
            <a:cxnSpLocks/>
          </p:cNvCxnSpPr>
          <p:nvPr/>
        </p:nvCxnSpPr>
        <p:spPr>
          <a:xfrm flipV="1">
            <a:off x="5165558" y="2709256"/>
            <a:ext cx="0" cy="213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A2E8388-F2B6-D022-C57C-46F011D768F9}"/>
              </a:ext>
            </a:extLst>
          </p:cNvPr>
          <p:cNvCxnSpPr>
            <a:cxnSpLocks/>
          </p:cNvCxnSpPr>
          <p:nvPr/>
        </p:nvCxnSpPr>
        <p:spPr>
          <a:xfrm>
            <a:off x="5165558" y="4846866"/>
            <a:ext cx="21817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A42C673-11FC-83E5-FAF1-EE7E4EBFB30A}"/>
              </a:ext>
            </a:extLst>
          </p:cNvPr>
          <p:cNvSpPr txBox="1"/>
          <p:nvPr/>
        </p:nvSpPr>
        <p:spPr>
          <a:xfrm>
            <a:off x="5242560" y="4939108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Hazard Measure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72CB7E-6A38-3C45-1AE8-B72EA4C1F0D9}"/>
              </a:ext>
            </a:extLst>
          </p:cNvPr>
          <p:cNvSpPr txBox="1"/>
          <p:nvPr/>
        </p:nvSpPr>
        <p:spPr>
          <a:xfrm rot="16200000">
            <a:off x="3607508" y="3473480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Hazard Measure 2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DB15ECB-961C-7773-B0F2-124C574C41F6}"/>
              </a:ext>
            </a:extLst>
          </p:cNvPr>
          <p:cNvCxnSpPr>
            <a:cxnSpLocks/>
          </p:cNvCxnSpPr>
          <p:nvPr/>
        </p:nvCxnSpPr>
        <p:spPr>
          <a:xfrm flipV="1">
            <a:off x="8899357" y="2709255"/>
            <a:ext cx="0" cy="213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617199A-CC2C-BE16-C334-96FC34C720B7}"/>
              </a:ext>
            </a:extLst>
          </p:cNvPr>
          <p:cNvCxnSpPr>
            <a:cxnSpLocks/>
          </p:cNvCxnSpPr>
          <p:nvPr/>
        </p:nvCxnSpPr>
        <p:spPr>
          <a:xfrm>
            <a:off x="8899357" y="4846865"/>
            <a:ext cx="21817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FC07EDB-2FB5-03C7-8F20-4847B7EDE0E5}"/>
              </a:ext>
            </a:extLst>
          </p:cNvPr>
          <p:cNvSpPr txBox="1"/>
          <p:nvPr/>
        </p:nvSpPr>
        <p:spPr>
          <a:xfrm>
            <a:off x="8976359" y="4939107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Hazard Measure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F639F2-DC19-44B0-13AB-C5D14C2EA929}"/>
              </a:ext>
            </a:extLst>
          </p:cNvPr>
          <p:cNvSpPr txBox="1"/>
          <p:nvPr/>
        </p:nvSpPr>
        <p:spPr>
          <a:xfrm rot="16200000">
            <a:off x="7341307" y="3473479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Hazard Measure 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653983B-42FA-F3E9-9A43-46E2D541E80A}"/>
              </a:ext>
            </a:extLst>
          </p:cNvPr>
          <p:cNvSpPr/>
          <p:nvPr/>
        </p:nvSpPr>
        <p:spPr>
          <a:xfrm rot="19328492">
            <a:off x="9194053" y="3156740"/>
            <a:ext cx="1972265" cy="1336578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389FE76-E34B-C8FE-C2FB-2600E2AE9022}"/>
              </a:ext>
            </a:extLst>
          </p:cNvPr>
          <p:cNvSpPr/>
          <p:nvPr/>
        </p:nvSpPr>
        <p:spPr>
          <a:xfrm>
            <a:off x="9338544" y="381000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27140FE-5E10-E719-7EE7-22D26885013A}"/>
              </a:ext>
            </a:extLst>
          </p:cNvPr>
          <p:cNvSpPr/>
          <p:nvPr/>
        </p:nvSpPr>
        <p:spPr>
          <a:xfrm>
            <a:off x="9356796" y="401742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65FEBB7-8B0E-0F93-EBDE-57CDCC436EE3}"/>
              </a:ext>
            </a:extLst>
          </p:cNvPr>
          <p:cNvSpPr/>
          <p:nvPr/>
        </p:nvSpPr>
        <p:spPr>
          <a:xfrm>
            <a:off x="9384627" y="416353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629E52F-AA19-0945-0FA2-553A68480353}"/>
              </a:ext>
            </a:extLst>
          </p:cNvPr>
          <p:cNvSpPr/>
          <p:nvPr/>
        </p:nvSpPr>
        <p:spPr>
          <a:xfrm>
            <a:off x="9577207" y="349743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221173E-34A7-4504-4A98-BF3EB0A24D6B}"/>
              </a:ext>
            </a:extLst>
          </p:cNvPr>
          <p:cNvSpPr/>
          <p:nvPr/>
        </p:nvSpPr>
        <p:spPr>
          <a:xfrm>
            <a:off x="9910814" y="3553307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90B5C37-EE29-E59D-2FAB-C8A110E18B8F}"/>
              </a:ext>
            </a:extLst>
          </p:cNvPr>
          <p:cNvSpPr/>
          <p:nvPr/>
        </p:nvSpPr>
        <p:spPr>
          <a:xfrm>
            <a:off x="9547578" y="386955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57F5A2A-4A9C-44D2-88C0-63B805F31723}"/>
              </a:ext>
            </a:extLst>
          </p:cNvPr>
          <p:cNvSpPr/>
          <p:nvPr/>
        </p:nvSpPr>
        <p:spPr>
          <a:xfrm>
            <a:off x="9710632" y="3683137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0CA6F04-C2E0-7CA2-D9B8-969C3576B92F}"/>
              </a:ext>
            </a:extLst>
          </p:cNvPr>
          <p:cNvSpPr/>
          <p:nvPr/>
        </p:nvSpPr>
        <p:spPr>
          <a:xfrm>
            <a:off x="9710631" y="344190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918338F-FC96-B4EA-0CDB-A21A3E20E0CA}"/>
              </a:ext>
            </a:extLst>
          </p:cNvPr>
          <p:cNvSpPr/>
          <p:nvPr/>
        </p:nvSpPr>
        <p:spPr>
          <a:xfrm>
            <a:off x="9916771" y="3306686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1CC223D-28CB-DE73-5701-9FBAF7FC018D}"/>
              </a:ext>
            </a:extLst>
          </p:cNvPr>
          <p:cNvSpPr/>
          <p:nvPr/>
        </p:nvSpPr>
        <p:spPr>
          <a:xfrm>
            <a:off x="10141709" y="3284676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697495F-C7C7-EE41-8355-86A0A55FE50A}"/>
              </a:ext>
            </a:extLst>
          </p:cNvPr>
          <p:cNvSpPr/>
          <p:nvPr/>
        </p:nvSpPr>
        <p:spPr>
          <a:xfrm>
            <a:off x="10308773" y="3200856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2601EEA-106E-E50A-3A6B-D1D0BC6F1509}"/>
              </a:ext>
            </a:extLst>
          </p:cNvPr>
          <p:cNvSpPr/>
          <p:nvPr/>
        </p:nvSpPr>
        <p:spPr>
          <a:xfrm>
            <a:off x="10498785" y="3120962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EA63A09-3389-6CE2-E16C-FDF8ECC9AB38}"/>
              </a:ext>
            </a:extLst>
          </p:cNvPr>
          <p:cNvSpPr/>
          <p:nvPr/>
        </p:nvSpPr>
        <p:spPr>
          <a:xfrm>
            <a:off x="10461173" y="3353256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789B99B-6F22-CBAD-CED9-C73962D306B8}"/>
              </a:ext>
            </a:extLst>
          </p:cNvPr>
          <p:cNvSpPr/>
          <p:nvPr/>
        </p:nvSpPr>
        <p:spPr>
          <a:xfrm>
            <a:off x="10613573" y="3505656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ED76A51-80C4-5ECD-2D5A-AD795CE4DF95}"/>
              </a:ext>
            </a:extLst>
          </p:cNvPr>
          <p:cNvSpPr/>
          <p:nvPr/>
        </p:nvSpPr>
        <p:spPr>
          <a:xfrm>
            <a:off x="10661034" y="323721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3DB566D-76BD-1A16-8FA1-3E2819BC4EC9}"/>
              </a:ext>
            </a:extLst>
          </p:cNvPr>
          <p:cNvSpPr/>
          <p:nvPr/>
        </p:nvSpPr>
        <p:spPr>
          <a:xfrm>
            <a:off x="10736423" y="307805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9972EA7-C5EA-6460-C1F9-7C26126D1797}"/>
              </a:ext>
            </a:extLst>
          </p:cNvPr>
          <p:cNvSpPr/>
          <p:nvPr/>
        </p:nvSpPr>
        <p:spPr>
          <a:xfrm>
            <a:off x="10056845" y="348309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5745481-F3DD-0EFE-2A06-617BAE5AD962}"/>
              </a:ext>
            </a:extLst>
          </p:cNvPr>
          <p:cNvSpPr/>
          <p:nvPr/>
        </p:nvSpPr>
        <p:spPr>
          <a:xfrm>
            <a:off x="9867759" y="3788791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86F7F1F-9E38-FEC2-13B5-7DA1077CD7D0}"/>
              </a:ext>
            </a:extLst>
          </p:cNvPr>
          <p:cNvSpPr/>
          <p:nvPr/>
        </p:nvSpPr>
        <p:spPr>
          <a:xfrm>
            <a:off x="9824704" y="402427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62BF006-BD69-D2AA-6044-A337AD9B8557}"/>
              </a:ext>
            </a:extLst>
          </p:cNvPr>
          <p:cNvSpPr/>
          <p:nvPr/>
        </p:nvSpPr>
        <p:spPr>
          <a:xfrm>
            <a:off x="9781649" y="4259759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A818590-B306-688C-A091-404E2CA6E791}"/>
              </a:ext>
            </a:extLst>
          </p:cNvPr>
          <p:cNvSpPr/>
          <p:nvPr/>
        </p:nvSpPr>
        <p:spPr>
          <a:xfrm>
            <a:off x="9629251" y="402925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9FC8EE1-6C8C-31D0-1C91-DD1127E3A415}"/>
              </a:ext>
            </a:extLst>
          </p:cNvPr>
          <p:cNvSpPr/>
          <p:nvPr/>
        </p:nvSpPr>
        <p:spPr>
          <a:xfrm>
            <a:off x="9532140" y="420224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B1A961F-7019-6200-0FE4-B38DAC402765}"/>
              </a:ext>
            </a:extLst>
          </p:cNvPr>
          <p:cNvSpPr/>
          <p:nvPr/>
        </p:nvSpPr>
        <p:spPr>
          <a:xfrm>
            <a:off x="9617754" y="438448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ADD148B-CF51-067E-82A9-A41375B8CCC6}"/>
              </a:ext>
            </a:extLst>
          </p:cNvPr>
          <p:cNvSpPr/>
          <p:nvPr/>
        </p:nvSpPr>
        <p:spPr>
          <a:xfrm>
            <a:off x="9840687" y="4503759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4A500C4-E8D3-7CA3-855A-F4F698589007}"/>
              </a:ext>
            </a:extLst>
          </p:cNvPr>
          <p:cNvSpPr/>
          <p:nvPr/>
        </p:nvSpPr>
        <p:spPr>
          <a:xfrm>
            <a:off x="10094247" y="448154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D12D77B-A6CD-CE80-1F1C-6B910D294DE7}"/>
              </a:ext>
            </a:extLst>
          </p:cNvPr>
          <p:cNvSpPr/>
          <p:nvPr/>
        </p:nvSpPr>
        <p:spPr>
          <a:xfrm>
            <a:off x="10330132" y="439559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C42445E-2D35-9CE1-4DE2-9A18470E8C5B}"/>
              </a:ext>
            </a:extLst>
          </p:cNvPr>
          <p:cNvSpPr/>
          <p:nvPr/>
        </p:nvSpPr>
        <p:spPr>
          <a:xfrm>
            <a:off x="10518650" y="427946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E6E3D0C-641F-D939-A896-340495FFB023}"/>
              </a:ext>
            </a:extLst>
          </p:cNvPr>
          <p:cNvSpPr/>
          <p:nvPr/>
        </p:nvSpPr>
        <p:spPr>
          <a:xfrm>
            <a:off x="10708495" y="4123498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304A0CD-8CC4-2D65-9476-74867B431328}"/>
              </a:ext>
            </a:extLst>
          </p:cNvPr>
          <p:cNvSpPr/>
          <p:nvPr/>
        </p:nvSpPr>
        <p:spPr>
          <a:xfrm>
            <a:off x="10064587" y="427415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EFD3F6DF-46D9-BC14-95AB-9A6AD53D7BD2}"/>
              </a:ext>
            </a:extLst>
          </p:cNvPr>
          <p:cNvSpPr/>
          <p:nvPr/>
        </p:nvSpPr>
        <p:spPr>
          <a:xfrm>
            <a:off x="10102739" y="401742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6049E86-B37A-FCB1-9F9A-1C65B3C09AAF}"/>
              </a:ext>
            </a:extLst>
          </p:cNvPr>
          <p:cNvSpPr/>
          <p:nvPr/>
        </p:nvSpPr>
        <p:spPr>
          <a:xfrm>
            <a:off x="10140891" y="376069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0F5B08E2-3A40-C453-41D9-7D575746D275}"/>
              </a:ext>
            </a:extLst>
          </p:cNvPr>
          <p:cNvSpPr/>
          <p:nvPr/>
        </p:nvSpPr>
        <p:spPr>
          <a:xfrm>
            <a:off x="10237658" y="355542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42CE8FB-13C9-F4F4-7BC2-D5FCB78EBF50}"/>
              </a:ext>
            </a:extLst>
          </p:cNvPr>
          <p:cNvSpPr/>
          <p:nvPr/>
        </p:nvSpPr>
        <p:spPr>
          <a:xfrm>
            <a:off x="10429991" y="366323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8F20759A-444A-EA6D-64DF-3FAE17219D3F}"/>
              </a:ext>
            </a:extLst>
          </p:cNvPr>
          <p:cNvSpPr/>
          <p:nvPr/>
        </p:nvSpPr>
        <p:spPr>
          <a:xfrm>
            <a:off x="10582391" y="381563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41D4B050-CFF7-DF92-ED80-E61651CF51A1}"/>
              </a:ext>
            </a:extLst>
          </p:cNvPr>
          <p:cNvSpPr/>
          <p:nvPr/>
        </p:nvSpPr>
        <p:spPr>
          <a:xfrm>
            <a:off x="10770467" y="3670267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36751F70-3225-7CBE-8DD7-8E9AD0F37369}"/>
              </a:ext>
            </a:extLst>
          </p:cNvPr>
          <p:cNvSpPr/>
          <p:nvPr/>
        </p:nvSpPr>
        <p:spPr>
          <a:xfrm>
            <a:off x="10876544" y="340166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71DDE86B-AFD5-F82E-7CA2-B6CE654E94B2}"/>
              </a:ext>
            </a:extLst>
          </p:cNvPr>
          <p:cNvSpPr/>
          <p:nvPr/>
        </p:nvSpPr>
        <p:spPr>
          <a:xfrm>
            <a:off x="10046785" y="3125361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94AAC9E-FB82-6064-6029-B3FAE6A5AECE}"/>
              </a:ext>
            </a:extLst>
          </p:cNvPr>
          <p:cNvSpPr/>
          <p:nvPr/>
        </p:nvSpPr>
        <p:spPr>
          <a:xfrm>
            <a:off x="10817928" y="390105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480C762-839C-E711-10FF-22A8AD732986}"/>
              </a:ext>
            </a:extLst>
          </p:cNvPr>
          <p:cNvSpPr/>
          <p:nvPr/>
        </p:nvSpPr>
        <p:spPr>
          <a:xfrm>
            <a:off x="10540614" y="4030687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B06F9E9-06CA-19E8-6478-FD25E361642C}"/>
              </a:ext>
            </a:extLst>
          </p:cNvPr>
          <p:cNvSpPr/>
          <p:nvPr/>
        </p:nvSpPr>
        <p:spPr>
          <a:xfrm>
            <a:off x="10263300" y="416032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EFB6B91-96BF-3367-AFB5-787A2639804D}"/>
              </a:ext>
            </a:extLst>
          </p:cNvPr>
          <p:cNvSpPr/>
          <p:nvPr/>
        </p:nvSpPr>
        <p:spPr>
          <a:xfrm>
            <a:off x="10330132" y="387642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F8F05D5-5D06-87EC-06E4-4375EEDD3F5B}"/>
              </a:ext>
            </a:extLst>
          </p:cNvPr>
          <p:cNvSpPr/>
          <p:nvPr/>
        </p:nvSpPr>
        <p:spPr>
          <a:xfrm>
            <a:off x="10956823" y="3631797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C730AD03-B9C7-2B16-592C-AD9B6A9769CD}"/>
              </a:ext>
            </a:extLst>
          </p:cNvPr>
          <p:cNvSpPr/>
          <p:nvPr/>
        </p:nvSpPr>
        <p:spPr>
          <a:xfrm>
            <a:off x="9488620" y="369486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Arrow: Right 78">
            <a:extLst>
              <a:ext uri="{FF2B5EF4-FFF2-40B4-BE49-F238E27FC236}">
                <a16:creationId xmlns:a16="http://schemas.microsoft.com/office/drawing/2014/main" id="{364EC305-3CA0-2805-BDC5-B71D6994AE12}"/>
              </a:ext>
            </a:extLst>
          </p:cNvPr>
          <p:cNvSpPr/>
          <p:nvPr/>
        </p:nvSpPr>
        <p:spPr>
          <a:xfrm>
            <a:off x="7451726" y="3469115"/>
            <a:ext cx="868680" cy="67349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EFEA71A-C285-36AD-1ECD-9AAD8792AA6E}"/>
              </a:ext>
            </a:extLst>
          </p:cNvPr>
          <p:cNvSpPr/>
          <p:nvPr/>
        </p:nvSpPr>
        <p:spPr>
          <a:xfrm>
            <a:off x="9421890" y="438448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5AE7058-2B05-2583-7603-B60AF77C192C}"/>
              </a:ext>
            </a:extLst>
          </p:cNvPr>
          <p:cNvSpPr/>
          <p:nvPr/>
        </p:nvSpPr>
        <p:spPr>
          <a:xfrm>
            <a:off x="10282670" y="303625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DD34EC6-AB20-1C18-49B2-91A05E832401}"/>
              </a:ext>
            </a:extLst>
          </p:cNvPr>
          <p:cNvSpPr/>
          <p:nvPr/>
        </p:nvSpPr>
        <p:spPr>
          <a:xfrm rot="19328492">
            <a:off x="5187772" y="3215425"/>
            <a:ext cx="1972265" cy="1336578"/>
          </a:xfrm>
          <a:prstGeom prst="ellipse">
            <a:avLst/>
          </a:prstGeom>
          <a:solidFill>
            <a:srgbClr val="4472C4">
              <a:alpha val="30196"/>
            </a:srgb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1FA0901-BE0C-2C5F-1931-15F2D77B32F7}"/>
              </a:ext>
            </a:extLst>
          </p:cNvPr>
          <p:cNvSpPr/>
          <p:nvPr/>
        </p:nvSpPr>
        <p:spPr>
          <a:xfrm rot="19328492">
            <a:off x="5337716" y="3474555"/>
            <a:ext cx="1498417" cy="993585"/>
          </a:xfrm>
          <a:prstGeom prst="ellipse">
            <a:avLst/>
          </a:prstGeom>
          <a:solidFill>
            <a:srgbClr val="4472C4">
              <a:alpha val="30196"/>
            </a:srgb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167844E-66C8-FC17-C620-93CDC30D1765}"/>
              </a:ext>
            </a:extLst>
          </p:cNvPr>
          <p:cNvSpPr/>
          <p:nvPr/>
        </p:nvSpPr>
        <p:spPr>
          <a:xfrm rot="19328492">
            <a:off x="5431163" y="3855025"/>
            <a:ext cx="892340" cy="593611"/>
          </a:xfrm>
          <a:prstGeom prst="ellipse">
            <a:avLst/>
          </a:prstGeom>
          <a:solidFill>
            <a:srgbClr val="4472C4">
              <a:alpha val="30196"/>
            </a:srgb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55F083E-F2C5-5E35-1568-0A95C80A8C90}"/>
              </a:ext>
            </a:extLst>
          </p:cNvPr>
          <p:cNvSpPr/>
          <p:nvPr/>
        </p:nvSpPr>
        <p:spPr>
          <a:xfrm rot="19328492">
            <a:off x="5493780" y="4068003"/>
            <a:ext cx="498425" cy="301274"/>
          </a:xfrm>
          <a:prstGeom prst="ellipse">
            <a:avLst/>
          </a:prstGeom>
          <a:solidFill>
            <a:srgbClr val="4472C4">
              <a:alpha val="30196"/>
            </a:srgb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13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27694-DB22-8326-B0EE-A128C2184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633DA-8D49-5140-E662-29150E5E5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Proposal: Hypothesis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14537-8245-017B-EE3F-3EA0C46AA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E4CEB-E3C4-5C2E-819B-5EE758D48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0A1E3-BD84-BDBA-1FBF-782F33E8B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907A79-07A5-9F54-C135-232CBE64CBF1}"/>
              </a:ext>
            </a:extLst>
          </p:cNvPr>
          <p:cNvSpPr txBox="1"/>
          <p:nvPr/>
        </p:nvSpPr>
        <p:spPr>
          <a:xfrm>
            <a:off x="378526" y="923251"/>
            <a:ext cx="414269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Idea:</a:t>
            </a:r>
            <a:endParaRPr lang="en-US" sz="2000" dirty="0"/>
          </a:p>
          <a:p>
            <a:r>
              <a:rPr lang="en-US" sz="2000" dirty="0"/>
              <a:t>Create a space-filling sample of the hazard space, evaluate candidate policies using this deeply uncertain </a:t>
            </a:r>
            <a:r>
              <a:rPr lang="en-US" sz="2000" i="1" dirty="0"/>
              <a:t>hazard </a:t>
            </a:r>
            <a:r>
              <a:rPr lang="en-US" sz="2000" dirty="0"/>
              <a:t>space.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637E8CF-87E2-3EE3-2433-1899A5AF136D}"/>
              </a:ext>
            </a:extLst>
          </p:cNvPr>
          <p:cNvCxnSpPr>
            <a:cxnSpLocks/>
          </p:cNvCxnSpPr>
          <p:nvPr/>
        </p:nvCxnSpPr>
        <p:spPr>
          <a:xfrm flipV="1">
            <a:off x="5534887" y="3598018"/>
            <a:ext cx="0" cy="213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CB6470E-86C2-13CA-134A-6A2EBA2B0AD1}"/>
              </a:ext>
            </a:extLst>
          </p:cNvPr>
          <p:cNvCxnSpPr>
            <a:cxnSpLocks/>
          </p:cNvCxnSpPr>
          <p:nvPr/>
        </p:nvCxnSpPr>
        <p:spPr>
          <a:xfrm>
            <a:off x="5534887" y="5735628"/>
            <a:ext cx="21817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7139912-C2E0-D7C1-FB2E-775F5D09DCD9}"/>
              </a:ext>
            </a:extLst>
          </p:cNvPr>
          <p:cNvSpPr txBox="1"/>
          <p:nvPr/>
        </p:nvSpPr>
        <p:spPr>
          <a:xfrm>
            <a:off x="5611889" y="5827870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Hazard Measure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5F5D5B-1AC6-12C3-9736-A9F05241744F}"/>
              </a:ext>
            </a:extLst>
          </p:cNvPr>
          <p:cNvSpPr txBox="1"/>
          <p:nvPr/>
        </p:nvSpPr>
        <p:spPr>
          <a:xfrm rot="16200000">
            <a:off x="3976837" y="4362242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Hazard Measure 2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5C507D-D32D-9DC3-CA54-6C98179A5E54}"/>
              </a:ext>
            </a:extLst>
          </p:cNvPr>
          <p:cNvCxnSpPr>
            <a:cxnSpLocks/>
          </p:cNvCxnSpPr>
          <p:nvPr/>
        </p:nvCxnSpPr>
        <p:spPr>
          <a:xfrm flipV="1">
            <a:off x="9268686" y="3598017"/>
            <a:ext cx="0" cy="213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5442E72-E14C-FE09-B578-60BECFB75238}"/>
              </a:ext>
            </a:extLst>
          </p:cNvPr>
          <p:cNvCxnSpPr>
            <a:cxnSpLocks/>
          </p:cNvCxnSpPr>
          <p:nvPr/>
        </p:nvCxnSpPr>
        <p:spPr>
          <a:xfrm>
            <a:off x="9268686" y="5735627"/>
            <a:ext cx="21817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10B21FF-EBC4-3154-2233-BEAAFD82707C}"/>
              </a:ext>
            </a:extLst>
          </p:cNvPr>
          <p:cNvSpPr txBox="1"/>
          <p:nvPr/>
        </p:nvSpPr>
        <p:spPr>
          <a:xfrm>
            <a:off x="9345688" y="5827869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Hazard Measure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E972CA-FE0D-3ECD-3437-9B317C9F9D89}"/>
              </a:ext>
            </a:extLst>
          </p:cNvPr>
          <p:cNvSpPr txBox="1"/>
          <p:nvPr/>
        </p:nvSpPr>
        <p:spPr>
          <a:xfrm rot="16200000">
            <a:off x="7710636" y="4362241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Hazard Measure 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3959F78-EBE2-B504-5ECB-11949B11BAE0}"/>
              </a:ext>
            </a:extLst>
          </p:cNvPr>
          <p:cNvSpPr/>
          <p:nvPr/>
        </p:nvSpPr>
        <p:spPr>
          <a:xfrm rot="19328492">
            <a:off x="9563382" y="4045502"/>
            <a:ext cx="1972265" cy="1336578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018161B-26CA-8AFE-C58C-6F8798A8C79D}"/>
              </a:ext>
            </a:extLst>
          </p:cNvPr>
          <p:cNvSpPr/>
          <p:nvPr/>
        </p:nvSpPr>
        <p:spPr>
          <a:xfrm>
            <a:off x="9707873" y="4698762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56FAE10-7EEB-12FD-0A40-4675F7FD68E8}"/>
              </a:ext>
            </a:extLst>
          </p:cNvPr>
          <p:cNvSpPr/>
          <p:nvPr/>
        </p:nvSpPr>
        <p:spPr>
          <a:xfrm>
            <a:off x="9726125" y="4906187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DBFEF9E-2088-F346-F694-9C678172A9B0}"/>
              </a:ext>
            </a:extLst>
          </p:cNvPr>
          <p:cNvSpPr/>
          <p:nvPr/>
        </p:nvSpPr>
        <p:spPr>
          <a:xfrm>
            <a:off x="9753956" y="5052296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5AD69E4-F6D1-5BB3-AF12-D32A836E6C97}"/>
              </a:ext>
            </a:extLst>
          </p:cNvPr>
          <p:cNvSpPr/>
          <p:nvPr/>
        </p:nvSpPr>
        <p:spPr>
          <a:xfrm>
            <a:off x="9946536" y="4386192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8725D18-AC4A-B7AA-6F06-4DD61D5CBC95}"/>
              </a:ext>
            </a:extLst>
          </p:cNvPr>
          <p:cNvSpPr/>
          <p:nvPr/>
        </p:nvSpPr>
        <p:spPr>
          <a:xfrm>
            <a:off x="10280143" y="4442069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5C59FDE-1C9F-2BFC-E8D4-224FAA58C4DF}"/>
              </a:ext>
            </a:extLst>
          </p:cNvPr>
          <p:cNvSpPr/>
          <p:nvPr/>
        </p:nvSpPr>
        <p:spPr>
          <a:xfrm>
            <a:off x="9916907" y="4758315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D2F4B08-21A1-5FB7-188B-C42FA61250AA}"/>
              </a:ext>
            </a:extLst>
          </p:cNvPr>
          <p:cNvSpPr/>
          <p:nvPr/>
        </p:nvSpPr>
        <p:spPr>
          <a:xfrm>
            <a:off x="10079961" y="4571899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EA01F9F-9C04-E8F5-4EF2-E95E5CB32442}"/>
              </a:ext>
            </a:extLst>
          </p:cNvPr>
          <p:cNvSpPr/>
          <p:nvPr/>
        </p:nvSpPr>
        <p:spPr>
          <a:xfrm>
            <a:off x="10079960" y="4330667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68AE6D9-8948-154C-80BC-802F43082B48}"/>
              </a:ext>
            </a:extLst>
          </p:cNvPr>
          <p:cNvSpPr/>
          <p:nvPr/>
        </p:nvSpPr>
        <p:spPr>
          <a:xfrm>
            <a:off x="10286100" y="4195448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EDD3E76-39DC-CB6C-0261-922BA803C05B}"/>
              </a:ext>
            </a:extLst>
          </p:cNvPr>
          <p:cNvSpPr/>
          <p:nvPr/>
        </p:nvSpPr>
        <p:spPr>
          <a:xfrm>
            <a:off x="10511038" y="4173438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6D8AA20-864F-00E6-948B-33AD02B9A231}"/>
              </a:ext>
            </a:extLst>
          </p:cNvPr>
          <p:cNvSpPr/>
          <p:nvPr/>
        </p:nvSpPr>
        <p:spPr>
          <a:xfrm>
            <a:off x="10678102" y="4089618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CB39E2B-47C7-C112-6076-85A80C6ED580}"/>
              </a:ext>
            </a:extLst>
          </p:cNvPr>
          <p:cNvSpPr/>
          <p:nvPr/>
        </p:nvSpPr>
        <p:spPr>
          <a:xfrm>
            <a:off x="10868114" y="4009724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710C011-31DA-C6B6-1793-95D562B49A86}"/>
              </a:ext>
            </a:extLst>
          </p:cNvPr>
          <p:cNvSpPr/>
          <p:nvPr/>
        </p:nvSpPr>
        <p:spPr>
          <a:xfrm>
            <a:off x="10830502" y="4242018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03A040C-5B6C-A693-2D14-843823403769}"/>
              </a:ext>
            </a:extLst>
          </p:cNvPr>
          <p:cNvSpPr/>
          <p:nvPr/>
        </p:nvSpPr>
        <p:spPr>
          <a:xfrm>
            <a:off x="10982902" y="4394418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22D9B02-DE83-F43B-40E2-D4D75E9F0554}"/>
              </a:ext>
            </a:extLst>
          </p:cNvPr>
          <p:cNvSpPr/>
          <p:nvPr/>
        </p:nvSpPr>
        <p:spPr>
          <a:xfrm>
            <a:off x="11030363" y="4125976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B1454ED-6D93-D97E-55F2-8D935731836C}"/>
              </a:ext>
            </a:extLst>
          </p:cNvPr>
          <p:cNvSpPr/>
          <p:nvPr/>
        </p:nvSpPr>
        <p:spPr>
          <a:xfrm>
            <a:off x="11105752" y="3966812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ACE31B5-BEE2-81DE-0275-5802BFC184C7}"/>
              </a:ext>
            </a:extLst>
          </p:cNvPr>
          <p:cNvSpPr/>
          <p:nvPr/>
        </p:nvSpPr>
        <p:spPr>
          <a:xfrm>
            <a:off x="10426174" y="4371857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CF6A963-0D55-0063-B185-AB7477A44484}"/>
              </a:ext>
            </a:extLst>
          </p:cNvPr>
          <p:cNvSpPr/>
          <p:nvPr/>
        </p:nvSpPr>
        <p:spPr>
          <a:xfrm>
            <a:off x="10237088" y="4677553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1AB2FF3-B258-DAA0-1C60-927D7DBF4A34}"/>
              </a:ext>
            </a:extLst>
          </p:cNvPr>
          <p:cNvSpPr/>
          <p:nvPr/>
        </p:nvSpPr>
        <p:spPr>
          <a:xfrm>
            <a:off x="10194033" y="4913037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3951434-5BB9-310E-3086-5888DB80E5F5}"/>
              </a:ext>
            </a:extLst>
          </p:cNvPr>
          <p:cNvSpPr/>
          <p:nvPr/>
        </p:nvSpPr>
        <p:spPr>
          <a:xfrm>
            <a:off x="10150978" y="5148521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DED5481-5CB9-5647-92A8-768B5C4F2738}"/>
              </a:ext>
            </a:extLst>
          </p:cNvPr>
          <p:cNvSpPr/>
          <p:nvPr/>
        </p:nvSpPr>
        <p:spPr>
          <a:xfrm>
            <a:off x="9998580" y="4918015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3E35DEA-190B-65B1-3503-E805B7EB4D30}"/>
              </a:ext>
            </a:extLst>
          </p:cNvPr>
          <p:cNvSpPr/>
          <p:nvPr/>
        </p:nvSpPr>
        <p:spPr>
          <a:xfrm>
            <a:off x="9901469" y="5091002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3EFB3FF-BCCC-F5EB-3194-80618ADB8F46}"/>
              </a:ext>
            </a:extLst>
          </p:cNvPr>
          <p:cNvSpPr/>
          <p:nvPr/>
        </p:nvSpPr>
        <p:spPr>
          <a:xfrm>
            <a:off x="9987083" y="5273246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0388462-1838-0A8A-D45A-E12813CD314B}"/>
              </a:ext>
            </a:extLst>
          </p:cNvPr>
          <p:cNvSpPr/>
          <p:nvPr/>
        </p:nvSpPr>
        <p:spPr>
          <a:xfrm>
            <a:off x="10210016" y="5392521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812E9B2-231A-331F-33D7-A988319CB897}"/>
              </a:ext>
            </a:extLst>
          </p:cNvPr>
          <p:cNvSpPr/>
          <p:nvPr/>
        </p:nvSpPr>
        <p:spPr>
          <a:xfrm>
            <a:off x="10463576" y="5370305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72F7248-08E2-8E48-3A54-111EB603A235}"/>
              </a:ext>
            </a:extLst>
          </p:cNvPr>
          <p:cNvSpPr/>
          <p:nvPr/>
        </p:nvSpPr>
        <p:spPr>
          <a:xfrm>
            <a:off x="10699461" y="5284356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0610F0C-54B9-E111-CDCB-1B8BDD0B8B5C}"/>
              </a:ext>
            </a:extLst>
          </p:cNvPr>
          <p:cNvSpPr/>
          <p:nvPr/>
        </p:nvSpPr>
        <p:spPr>
          <a:xfrm>
            <a:off x="10887979" y="5168226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47E4BAF-955B-E953-C385-5B73E306048C}"/>
              </a:ext>
            </a:extLst>
          </p:cNvPr>
          <p:cNvSpPr/>
          <p:nvPr/>
        </p:nvSpPr>
        <p:spPr>
          <a:xfrm>
            <a:off x="11077824" y="5012260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442A2EA4-003F-5B5B-AD84-7BEE8D050316}"/>
              </a:ext>
            </a:extLst>
          </p:cNvPr>
          <p:cNvSpPr/>
          <p:nvPr/>
        </p:nvSpPr>
        <p:spPr>
          <a:xfrm>
            <a:off x="10433916" y="5162917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0D6648D-6DA0-4029-9F09-5548058691C0}"/>
              </a:ext>
            </a:extLst>
          </p:cNvPr>
          <p:cNvSpPr/>
          <p:nvPr/>
        </p:nvSpPr>
        <p:spPr>
          <a:xfrm>
            <a:off x="10472068" y="4906186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DD6CFB1-EC55-6290-2371-6DADD33D1349}"/>
              </a:ext>
            </a:extLst>
          </p:cNvPr>
          <p:cNvSpPr/>
          <p:nvPr/>
        </p:nvSpPr>
        <p:spPr>
          <a:xfrm>
            <a:off x="10510220" y="4649455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470490FE-F33F-03FA-EBB8-479A88240C7D}"/>
              </a:ext>
            </a:extLst>
          </p:cNvPr>
          <p:cNvSpPr/>
          <p:nvPr/>
        </p:nvSpPr>
        <p:spPr>
          <a:xfrm>
            <a:off x="10606987" y="4444185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D02EEB28-2EAA-8B15-B657-B488A0BF87F9}"/>
              </a:ext>
            </a:extLst>
          </p:cNvPr>
          <p:cNvSpPr/>
          <p:nvPr/>
        </p:nvSpPr>
        <p:spPr>
          <a:xfrm>
            <a:off x="10799320" y="4551995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2976F6A9-E482-1F57-92DE-003D7FBAD87B}"/>
              </a:ext>
            </a:extLst>
          </p:cNvPr>
          <p:cNvSpPr/>
          <p:nvPr/>
        </p:nvSpPr>
        <p:spPr>
          <a:xfrm>
            <a:off x="10951720" y="4704395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F5DECE04-19A1-FA15-B127-AF5D2A05B71E}"/>
              </a:ext>
            </a:extLst>
          </p:cNvPr>
          <p:cNvSpPr/>
          <p:nvPr/>
        </p:nvSpPr>
        <p:spPr>
          <a:xfrm>
            <a:off x="11139796" y="4559029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5B67107D-96EB-594F-6C5E-EA17B74932DD}"/>
              </a:ext>
            </a:extLst>
          </p:cNvPr>
          <p:cNvSpPr/>
          <p:nvPr/>
        </p:nvSpPr>
        <p:spPr>
          <a:xfrm>
            <a:off x="11245873" y="4290427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DD1161D9-9A21-FBA3-3767-BF23A29CA6A4}"/>
              </a:ext>
            </a:extLst>
          </p:cNvPr>
          <p:cNvSpPr/>
          <p:nvPr/>
        </p:nvSpPr>
        <p:spPr>
          <a:xfrm>
            <a:off x="10416114" y="4014123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CCA95E97-A864-E864-CDAC-07795CB7B1E5}"/>
              </a:ext>
            </a:extLst>
          </p:cNvPr>
          <p:cNvSpPr/>
          <p:nvPr/>
        </p:nvSpPr>
        <p:spPr>
          <a:xfrm>
            <a:off x="11187257" y="4789816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267C6B1-BDAA-846A-E390-1CAE153B62E4}"/>
              </a:ext>
            </a:extLst>
          </p:cNvPr>
          <p:cNvSpPr/>
          <p:nvPr/>
        </p:nvSpPr>
        <p:spPr>
          <a:xfrm>
            <a:off x="10909943" y="4919449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0B8DBFF2-6402-D0D2-FFC5-90B0A3BF7B12}"/>
              </a:ext>
            </a:extLst>
          </p:cNvPr>
          <p:cNvSpPr/>
          <p:nvPr/>
        </p:nvSpPr>
        <p:spPr>
          <a:xfrm>
            <a:off x="10632629" y="5049082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3CEC83D-8A5C-9AE1-CEA3-E564B2CFD9D8}"/>
              </a:ext>
            </a:extLst>
          </p:cNvPr>
          <p:cNvSpPr/>
          <p:nvPr/>
        </p:nvSpPr>
        <p:spPr>
          <a:xfrm>
            <a:off x="10699461" y="4765187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E2097DCE-EBCD-5C47-46F7-4DAAE2AEFEF7}"/>
              </a:ext>
            </a:extLst>
          </p:cNvPr>
          <p:cNvSpPr/>
          <p:nvPr/>
        </p:nvSpPr>
        <p:spPr>
          <a:xfrm>
            <a:off x="11326152" y="4520559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213B8C41-71E6-8FAF-A1E5-548EE6F741F9}"/>
              </a:ext>
            </a:extLst>
          </p:cNvPr>
          <p:cNvSpPr/>
          <p:nvPr/>
        </p:nvSpPr>
        <p:spPr>
          <a:xfrm>
            <a:off x="9857949" y="4583622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Arrow: Right 78">
            <a:extLst>
              <a:ext uri="{FF2B5EF4-FFF2-40B4-BE49-F238E27FC236}">
                <a16:creationId xmlns:a16="http://schemas.microsoft.com/office/drawing/2014/main" id="{A13AC6E4-C2E7-DDE4-1807-6A14C5C51ED0}"/>
              </a:ext>
            </a:extLst>
          </p:cNvPr>
          <p:cNvSpPr/>
          <p:nvPr/>
        </p:nvSpPr>
        <p:spPr>
          <a:xfrm>
            <a:off x="7821055" y="4357877"/>
            <a:ext cx="868680" cy="67349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15E19E-79A5-0B08-D8B2-3799F665CCB9}"/>
              </a:ext>
            </a:extLst>
          </p:cNvPr>
          <p:cNvSpPr/>
          <p:nvPr/>
        </p:nvSpPr>
        <p:spPr>
          <a:xfrm>
            <a:off x="9791219" y="5273245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567E033-4432-FC08-BEB6-40085D7AF6FF}"/>
              </a:ext>
            </a:extLst>
          </p:cNvPr>
          <p:cNvSpPr/>
          <p:nvPr/>
        </p:nvSpPr>
        <p:spPr>
          <a:xfrm>
            <a:off x="10651999" y="3925016"/>
            <a:ext cx="94923" cy="949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73BA15B-16C7-B901-92B9-8DD352EE1ADF}"/>
              </a:ext>
            </a:extLst>
          </p:cNvPr>
          <p:cNvSpPr/>
          <p:nvPr/>
        </p:nvSpPr>
        <p:spPr>
          <a:xfrm rot="19328492">
            <a:off x="5557101" y="4104187"/>
            <a:ext cx="1972265" cy="1336578"/>
          </a:xfrm>
          <a:prstGeom prst="ellipse">
            <a:avLst/>
          </a:prstGeom>
          <a:solidFill>
            <a:srgbClr val="4472C4">
              <a:alpha val="30196"/>
            </a:srgb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6A683DE-185E-E6FD-ACEB-F3813F3B0EA2}"/>
              </a:ext>
            </a:extLst>
          </p:cNvPr>
          <p:cNvSpPr/>
          <p:nvPr/>
        </p:nvSpPr>
        <p:spPr>
          <a:xfrm rot="19328492">
            <a:off x="5707045" y="4363317"/>
            <a:ext cx="1498417" cy="993585"/>
          </a:xfrm>
          <a:prstGeom prst="ellipse">
            <a:avLst/>
          </a:prstGeom>
          <a:solidFill>
            <a:srgbClr val="4472C4">
              <a:alpha val="30196"/>
            </a:srgb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0A9B0CD-328F-AB6D-131C-65A5F5466310}"/>
              </a:ext>
            </a:extLst>
          </p:cNvPr>
          <p:cNvSpPr/>
          <p:nvPr/>
        </p:nvSpPr>
        <p:spPr>
          <a:xfrm rot="19328492">
            <a:off x="5800492" y="4743787"/>
            <a:ext cx="892340" cy="593611"/>
          </a:xfrm>
          <a:prstGeom prst="ellipse">
            <a:avLst/>
          </a:prstGeom>
          <a:solidFill>
            <a:srgbClr val="4472C4">
              <a:alpha val="30196"/>
            </a:srgb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875D853-1D9D-CBF1-54E9-247C94349BE2}"/>
              </a:ext>
            </a:extLst>
          </p:cNvPr>
          <p:cNvSpPr/>
          <p:nvPr/>
        </p:nvSpPr>
        <p:spPr>
          <a:xfrm rot="19328492">
            <a:off x="5863109" y="4956765"/>
            <a:ext cx="498425" cy="301274"/>
          </a:xfrm>
          <a:prstGeom prst="ellipse">
            <a:avLst/>
          </a:prstGeom>
          <a:solidFill>
            <a:srgbClr val="4472C4">
              <a:alpha val="30196"/>
            </a:srgb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E330AF3-97D2-5F64-E87E-47341A9AC890}"/>
              </a:ext>
            </a:extLst>
          </p:cNvPr>
          <p:cNvCxnSpPr>
            <a:cxnSpLocks/>
          </p:cNvCxnSpPr>
          <p:nvPr/>
        </p:nvCxnSpPr>
        <p:spPr>
          <a:xfrm flipV="1">
            <a:off x="5534887" y="1048696"/>
            <a:ext cx="0" cy="213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85619C5-0EC2-BCD1-9011-DF0357E7F79C}"/>
              </a:ext>
            </a:extLst>
          </p:cNvPr>
          <p:cNvCxnSpPr>
            <a:cxnSpLocks/>
          </p:cNvCxnSpPr>
          <p:nvPr/>
        </p:nvCxnSpPr>
        <p:spPr>
          <a:xfrm>
            <a:off x="5534887" y="3186306"/>
            <a:ext cx="21817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1BA2C84-1B48-F2AD-47FC-392E17407ED9}"/>
              </a:ext>
            </a:extLst>
          </p:cNvPr>
          <p:cNvSpPr txBox="1"/>
          <p:nvPr/>
        </p:nvSpPr>
        <p:spPr>
          <a:xfrm>
            <a:off x="5611889" y="3278548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Hazard Measure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CBBC42-838E-BE59-5F32-87A26A790806}"/>
              </a:ext>
            </a:extLst>
          </p:cNvPr>
          <p:cNvSpPr txBox="1"/>
          <p:nvPr/>
        </p:nvSpPr>
        <p:spPr>
          <a:xfrm rot="16200000">
            <a:off x="3976837" y="1812920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Hazard Measure 2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F069409-415C-C41E-458C-12FCB1CBA306}"/>
              </a:ext>
            </a:extLst>
          </p:cNvPr>
          <p:cNvCxnSpPr>
            <a:cxnSpLocks/>
          </p:cNvCxnSpPr>
          <p:nvPr/>
        </p:nvCxnSpPr>
        <p:spPr>
          <a:xfrm flipV="1">
            <a:off x="9268686" y="1048695"/>
            <a:ext cx="0" cy="213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3E1F101-C49A-641D-D1A4-50A869EDFCA9}"/>
              </a:ext>
            </a:extLst>
          </p:cNvPr>
          <p:cNvCxnSpPr>
            <a:cxnSpLocks/>
          </p:cNvCxnSpPr>
          <p:nvPr/>
        </p:nvCxnSpPr>
        <p:spPr>
          <a:xfrm>
            <a:off x="9268686" y="3186305"/>
            <a:ext cx="21817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5899172-1C8D-31CC-BED4-E629638350F7}"/>
              </a:ext>
            </a:extLst>
          </p:cNvPr>
          <p:cNvSpPr txBox="1"/>
          <p:nvPr/>
        </p:nvSpPr>
        <p:spPr>
          <a:xfrm>
            <a:off x="9345688" y="3278547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Hazard Measure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FCA727-0D21-CE85-BC3B-E65050260B92}"/>
              </a:ext>
            </a:extLst>
          </p:cNvPr>
          <p:cNvSpPr txBox="1"/>
          <p:nvPr/>
        </p:nvSpPr>
        <p:spPr>
          <a:xfrm rot="16200000">
            <a:off x="7710636" y="1812919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Hazard Measure 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FA45367-A0E8-1B85-39B9-6CB2CE20750F}"/>
              </a:ext>
            </a:extLst>
          </p:cNvPr>
          <p:cNvSpPr/>
          <p:nvPr/>
        </p:nvSpPr>
        <p:spPr>
          <a:xfrm rot="19328492">
            <a:off x="9563382" y="1496180"/>
            <a:ext cx="1972265" cy="1336578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A696314-2415-D901-E389-1B1816E8C272}"/>
              </a:ext>
            </a:extLst>
          </p:cNvPr>
          <p:cNvSpPr/>
          <p:nvPr/>
        </p:nvSpPr>
        <p:spPr>
          <a:xfrm>
            <a:off x="10107401" y="2476389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A1A1D74-8076-A69D-6C9D-9FD4C9808C2C}"/>
              </a:ext>
            </a:extLst>
          </p:cNvPr>
          <p:cNvSpPr/>
          <p:nvPr/>
        </p:nvSpPr>
        <p:spPr>
          <a:xfrm>
            <a:off x="9958950" y="2356927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F7342EA-EB1B-AD2B-6F62-250F90515B50}"/>
              </a:ext>
            </a:extLst>
          </p:cNvPr>
          <p:cNvSpPr/>
          <p:nvPr/>
        </p:nvSpPr>
        <p:spPr>
          <a:xfrm>
            <a:off x="9986781" y="2503036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6DA80F2-2A79-B3CA-B423-11ADA4B66D60}"/>
              </a:ext>
            </a:extLst>
          </p:cNvPr>
          <p:cNvSpPr/>
          <p:nvPr/>
        </p:nvSpPr>
        <p:spPr>
          <a:xfrm>
            <a:off x="10346064" y="2163819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2FDA441-3915-300F-D173-4F3884B7FF7B}"/>
              </a:ext>
            </a:extLst>
          </p:cNvPr>
          <p:cNvSpPr/>
          <p:nvPr/>
        </p:nvSpPr>
        <p:spPr>
          <a:xfrm>
            <a:off x="10280143" y="1892747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8F3C7D91-08AF-70DC-8388-90D1EDF92C15}"/>
              </a:ext>
            </a:extLst>
          </p:cNvPr>
          <p:cNvSpPr/>
          <p:nvPr/>
        </p:nvSpPr>
        <p:spPr>
          <a:xfrm>
            <a:off x="10316435" y="2535942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4BDD714-DA3A-AD53-5513-65F2E0F0EF71}"/>
              </a:ext>
            </a:extLst>
          </p:cNvPr>
          <p:cNvSpPr/>
          <p:nvPr/>
        </p:nvSpPr>
        <p:spPr>
          <a:xfrm>
            <a:off x="10079961" y="2022577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D983C61D-AA00-BAD5-046E-5E92121EEE3F}"/>
              </a:ext>
            </a:extLst>
          </p:cNvPr>
          <p:cNvSpPr/>
          <p:nvPr/>
        </p:nvSpPr>
        <p:spPr>
          <a:xfrm>
            <a:off x="10481377" y="1542909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47B646DD-281A-A345-9214-FDDEC0ACF76C}"/>
              </a:ext>
            </a:extLst>
          </p:cNvPr>
          <p:cNvSpPr/>
          <p:nvPr/>
        </p:nvSpPr>
        <p:spPr>
          <a:xfrm>
            <a:off x="10868114" y="1460402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11ADC8C-E324-2D1A-6414-A453FCD52AA7}"/>
              </a:ext>
            </a:extLst>
          </p:cNvPr>
          <p:cNvSpPr/>
          <p:nvPr/>
        </p:nvSpPr>
        <p:spPr>
          <a:xfrm>
            <a:off x="10982902" y="1845096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C65F5FC6-A02C-6972-C087-C32595AD92D7}"/>
              </a:ext>
            </a:extLst>
          </p:cNvPr>
          <p:cNvSpPr/>
          <p:nvPr/>
        </p:nvSpPr>
        <p:spPr>
          <a:xfrm>
            <a:off x="10237088" y="2128231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2D4BC785-00E0-3081-D416-F6E5038BEDD7}"/>
              </a:ext>
            </a:extLst>
          </p:cNvPr>
          <p:cNvSpPr/>
          <p:nvPr/>
        </p:nvSpPr>
        <p:spPr>
          <a:xfrm>
            <a:off x="10194033" y="2363715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B48B49E-6046-99AB-C3C0-CAB4962746BE}"/>
              </a:ext>
            </a:extLst>
          </p:cNvPr>
          <p:cNvSpPr/>
          <p:nvPr/>
        </p:nvSpPr>
        <p:spPr>
          <a:xfrm>
            <a:off x="10150978" y="2599199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3049BFF7-2792-9099-7369-394D094F7ED4}"/>
              </a:ext>
            </a:extLst>
          </p:cNvPr>
          <p:cNvSpPr/>
          <p:nvPr/>
        </p:nvSpPr>
        <p:spPr>
          <a:xfrm>
            <a:off x="9998580" y="2368693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16A48537-0A31-5632-A682-93BD42375629}"/>
              </a:ext>
            </a:extLst>
          </p:cNvPr>
          <p:cNvSpPr/>
          <p:nvPr/>
        </p:nvSpPr>
        <p:spPr>
          <a:xfrm>
            <a:off x="9901469" y="2541680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EDF907FE-2EA7-B291-3B1C-01968AC129BE}"/>
              </a:ext>
            </a:extLst>
          </p:cNvPr>
          <p:cNvSpPr/>
          <p:nvPr/>
        </p:nvSpPr>
        <p:spPr>
          <a:xfrm>
            <a:off x="9987083" y="2723924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0C690B93-96AA-9FB5-4A59-B4D3A2D5392A}"/>
              </a:ext>
            </a:extLst>
          </p:cNvPr>
          <p:cNvSpPr/>
          <p:nvPr/>
        </p:nvSpPr>
        <p:spPr>
          <a:xfrm>
            <a:off x="10045171" y="2646238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EA17FE4-B0AC-2737-6962-A3DFFF9CFF92}"/>
              </a:ext>
            </a:extLst>
          </p:cNvPr>
          <p:cNvSpPr/>
          <p:nvPr/>
        </p:nvSpPr>
        <p:spPr>
          <a:xfrm>
            <a:off x="10298731" y="2624022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15C15FCF-E4FB-ACCF-3E26-B63CF92DFC67}"/>
              </a:ext>
            </a:extLst>
          </p:cNvPr>
          <p:cNvSpPr/>
          <p:nvPr/>
        </p:nvSpPr>
        <p:spPr>
          <a:xfrm>
            <a:off x="10534616" y="2538073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43263B11-8CA9-83B6-9FF4-EDB2D1FB9F25}"/>
              </a:ext>
            </a:extLst>
          </p:cNvPr>
          <p:cNvSpPr/>
          <p:nvPr/>
        </p:nvSpPr>
        <p:spPr>
          <a:xfrm>
            <a:off x="10216250" y="2473734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B7664E16-60DE-F997-EEC4-3731A84F6825}"/>
              </a:ext>
            </a:extLst>
          </p:cNvPr>
          <p:cNvSpPr/>
          <p:nvPr/>
        </p:nvSpPr>
        <p:spPr>
          <a:xfrm>
            <a:off x="10406095" y="2317768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F4C9E60A-C71B-A6C0-4DA4-31F2AAF3FF56}"/>
              </a:ext>
            </a:extLst>
          </p:cNvPr>
          <p:cNvSpPr/>
          <p:nvPr/>
        </p:nvSpPr>
        <p:spPr>
          <a:xfrm>
            <a:off x="10433916" y="2613595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CB21131B-B98A-536E-CD69-1D912695E13A}"/>
              </a:ext>
            </a:extLst>
          </p:cNvPr>
          <p:cNvSpPr/>
          <p:nvPr/>
        </p:nvSpPr>
        <p:spPr>
          <a:xfrm>
            <a:off x="10472068" y="2356864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7571CB7-6CB6-7333-4A2D-8BE0E69A2BA0}"/>
              </a:ext>
            </a:extLst>
          </p:cNvPr>
          <p:cNvSpPr/>
          <p:nvPr/>
        </p:nvSpPr>
        <p:spPr>
          <a:xfrm>
            <a:off x="10510220" y="2100133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2EBD1AED-4FBF-E430-50B6-1E4644537CAA}"/>
              </a:ext>
            </a:extLst>
          </p:cNvPr>
          <p:cNvSpPr/>
          <p:nvPr/>
        </p:nvSpPr>
        <p:spPr>
          <a:xfrm>
            <a:off x="10606987" y="1894863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9AC86DB4-C8D4-91DC-7101-525093ED0C76}"/>
              </a:ext>
            </a:extLst>
          </p:cNvPr>
          <p:cNvSpPr/>
          <p:nvPr/>
        </p:nvSpPr>
        <p:spPr>
          <a:xfrm>
            <a:off x="10093503" y="2190034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6C7F308D-5948-1463-DE92-15F01FB4FED7}"/>
              </a:ext>
            </a:extLst>
          </p:cNvPr>
          <p:cNvSpPr/>
          <p:nvPr/>
        </p:nvSpPr>
        <p:spPr>
          <a:xfrm>
            <a:off x="10404483" y="2017238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2641679F-04ED-523C-8063-8BD5550D0BF8}"/>
              </a:ext>
            </a:extLst>
          </p:cNvPr>
          <p:cNvSpPr/>
          <p:nvPr/>
        </p:nvSpPr>
        <p:spPr>
          <a:xfrm>
            <a:off x="10238214" y="2224957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83FBD484-C776-4B47-50F7-31C300D9A6EA}"/>
              </a:ext>
            </a:extLst>
          </p:cNvPr>
          <p:cNvSpPr/>
          <p:nvPr/>
        </p:nvSpPr>
        <p:spPr>
          <a:xfrm>
            <a:off x="10632629" y="2499760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8FFCFAC6-59AF-2340-3B9C-2FCFBE3BECA5}"/>
              </a:ext>
            </a:extLst>
          </p:cNvPr>
          <p:cNvSpPr/>
          <p:nvPr/>
        </p:nvSpPr>
        <p:spPr>
          <a:xfrm>
            <a:off x="10699461" y="2215865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93A8DFFB-6876-1534-C3C5-DBECCCEB62A9}"/>
              </a:ext>
            </a:extLst>
          </p:cNvPr>
          <p:cNvSpPr/>
          <p:nvPr/>
        </p:nvSpPr>
        <p:spPr>
          <a:xfrm>
            <a:off x="10257477" y="2361249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Arrow: Right 117">
            <a:extLst>
              <a:ext uri="{FF2B5EF4-FFF2-40B4-BE49-F238E27FC236}">
                <a16:creationId xmlns:a16="http://schemas.microsoft.com/office/drawing/2014/main" id="{4DEF2B67-198B-1CB3-BC47-257437FCE77B}"/>
              </a:ext>
            </a:extLst>
          </p:cNvPr>
          <p:cNvSpPr/>
          <p:nvPr/>
        </p:nvSpPr>
        <p:spPr>
          <a:xfrm>
            <a:off x="7821055" y="1808555"/>
            <a:ext cx="868680" cy="67349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511921FA-7C04-BC87-1340-171022774E59}"/>
              </a:ext>
            </a:extLst>
          </p:cNvPr>
          <p:cNvSpPr/>
          <p:nvPr/>
        </p:nvSpPr>
        <p:spPr>
          <a:xfrm>
            <a:off x="9837800" y="2697104"/>
            <a:ext cx="94923" cy="94923"/>
          </a:xfrm>
          <a:prstGeom prst="ellipse">
            <a:avLst/>
          </a:prstGeom>
          <a:solidFill>
            <a:srgbClr val="4472C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6D0D1319-FE08-A783-8B4D-03C706028B55}"/>
              </a:ext>
            </a:extLst>
          </p:cNvPr>
          <p:cNvSpPr/>
          <p:nvPr/>
        </p:nvSpPr>
        <p:spPr>
          <a:xfrm rot="19328492">
            <a:off x="5557101" y="1554865"/>
            <a:ext cx="1972265" cy="1336578"/>
          </a:xfrm>
          <a:prstGeom prst="ellipse">
            <a:avLst/>
          </a:prstGeom>
          <a:solidFill>
            <a:srgbClr val="4472C4">
              <a:alpha val="30196"/>
            </a:srgb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5FAC8199-B15E-1901-AA70-30D70EA56936}"/>
              </a:ext>
            </a:extLst>
          </p:cNvPr>
          <p:cNvSpPr/>
          <p:nvPr/>
        </p:nvSpPr>
        <p:spPr>
          <a:xfrm rot="19328492">
            <a:off x="5707045" y="1813995"/>
            <a:ext cx="1498417" cy="993585"/>
          </a:xfrm>
          <a:prstGeom prst="ellipse">
            <a:avLst/>
          </a:prstGeom>
          <a:solidFill>
            <a:srgbClr val="4472C4">
              <a:alpha val="30196"/>
            </a:srgb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69900D0D-BD97-DEAA-633A-EBCB58495DCB}"/>
              </a:ext>
            </a:extLst>
          </p:cNvPr>
          <p:cNvSpPr/>
          <p:nvPr/>
        </p:nvSpPr>
        <p:spPr>
          <a:xfrm rot="19328492">
            <a:off x="5800492" y="2194465"/>
            <a:ext cx="892340" cy="593611"/>
          </a:xfrm>
          <a:prstGeom prst="ellipse">
            <a:avLst/>
          </a:prstGeom>
          <a:solidFill>
            <a:srgbClr val="4472C4">
              <a:alpha val="30196"/>
            </a:srgb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9859CB39-19BA-EE67-CD10-E9DB30EC24EE}"/>
              </a:ext>
            </a:extLst>
          </p:cNvPr>
          <p:cNvSpPr/>
          <p:nvPr/>
        </p:nvSpPr>
        <p:spPr>
          <a:xfrm rot="19328492">
            <a:off x="5863109" y="2407443"/>
            <a:ext cx="498425" cy="301274"/>
          </a:xfrm>
          <a:prstGeom prst="ellipse">
            <a:avLst/>
          </a:prstGeom>
          <a:solidFill>
            <a:srgbClr val="4472C4">
              <a:alpha val="30196"/>
            </a:srgb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083E3E2-93AF-5EA7-A018-8D6A7CF63EBE}"/>
              </a:ext>
            </a:extLst>
          </p:cNvPr>
          <p:cNvSpPr txBox="1"/>
          <p:nvPr/>
        </p:nvSpPr>
        <p:spPr>
          <a:xfrm>
            <a:off x="2848708" y="-3868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76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59805-2797-B537-A218-2281F46A3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65E16-4027-ADCD-9461-3D8D9DE3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Proposal: Hypothesis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386BC-2FAB-0866-1476-5199EF003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74A31-1725-5CAC-EB01-89E71C41F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864DD-68C5-F238-9296-344FFFEB9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754130A-BCC5-3406-3A5D-A53279BB89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736003"/>
              </p:ext>
            </p:extLst>
          </p:nvPr>
        </p:nvGraphicFramePr>
        <p:xfrm>
          <a:off x="548640" y="1371600"/>
          <a:ext cx="11109960" cy="336499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212529"/>
                          </a:solidFill>
                          <a:latin typeface="Calibri"/>
                        </a:rPr>
                        <a:t>Antecedent</a:t>
                      </a:r>
                    </a:p>
                  </a:txBody>
                  <a:tcPr marL="73152" marR="73152" marT="27432" marB="27432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212529"/>
                          </a:solidFill>
                          <a:latin typeface="Calibri"/>
                        </a:rPr>
                        <a:t>Established</a:t>
                      </a:r>
                    </a:p>
                  </a:txBody>
                  <a:tcPr marL="73152" marR="73152" marT="27432" marB="27432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dirty="0">
                          <a:solidFill>
                            <a:srgbClr val="212529"/>
                          </a:solidFill>
                          <a:latin typeface="Calibri"/>
                        </a:rPr>
                        <a:t>Limitations</a:t>
                      </a:r>
                      <a:endParaRPr sz="1800" b="1" i="0" dirty="0">
                        <a:solidFill>
                          <a:srgbClr val="212529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E9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Cohen et al. 2021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training-scenario properties drive out-of-sample robustness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Requires 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problem-driven regret selection; a 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preliminary 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perfect-foresight 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MOEA 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run 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for each 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212529"/>
                          </a:solidFill>
                          <a:latin typeface="Calibri"/>
                        </a:rPr>
                        <a:t>Zaniolo et al. 2023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drought-type training ensembles change the policies found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Hazard metrics 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imposed 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a priori before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 generation; 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hazards aren’t emergent</a:t>
                      </a:r>
                      <a:endParaRPr sz="1800" b="0" i="0" dirty="0">
                        <a:solidFill>
                          <a:srgbClr val="212529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212529"/>
                          </a:solidFill>
                          <a:latin typeface="Calibri"/>
                        </a:rPr>
                        <a:t>Zatarain Salazar et al. 2017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search-ensemble size vs fidelity vs cost tradeoff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s</a:t>
                      </a:r>
                      <a:endParaRPr sz="1800" b="0" i="0" dirty="0">
                        <a:solidFill>
                          <a:srgbClr val="212529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Scenario selection relies on 1-dimensional aggregate mean 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flow</a:t>
                      </a:r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 CDF sampling</a:t>
                      </a:r>
                      <a:endParaRPr sz="1800" b="0" i="0" dirty="0">
                        <a:solidFill>
                          <a:srgbClr val="212529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Bonham et al. 2024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space-filling subsampling + coverage metrics in water resources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P</a:t>
                      </a:r>
                      <a:r>
                        <a:rPr sz="1800" b="0" i="0" dirty="0">
                          <a:solidFill>
                            <a:srgbClr val="212529"/>
                          </a:solidFill>
                          <a:latin typeface="Calibri"/>
                        </a:rPr>
                        <a:t>ost-hoc robustness ranking, not the search ensemble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169344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7427AE6D-F54F-080B-00D4-8528A88344DF}"/>
              </a:ext>
            </a:extLst>
          </p:cNvPr>
          <p:cNvSpPr/>
          <p:nvPr/>
        </p:nvSpPr>
        <p:spPr>
          <a:xfrm>
            <a:off x="548640" y="5010949"/>
            <a:ext cx="11109960" cy="1234440"/>
          </a:xfrm>
          <a:prstGeom prst="rect">
            <a:avLst/>
          </a:prstGeom>
          <a:solidFill>
            <a:srgbClr val="E9EFF5"/>
          </a:solidFill>
          <a:ln w="1587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/>
            <a:r>
              <a:rPr sz="2000" b="0" i="0" dirty="0">
                <a:solidFill>
                  <a:srgbClr val="212529"/>
                </a:solidFill>
                <a:latin typeface="Calibri"/>
              </a:rPr>
              <a:t>No study builds the MOEA search ensemble by space-filling selection in a multi-dimensional hazard space</a:t>
            </a:r>
            <a:r>
              <a:rPr lang="en-US" sz="2000" dirty="0">
                <a:solidFill>
                  <a:srgbClr val="212529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212529"/>
                </a:solidFill>
                <a:latin typeface="Calibri"/>
              </a:rPr>
              <a:t>and tests it on a held-out ensemble spanning deep climate uncertainty.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BEEEA0-90A3-2648-8DD3-B2D6EF80DB58}"/>
              </a:ext>
            </a:extLst>
          </p:cNvPr>
          <p:cNvSpPr txBox="1"/>
          <p:nvPr/>
        </p:nvSpPr>
        <p:spPr>
          <a:xfrm>
            <a:off x="548640" y="727911"/>
            <a:ext cx="9059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Comparison with relevant and recent publications:</a:t>
            </a:r>
          </a:p>
        </p:txBody>
      </p:sp>
    </p:spTree>
    <p:extLst>
      <p:ext uri="{BB962C8B-B14F-4D97-AF65-F5344CB8AC3E}">
        <p14:creationId xmlns:p14="http://schemas.microsoft.com/office/powerpoint/2010/main" val="2440423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EED8E-0BD7-8CF0-A29E-7D0974878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F06DD-1FBB-F759-D336-AAAFF93CE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Proposal: Hypothesis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CF1CA-6947-63A6-E179-E509613AE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ED131-1532-AE4F-044B-21A580C81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611B8-A6B2-6664-C0B5-BFBC7FBFE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15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6235A2-48E9-CF43-5CC5-2B76F5B30A9F}"/>
              </a:ext>
            </a:extLst>
          </p:cNvPr>
          <p:cNvSpPr/>
          <p:nvPr/>
        </p:nvSpPr>
        <p:spPr>
          <a:xfrm>
            <a:off x="640080" y="1528071"/>
            <a:ext cx="3200400" cy="1005840"/>
          </a:xfrm>
          <a:prstGeom prst="rect">
            <a:avLst/>
          </a:prstGeom>
          <a:solidFill>
            <a:srgbClr val="E9EFF5"/>
          </a:solidFill>
          <a:ln w="1270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800" b="1" i="0">
                <a:solidFill>
                  <a:srgbClr val="212529"/>
                </a:solidFill>
                <a:latin typeface="Calibri"/>
              </a:rPr>
              <a:t>Input space</a:t>
            </a:r>
            <a:r>
              <a:rPr sz="1800" b="0" i="0">
                <a:solidFill>
                  <a:srgbClr val="212529"/>
                </a:solidFill>
                <a:latin typeface="Calibri"/>
              </a:rPr>
              <a:t>
generator &amp; climate-forcing parameters θ</a:t>
            </a:r>
          </a:p>
        </p:txBody>
      </p:sp>
      <p:cxnSp>
        <p:nvCxnSpPr>
          <p:cNvPr id="9" name="Connector 4">
            <a:extLst>
              <a:ext uri="{FF2B5EF4-FFF2-40B4-BE49-F238E27FC236}">
                <a16:creationId xmlns:a16="http://schemas.microsoft.com/office/drawing/2014/main" id="{B2C782B0-FFE6-FEF7-7193-0238A4ABDF29}"/>
              </a:ext>
            </a:extLst>
          </p:cNvPr>
          <p:cNvCxnSpPr/>
          <p:nvPr/>
        </p:nvCxnSpPr>
        <p:spPr>
          <a:xfrm>
            <a:off x="3840480" y="2030990"/>
            <a:ext cx="68580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88AD29F-7655-144D-DAF4-D2BCB86C8BB7}"/>
              </a:ext>
            </a:extLst>
          </p:cNvPr>
          <p:cNvSpPr txBox="1"/>
          <p:nvPr/>
        </p:nvSpPr>
        <p:spPr>
          <a:xfrm>
            <a:off x="3364992" y="260706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F6B7A"/>
                </a:solidFill>
                <a:latin typeface="Calibri"/>
              </a:rPr>
              <a:t>generate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953CF9-AE96-C509-CBB2-CBD23E083FD7}"/>
              </a:ext>
            </a:extLst>
          </p:cNvPr>
          <p:cNvSpPr/>
          <p:nvPr/>
        </p:nvSpPr>
        <p:spPr>
          <a:xfrm>
            <a:off x="4526280" y="1528071"/>
            <a:ext cx="3200400" cy="1005840"/>
          </a:xfrm>
          <a:prstGeom prst="rect">
            <a:avLst/>
          </a:prstGeom>
          <a:solidFill>
            <a:srgbClr val="E9EFF5"/>
          </a:solidFill>
          <a:ln w="2222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800" b="1" i="0">
                <a:solidFill>
                  <a:srgbClr val="212529"/>
                </a:solidFill>
                <a:latin typeface="Calibri"/>
              </a:rPr>
              <a:t>Hazard space</a:t>
            </a:r>
            <a:r>
              <a:rPr sz="1800" b="0" i="0">
                <a:solidFill>
                  <a:srgbClr val="212529"/>
                </a:solidFill>
                <a:latin typeface="Calibri"/>
              </a:rPr>
              <a:t>
drought / low-flow / high-flow metrics per sequence</a:t>
            </a:r>
          </a:p>
        </p:txBody>
      </p:sp>
      <p:cxnSp>
        <p:nvCxnSpPr>
          <p:cNvPr id="13" name="Connector 7">
            <a:extLst>
              <a:ext uri="{FF2B5EF4-FFF2-40B4-BE49-F238E27FC236}">
                <a16:creationId xmlns:a16="http://schemas.microsoft.com/office/drawing/2014/main" id="{2FC2A174-BFF1-628D-5AA1-C5AA4908D441}"/>
              </a:ext>
            </a:extLst>
          </p:cNvPr>
          <p:cNvCxnSpPr/>
          <p:nvPr/>
        </p:nvCxnSpPr>
        <p:spPr>
          <a:xfrm>
            <a:off x="7726679" y="2030990"/>
            <a:ext cx="685801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2FEF9D4-1DA0-E989-ECD9-0B92F8209128}"/>
              </a:ext>
            </a:extLst>
          </p:cNvPr>
          <p:cNvSpPr txBox="1"/>
          <p:nvPr/>
        </p:nvSpPr>
        <p:spPr>
          <a:xfrm>
            <a:off x="7251192" y="260706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F6B7A"/>
                </a:solidFill>
                <a:latin typeface="Calibri"/>
              </a:rPr>
              <a:t>simulate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23E08F-5993-2E15-3BF6-B9B4196C5022}"/>
              </a:ext>
            </a:extLst>
          </p:cNvPr>
          <p:cNvSpPr/>
          <p:nvPr/>
        </p:nvSpPr>
        <p:spPr>
          <a:xfrm>
            <a:off x="8412480" y="1528071"/>
            <a:ext cx="3200400" cy="1005840"/>
          </a:xfrm>
          <a:prstGeom prst="rect">
            <a:avLst/>
          </a:prstGeom>
          <a:solidFill>
            <a:srgbClr val="E9EFF5"/>
          </a:solidFill>
          <a:ln w="1270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800" b="1" i="0">
                <a:solidFill>
                  <a:srgbClr val="212529"/>
                </a:solidFill>
                <a:latin typeface="Calibri"/>
              </a:rPr>
              <a:t>Outcome space</a:t>
            </a:r>
            <a:r>
              <a:rPr sz="1800" b="0" i="0">
                <a:solidFill>
                  <a:srgbClr val="212529"/>
                </a:solidFill>
                <a:latin typeface="Calibri"/>
              </a:rPr>
              <a:t>
objective values of a policy under a scenario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3797857-712E-EABB-FC82-3010423F8545}"/>
              </a:ext>
            </a:extLst>
          </p:cNvPr>
          <p:cNvSpPr txBox="1"/>
          <p:nvPr/>
        </p:nvSpPr>
        <p:spPr>
          <a:xfrm>
            <a:off x="548640" y="3931920"/>
            <a:ext cx="11091672" cy="1936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4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b="0" i="0" dirty="0">
                <a:solidFill>
                  <a:srgbClr val="212529"/>
                </a:solidFill>
                <a:latin typeface="Calibri"/>
              </a:rPr>
              <a:t>hazard </a:t>
            </a:r>
            <a:r>
              <a:rPr lang="en-US" sz="2000" b="0" i="0" dirty="0">
                <a:solidFill>
                  <a:srgbClr val="212529"/>
                </a:solidFill>
                <a:latin typeface="Calibri"/>
              </a:rPr>
              <a:t>metrics </a:t>
            </a:r>
            <a:r>
              <a:rPr sz="2000" b="0" i="0" dirty="0">
                <a:solidFill>
                  <a:srgbClr val="212529"/>
                </a:solidFill>
                <a:latin typeface="Calibri"/>
              </a:rPr>
              <a:t>are </a:t>
            </a:r>
            <a:r>
              <a:rPr sz="2000" b="1" i="0" dirty="0">
                <a:solidFill>
                  <a:srgbClr val="212529"/>
                </a:solidFill>
                <a:latin typeface="Calibri"/>
              </a:rPr>
              <a:t>measured on </a:t>
            </a:r>
            <a:r>
              <a:rPr lang="en-US" sz="2000" b="1" i="0" dirty="0">
                <a:solidFill>
                  <a:srgbClr val="212529"/>
                </a:solidFill>
                <a:latin typeface="Calibri"/>
              </a:rPr>
              <a:t>realized </a:t>
            </a:r>
            <a:r>
              <a:rPr sz="2000" b="1" i="0" dirty="0">
                <a:solidFill>
                  <a:srgbClr val="212529"/>
                </a:solidFill>
                <a:latin typeface="Calibri"/>
              </a:rPr>
              <a:t>sequences, before any simulation</a:t>
            </a:r>
            <a:r>
              <a:rPr sz="2000" b="0" i="0" dirty="0">
                <a:solidFill>
                  <a:srgbClr val="212529"/>
                </a:solidFill>
                <a:latin typeface="Calibri"/>
              </a:rPr>
              <a:t> (drought event metrics; flow indices)</a:t>
            </a:r>
            <a:endParaRPr lang="en-US" sz="2000" b="0" i="0" dirty="0">
              <a:solidFill>
                <a:srgbClr val="212529"/>
              </a:solidFill>
              <a:latin typeface="Calibri"/>
            </a:endParaRPr>
          </a:p>
          <a:p>
            <a:pPr marL="342900" indent="-342900">
              <a:lnSpc>
                <a:spcPct val="104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endParaRPr sz="2000" b="0" i="0" dirty="0">
              <a:solidFill>
                <a:srgbClr val="212529"/>
              </a:solidFill>
              <a:latin typeface="Calibri"/>
            </a:endParaRPr>
          </a:p>
          <a:p>
            <a:pPr marL="342900" indent="-342900">
              <a:lnSpc>
                <a:spcPct val="104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b="0" i="0" dirty="0">
                <a:solidFill>
                  <a:srgbClr val="212529"/>
                </a:solidFill>
                <a:latin typeface="Calibri"/>
              </a:rPr>
              <a:t>so hazard-space ensemble design is a </a:t>
            </a:r>
            <a:r>
              <a:rPr sz="2000" b="1" i="0" dirty="0">
                <a:solidFill>
                  <a:srgbClr val="212529"/>
                </a:solidFill>
                <a:latin typeface="Calibri"/>
              </a:rPr>
              <a:t>simulation-free, pre-optimization step</a:t>
            </a:r>
            <a:r>
              <a:rPr sz="2000" b="0" i="0" dirty="0">
                <a:solidFill>
                  <a:srgbClr val="212529"/>
                </a:solidFill>
                <a:latin typeface="Calibri"/>
              </a:rPr>
              <a:t>, reusable across problem formulations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A897AC-34B4-C5D5-3011-CD030A6615B0}"/>
              </a:ext>
            </a:extLst>
          </p:cNvPr>
          <p:cNvSpPr/>
          <p:nvPr/>
        </p:nvSpPr>
        <p:spPr>
          <a:xfrm>
            <a:off x="237023" y="1237661"/>
            <a:ext cx="2630905" cy="158816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Not a good slide, not good narrative</a:t>
            </a:r>
          </a:p>
        </p:txBody>
      </p:sp>
    </p:spTree>
    <p:extLst>
      <p:ext uri="{BB962C8B-B14F-4D97-AF65-F5344CB8AC3E}">
        <p14:creationId xmlns:p14="http://schemas.microsoft.com/office/powerpoint/2010/main" val="457095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5A31A-8FB7-A335-B156-96EB647A6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137D3-6260-327B-2B73-017956ED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E8657-2123-A4F2-8100-4465384A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A9FCB-0257-17AF-12DE-2962D8B1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16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79DB5A-714E-077C-CA06-DDDFC8F4841E}"/>
              </a:ext>
            </a:extLst>
          </p:cNvPr>
          <p:cNvSpPr/>
          <p:nvPr/>
        </p:nvSpPr>
        <p:spPr>
          <a:xfrm>
            <a:off x="0" y="1491916"/>
            <a:ext cx="12191999" cy="3481137"/>
          </a:xfrm>
          <a:prstGeom prst="rect">
            <a:avLst/>
          </a:prstGeom>
          <a:solidFill>
            <a:srgbClr val="152C47"/>
          </a:solidFill>
          <a:ln>
            <a:solidFill>
              <a:srgbClr val="152C4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chemeClr val="bg1"/>
                </a:solidFill>
              </a:rPr>
              <a:t>NYC Reservoir Operations</a:t>
            </a:r>
          </a:p>
          <a:p>
            <a:pPr algn="ctr"/>
            <a:r>
              <a:rPr lang="en-US" sz="3200" i="1" dirty="0">
                <a:solidFill>
                  <a:schemeClr val="bg1"/>
                </a:solidFill>
              </a:rPr>
              <a:t>Problem Formulation: Decision Variables</a:t>
            </a:r>
          </a:p>
        </p:txBody>
      </p:sp>
    </p:spTree>
    <p:extLst>
      <p:ext uri="{BB962C8B-B14F-4D97-AF65-F5344CB8AC3E}">
        <p14:creationId xmlns:p14="http://schemas.microsoft.com/office/powerpoint/2010/main" val="273668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1D24F-E74D-AFF0-CA24-B50DDA8E5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C2972-D1BD-C66B-9295-AAC8A5CB0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Decision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8D578-2DCA-1AB4-CC6C-DB0CAFF7D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B7A09-E48B-4222-F4B8-CD5046B8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16CF3-92E3-6BE7-6F1E-1A8FAE36C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654779-3964-394F-D48D-FFA8A2053608}"/>
              </a:ext>
            </a:extLst>
          </p:cNvPr>
          <p:cNvSpPr txBox="1"/>
          <p:nvPr/>
        </p:nvSpPr>
        <p:spPr>
          <a:xfrm>
            <a:off x="505766" y="702904"/>
            <a:ext cx="11104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Overview of the FFMP operational rules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78204F-A1AA-7716-5BAE-3803E8351E24}"/>
              </a:ext>
            </a:extLst>
          </p:cNvPr>
          <p:cNvSpPr/>
          <p:nvPr/>
        </p:nvSpPr>
        <p:spPr>
          <a:xfrm>
            <a:off x="932564" y="2371637"/>
            <a:ext cx="3916974" cy="3856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Max NYC &amp; NJ Diversion Limits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3229DC-1F45-E15B-5F76-1972316E718A}"/>
              </a:ext>
            </a:extLst>
          </p:cNvPr>
          <p:cNvSpPr/>
          <p:nvPr/>
        </p:nvSpPr>
        <p:spPr>
          <a:xfrm>
            <a:off x="932564" y="1902280"/>
            <a:ext cx="391697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Minimum Flow Target at Montague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801F91D-2E21-79F5-7571-60ED6C07E903}"/>
              </a:ext>
            </a:extLst>
          </p:cNvPr>
          <p:cNvSpPr txBox="1"/>
          <p:nvPr/>
        </p:nvSpPr>
        <p:spPr>
          <a:xfrm>
            <a:off x="838200" y="1366010"/>
            <a:ext cx="586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Supreme Court established:</a:t>
            </a:r>
          </a:p>
          <a:p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F30BA20-6175-36B5-17D9-493793DABCD5}"/>
              </a:ext>
            </a:extLst>
          </p:cNvPr>
          <p:cNvSpPr txBox="1"/>
          <p:nvPr/>
        </p:nvSpPr>
        <p:spPr>
          <a:xfrm>
            <a:off x="838200" y="3093013"/>
            <a:ext cx="11104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i="1" dirty="0"/>
              <a:t>Flexible Flow Management Program (FFMP, 2017)</a:t>
            </a:r>
            <a:r>
              <a:rPr lang="en-US" dirty="0"/>
              <a:t> was established, via unanimous consent from the Decree parties, to provide </a:t>
            </a:r>
            <a:r>
              <a:rPr lang="en-US" i="1" dirty="0"/>
              <a:t>flexibility</a:t>
            </a:r>
            <a:r>
              <a:rPr lang="en-US" dirty="0"/>
              <a:t> to these requirements during periods of drought to alleviate water stress.</a:t>
            </a:r>
          </a:p>
          <a:p>
            <a:endParaRPr lang="en-US" dirty="0"/>
          </a:p>
          <a:p>
            <a:r>
              <a:rPr lang="en-US" dirty="0"/>
              <a:t>The FFMP recognizes the inherent tension between </a:t>
            </a:r>
            <a:r>
              <a:rPr lang="en-US" i="1" dirty="0"/>
              <a:t>water diversions</a:t>
            </a:r>
            <a:r>
              <a:rPr lang="en-US" dirty="0"/>
              <a:t> and </a:t>
            </a:r>
            <a:r>
              <a:rPr lang="en-US" i="1" dirty="0"/>
              <a:t>downstream flow targets. </a:t>
            </a:r>
            <a:endParaRPr lang="en-US" dirty="0"/>
          </a:p>
          <a:p>
            <a:endParaRPr lang="en-US" dirty="0"/>
          </a:p>
          <a:p>
            <a:r>
              <a:rPr lang="en-US" dirty="0"/>
              <a:t>As drought stress increases: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NYC and NJ diversion allocations </a:t>
            </a:r>
            <a:r>
              <a:rPr lang="en-US" b="1" dirty="0"/>
              <a:t>decrease</a:t>
            </a:r>
            <a:r>
              <a:rPr lang="en-US" dirty="0"/>
              <a:t>, leading to municipal supply curtailment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Montague (and Trenton) streamflow targets </a:t>
            </a:r>
            <a:r>
              <a:rPr lang="en-US" b="1" dirty="0"/>
              <a:t>decrease</a:t>
            </a:r>
            <a:r>
              <a:rPr lang="en-US" dirty="0"/>
              <a:t>, leading to downstream environmental and supply risk.</a:t>
            </a:r>
          </a:p>
        </p:txBody>
      </p:sp>
      <p:sp>
        <p:nvSpPr>
          <p:cNvPr id="50" name="Right Brace 49">
            <a:extLst>
              <a:ext uri="{FF2B5EF4-FFF2-40B4-BE49-F238E27FC236}">
                <a16:creationId xmlns:a16="http://schemas.microsoft.com/office/drawing/2014/main" id="{F12594A5-9839-9567-A975-5872612CD4F4}"/>
              </a:ext>
            </a:extLst>
          </p:cNvPr>
          <p:cNvSpPr/>
          <p:nvPr/>
        </p:nvSpPr>
        <p:spPr>
          <a:xfrm>
            <a:off x="5176800" y="1719455"/>
            <a:ext cx="244800" cy="123120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AAE00F-7FEB-F51C-6E26-DAB41D297105}"/>
              </a:ext>
            </a:extLst>
          </p:cNvPr>
          <p:cNvSpPr txBox="1"/>
          <p:nvPr/>
        </p:nvSpPr>
        <p:spPr>
          <a:xfrm>
            <a:off x="5485800" y="2012341"/>
            <a:ext cx="586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Court requires unanimous agreement from all DRBC Decree parties to modify these requirements.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503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8230A-37F3-7F3E-68B1-2346EEE7B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056DD-D9C1-C197-7F61-2DD174276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Decision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68B96-5BCD-F3C1-5D45-1496763C1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766CB-5BB0-96F2-72AE-5C1CC9185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40DB6-F872-1686-66E3-A86C0CD02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1D8F58-F88E-771A-56B5-8703E79A1DFD}"/>
              </a:ext>
            </a:extLst>
          </p:cNvPr>
          <p:cNvSpPr txBox="1"/>
          <p:nvPr/>
        </p:nvSpPr>
        <p:spPr>
          <a:xfrm>
            <a:off x="505766" y="702904"/>
            <a:ext cx="11104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Overview of the FFMP operational rules</a:t>
            </a:r>
            <a:endParaRPr lang="en-US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C301DD-997E-D83F-3C39-78E64FA5F1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627"/>
          <a:stretch/>
        </p:blipFill>
        <p:spPr>
          <a:xfrm>
            <a:off x="714279" y="2348361"/>
            <a:ext cx="4205659" cy="298718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C7F5BF5-4202-CBDB-F45D-FE6AE5EE07F6}"/>
              </a:ext>
            </a:extLst>
          </p:cNvPr>
          <p:cNvSpPr/>
          <p:nvPr/>
        </p:nvSpPr>
        <p:spPr>
          <a:xfrm>
            <a:off x="7880564" y="1525002"/>
            <a:ext cx="3916974" cy="3856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i="1" dirty="0"/>
              <a:t>Baseline</a:t>
            </a:r>
            <a:r>
              <a:rPr lang="en-US" sz="1600" dirty="0"/>
              <a:t> Max NYC &amp; NJ Diversion Limits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0A27C2-1B3C-04FB-4222-F8EA972FE2CE}"/>
              </a:ext>
            </a:extLst>
          </p:cNvPr>
          <p:cNvSpPr/>
          <p:nvPr/>
        </p:nvSpPr>
        <p:spPr>
          <a:xfrm>
            <a:off x="7880564" y="1055645"/>
            <a:ext cx="391697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i="1" dirty="0"/>
              <a:t>Baseline </a:t>
            </a:r>
            <a:r>
              <a:rPr lang="en-US" sz="1600" dirty="0"/>
              <a:t>Minimum Flow Target at Montague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0FB0F1-4473-A21A-CF21-2B8436E4FC10}"/>
              </a:ext>
            </a:extLst>
          </p:cNvPr>
          <p:cNvSpPr/>
          <p:nvPr/>
        </p:nvSpPr>
        <p:spPr>
          <a:xfrm>
            <a:off x="6870033" y="4040239"/>
            <a:ext cx="4932842" cy="76293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Minimum Daily Reservoir Releases (L3-L5)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E21F75-A994-BAF4-4B55-02D7AA727DB1}"/>
              </a:ext>
            </a:extLst>
          </p:cNvPr>
          <p:cNvSpPr/>
          <p:nvPr/>
        </p:nvSpPr>
        <p:spPr>
          <a:xfrm>
            <a:off x="6870032" y="4923461"/>
            <a:ext cx="4932842" cy="76293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NYC Reservoir Spill Mitigation Releases (L1)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45DB36A-D684-5B7D-BFCE-0CCF7FE5ADA2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4919938" y="3841953"/>
            <a:ext cx="1950095" cy="57975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701C62F-9AAC-F64C-7483-10A50D92D6D3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>
            <a:off x="4919938" y="3841953"/>
            <a:ext cx="1950094" cy="146297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6938643-8270-740C-6208-038871A671AB}"/>
              </a:ext>
            </a:extLst>
          </p:cNvPr>
          <p:cNvSpPr txBox="1"/>
          <p:nvPr/>
        </p:nvSpPr>
        <p:spPr>
          <a:xfrm>
            <a:off x="8733202" y="722710"/>
            <a:ext cx="3206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Court Mandated (unchanged, fixed)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23D938-9176-DE15-826F-9775174BC6F0}"/>
              </a:ext>
            </a:extLst>
          </p:cNvPr>
          <p:cNvSpPr/>
          <p:nvPr/>
        </p:nvSpPr>
        <p:spPr>
          <a:xfrm>
            <a:off x="6870033" y="3157017"/>
            <a:ext cx="4927508" cy="76293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Montague &amp; Trenton flow target reduction (L3-L5)</a:t>
            </a:r>
            <a:endParaRPr lang="en-US" i="1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7689196-07E2-1FD9-B11D-EF9399BE896A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 flipV="1">
            <a:off x="4919938" y="3538485"/>
            <a:ext cx="1950095" cy="3034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1FCCAF20-8198-B4A4-2E2C-7D805C039126}"/>
              </a:ext>
            </a:extLst>
          </p:cNvPr>
          <p:cNvSpPr/>
          <p:nvPr/>
        </p:nvSpPr>
        <p:spPr>
          <a:xfrm>
            <a:off x="6870032" y="2231457"/>
            <a:ext cx="4927507" cy="762935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Allowable NYC &amp; NJ diversion reduction (L3-L5)</a:t>
            </a:r>
            <a:endParaRPr lang="en-US" i="1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8DDB38E-8C32-6D21-BDFE-C7894F2AC7CC}"/>
              </a:ext>
            </a:extLst>
          </p:cNvPr>
          <p:cNvCxnSpPr>
            <a:cxnSpLocks/>
            <a:stCxn id="13" idx="3"/>
            <a:endCxn id="34" idx="1"/>
          </p:cNvCxnSpPr>
          <p:nvPr/>
        </p:nvCxnSpPr>
        <p:spPr>
          <a:xfrm flipV="1">
            <a:off x="4919938" y="2612925"/>
            <a:ext cx="1950094" cy="122902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C85F254-1453-7926-AAD6-2A6FE5DCF707}"/>
              </a:ext>
            </a:extLst>
          </p:cNvPr>
          <p:cNvSpPr txBox="1"/>
          <p:nvPr/>
        </p:nvSpPr>
        <p:spPr>
          <a:xfrm>
            <a:off x="596741" y="1959272"/>
            <a:ext cx="45254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NYC storage zones dictate operational rules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DA324D-53C9-EEA2-50D2-DC1B631AD7E4}"/>
              </a:ext>
            </a:extLst>
          </p:cNvPr>
          <p:cNvSpPr txBox="1"/>
          <p:nvPr/>
        </p:nvSpPr>
        <p:spPr>
          <a:xfrm>
            <a:off x="4882376" y="2381155"/>
            <a:ext cx="2351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Storage Zone</a:t>
            </a:r>
          </a:p>
          <a:p>
            <a:pPr algn="ctr"/>
            <a:r>
              <a:rPr lang="en-US" sz="1400" b="1" dirty="0"/>
              <a:t>Determines</a:t>
            </a:r>
          </a:p>
        </p:txBody>
      </p:sp>
    </p:spTree>
    <p:extLst>
      <p:ext uri="{BB962C8B-B14F-4D97-AF65-F5344CB8AC3E}">
        <p14:creationId xmlns:p14="http://schemas.microsoft.com/office/powerpoint/2010/main" val="3433554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E5623-E6EB-7309-123D-206C28DBF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A5686-7136-5682-F252-DD6132E94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</a:t>
            </a:r>
            <a:r>
              <a:rPr lang="en-US" i="1" dirty="0"/>
              <a:t>Decision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B18BF-F7E4-0C89-A7C4-09D895B4B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0E684-6C14-7F8E-EC52-B315DD380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99EA3-D3BE-9384-BE1B-8F8A841AF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19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310207-E10F-F958-9E2E-F31BC6A94B13}"/>
              </a:ext>
            </a:extLst>
          </p:cNvPr>
          <p:cNvSpPr txBox="1"/>
          <p:nvPr/>
        </p:nvSpPr>
        <p:spPr>
          <a:xfrm>
            <a:off x="849228" y="1137563"/>
            <a:ext cx="597202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NYC Reservoir Operational Decision Variables: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Storage Zone Boundary Vertical Shifts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Storage Zone Boundary Temporal Shift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850A9F-8DFC-5FD2-B2BC-A61245587681}"/>
              </a:ext>
            </a:extLst>
          </p:cNvPr>
          <p:cNvGrpSpPr/>
          <p:nvPr/>
        </p:nvGrpSpPr>
        <p:grpSpPr>
          <a:xfrm>
            <a:off x="6421775" y="3086101"/>
            <a:ext cx="4269491" cy="2970930"/>
            <a:chOff x="171732" y="2473639"/>
            <a:chExt cx="4372632" cy="304270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A224494-0B95-F6CB-F575-ACD3967C2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7635" t="10869"/>
            <a:stretch>
              <a:fillRect/>
            </a:stretch>
          </p:blipFill>
          <p:spPr>
            <a:xfrm>
              <a:off x="598440" y="2473639"/>
              <a:ext cx="3945924" cy="3042703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7411DE3-6F67-1F35-C65D-E552986F771F}"/>
                </a:ext>
              </a:extLst>
            </p:cNvPr>
            <p:cNvSpPr txBox="1"/>
            <p:nvPr/>
          </p:nvSpPr>
          <p:spPr>
            <a:xfrm rot="16200000">
              <a:off x="-890892" y="3693601"/>
              <a:ext cx="2440459" cy="3152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Combined NYC Storage</a:t>
              </a: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1F18E0-B7BC-E4B6-A8CA-57BEB853ACC7}"/>
              </a:ext>
            </a:extLst>
          </p:cNvPr>
          <p:cNvCxnSpPr>
            <a:cxnSpLocks/>
          </p:cNvCxnSpPr>
          <p:nvPr/>
        </p:nvCxnSpPr>
        <p:spPr>
          <a:xfrm>
            <a:off x="8958821" y="3734261"/>
            <a:ext cx="0" cy="10392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4AB2095-0C1D-B342-1BC0-C7F8451CE5B1}"/>
              </a:ext>
            </a:extLst>
          </p:cNvPr>
          <p:cNvSpPr/>
          <p:nvPr/>
        </p:nvSpPr>
        <p:spPr>
          <a:xfrm>
            <a:off x="6957870" y="3146128"/>
            <a:ext cx="3566531" cy="2376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890DB09-A7DC-52D4-E23A-B1F196F748E8}"/>
              </a:ext>
            </a:extLst>
          </p:cNvPr>
          <p:cNvSpPr/>
          <p:nvPr/>
        </p:nvSpPr>
        <p:spPr>
          <a:xfrm>
            <a:off x="7105902" y="4312929"/>
            <a:ext cx="3323168" cy="745195"/>
          </a:xfrm>
          <a:custGeom>
            <a:avLst/>
            <a:gdLst>
              <a:gd name="csX0" fmla="*/ 0 w 2743200"/>
              <a:gd name="csY0" fmla="*/ 482138 h 615142"/>
              <a:gd name="csX1" fmla="*/ 881149 w 2743200"/>
              <a:gd name="csY1" fmla="*/ 0 h 615142"/>
              <a:gd name="csX2" fmla="*/ 1230284 w 2743200"/>
              <a:gd name="csY2" fmla="*/ 0 h 615142"/>
              <a:gd name="csX3" fmla="*/ 1978429 w 2743200"/>
              <a:gd name="csY3" fmla="*/ 598516 h 615142"/>
              <a:gd name="csX4" fmla="*/ 2535382 w 2743200"/>
              <a:gd name="csY4" fmla="*/ 615142 h 615142"/>
              <a:gd name="csX5" fmla="*/ 2743200 w 2743200"/>
              <a:gd name="csY5" fmla="*/ 507076 h 615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743200" h="615142">
                <a:moveTo>
                  <a:pt x="0" y="482138"/>
                </a:moveTo>
                <a:lnTo>
                  <a:pt x="881149" y="0"/>
                </a:lnTo>
                <a:lnTo>
                  <a:pt x="1230284" y="0"/>
                </a:lnTo>
                <a:lnTo>
                  <a:pt x="1978429" y="598516"/>
                </a:lnTo>
                <a:lnTo>
                  <a:pt x="2535382" y="615142"/>
                </a:lnTo>
                <a:lnTo>
                  <a:pt x="2743200" y="507076"/>
                </a:lnTo>
              </a:path>
            </a:pathLst>
          </a:cu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A9987BB-3DC3-0477-3B7C-14C83C709ADE}"/>
              </a:ext>
            </a:extLst>
          </p:cNvPr>
          <p:cNvCxnSpPr>
            <a:cxnSpLocks/>
          </p:cNvCxnSpPr>
          <p:nvPr/>
        </p:nvCxnSpPr>
        <p:spPr>
          <a:xfrm flipH="1">
            <a:off x="8819651" y="4689776"/>
            <a:ext cx="701200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8EF48C-2327-423A-E276-FD19BC7D6FD9}"/>
              </a:ext>
            </a:extLst>
          </p:cNvPr>
          <p:cNvGrpSpPr/>
          <p:nvPr/>
        </p:nvGrpSpPr>
        <p:grpSpPr>
          <a:xfrm>
            <a:off x="1473019" y="3086101"/>
            <a:ext cx="4269491" cy="2970930"/>
            <a:chOff x="171732" y="2473639"/>
            <a:chExt cx="4372632" cy="3042703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875B1F6-B3F4-864E-1569-9975B5104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7635" t="10869"/>
            <a:stretch>
              <a:fillRect/>
            </a:stretch>
          </p:blipFill>
          <p:spPr>
            <a:xfrm>
              <a:off x="598440" y="2473639"/>
              <a:ext cx="3945924" cy="3042703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A5EFF50-7A6E-075F-A6A1-DA7676A47DD6}"/>
                </a:ext>
              </a:extLst>
            </p:cNvPr>
            <p:cNvSpPr txBox="1"/>
            <p:nvPr/>
          </p:nvSpPr>
          <p:spPr>
            <a:xfrm rot="16200000">
              <a:off x="-890892" y="3693601"/>
              <a:ext cx="2440459" cy="3152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Combined NYC Storage</a:t>
              </a:r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972FADC-B419-685F-901F-6DCCDD6E66F9}"/>
              </a:ext>
            </a:extLst>
          </p:cNvPr>
          <p:cNvCxnSpPr>
            <a:cxnSpLocks/>
          </p:cNvCxnSpPr>
          <p:nvPr/>
        </p:nvCxnSpPr>
        <p:spPr>
          <a:xfrm>
            <a:off x="4010066" y="3734261"/>
            <a:ext cx="0" cy="10392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BDBE289-0521-14C1-1E28-D8DD4E605B95}"/>
              </a:ext>
            </a:extLst>
          </p:cNvPr>
          <p:cNvSpPr/>
          <p:nvPr/>
        </p:nvSpPr>
        <p:spPr>
          <a:xfrm>
            <a:off x="2009115" y="3146128"/>
            <a:ext cx="3566531" cy="2376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96B639F-164B-E8F4-36FA-70F9E84B3602}"/>
              </a:ext>
            </a:extLst>
          </p:cNvPr>
          <p:cNvSpPr/>
          <p:nvPr/>
        </p:nvSpPr>
        <p:spPr>
          <a:xfrm>
            <a:off x="2157147" y="4312929"/>
            <a:ext cx="3323168" cy="745195"/>
          </a:xfrm>
          <a:custGeom>
            <a:avLst/>
            <a:gdLst>
              <a:gd name="csX0" fmla="*/ 0 w 2743200"/>
              <a:gd name="csY0" fmla="*/ 482138 h 615142"/>
              <a:gd name="csX1" fmla="*/ 881149 w 2743200"/>
              <a:gd name="csY1" fmla="*/ 0 h 615142"/>
              <a:gd name="csX2" fmla="*/ 1230284 w 2743200"/>
              <a:gd name="csY2" fmla="*/ 0 h 615142"/>
              <a:gd name="csX3" fmla="*/ 1978429 w 2743200"/>
              <a:gd name="csY3" fmla="*/ 598516 h 615142"/>
              <a:gd name="csX4" fmla="*/ 2535382 w 2743200"/>
              <a:gd name="csY4" fmla="*/ 615142 h 615142"/>
              <a:gd name="csX5" fmla="*/ 2743200 w 2743200"/>
              <a:gd name="csY5" fmla="*/ 507076 h 615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743200" h="615142">
                <a:moveTo>
                  <a:pt x="0" y="482138"/>
                </a:moveTo>
                <a:lnTo>
                  <a:pt x="881149" y="0"/>
                </a:lnTo>
                <a:lnTo>
                  <a:pt x="1230284" y="0"/>
                </a:lnTo>
                <a:lnTo>
                  <a:pt x="1978429" y="598516"/>
                </a:lnTo>
                <a:lnTo>
                  <a:pt x="2535382" y="615142"/>
                </a:lnTo>
                <a:lnTo>
                  <a:pt x="2743200" y="507076"/>
                </a:lnTo>
              </a:path>
            </a:pathLst>
          </a:cu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4BCB9AA-E085-F8BB-F7A2-3518259F5DD1}"/>
              </a:ext>
            </a:extLst>
          </p:cNvPr>
          <p:cNvCxnSpPr>
            <a:cxnSpLocks/>
          </p:cNvCxnSpPr>
          <p:nvPr/>
        </p:nvCxnSpPr>
        <p:spPr>
          <a:xfrm>
            <a:off x="3444793" y="4110990"/>
            <a:ext cx="0" cy="452987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2F73B19-DE07-35E4-E1B2-B001905D7E33}"/>
              </a:ext>
            </a:extLst>
          </p:cNvPr>
          <p:cNvCxnSpPr>
            <a:cxnSpLocks/>
          </p:cNvCxnSpPr>
          <p:nvPr/>
        </p:nvCxnSpPr>
        <p:spPr>
          <a:xfrm>
            <a:off x="4837839" y="4831629"/>
            <a:ext cx="0" cy="452987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610CD09-7C7C-3A2F-D906-A67CB8A5A8CD}"/>
              </a:ext>
            </a:extLst>
          </p:cNvPr>
          <p:cNvSpPr/>
          <p:nvPr/>
        </p:nvSpPr>
        <p:spPr>
          <a:xfrm>
            <a:off x="2145736" y="4191380"/>
            <a:ext cx="3323168" cy="1038280"/>
          </a:xfrm>
          <a:custGeom>
            <a:avLst/>
            <a:gdLst>
              <a:gd name="csX0" fmla="*/ 0 w 2743200"/>
              <a:gd name="csY0" fmla="*/ 482138 h 615142"/>
              <a:gd name="csX1" fmla="*/ 881149 w 2743200"/>
              <a:gd name="csY1" fmla="*/ 0 h 615142"/>
              <a:gd name="csX2" fmla="*/ 1230284 w 2743200"/>
              <a:gd name="csY2" fmla="*/ 0 h 615142"/>
              <a:gd name="csX3" fmla="*/ 1978429 w 2743200"/>
              <a:gd name="csY3" fmla="*/ 598516 h 615142"/>
              <a:gd name="csX4" fmla="*/ 2535382 w 2743200"/>
              <a:gd name="csY4" fmla="*/ 615142 h 615142"/>
              <a:gd name="csX5" fmla="*/ 2743200 w 2743200"/>
              <a:gd name="csY5" fmla="*/ 507076 h 615142"/>
              <a:gd name="csX0" fmla="*/ 0 w 2743200"/>
              <a:gd name="csY0" fmla="*/ 482138 h 855691"/>
              <a:gd name="csX1" fmla="*/ 881149 w 2743200"/>
              <a:gd name="csY1" fmla="*/ 0 h 855691"/>
              <a:gd name="csX2" fmla="*/ 1230284 w 2743200"/>
              <a:gd name="csY2" fmla="*/ 0 h 855691"/>
              <a:gd name="csX3" fmla="*/ 2005099 w 2743200"/>
              <a:gd name="csY3" fmla="*/ 855691 h 855691"/>
              <a:gd name="csX4" fmla="*/ 2535382 w 2743200"/>
              <a:gd name="csY4" fmla="*/ 615142 h 855691"/>
              <a:gd name="csX5" fmla="*/ 2743200 w 2743200"/>
              <a:gd name="csY5" fmla="*/ 507076 h 855691"/>
              <a:gd name="csX0" fmla="*/ 0 w 2743200"/>
              <a:gd name="csY0" fmla="*/ 482138 h 857077"/>
              <a:gd name="csX1" fmla="*/ 881149 w 2743200"/>
              <a:gd name="csY1" fmla="*/ 0 h 857077"/>
              <a:gd name="csX2" fmla="*/ 1230284 w 2743200"/>
              <a:gd name="csY2" fmla="*/ 0 h 857077"/>
              <a:gd name="csX3" fmla="*/ 2005099 w 2743200"/>
              <a:gd name="csY3" fmla="*/ 855691 h 857077"/>
              <a:gd name="csX4" fmla="*/ 2552527 w 2743200"/>
              <a:gd name="csY4" fmla="*/ 857077 h 857077"/>
              <a:gd name="csX5" fmla="*/ 2743200 w 2743200"/>
              <a:gd name="csY5" fmla="*/ 507076 h 8570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743200" h="857077">
                <a:moveTo>
                  <a:pt x="0" y="482138"/>
                </a:moveTo>
                <a:lnTo>
                  <a:pt x="881149" y="0"/>
                </a:lnTo>
                <a:lnTo>
                  <a:pt x="1230284" y="0"/>
                </a:lnTo>
                <a:lnTo>
                  <a:pt x="2005099" y="855691"/>
                </a:lnTo>
                <a:lnTo>
                  <a:pt x="2552527" y="857077"/>
                </a:lnTo>
                <a:lnTo>
                  <a:pt x="2743200" y="507076"/>
                </a:lnTo>
              </a:path>
            </a:pathLst>
          </a:cu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A1569A8-1C66-6C80-68AE-CA26EE89EA5C}"/>
              </a:ext>
            </a:extLst>
          </p:cNvPr>
          <p:cNvSpPr/>
          <p:nvPr/>
        </p:nvSpPr>
        <p:spPr>
          <a:xfrm>
            <a:off x="7250141" y="4312929"/>
            <a:ext cx="3323168" cy="745195"/>
          </a:xfrm>
          <a:custGeom>
            <a:avLst/>
            <a:gdLst>
              <a:gd name="csX0" fmla="*/ 0 w 2743200"/>
              <a:gd name="csY0" fmla="*/ 482138 h 615142"/>
              <a:gd name="csX1" fmla="*/ 881149 w 2743200"/>
              <a:gd name="csY1" fmla="*/ 0 h 615142"/>
              <a:gd name="csX2" fmla="*/ 1230284 w 2743200"/>
              <a:gd name="csY2" fmla="*/ 0 h 615142"/>
              <a:gd name="csX3" fmla="*/ 1978429 w 2743200"/>
              <a:gd name="csY3" fmla="*/ 598516 h 615142"/>
              <a:gd name="csX4" fmla="*/ 2535382 w 2743200"/>
              <a:gd name="csY4" fmla="*/ 615142 h 615142"/>
              <a:gd name="csX5" fmla="*/ 2743200 w 2743200"/>
              <a:gd name="csY5" fmla="*/ 507076 h 615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743200" h="615142">
                <a:moveTo>
                  <a:pt x="0" y="482138"/>
                </a:moveTo>
                <a:lnTo>
                  <a:pt x="881149" y="0"/>
                </a:lnTo>
                <a:lnTo>
                  <a:pt x="1230284" y="0"/>
                </a:lnTo>
                <a:lnTo>
                  <a:pt x="1978429" y="598516"/>
                </a:lnTo>
                <a:lnTo>
                  <a:pt x="2535382" y="615142"/>
                </a:lnTo>
                <a:lnTo>
                  <a:pt x="2743200" y="507076"/>
                </a:lnTo>
              </a:path>
            </a:pathLst>
          </a:cu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FBDE0D-852D-A44F-3D65-DB46F3E14823}"/>
              </a:ext>
            </a:extLst>
          </p:cNvPr>
          <p:cNvSpPr txBox="1"/>
          <p:nvPr/>
        </p:nvSpPr>
        <p:spPr>
          <a:xfrm>
            <a:off x="2095172" y="3300640"/>
            <a:ext cx="3394416" cy="372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One vertical shift per zone plateau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C2F85F-589C-C7EA-F151-0EFE747B1DC3}"/>
              </a:ext>
            </a:extLst>
          </p:cNvPr>
          <p:cNvSpPr txBox="1"/>
          <p:nvPr/>
        </p:nvSpPr>
        <p:spPr>
          <a:xfrm>
            <a:off x="7060722" y="3300640"/>
            <a:ext cx="3394416" cy="372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One temporal shift per zone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5BBE52-7DAB-602B-EDB9-3B27B1AF45FB}"/>
              </a:ext>
            </a:extLst>
          </p:cNvPr>
          <p:cNvSpPr txBox="1"/>
          <p:nvPr/>
        </p:nvSpPr>
        <p:spPr>
          <a:xfrm>
            <a:off x="8362763" y="5227847"/>
            <a:ext cx="744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</a:rPr>
              <a:t>±30-days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CF7B86-01D3-740E-F875-E8651910FA27}"/>
              </a:ext>
            </a:extLst>
          </p:cNvPr>
          <p:cNvSpPr txBox="1"/>
          <p:nvPr/>
        </p:nvSpPr>
        <p:spPr>
          <a:xfrm>
            <a:off x="3570721" y="5192964"/>
            <a:ext cx="5293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</a:rPr>
              <a:t>±10%</a:t>
            </a:r>
          </a:p>
        </p:txBody>
      </p:sp>
    </p:spTree>
    <p:extLst>
      <p:ext uri="{BB962C8B-B14F-4D97-AF65-F5344CB8AC3E}">
        <p14:creationId xmlns:p14="http://schemas.microsoft.com/office/powerpoint/2010/main" val="3799188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8B958-0BF7-821C-DBE0-7A0D6842D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342E8-C661-0012-D052-E90875371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</a:t>
            </a:r>
            <a:r>
              <a:rPr lang="en-US" i="1" dirty="0"/>
              <a:t>Decision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19AB3-2143-A84F-FB85-5EE3CB031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CD78C-63B7-6487-6D45-09049795E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E2057-27A1-A468-5582-B9CD73CE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20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19C6CD-7332-F17D-F749-5DBE6B77150E}"/>
              </a:ext>
            </a:extLst>
          </p:cNvPr>
          <p:cNvSpPr txBox="1"/>
          <p:nvPr/>
        </p:nvSpPr>
        <p:spPr>
          <a:xfrm>
            <a:off x="849228" y="1137563"/>
            <a:ext cx="597202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NYC Reservoir Operational Decision Variables: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Storage Zone Boundary Vertical Shifts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Storage Zone Boundary Temporal Shift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NYC Diversion Reduction Factor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NJ Diversion Reduction Factor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A0E1CF-4626-1F2E-B645-C4BA33D01FDA}"/>
              </a:ext>
            </a:extLst>
          </p:cNvPr>
          <p:cNvSpPr/>
          <p:nvPr/>
        </p:nvSpPr>
        <p:spPr>
          <a:xfrm>
            <a:off x="3097427" y="5766486"/>
            <a:ext cx="1235676" cy="4613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361C87-2132-8529-FC21-A1C8A8D9C0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695" t="13880" b="68467"/>
          <a:stretch>
            <a:fillRect/>
          </a:stretch>
        </p:blipFill>
        <p:spPr>
          <a:xfrm>
            <a:off x="6380191" y="3753852"/>
            <a:ext cx="4366520" cy="20126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A0883B-4334-84FD-605A-75ADC313DD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851" t="-125" r="-156" b="85901"/>
          <a:stretch>
            <a:fillRect/>
          </a:stretch>
        </p:blipFill>
        <p:spPr>
          <a:xfrm>
            <a:off x="6380190" y="1533865"/>
            <a:ext cx="4366520" cy="162168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E1F3AAC-CACF-3B98-7E8A-2D05EDD2E44A}"/>
              </a:ext>
            </a:extLst>
          </p:cNvPr>
          <p:cNvCxnSpPr>
            <a:cxnSpLocks/>
          </p:cNvCxnSpPr>
          <p:nvPr/>
        </p:nvCxnSpPr>
        <p:spPr>
          <a:xfrm>
            <a:off x="9442535" y="1818974"/>
            <a:ext cx="0" cy="452987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0C75B68-71A0-D8B5-C5A6-D1193408E429}"/>
              </a:ext>
            </a:extLst>
          </p:cNvPr>
          <p:cNvCxnSpPr>
            <a:cxnSpLocks/>
          </p:cNvCxnSpPr>
          <p:nvPr/>
        </p:nvCxnSpPr>
        <p:spPr>
          <a:xfrm>
            <a:off x="9973930" y="1989422"/>
            <a:ext cx="0" cy="452987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B1EEE8-2600-3323-83CB-B7E436BDB068}"/>
              </a:ext>
            </a:extLst>
          </p:cNvPr>
          <p:cNvCxnSpPr>
            <a:cxnSpLocks/>
          </p:cNvCxnSpPr>
          <p:nvPr/>
        </p:nvCxnSpPr>
        <p:spPr>
          <a:xfrm>
            <a:off x="10372977" y="2045467"/>
            <a:ext cx="0" cy="452987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E212CA3-2A70-DDE8-E647-76C4AD3A1C1B}"/>
              </a:ext>
            </a:extLst>
          </p:cNvPr>
          <p:cNvCxnSpPr>
            <a:cxnSpLocks/>
          </p:cNvCxnSpPr>
          <p:nvPr/>
        </p:nvCxnSpPr>
        <p:spPr>
          <a:xfrm>
            <a:off x="9973930" y="3940342"/>
            <a:ext cx="0" cy="400846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DC2CF3B-A740-7177-78F0-527A78B90237}"/>
              </a:ext>
            </a:extLst>
          </p:cNvPr>
          <p:cNvCxnSpPr>
            <a:cxnSpLocks/>
          </p:cNvCxnSpPr>
          <p:nvPr/>
        </p:nvCxnSpPr>
        <p:spPr>
          <a:xfrm>
            <a:off x="10370723" y="4010419"/>
            <a:ext cx="0" cy="452987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26E08DC-5201-B78F-D42E-01BFBD51C62C}"/>
              </a:ext>
            </a:extLst>
          </p:cNvPr>
          <p:cNvSpPr txBox="1"/>
          <p:nvPr/>
        </p:nvSpPr>
        <p:spPr>
          <a:xfrm>
            <a:off x="7410619" y="1624263"/>
            <a:ext cx="17893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Supreme Court Allocation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B31EB1-2BFD-342C-DFAC-2C96C3BB301D}"/>
              </a:ext>
            </a:extLst>
          </p:cNvPr>
          <p:cNvSpPr txBox="1"/>
          <p:nvPr/>
        </p:nvSpPr>
        <p:spPr>
          <a:xfrm>
            <a:off x="7452227" y="3720497"/>
            <a:ext cx="17893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Supreme Court Allocation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6CC8B0-76F8-12E0-A776-19F37DA446F3}"/>
              </a:ext>
            </a:extLst>
          </p:cNvPr>
          <p:cNvSpPr txBox="1"/>
          <p:nvPr/>
        </p:nvSpPr>
        <p:spPr>
          <a:xfrm>
            <a:off x="9241563" y="2503927"/>
            <a:ext cx="1346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</a:rPr>
              <a:t>±15% FFMP values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A42EF6-1DA1-EA73-C3E4-391CFC7D329F}"/>
              </a:ext>
            </a:extLst>
          </p:cNvPr>
          <p:cNvSpPr txBox="1"/>
          <p:nvPr/>
        </p:nvSpPr>
        <p:spPr>
          <a:xfrm>
            <a:off x="9241563" y="4527678"/>
            <a:ext cx="1346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</a:rPr>
              <a:t>±15% FFMP values</a:t>
            </a:r>
          </a:p>
        </p:txBody>
      </p:sp>
    </p:spTree>
    <p:extLst>
      <p:ext uri="{BB962C8B-B14F-4D97-AF65-F5344CB8AC3E}">
        <p14:creationId xmlns:p14="http://schemas.microsoft.com/office/powerpoint/2010/main" val="29444622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6C0AD-137A-2ECC-B795-087673A26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5F4DF-2475-8B6F-85C3-F8D87C6EC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</a:t>
            </a:r>
            <a:r>
              <a:rPr lang="en-US" i="1" dirty="0"/>
              <a:t>Decision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89854-B952-137B-3E09-19CFC5812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626D3-8795-50BA-54F9-4DD7EA4DD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A7B06-7801-AD58-67FE-BFCD549D1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21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39BDE2-9D38-7B16-1CF6-71308674B667}"/>
              </a:ext>
            </a:extLst>
          </p:cNvPr>
          <p:cNvSpPr txBox="1"/>
          <p:nvPr/>
        </p:nvSpPr>
        <p:spPr>
          <a:xfrm>
            <a:off x="849228" y="1137563"/>
            <a:ext cx="597202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NYC Reservoir Operational Decision Variables: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Storage Zone Boundary Vertical Shifts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Storage Zone Boundary Temporal Shift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NYC Diversion Reduction Factor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NJ Diversion Reduction Factor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Montague &amp; Trenton Streamflow Target Reduction Factor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972EC6-7259-7AD2-2205-609BF50154DE}"/>
              </a:ext>
            </a:extLst>
          </p:cNvPr>
          <p:cNvSpPr/>
          <p:nvPr/>
        </p:nvSpPr>
        <p:spPr>
          <a:xfrm>
            <a:off x="6688476" y="4791928"/>
            <a:ext cx="1235676" cy="4613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CD62E2-B29D-2696-2897-2337CAFBFE0F}"/>
              </a:ext>
            </a:extLst>
          </p:cNvPr>
          <p:cNvSpPr/>
          <p:nvPr/>
        </p:nvSpPr>
        <p:spPr>
          <a:xfrm>
            <a:off x="3097427" y="5766486"/>
            <a:ext cx="1235676" cy="4613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003BFF7-3BCD-2B8B-5780-C3A5C43E6E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751" t="59580" r="32347" b="16537"/>
          <a:stretch>
            <a:fillRect/>
          </a:stretch>
        </p:blipFill>
        <p:spPr>
          <a:xfrm>
            <a:off x="7018225" y="3436079"/>
            <a:ext cx="4288285" cy="2791726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70C1D2D-1D5B-46BC-1502-F43F6285CF46}"/>
              </a:ext>
            </a:extLst>
          </p:cNvPr>
          <p:cNvCxnSpPr>
            <a:cxnSpLocks/>
          </p:cNvCxnSpPr>
          <p:nvPr/>
        </p:nvCxnSpPr>
        <p:spPr>
          <a:xfrm>
            <a:off x="8273991" y="5493056"/>
            <a:ext cx="0" cy="399965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2DB34E8-58F8-F2E8-5DC3-CB3C2FCFDDE7}"/>
              </a:ext>
            </a:extLst>
          </p:cNvPr>
          <p:cNvCxnSpPr>
            <a:cxnSpLocks/>
          </p:cNvCxnSpPr>
          <p:nvPr/>
        </p:nvCxnSpPr>
        <p:spPr>
          <a:xfrm>
            <a:off x="8464491" y="5493056"/>
            <a:ext cx="0" cy="399965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327FAEA-2B9F-E002-FD07-BD074021AC49}"/>
              </a:ext>
            </a:extLst>
          </p:cNvPr>
          <p:cNvCxnSpPr>
            <a:cxnSpLocks/>
          </p:cNvCxnSpPr>
          <p:nvPr/>
        </p:nvCxnSpPr>
        <p:spPr>
          <a:xfrm>
            <a:off x="8654991" y="5493056"/>
            <a:ext cx="0" cy="399965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8727DB4A-60B2-8CC8-1F50-E679BDD75F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59580" r="66005" b="16537"/>
          <a:stretch>
            <a:fillRect/>
          </a:stretch>
        </p:blipFill>
        <p:spPr>
          <a:xfrm>
            <a:off x="6736729" y="591808"/>
            <a:ext cx="4569782" cy="2791726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2BA236E-2743-41D0-3481-A55F01D0264D}"/>
              </a:ext>
            </a:extLst>
          </p:cNvPr>
          <p:cNvCxnSpPr>
            <a:cxnSpLocks/>
          </p:cNvCxnSpPr>
          <p:nvPr/>
        </p:nvCxnSpPr>
        <p:spPr>
          <a:xfrm>
            <a:off x="8118747" y="1475561"/>
            <a:ext cx="0" cy="399965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9F6C6BA-605E-B1A2-00CB-DA7EEB2F7543}"/>
              </a:ext>
            </a:extLst>
          </p:cNvPr>
          <p:cNvCxnSpPr>
            <a:cxnSpLocks/>
          </p:cNvCxnSpPr>
          <p:nvPr/>
        </p:nvCxnSpPr>
        <p:spPr>
          <a:xfrm>
            <a:off x="8118747" y="1875526"/>
            <a:ext cx="0" cy="399965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170F8B5-5D8F-D807-7C85-366C702B0CFB}"/>
              </a:ext>
            </a:extLst>
          </p:cNvPr>
          <p:cNvCxnSpPr>
            <a:cxnSpLocks/>
          </p:cNvCxnSpPr>
          <p:nvPr/>
        </p:nvCxnSpPr>
        <p:spPr>
          <a:xfrm>
            <a:off x="8143374" y="2665635"/>
            <a:ext cx="0" cy="399965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064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4695E-7F20-9803-CA00-28E70C4AA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13D81-D5EC-6F7D-E2D0-6FEC4E408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</a:t>
            </a:r>
            <a:r>
              <a:rPr lang="en-US" i="1" dirty="0"/>
              <a:t>Decision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F16CE-8273-2376-7038-64A20582E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AB79D-334C-2BCB-D433-0D6A19C78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3955F-4B34-50A2-E4FA-9E043E510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22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0994F6-6B52-E0DF-539A-09AEE954F576}"/>
              </a:ext>
            </a:extLst>
          </p:cNvPr>
          <p:cNvSpPr txBox="1"/>
          <p:nvPr/>
        </p:nvSpPr>
        <p:spPr>
          <a:xfrm>
            <a:off x="849228" y="1137563"/>
            <a:ext cx="597202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NYC Reservoir Operational Decision Variables: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Storage Zone Boundary Vertical Shifts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Storage Zone Boundary Temporal Shift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NYC Diversion Reduction Factor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NJ Diversion Reduction Factor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Montague &amp; Trenton Streamflow Target Reduction Factor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Spill Mitigation Releases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1D7E2F-AA63-C03C-F9EB-AC96155C66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609" t="62102" b="13920"/>
          <a:stretch>
            <a:fillRect/>
          </a:stretch>
        </p:blipFill>
        <p:spPr>
          <a:xfrm>
            <a:off x="7095091" y="2454442"/>
            <a:ext cx="4247681" cy="265248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6DE4738-A6EF-899B-A375-951B050C47BF}"/>
              </a:ext>
            </a:extLst>
          </p:cNvPr>
          <p:cNvCxnSpPr>
            <a:cxnSpLocks/>
          </p:cNvCxnSpPr>
          <p:nvPr/>
        </p:nvCxnSpPr>
        <p:spPr>
          <a:xfrm>
            <a:off x="8407878" y="3633070"/>
            <a:ext cx="0" cy="526151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5EFFAF0-ED00-D415-7831-E6EF11FE7DBE}"/>
              </a:ext>
            </a:extLst>
          </p:cNvPr>
          <p:cNvCxnSpPr>
            <a:cxnSpLocks/>
          </p:cNvCxnSpPr>
          <p:nvPr/>
        </p:nvCxnSpPr>
        <p:spPr>
          <a:xfrm>
            <a:off x="8865078" y="3938818"/>
            <a:ext cx="0" cy="526151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EE9C8C2-21DC-ED9E-EF5F-C743703188E4}"/>
              </a:ext>
            </a:extLst>
          </p:cNvPr>
          <p:cNvSpPr/>
          <p:nvPr/>
        </p:nvSpPr>
        <p:spPr>
          <a:xfrm>
            <a:off x="6688476" y="4791928"/>
            <a:ext cx="1235676" cy="4613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6184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368B8-0571-417A-7697-67C7ED47D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25446-DE39-CEFB-44A3-DCF5D5652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</a:t>
            </a:r>
            <a:r>
              <a:rPr lang="en-US" i="1" dirty="0"/>
              <a:t>Decision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C0E61-3DE4-DFDF-8452-90ACB4F71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837E9-23FC-2A2D-F0EF-544D3F9DD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7A828-7B18-C2CD-068E-E1789071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23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2636C8-8E13-D8D3-023F-A30342B94E97}"/>
              </a:ext>
            </a:extLst>
          </p:cNvPr>
          <p:cNvSpPr txBox="1"/>
          <p:nvPr/>
        </p:nvSpPr>
        <p:spPr>
          <a:xfrm>
            <a:off x="849228" y="1137563"/>
            <a:ext cx="597202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NYC Reservoir Operational Decision Variables: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Storage Zone Boundary Vertical Shifts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Storage Zone Boundary Temporal Shift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NYC Diversion Reduction Factor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NJ Diversion Reduction Factor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Montague &amp; Trenton Streamflow Target Reduction Factor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Spill Mitigation Releases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Minimum Daily Release Scaling Factor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67ED49-83C7-3460-E4F9-0F89ED85D46F}"/>
              </a:ext>
            </a:extLst>
          </p:cNvPr>
          <p:cNvSpPr/>
          <p:nvPr/>
        </p:nvSpPr>
        <p:spPr>
          <a:xfrm>
            <a:off x="6688476" y="4791928"/>
            <a:ext cx="1235676" cy="4613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5362B4-2613-DFFE-D06D-EF2F79EE2CEA}"/>
              </a:ext>
            </a:extLst>
          </p:cNvPr>
          <p:cNvSpPr/>
          <p:nvPr/>
        </p:nvSpPr>
        <p:spPr>
          <a:xfrm>
            <a:off x="6532442" y="4791928"/>
            <a:ext cx="1235676" cy="4613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269CBB4-3F96-4037-D020-25EEBBB5CC53}"/>
              </a:ext>
            </a:extLst>
          </p:cNvPr>
          <p:cNvGrpSpPr/>
          <p:nvPr/>
        </p:nvGrpSpPr>
        <p:grpSpPr>
          <a:xfrm>
            <a:off x="6938342" y="2383662"/>
            <a:ext cx="4462663" cy="2677706"/>
            <a:chOff x="3882738" y="3665429"/>
            <a:chExt cx="3753738" cy="225233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91D0E6D-14FE-4F8A-D717-9FBF632CD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814" r="64315" b="42564"/>
            <a:stretch>
              <a:fillRect/>
            </a:stretch>
          </p:blipFill>
          <p:spPr>
            <a:xfrm>
              <a:off x="3882738" y="3665429"/>
              <a:ext cx="3753738" cy="2252334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E9B29E5-17AC-0944-4319-C2C2F6D3DF86}"/>
                </a:ext>
              </a:extLst>
            </p:cNvPr>
            <p:cNvCxnSpPr>
              <a:cxnSpLocks/>
            </p:cNvCxnSpPr>
            <p:nvPr/>
          </p:nvCxnSpPr>
          <p:spPr>
            <a:xfrm>
              <a:off x="4948634" y="4883513"/>
              <a:ext cx="0" cy="591105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A1C3B9A-5778-1057-645E-2815FA5298A2}"/>
                </a:ext>
              </a:extLst>
            </p:cNvPr>
            <p:cNvCxnSpPr>
              <a:cxnSpLocks/>
            </p:cNvCxnSpPr>
            <p:nvPr/>
          </p:nvCxnSpPr>
          <p:spPr>
            <a:xfrm>
              <a:off x="5512926" y="4883512"/>
              <a:ext cx="0" cy="591105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47950AB-E958-26DA-71A1-CF8464B6DE04}"/>
                </a:ext>
              </a:extLst>
            </p:cNvPr>
            <p:cNvCxnSpPr>
              <a:cxnSpLocks/>
            </p:cNvCxnSpPr>
            <p:nvPr/>
          </p:nvCxnSpPr>
          <p:spPr>
            <a:xfrm>
              <a:off x="6077218" y="4883511"/>
              <a:ext cx="0" cy="591105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49418BD-086B-8FF1-6A5A-88BC1C20760B}"/>
                </a:ext>
              </a:extLst>
            </p:cNvPr>
            <p:cNvCxnSpPr>
              <a:cxnSpLocks/>
            </p:cNvCxnSpPr>
            <p:nvPr/>
          </p:nvCxnSpPr>
          <p:spPr>
            <a:xfrm>
              <a:off x="6732126" y="4883511"/>
              <a:ext cx="0" cy="591105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36038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84743-198E-1ADD-DC9F-80BAA0BFF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7B289-17B9-4335-BD2E-072C619B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</a:t>
            </a:r>
            <a:r>
              <a:rPr lang="en-US" i="1" dirty="0"/>
              <a:t>Decision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BC739-C6F0-F579-D506-06C0AEAFF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05DCE-DAC8-2EB5-CF57-D57CF1189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85CC8-1858-03A0-28BC-F4118B2EC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24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83552FE-6927-473C-A626-BB77E4BF57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5692"/>
              </p:ext>
            </p:extLst>
          </p:nvPr>
        </p:nvGraphicFramePr>
        <p:xfrm>
          <a:off x="545432" y="1507958"/>
          <a:ext cx="11215133" cy="4604083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3296652">
                  <a:extLst>
                    <a:ext uri="{9D8B030D-6E8A-4147-A177-3AD203B41FA5}">
                      <a16:colId xmlns:a16="http://schemas.microsoft.com/office/drawing/2014/main" val="4225744783"/>
                    </a:ext>
                  </a:extLst>
                </a:gridCol>
                <a:gridCol w="4507832">
                  <a:extLst>
                    <a:ext uri="{9D8B030D-6E8A-4147-A177-3AD203B41FA5}">
                      <a16:colId xmlns:a16="http://schemas.microsoft.com/office/drawing/2014/main" val="3087891204"/>
                    </a:ext>
                  </a:extLst>
                </a:gridCol>
                <a:gridCol w="3410649">
                  <a:extLst>
                    <a:ext uri="{9D8B030D-6E8A-4147-A177-3AD203B41FA5}">
                      <a16:colId xmlns:a16="http://schemas.microsoft.com/office/drawing/2014/main" val="1052092447"/>
                    </a:ext>
                  </a:extLst>
                </a:gridCol>
              </a:tblGrid>
              <a:tr h="2857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Decision variable group (n)</a:t>
                      </a:r>
                      <a:endParaRPr lang="en-US" sz="1600" b="1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Plain-language description</a:t>
                      </a:r>
                      <a:endParaRPr lang="en-US" sz="1600" b="1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Bounds</a:t>
                      </a:r>
                      <a:endParaRPr lang="en-US" sz="1600" b="1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938334"/>
                  </a:ext>
                </a:extLst>
              </a:tr>
              <a:tr h="5397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NYC drought delivery factors (3)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Fraction of NYC's diversion allowed in each of the three drought stages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FFMP value ± 0.15, clipped at 1.0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05687"/>
                  </a:ext>
                </a:extLst>
              </a:tr>
              <a:tr h="5397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NJ drought delivery factors (2)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Fraction of NJ's diversion allowed in the two deepest drought stages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FFMP value ± 0.15, clipped at 1.0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751482"/>
                  </a:ext>
                </a:extLst>
              </a:tr>
              <a:tr h="5397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Storage-zone void shifts (6)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Raise/lower the fall–winter low plateau of each storage-zone boundary curve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±0.10 of capacity (upper zone: +0.025)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610159"/>
                  </a:ext>
                </a:extLst>
              </a:tr>
              <a:tr h="5397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Storage-zone refill shifts (3)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Raise/lower the spring refill target of the drought-zone curves only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±0.10 of capacity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301520"/>
                  </a:ext>
                </a:extLst>
              </a:tr>
              <a:tr h="5397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Storage-zone temporal shifts (6)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Slide each zone-boundary curve earlier/later in the year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±30 days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206239"/>
                  </a:ext>
                </a:extLst>
              </a:tr>
              <a:tr h="5397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Flood-release scales (6)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Scale each reservoir's flood-zone spill-mitigation release schedule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0.5 – 1.2/1.35/1.55 (upper zone); 0.5 – 2.0 (lower zone)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405713"/>
                  </a:ext>
                </a:extLst>
              </a:tr>
              <a:tr h="5397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Seasonal minimum-release scales (4)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Scale conservation-zone daily release profiles by FFMP season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0.8 – 2.6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623545"/>
                  </a:ext>
                </a:extLst>
              </a:tr>
              <a:tr h="5397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Flow-target factor scales (6)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Scale Montague/Trenton drought-stage flow-target reductions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0.65 – 1.15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77475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C85BDA7-BB5F-FA03-D930-4FC33B727B91}"/>
              </a:ext>
            </a:extLst>
          </p:cNvPr>
          <p:cNvSpPr txBox="1"/>
          <p:nvPr/>
        </p:nvSpPr>
        <p:spPr>
          <a:xfrm>
            <a:off x="745957" y="900414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sz="1800" b="1" i="0" dirty="0">
                <a:effectLst/>
                <a:latin typeface="-apple-system"/>
              </a:rPr>
              <a:t>Table 1. FFMP Decision Variables (36 total)</a:t>
            </a:r>
            <a:endParaRPr lang="en-US" sz="1800" b="0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9524337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178E7-5ABE-2966-3625-B5AEB581E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E829E-3485-4E0D-0A38-3F8376F85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Decision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10954-886C-7A5B-33AA-9C4FB19A9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CDDBE-99AB-5941-03B3-6B52BF502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25205-8E7B-D584-BFAD-001F0D470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FD87EB-C02E-725E-E992-525139873A32}"/>
              </a:ext>
            </a:extLst>
          </p:cNvPr>
          <p:cNvSpPr txBox="1"/>
          <p:nvPr/>
        </p:nvSpPr>
        <p:spPr>
          <a:xfrm>
            <a:off x="3523800" y="469689"/>
            <a:ext cx="5475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Overview of the FFMP operational rules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EC9EF1-DB83-DC37-6B5F-F3D36E369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998" y="769447"/>
            <a:ext cx="6474001" cy="562982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5A9D91C-BFDF-14FE-107D-C8B87CF970D6}"/>
              </a:ext>
            </a:extLst>
          </p:cNvPr>
          <p:cNvSpPr/>
          <p:nvPr/>
        </p:nvSpPr>
        <p:spPr>
          <a:xfrm>
            <a:off x="396000" y="839021"/>
            <a:ext cx="1641600" cy="124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Storage zones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4188519-EB26-9D4F-82E0-9EF04CAD6B02}"/>
              </a:ext>
            </a:extLst>
          </p:cNvPr>
          <p:cNvCxnSpPr>
            <a:stCxn id="8" idx="3"/>
          </p:cNvCxnSpPr>
          <p:nvPr/>
        </p:nvCxnSpPr>
        <p:spPr>
          <a:xfrm flipV="1">
            <a:off x="2037600" y="1461600"/>
            <a:ext cx="821398" cy="1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D66710E-34B5-C9A6-4AD9-DC560430814C}"/>
              </a:ext>
            </a:extLst>
          </p:cNvPr>
          <p:cNvSpPr/>
          <p:nvPr/>
        </p:nvSpPr>
        <p:spPr>
          <a:xfrm>
            <a:off x="396000" y="2493169"/>
            <a:ext cx="1641600" cy="124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Minimum daily release requirements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2407476-F035-3BAA-6885-E2BDE21D05B8}"/>
              </a:ext>
            </a:extLst>
          </p:cNvPr>
          <p:cNvCxnSpPr>
            <a:stCxn id="18" idx="3"/>
          </p:cNvCxnSpPr>
          <p:nvPr/>
        </p:nvCxnSpPr>
        <p:spPr>
          <a:xfrm flipV="1">
            <a:off x="2037600" y="3115748"/>
            <a:ext cx="821398" cy="1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9452DD9-7218-CA9E-14A8-7B050A0EBB87}"/>
              </a:ext>
            </a:extLst>
          </p:cNvPr>
          <p:cNvSpPr/>
          <p:nvPr/>
        </p:nvSpPr>
        <p:spPr>
          <a:xfrm>
            <a:off x="9908400" y="891726"/>
            <a:ext cx="1641600" cy="124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NYC &amp; NJ allocation reductions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B9CEEF7-AF82-222D-F0CF-1B6DA2488008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9315599" y="1166400"/>
            <a:ext cx="592801" cy="349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184EF5F-060F-F1E5-C63C-E13570973AEB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9315599" y="1516216"/>
            <a:ext cx="592801" cy="276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A23DC477-55FB-81A0-173D-0CC71B32C2DF}"/>
              </a:ext>
            </a:extLst>
          </p:cNvPr>
          <p:cNvSpPr/>
          <p:nvPr/>
        </p:nvSpPr>
        <p:spPr>
          <a:xfrm>
            <a:off x="396000" y="4180776"/>
            <a:ext cx="1641600" cy="124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Montague &amp; Trenton flow target reductions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44BE05B-ECBE-53DF-DC5B-1DB952C3A113}"/>
              </a:ext>
            </a:extLst>
          </p:cNvPr>
          <p:cNvCxnSpPr>
            <a:cxnSpLocks/>
          </p:cNvCxnSpPr>
          <p:nvPr/>
        </p:nvCxnSpPr>
        <p:spPr>
          <a:xfrm>
            <a:off x="2037600" y="4805266"/>
            <a:ext cx="8213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93FD83AB-F2E3-392F-8413-8FB59F1177D8}"/>
              </a:ext>
            </a:extLst>
          </p:cNvPr>
          <p:cNvSpPr/>
          <p:nvPr/>
        </p:nvSpPr>
        <p:spPr>
          <a:xfrm>
            <a:off x="9908400" y="4266943"/>
            <a:ext cx="1641600" cy="1248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Daily releases while in flood zone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9C89BF7-45AF-27FD-B8D8-B4101FB73A5E}"/>
              </a:ext>
            </a:extLst>
          </p:cNvPr>
          <p:cNvCxnSpPr>
            <a:cxnSpLocks/>
          </p:cNvCxnSpPr>
          <p:nvPr/>
        </p:nvCxnSpPr>
        <p:spPr>
          <a:xfrm flipH="1">
            <a:off x="9315599" y="4891433"/>
            <a:ext cx="592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58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8" grpId="0" animBg="1"/>
      <p:bldP spid="22" grpId="0" animBg="1"/>
      <p:bldP spid="41" grpId="0" animBg="1"/>
      <p:bldP spid="4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76966-E256-D253-0A24-A8296B4ED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5A3DF-AA2C-DEDA-10AF-48079188F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</a:t>
            </a:r>
            <a:r>
              <a:rPr lang="en-US" i="1" dirty="0"/>
              <a:t>Decision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9E94F-2606-59B2-A492-3A2C072D5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0C15B-0707-1D6F-7C2E-5A31E8AE4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03FFF-343B-F28B-66EE-96299783E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517AE2-2068-93B5-2B7B-3EE68EE9993F}"/>
              </a:ext>
            </a:extLst>
          </p:cNvPr>
          <p:cNvSpPr txBox="1"/>
          <p:nvPr/>
        </p:nvSpPr>
        <p:spPr>
          <a:xfrm>
            <a:off x="393088" y="1881266"/>
            <a:ext cx="4114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Example visualizing a custom set of decision variables and the resulting policy rules. 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Dashed lines = Default FFMP</a:t>
            </a:r>
          </a:p>
          <a:p>
            <a:endParaRPr lang="en-US" sz="2000" dirty="0"/>
          </a:p>
          <a:p>
            <a:r>
              <a:rPr lang="en-US" sz="2000" dirty="0"/>
              <a:t>Solid lines = Custom operating rules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AC68FC-ADFC-DD9D-11E5-33E28849C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976" y="539264"/>
            <a:ext cx="7291023" cy="6318736"/>
          </a:xfrm>
          <a:prstGeom prst="rect">
            <a:avLst/>
          </a:prstGeom>
          <a:ln>
            <a:solidFill>
              <a:srgbClr val="152C47"/>
            </a:solidFill>
          </a:ln>
        </p:spPr>
      </p:pic>
    </p:spTree>
    <p:extLst>
      <p:ext uri="{BB962C8B-B14F-4D97-AF65-F5344CB8AC3E}">
        <p14:creationId xmlns:p14="http://schemas.microsoft.com/office/powerpoint/2010/main" val="15785306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2B414-5DB7-A9CF-7F49-324FEC6AD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8FCCF-452E-946F-7CF7-4BDB0C4ED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85644-A7BC-2D11-C6E6-039F766A1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8312D-593F-E18F-4EBC-E7B206803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27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9F5222-E789-9107-D1D3-751E76C179FB}"/>
              </a:ext>
            </a:extLst>
          </p:cNvPr>
          <p:cNvSpPr/>
          <p:nvPr/>
        </p:nvSpPr>
        <p:spPr>
          <a:xfrm>
            <a:off x="0" y="1491916"/>
            <a:ext cx="12191999" cy="3481137"/>
          </a:xfrm>
          <a:prstGeom prst="rect">
            <a:avLst/>
          </a:prstGeom>
          <a:solidFill>
            <a:srgbClr val="152C47"/>
          </a:solidFill>
          <a:ln>
            <a:solidFill>
              <a:srgbClr val="152C4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chemeClr val="bg1"/>
                </a:solidFill>
              </a:rPr>
              <a:t>NYC Reservoir Operations</a:t>
            </a:r>
          </a:p>
          <a:p>
            <a:pPr algn="ctr"/>
            <a:r>
              <a:rPr lang="en-US" sz="3200" i="1" dirty="0">
                <a:solidFill>
                  <a:schemeClr val="bg1"/>
                </a:solidFill>
              </a:rPr>
              <a:t>Problem Formulation: Objective Functions</a:t>
            </a:r>
          </a:p>
        </p:txBody>
      </p:sp>
    </p:spTree>
    <p:extLst>
      <p:ext uri="{BB962C8B-B14F-4D97-AF65-F5344CB8AC3E}">
        <p14:creationId xmlns:p14="http://schemas.microsoft.com/office/powerpoint/2010/main" val="18835553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9E3D1-0F34-7FC2-C6D5-1E0785C08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0F8A-2779-B14D-694B-FD5EAC285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Objective Definitions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0F6BD-4AE1-4A50-6A8C-7F3F12BD9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DE5BC-5C9A-808C-04D8-6FD4E96F3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65175-409E-8872-A490-7D7E36F5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28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03BB62-A209-50AF-9DE7-83141AAA0BCC}"/>
              </a:ext>
            </a:extLst>
          </p:cNvPr>
          <p:cNvSpPr txBox="1"/>
          <p:nvPr/>
        </p:nvSpPr>
        <p:spPr>
          <a:xfrm>
            <a:off x="543559" y="1147298"/>
            <a:ext cx="1110488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NYC objective definition notes: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Focused on re-optimizing the </a:t>
            </a:r>
            <a:r>
              <a:rPr lang="en-US" sz="2400" b="1" i="1" dirty="0"/>
              <a:t>flexible flow management program </a:t>
            </a:r>
            <a:r>
              <a:rPr lang="en-US" sz="2400" i="1" dirty="0"/>
              <a:t>(i.e., changes to operations in drought zones) </a:t>
            </a:r>
            <a:r>
              <a:rPr lang="en-US" sz="2400" dirty="0"/>
              <a:t>and </a:t>
            </a:r>
            <a:r>
              <a:rPr lang="en-US" sz="2400" i="1" dirty="0"/>
              <a:t>not </a:t>
            </a:r>
            <a:r>
              <a:rPr lang="en-US" sz="2400" dirty="0"/>
              <a:t>the Court mandated NYC &amp; Montague diversions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As a result, objectives are defined </a:t>
            </a:r>
            <a:r>
              <a:rPr lang="en-US" sz="2400" i="1" dirty="0"/>
              <a:t>relative to the 1954 Supreme Court mandated requirements 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Currently not planning on using salt-front objectives since the </a:t>
            </a:r>
            <a:r>
              <a:rPr lang="en-US" sz="2400" dirty="0" err="1"/>
              <a:t>SalinityLSTM</a:t>
            </a:r>
            <a:r>
              <a:rPr lang="en-US" sz="2400" dirty="0"/>
              <a:t> does not extrapolate well above river mile ~95.  </a:t>
            </a:r>
          </a:p>
        </p:txBody>
      </p:sp>
    </p:spTree>
    <p:extLst>
      <p:ext uri="{BB962C8B-B14F-4D97-AF65-F5344CB8AC3E}">
        <p14:creationId xmlns:p14="http://schemas.microsoft.com/office/powerpoint/2010/main" val="15377057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23084-2615-43CF-ED47-618F09491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62643-459D-0ED7-6062-0FF5F2FD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Objective Definitions</a:t>
            </a:r>
            <a:endParaRPr lang="en-US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DB380-CBE9-51AE-33A8-627FCF6F9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A9219-CB25-DB1D-B240-A53C4DBA9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2447A-B680-0D43-92BF-2DBBF6650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5A9B67-B217-A4B7-D84C-6A3AC2E93188}"/>
              </a:ext>
            </a:extLst>
          </p:cNvPr>
          <p:cNvSpPr txBox="1"/>
          <p:nvPr/>
        </p:nvSpPr>
        <p:spPr>
          <a:xfrm>
            <a:off x="535321" y="728223"/>
            <a:ext cx="11104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Current objective definition set</a:t>
            </a:r>
            <a:endParaRPr lang="en-US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0A31B9C-93A0-7668-ABE3-32B2E6800789}"/>
              </a:ext>
            </a:extLst>
          </p:cNvPr>
          <p:cNvGrpSpPr/>
          <p:nvPr/>
        </p:nvGrpSpPr>
        <p:grpSpPr>
          <a:xfrm>
            <a:off x="3232486" y="2707608"/>
            <a:ext cx="5727026" cy="322099"/>
            <a:chOff x="2298358" y="2207741"/>
            <a:chExt cx="5727026" cy="4616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AD1531A-4059-1C13-8B2C-536F1A73A1AF}"/>
                </a:ext>
              </a:extLst>
            </p:cNvPr>
            <p:cNvSpPr/>
            <p:nvPr/>
          </p:nvSpPr>
          <p:spPr>
            <a:xfrm>
              <a:off x="2298358" y="2207741"/>
              <a:ext cx="5727026" cy="461665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470E07B-17B0-863E-53F7-42F758DCD5D3}"/>
                </a:ext>
              </a:extLst>
            </p:cNvPr>
            <p:cNvCxnSpPr/>
            <p:nvPr/>
          </p:nvCxnSpPr>
          <p:spPr>
            <a:xfrm>
              <a:off x="3581400" y="2207741"/>
              <a:ext cx="0" cy="461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0F6DC90-1FBB-7DB9-F5FE-3CD55C409551}"/>
                </a:ext>
              </a:extLst>
            </p:cNvPr>
            <p:cNvCxnSpPr/>
            <p:nvPr/>
          </p:nvCxnSpPr>
          <p:spPr>
            <a:xfrm>
              <a:off x="5062728" y="2207741"/>
              <a:ext cx="0" cy="461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705EEAD-CEC4-4F18-63DB-C6C9E6AADC60}"/>
                </a:ext>
              </a:extLst>
            </p:cNvPr>
            <p:cNvCxnSpPr/>
            <p:nvPr/>
          </p:nvCxnSpPr>
          <p:spPr>
            <a:xfrm>
              <a:off x="6544056" y="2207741"/>
              <a:ext cx="0" cy="461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AC5B0CB-8D22-D1E2-C536-A703BD254497}"/>
                </a:ext>
              </a:extLst>
            </p:cNvPr>
            <p:cNvCxnSpPr/>
            <p:nvPr/>
          </p:nvCxnSpPr>
          <p:spPr>
            <a:xfrm>
              <a:off x="8025384" y="2207741"/>
              <a:ext cx="0" cy="461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F20017DC-1796-E391-1CB6-0ED9E6C0183A}"/>
              </a:ext>
            </a:extLst>
          </p:cNvPr>
          <p:cNvSpPr txBox="1"/>
          <p:nvPr/>
        </p:nvSpPr>
        <p:spPr>
          <a:xfrm>
            <a:off x="9479280" y="2707608"/>
            <a:ext cx="1376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Realization 1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504D04A-F769-1629-1787-0E238BCA1260}"/>
              </a:ext>
            </a:extLst>
          </p:cNvPr>
          <p:cNvGrpSpPr/>
          <p:nvPr/>
        </p:nvGrpSpPr>
        <p:grpSpPr>
          <a:xfrm>
            <a:off x="3232486" y="3495665"/>
            <a:ext cx="5727026" cy="322099"/>
            <a:chOff x="2298358" y="2207741"/>
            <a:chExt cx="5727026" cy="46166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B02E2B7-F1B6-26A4-D85B-27040F4DD173}"/>
                </a:ext>
              </a:extLst>
            </p:cNvPr>
            <p:cNvSpPr/>
            <p:nvPr/>
          </p:nvSpPr>
          <p:spPr>
            <a:xfrm>
              <a:off x="2298358" y="2207741"/>
              <a:ext cx="5727026" cy="461665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9843B94-FC9D-9603-8C66-87B5B05878FA}"/>
                </a:ext>
              </a:extLst>
            </p:cNvPr>
            <p:cNvCxnSpPr/>
            <p:nvPr/>
          </p:nvCxnSpPr>
          <p:spPr>
            <a:xfrm>
              <a:off x="3581400" y="2207741"/>
              <a:ext cx="0" cy="461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EA6BCA9-B9C6-3ABE-03B0-2827DE539924}"/>
                </a:ext>
              </a:extLst>
            </p:cNvPr>
            <p:cNvCxnSpPr/>
            <p:nvPr/>
          </p:nvCxnSpPr>
          <p:spPr>
            <a:xfrm>
              <a:off x="5062728" y="2207741"/>
              <a:ext cx="0" cy="461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23F0723-81A8-D924-79B3-3013094A262D}"/>
                </a:ext>
              </a:extLst>
            </p:cNvPr>
            <p:cNvCxnSpPr/>
            <p:nvPr/>
          </p:nvCxnSpPr>
          <p:spPr>
            <a:xfrm>
              <a:off x="6544056" y="2207741"/>
              <a:ext cx="0" cy="461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9CCFD40-15DC-D24F-B31C-C10CD6195582}"/>
                </a:ext>
              </a:extLst>
            </p:cNvPr>
            <p:cNvCxnSpPr/>
            <p:nvPr/>
          </p:nvCxnSpPr>
          <p:spPr>
            <a:xfrm>
              <a:off x="8025384" y="2207741"/>
              <a:ext cx="0" cy="461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1507E8E2-422F-F90E-5F93-17EBEF9313F3}"/>
              </a:ext>
            </a:extLst>
          </p:cNvPr>
          <p:cNvSpPr txBox="1"/>
          <p:nvPr/>
        </p:nvSpPr>
        <p:spPr>
          <a:xfrm>
            <a:off x="9479280" y="3495665"/>
            <a:ext cx="1376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Realization 2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0C328EA-A051-E587-70F8-AE4661D1EB90}"/>
              </a:ext>
            </a:extLst>
          </p:cNvPr>
          <p:cNvGrpSpPr/>
          <p:nvPr/>
        </p:nvGrpSpPr>
        <p:grpSpPr>
          <a:xfrm>
            <a:off x="3232486" y="4764504"/>
            <a:ext cx="5727026" cy="322099"/>
            <a:chOff x="2298358" y="2207741"/>
            <a:chExt cx="5727026" cy="46166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496A27C-D9BF-9E03-E34B-06BEA82C17D4}"/>
                </a:ext>
              </a:extLst>
            </p:cNvPr>
            <p:cNvSpPr/>
            <p:nvPr/>
          </p:nvSpPr>
          <p:spPr>
            <a:xfrm>
              <a:off x="2298358" y="2207741"/>
              <a:ext cx="5727026" cy="461665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0A8F873-A455-4041-FE1C-0F3FC7DC2CAC}"/>
                </a:ext>
              </a:extLst>
            </p:cNvPr>
            <p:cNvCxnSpPr/>
            <p:nvPr/>
          </p:nvCxnSpPr>
          <p:spPr>
            <a:xfrm>
              <a:off x="3581400" y="2207741"/>
              <a:ext cx="0" cy="461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7394D4-6377-D644-992B-3A09CBE9CCD9}"/>
                </a:ext>
              </a:extLst>
            </p:cNvPr>
            <p:cNvCxnSpPr/>
            <p:nvPr/>
          </p:nvCxnSpPr>
          <p:spPr>
            <a:xfrm>
              <a:off x="5062728" y="2207741"/>
              <a:ext cx="0" cy="461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D34F7A3-B36A-7806-D5C9-CA5FFB9BFDD9}"/>
                </a:ext>
              </a:extLst>
            </p:cNvPr>
            <p:cNvCxnSpPr/>
            <p:nvPr/>
          </p:nvCxnSpPr>
          <p:spPr>
            <a:xfrm>
              <a:off x="6544056" y="2207741"/>
              <a:ext cx="0" cy="461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B56A3A0-53C3-F490-6969-598441164465}"/>
                </a:ext>
              </a:extLst>
            </p:cNvPr>
            <p:cNvCxnSpPr/>
            <p:nvPr/>
          </p:nvCxnSpPr>
          <p:spPr>
            <a:xfrm>
              <a:off x="8025384" y="2207741"/>
              <a:ext cx="0" cy="461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9F33A7F1-5068-4170-1484-F0940A23D1A6}"/>
              </a:ext>
            </a:extLst>
          </p:cNvPr>
          <p:cNvSpPr txBox="1"/>
          <p:nvPr/>
        </p:nvSpPr>
        <p:spPr>
          <a:xfrm>
            <a:off x="9479280" y="4764504"/>
            <a:ext cx="1408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Realization 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28C314-E441-000F-B20B-92270A258136}"/>
              </a:ext>
            </a:extLst>
          </p:cNvPr>
          <p:cNvSpPr txBox="1"/>
          <p:nvPr/>
        </p:nvSpPr>
        <p:spPr>
          <a:xfrm>
            <a:off x="5222240" y="4206240"/>
            <a:ext cx="193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632E1599-5FB0-10F9-7E6A-0215544E2874}"/>
                  </a:ext>
                </a:extLst>
              </p:cNvPr>
              <p:cNvSpPr/>
              <p:nvPr/>
            </p:nvSpPr>
            <p:spPr>
              <a:xfrm>
                <a:off x="903008" y="3253115"/>
                <a:ext cx="1176533" cy="117653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632E1599-5FB0-10F9-7E6A-0215544E28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08" y="3253115"/>
                <a:ext cx="1176533" cy="1176533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8CB4A5A-9EE6-C2AD-5FC3-1EECF1D691B4}"/>
              </a:ext>
            </a:extLst>
          </p:cNvPr>
          <p:cNvCxnSpPr>
            <a:stCxn id="37" idx="6"/>
          </p:cNvCxnSpPr>
          <p:nvPr/>
        </p:nvCxnSpPr>
        <p:spPr>
          <a:xfrm flipV="1">
            <a:off x="2079541" y="2892274"/>
            <a:ext cx="998939" cy="949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CE9F714-B6AE-4940-3B79-06647CCE43FD}"/>
              </a:ext>
            </a:extLst>
          </p:cNvPr>
          <p:cNvCxnSpPr>
            <a:cxnSpLocks/>
            <a:stCxn id="37" idx="6"/>
          </p:cNvCxnSpPr>
          <p:nvPr/>
        </p:nvCxnSpPr>
        <p:spPr>
          <a:xfrm flipV="1">
            <a:off x="2079541" y="3680331"/>
            <a:ext cx="954660" cy="161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A0ECF78-0C49-20A8-2418-B591C1D1FBBD}"/>
              </a:ext>
            </a:extLst>
          </p:cNvPr>
          <p:cNvCxnSpPr>
            <a:cxnSpLocks/>
            <a:stCxn id="37" idx="6"/>
          </p:cNvCxnSpPr>
          <p:nvPr/>
        </p:nvCxnSpPr>
        <p:spPr>
          <a:xfrm>
            <a:off x="2079541" y="3841382"/>
            <a:ext cx="998939" cy="1000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F32973F-4D0C-1EC5-32FF-BF0985075D80}"/>
              </a:ext>
            </a:extLst>
          </p:cNvPr>
          <p:cNvSpPr txBox="1"/>
          <p:nvPr/>
        </p:nvSpPr>
        <p:spPr>
          <a:xfrm>
            <a:off x="3463733" y="2116138"/>
            <a:ext cx="756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Year 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215CE30-9040-F870-1C33-4E48EE513E60}"/>
              </a:ext>
            </a:extLst>
          </p:cNvPr>
          <p:cNvSpPr txBox="1"/>
          <p:nvPr/>
        </p:nvSpPr>
        <p:spPr>
          <a:xfrm>
            <a:off x="4844027" y="2116138"/>
            <a:ext cx="756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Year 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BBD4F9-9AFA-57B5-C85B-D6D41BDE8D45}"/>
              </a:ext>
            </a:extLst>
          </p:cNvPr>
          <p:cNvSpPr txBox="1"/>
          <p:nvPr/>
        </p:nvSpPr>
        <p:spPr>
          <a:xfrm>
            <a:off x="7775187" y="2116138"/>
            <a:ext cx="788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Year 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45779F9-97B0-D8BC-2910-66C290C34DA5}"/>
              </a:ext>
            </a:extLst>
          </p:cNvPr>
          <p:cNvSpPr txBox="1"/>
          <p:nvPr/>
        </p:nvSpPr>
        <p:spPr>
          <a:xfrm>
            <a:off x="6516138" y="211613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801046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D1A45-A7AC-8076-D17D-A6DADB7D3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9C117-E2F1-E216-3061-A67B318CA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Objective Definitions</a:t>
            </a:r>
            <a:endParaRPr lang="en-US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EFC44-B652-F3BA-5F15-B9CAD73DA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9BD03-B8C4-A907-A4A8-8305F81CF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EA180-175A-BB9E-6D8F-9EC297DE3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30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33655-F40C-6349-C67A-A7FE47BED040}"/>
              </a:ext>
            </a:extLst>
          </p:cNvPr>
          <p:cNvSpPr txBox="1"/>
          <p:nvPr/>
        </p:nvSpPr>
        <p:spPr>
          <a:xfrm>
            <a:off x="535321" y="728223"/>
            <a:ext cx="11104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Current objective definition set</a:t>
            </a:r>
            <a:endParaRPr lang="en-US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7B01D07-51C9-5BC8-2507-B6829189B2BA}"/>
              </a:ext>
            </a:extLst>
          </p:cNvPr>
          <p:cNvGrpSpPr/>
          <p:nvPr/>
        </p:nvGrpSpPr>
        <p:grpSpPr>
          <a:xfrm>
            <a:off x="4309446" y="2707608"/>
            <a:ext cx="5727026" cy="322099"/>
            <a:chOff x="2298358" y="2207741"/>
            <a:chExt cx="5727026" cy="4616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6F5DA70-2B95-D36B-4325-751F46C79008}"/>
                </a:ext>
              </a:extLst>
            </p:cNvPr>
            <p:cNvSpPr/>
            <p:nvPr/>
          </p:nvSpPr>
          <p:spPr>
            <a:xfrm>
              <a:off x="2298358" y="2207741"/>
              <a:ext cx="5727026" cy="461665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ECE5D78-B84A-A86F-CEA7-9FF4F86CE139}"/>
                </a:ext>
              </a:extLst>
            </p:cNvPr>
            <p:cNvCxnSpPr/>
            <p:nvPr/>
          </p:nvCxnSpPr>
          <p:spPr>
            <a:xfrm>
              <a:off x="3581400" y="2207741"/>
              <a:ext cx="0" cy="461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9C5839A-EDD2-9812-FE10-8FB128F97769}"/>
                </a:ext>
              </a:extLst>
            </p:cNvPr>
            <p:cNvCxnSpPr/>
            <p:nvPr/>
          </p:nvCxnSpPr>
          <p:spPr>
            <a:xfrm>
              <a:off x="5062728" y="2207741"/>
              <a:ext cx="0" cy="461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DF20940-24D5-7295-3DCE-6F76E4CC3F89}"/>
                </a:ext>
              </a:extLst>
            </p:cNvPr>
            <p:cNvCxnSpPr/>
            <p:nvPr/>
          </p:nvCxnSpPr>
          <p:spPr>
            <a:xfrm>
              <a:off x="6544056" y="2207741"/>
              <a:ext cx="0" cy="461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D9EEB70-F830-B57C-15CF-61330EC023EE}"/>
                </a:ext>
              </a:extLst>
            </p:cNvPr>
            <p:cNvCxnSpPr/>
            <p:nvPr/>
          </p:nvCxnSpPr>
          <p:spPr>
            <a:xfrm>
              <a:off x="8025384" y="2207741"/>
              <a:ext cx="0" cy="461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68260B7-3E07-1091-8475-E862040BA421}"/>
              </a:ext>
            </a:extLst>
          </p:cNvPr>
          <p:cNvSpPr txBox="1"/>
          <p:nvPr/>
        </p:nvSpPr>
        <p:spPr>
          <a:xfrm>
            <a:off x="10556240" y="2707608"/>
            <a:ext cx="1376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Realization 1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B23BAED-4E6E-9A40-4921-EA148258DC93}"/>
              </a:ext>
            </a:extLst>
          </p:cNvPr>
          <p:cNvGrpSpPr/>
          <p:nvPr/>
        </p:nvGrpSpPr>
        <p:grpSpPr>
          <a:xfrm>
            <a:off x="4309446" y="3495665"/>
            <a:ext cx="5727026" cy="322099"/>
            <a:chOff x="2298358" y="2207741"/>
            <a:chExt cx="5727026" cy="46166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0844285-3CE9-BF34-C7CF-4C6338BF9266}"/>
                </a:ext>
              </a:extLst>
            </p:cNvPr>
            <p:cNvSpPr/>
            <p:nvPr/>
          </p:nvSpPr>
          <p:spPr>
            <a:xfrm>
              <a:off x="2298358" y="2207741"/>
              <a:ext cx="5727026" cy="461665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8BAF307-0378-FE02-54E4-E152258D00DB}"/>
                </a:ext>
              </a:extLst>
            </p:cNvPr>
            <p:cNvCxnSpPr/>
            <p:nvPr/>
          </p:nvCxnSpPr>
          <p:spPr>
            <a:xfrm>
              <a:off x="3581400" y="2207741"/>
              <a:ext cx="0" cy="461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00D9656-AC88-D905-5E61-F1D7EB5BF256}"/>
                </a:ext>
              </a:extLst>
            </p:cNvPr>
            <p:cNvCxnSpPr/>
            <p:nvPr/>
          </p:nvCxnSpPr>
          <p:spPr>
            <a:xfrm>
              <a:off x="5062728" y="2207741"/>
              <a:ext cx="0" cy="461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EEDCA6A-3B81-9429-C0B7-CE7093CA27E1}"/>
                </a:ext>
              </a:extLst>
            </p:cNvPr>
            <p:cNvCxnSpPr/>
            <p:nvPr/>
          </p:nvCxnSpPr>
          <p:spPr>
            <a:xfrm>
              <a:off x="6544056" y="2207741"/>
              <a:ext cx="0" cy="461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A8DC28C-ACAB-3DA9-4A72-ECDA8F07CD5A}"/>
                </a:ext>
              </a:extLst>
            </p:cNvPr>
            <p:cNvCxnSpPr/>
            <p:nvPr/>
          </p:nvCxnSpPr>
          <p:spPr>
            <a:xfrm>
              <a:off x="8025384" y="2207741"/>
              <a:ext cx="0" cy="461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4409269-F118-5D82-0DA8-A78CA5567AA6}"/>
              </a:ext>
            </a:extLst>
          </p:cNvPr>
          <p:cNvSpPr txBox="1"/>
          <p:nvPr/>
        </p:nvSpPr>
        <p:spPr>
          <a:xfrm>
            <a:off x="10556240" y="3495665"/>
            <a:ext cx="1376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Realization 2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A3011A6-3425-F768-FD40-5B671B0F1BC9}"/>
              </a:ext>
            </a:extLst>
          </p:cNvPr>
          <p:cNvGrpSpPr/>
          <p:nvPr/>
        </p:nvGrpSpPr>
        <p:grpSpPr>
          <a:xfrm>
            <a:off x="4309446" y="4764504"/>
            <a:ext cx="5727026" cy="322099"/>
            <a:chOff x="2298358" y="2207741"/>
            <a:chExt cx="5727026" cy="46166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60A10C0-2CA9-584F-41FE-D96228AB08E8}"/>
                </a:ext>
              </a:extLst>
            </p:cNvPr>
            <p:cNvSpPr/>
            <p:nvPr/>
          </p:nvSpPr>
          <p:spPr>
            <a:xfrm>
              <a:off x="2298358" y="2207741"/>
              <a:ext cx="5727026" cy="461665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60DDE28-3755-D88E-41F2-B853F5B4BA82}"/>
                </a:ext>
              </a:extLst>
            </p:cNvPr>
            <p:cNvCxnSpPr/>
            <p:nvPr/>
          </p:nvCxnSpPr>
          <p:spPr>
            <a:xfrm>
              <a:off x="3581400" y="2207741"/>
              <a:ext cx="0" cy="461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320D632-C484-9EDA-C1E0-345F65BE2653}"/>
                </a:ext>
              </a:extLst>
            </p:cNvPr>
            <p:cNvCxnSpPr/>
            <p:nvPr/>
          </p:nvCxnSpPr>
          <p:spPr>
            <a:xfrm>
              <a:off x="5062728" y="2207741"/>
              <a:ext cx="0" cy="461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772088B-DAAA-F617-62E5-B1330B8502E4}"/>
                </a:ext>
              </a:extLst>
            </p:cNvPr>
            <p:cNvCxnSpPr/>
            <p:nvPr/>
          </p:nvCxnSpPr>
          <p:spPr>
            <a:xfrm>
              <a:off x="6544056" y="2207741"/>
              <a:ext cx="0" cy="461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6FF1-1155-F03D-716C-4EDD1A76BF1F}"/>
                </a:ext>
              </a:extLst>
            </p:cNvPr>
            <p:cNvCxnSpPr/>
            <p:nvPr/>
          </p:nvCxnSpPr>
          <p:spPr>
            <a:xfrm>
              <a:off x="8025384" y="2207741"/>
              <a:ext cx="0" cy="461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1595D040-B307-0E8F-7241-2791A85064B1}"/>
              </a:ext>
            </a:extLst>
          </p:cNvPr>
          <p:cNvSpPr txBox="1"/>
          <p:nvPr/>
        </p:nvSpPr>
        <p:spPr>
          <a:xfrm>
            <a:off x="10556240" y="4764504"/>
            <a:ext cx="1408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Realization 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BDD643-3F5F-C4AD-C06A-C5291B8A8D16}"/>
              </a:ext>
            </a:extLst>
          </p:cNvPr>
          <p:cNvSpPr txBox="1"/>
          <p:nvPr/>
        </p:nvSpPr>
        <p:spPr>
          <a:xfrm>
            <a:off x="6299200" y="4206240"/>
            <a:ext cx="193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94758F-5E07-F549-C1AF-843EE8482004}"/>
              </a:ext>
            </a:extLst>
          </p:cNvPr>
          <p:cNvSpPr txBox="1"/>
          <p:nvPr/>
        </p:nvSpPr>
        <p:spPr>
          <a:xfrm>
            <a:off x="4540693" y="2116138"/>
            <a:ext cx="756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Year 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E46760-29EF-11AC-E72E-DC259E2D9F15}"/>
              </a:ext>
            </a:extLst>
          </p:cNvPr>
          <p:cNvSpPr txBox="1"/>
          <p:nvPr/>
        </p:nvSpPr>
        <p:spPr>
          <a:xfrm>
            <a:off x="5920987" y="2116138"/>
            <a:ext cx="756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Year 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602C47F-8AA3-2A30-CC09-8992697E1B2B}"/>
              </a:ext>
            </a:extLst>
          </p:cNvPr>
          <p:cNvSpPr txBox="1"/>
          <p:nvPr/>
        </p:nvSpPr>
        <p:spPr>
          <a:xfrm>
            <a:off x="8852147" y="2116138"/>
            <a:ext cx="788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Year 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85E9AFB-0BE8-24B6-CE42-C3295929F118}"/>
              </a:ext>
            </a:extLst>
          </p:cNvPr>
          <p:cNvSpPr txBox="1"/>
          <p:nvPr/>
        </p:nvSpPr>
        <p:spPr>
          <a:xfrm>
            <a:off x="7593098" y="211613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D1F682-FB7B-6F1E-2B7C-75C31055ED7E}"/>
              </a:ext>
            </a:extLst>
          </p:cNvPr>
          <p:cNvSpPr txBox="1"/>
          <p:nvPr/>
        </p:nvSpPr>
        <p:spPr>
          <a:xfrm>
            <a:off x="226785" y="2532058"/>
            <a:ext cx="381181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Each objective is calculated using: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i="1" dirty="0"/>
              <a:t>Step 1:</a:t>
            </a:r>
            <a:r>
              <a:rPr lang="en-US" sz="2000" dirty="0"/>
              <a:t> Annual metric 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i="1" dirty="0"/>
              <a:t>Step 2: </a:t>
            </a:r>
            <a:r>
              <a:rPr lang="en-US" sz="2000" dirty="0"/>
              <a:t>Aggregation metric across all ensemble years</a:t>
            </a:r>
          </a:p>
        </p:txBody>
      </p:sp>
    </p:spTree>
    <p:extLst>
      <p:ext uri="{BB962C8B-B14F-4D97-AF65-F5344CB8AC3E}">
        <p14:creationId xmlns:p14="http://schemas.microsoft.com/office/powerpoint/2010/main" val="3020024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7DD02-14DE-1AD8-EE4F-B8A18A87C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AF65F-F981-0F32-014B-3CC525A9E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Objective Definitions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097B9-1F5B-56BF-6AB2-CDD852885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65F84-4A98-58F6-A1EC-1934BB493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47C4C-1D94-9F5D-17C6-4D1F4F91E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31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A2AE75-86CC-3B64-E054-12979CF6E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698527"/>
              </p:ext>
            </p:extLst>
          </p:nvPr>
        </p:nvGraphicFramePr>
        <p:xfrm>
          <a:off x="136356" y="1462127"/>
          <a:ext cx="11919285" cy="44196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446423">
                  <a:extLst>
                    <a:ext uri="{9D8B030D-6E8A-4147-A177-3AD203B41FA5}">
                      <a16:colId xmlns:a16="http://schemas.microsoft.com/office/drawing/2014/main" val="3835376074"/>
                    </a:ext>
                  </a:extLst>
                </a:gridCol>
                <a:gridCol w="3497179">
                  <a:extLst>
                    <a:ext uri="{9D8B030D-6E8A-4147-A177-3AD203B41FA5}">
                      <a16:colId xmlns:a16="http://schemas.microsoft.com/office/drawing/2014/main" val="2756466868"/>
                    </a:ext>
                  </a:extLst>
                </a:gridCol>
                <a:gridCol w="3400924">
                  <a:extLst>
                    <a:ext uri="{9D8B030D-6E8A-4147-A177-3AD203B41FA5}">
                      <a16:colId xmlns:a16="http://schemas.microsoft.com/office/drawing/2014/main" val="2579048233"/>
                    </a:ext>
                  </a:extLst>
                </a:gridCol>
                <a:gridCol w="1925053">
                  <a:extLst>
                    <a:ext uri="{9D8B030D-6E8A-4147-A177-3AD203B41FA5}">
                      <a16:colId xmlns:a16="http://schemas.microsoft.com/office/drawing/2014/main" val="1508060059"/>
                    </a:ext>
                  </a:extLst>
                </a:gridCol>
                <a:gridCol w="649706">
                  <a:extLst>
                    <a:ext uri="{9D8B030D-6E8A-4147-A177-3AD203B41FA5}">
                      <a16:colId xmlns:a16="http://schemas.microsoft.com/office/drawing/2014/main" val="22337299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Objective (direction)</a:t>
                      </a:r>
                      <a:endParaRPr lang="en-US" sz="1600" b="1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Mathematical description</a:t>
                      </a:r>
                      <a:endParaRPr lang="en-US" sz="1600" b="1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US" sz="1600" b="1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Units</a:t>
                      </a:r>
                      <a:endParaRPr lang="en-US" sz="1600" b="1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ε</a:t>
                      </a:r>
                      <a:endParaRPr lang="en-US" sz="1600" b="1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529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NYC delivery reliability (max)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Frequency of years with &lt; 3 failure weeks (delivery ≥ 99% of entitlement)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How often NYC's water supply is satisfied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fraction of years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0.02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extLst>
                  <a:ext uri="{0D108BD9-81ED-4DB2-BD59-A6C34878D82A}">
                    <a16:rowId xmlns:a16="http://schemas.microsoft.com/office/drawing/2014/main" val="1920041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NYC delivery deficit (min)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Worst 1st-percentile year of within-year CVaR₉₀ weekly deficit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Depth of NYC's worst supply shortfalls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% of 800 MGD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2.0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extLst>
                  <a:ext uri="{0D108BD9-81ED-4DB2-BD59-A6C34878D82A}">
                    <a16:rowId xmlns:a16="http://schemas.microsoft.com/office/drawing/2014/main" val="4044797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Montague flow reliability (max)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Frequency of years with &lt; 3 failure weeks (flow ≥ 1,131 MGD)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How often the Decree flow target is met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fraction of years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0.02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extLst>
                  <a:ext uri="{0D108BD9-81ED-4DB2-BD59-A6C34878D82A}">
                    <a16:rowId xmlns:a16="http://schemas.microsoft.com/office/drawing/2014/main" val="2498359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Montague flow deficit (min)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Worst 1st-percentile year of within-year CVaR₉₀ weekly deficit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Depth of the worst Montague flow shortfalls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% of target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1.5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extLst>
                  <a:ext uri="{0D108BD9-81ED-4DB2-BD59-A6C34878D82A}">
                    <a16:rowId xmlns:a16="http://schemas.microsoft.com/office/drawing/2014/main" val="2340617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Trenton flow reliability (max)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Frequency of years with &lt; 1 failure week (flow ≥ 1,939 MGD)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How often the salt-front–repelling flow objective is met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fraction of years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0.015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extLst>
                  <a:ext uri="{0D108BD9-81ED-4DB2-BD59-A6C34878D82A}">
                    <a16:rowId xmlns:a16="http://schemas.microsoft.com/office/drawing/2014/main" val="2772812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Downstream flood exceedance (min)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Mean annual Σ over days of max-across-gauges (stage − NWS minor flood stage)⁺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Magnitude of downstream flooding above minor flood stage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ft·days/yr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0.01*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extLst>
                  <a:ext uri="{0D108BD9-81ED-4DB2-BD59-A6C34878D82A}">
                    <a16:rowId xmlns:a16="http://schemas.microsoft.com/office/drawing/2014/main" val="3598782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NYC minimum storage (max)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Worst 1st-percentile year of annual minimum daily aggregate storage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How low the reservoirs are drawn down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% of capacity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5.0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extLst>
                  <a:ext uri="{0D108BD9-81ED-4DB2-BD59-A6C34878D82A}">
                    <a16:rowId xmlns:a16="http://schemas.microsoft.com/office/drawing/2014/main" val="3995047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NJ delivery reliability (max)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Frequency of years with &lt; 1 failure week (delivery ≥ 99% of entitlement)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How often NJ's water supply is satisfied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fraction of years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0.025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extLst>
                  <a:ext uri="{0D108BD9-81ED-4DB2-BD59-A6C34878D82A}">
                    <a16:rowId xmlns:a16="http://schemas.microsoft.com/office/drawing/2014/main" val="206585249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17462B9-A57D-21B0-B532-2B2D69C3447D}"/>
              </a:ext>
            </a:extLst>
          </p:cNvPr>
          <p:cNvSpPr txBox="1"/>
          <p:nvPr/>
        </p:nvSpPr>
        <p:spPr>
          <a:xfrm>
            <a:off x="838200" y="8160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sz="1800" b="1" i="0" dirty="0">
                <a:effectLst/>
                <a:latin typeface="-apple-system"/>
              </a:rPr>
              <a:t>Table 2. The Eight Optimization Objectives</a:t>
            </a:r>
            <a:endParaRPr lang="en-US" sz="1800" b="0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10964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BB541-B496-DC2C-08DA-DAE370BD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CD805-4BDC-CF92-9B51-5E8C4F714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Objective Definitions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A1119-7762-5435-09BA-E03A234C7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23D72-7E6E-EAF7-6FAA-BA868ECF9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FCFBC-CB02-71B8-7BF7-18E74297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32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EF3883-A36E-212F-B639-B7CEF8396996}"/>
              </a:ext>
            </a:extLst>
          </p:cNvPr>
          <p:cNvSpPr txBox="1"/>
          <p:nvPr/>
        </p:nvSpPr>
        <p:spPr>
          <a:xfrm>
            <a:off x="467457" y="2653168"/>
            <a:ext cx="39403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There is minimal, and frequently negative, spearman correlation between objectives.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E7A9E0-9DB8-11A0-1B19-E5536D68B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874" y="814145"/>
            <a:ext cx="6757736" cy="558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3999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45BC9-E8AF-E3ED-B2C2-9EAEC4FCD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9FE0B-AA3E-D787-BAB3-29799BF31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EC5EC-2A1B-84E0-D401-4565AA16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18C86-6B2F-1B74-5615-3A08064CA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33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85BDCA-CE70-273C-C780-CFD2A4394258}"/>
              </a:ext>
            </a:extLst>
          </p:cNvPr>
          <p:cNvSpPr/>
          <p:nvPr/>
        </p:nvSpPr>
        <p:spPr>
          <a:xfrm>
            <a:off x="0" y="1491916"/>
            <a:ext cx="12191999" cy="3481137"/>
          </a:xfrm>
          <a:prstGeom prst="rect">
            <a:avLst/>
          </a:prstGeom>
          <a:solidFill>
            <a:srgbClr val="152C47"/>
          </a:solidFill>
          <a:ln>
            <a:solidFill>
              <a:srgbClr val="152C4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chemeClr val="bg1"/>
                </a:solidFill>
              </a:rPr>
              <a:t>NYC Reservoir Re-Operation</a:t>
            </a:r>
          </a:p>
          <a:p>
            <a:pPr algn="ctr"/>
            <a:r>
              <a:rPr lang="en-US" sz="3200" b="1" i="1" dirty="0">
                <a:solidFill>
                  <a:schemeClr val="bg1"/>
                </a:solidFill>
              </a:rPr>
              <a:t>Preliminary Results</a:t>
            </a:r>
          </a:p>
        </p:txBody>
      </p:sp>
    </p:spTree>
    <p:extLst>
      <p:ext uri="{BB962C8B-B14F-4D97-AF65-F5344CB8AC3E}">
        <p14:creationId xmlns:p14="http://schemas.microsoft.com/office/powerpoint/2010/main" val="33668838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AEB69-796A-C087-0C20-6FE60D8D3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8B9C0-174E-9857-C32E-178C0E265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Objective Definitions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C438A-DBC8-3608-D37F-0405174B0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8903B-3FAD-01B4-FF46-3045589D3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1E03A-CE5D-EB31-06D7-E15C8F66A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34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13D1FB-3B6E-57E6-E770-115E1B7BDF1D}"/>
              </a:ext>
            </a:extLst>
          </p:cNvPr>
          <p:cNvSpPr txBox="1"/>
          <p:nvPr/>
        </p:nvSpPr>
        <p:spPr>
          <a:xfrm>
            <a:off x="838200" y="894347"/>
            <a:ext cx="94006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Preliminary results are based on: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50k NFE (~2hr runtime)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2x </a:t>
            </a:r>
            <a:r>
              <a:rPr lang="en-US" sz="2400" dirty="0" err="1"/>
              <a:t>MMBorg</a:t>
            </a:r>
            <a:r>
              <a:rPr lang="en-US" sz="2400" dirty="0"/>
              <a:t> seeds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Optimized under historic streamflow scenario (1945-2023)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B5CB82D-6B42-EB7E-DC8E-D86ED03D3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83832"/>
            <a:ext cx="5393726" cy="3347594"/>
          </a:xfrm>
          <a:prstGeom prst="rect">
            <a:avLst/>
          </a:prstGeom>
        </p:spPr>
      </p:pic>
      <p:sp>
        <p:nvSpPr>
          <p:cNvPr id="14" name="Right Brace 13">
            <a:extLst>
              <a:ext uri="{FF2B5EF4-FFF2-40B4-BE49-F238E27FC236}">
                <a16:creationId xmlns:a16="http://schemas.microsoft.com/office/drawing/2014/main" id="{924C9090-3BAE-6467-485F-86345680C74D}"/>
              </a:ext>
            </a:extLst>
          </p:cNvPr>
          <p:cNvSpPr/>
          <p:nvPr/>
        </p:nvSpPr>
        <p:spPr>
          <a:xfrm>
            <a:off x="6408821" y="3031958"/>
            <a:ext cx="1211179" cy="2931695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E5E82-C00E-15CE-5C73-157FDA447487}"/>
              </a:ext>
            </a:extLst>
          </p:cNvPr>
          <p:cNvSpPr/>
          <p:nvPr/>
        </p:nvSpPr>
        <p:spPr>
          <a:xfrm>
            <a:off x="7620000" y="3188423"/>
            <a:ext cx="3657600" cy="2430379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WARNING: Preliminary results do </a:t>
            </a:r>
            <a:r>
              <a:rPr lang="en-US" i="1" dirty="0"/>
              <a:t>not </a:t>
            </a:r>
            <a:r>
              <a:rPr lang="en-US" dirty="0"/>
              <a:t>converge. </a:t>
            </a:r>
          </a:p>
        </p:txBody>
      </p:sp>
    </p:spTree>
    <p:extLst>
      <p:ext uri="{BB962C8B-B14F-4D97-AF65-F5344CB8AC3E}">
        <p14:creationId xmlns:p14="http://schemas.microsoft.com/office/powerpoint/2010/main" val="22310491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555DF-6634-5CAA-B13E-DE08291DC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E5A59-863C-C3CD-9AD1-F6B53876E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Objective Definitions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29117-D480-E0A0-EFBB-911A60CC3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C2D39-3646-EDC8-FC76-E4096BD81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37E86-D924-E3BA-6003-A25BDB455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35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97A2DD-35C0-E228-D557-B6B1A2A8F7EB}"/>
              </a:ext>
            </a:extLst>
          </p:cNvPr>
          <p:cNvSpPr txBox="1"/>
          <p:nvPr/>
        </p:nvSpPr>
        <p:spPr>
          <a:xfrm>
            <a:off x="2478505" y="757989"/>
            <a:ext cx="7784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1761 pareto-approximate solutions merged across seeds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B1CEE2-7F24-C377-8AF9-A4A82048F6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06"/>
          <a:stretch>
            <a:fillRect/>
          </a:stretch>
        </p:blipFill>
        <p:spPr>
          <a:xfrm>
            <a:off x="527326" y="1732548"/>
            <a:ext cx="11137348" cy="399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4378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D27D8-9A50-4B06-96BE-1CE1A29D3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A2D6E-2072-A737-77C4-8F0EA718F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Objective Definitions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F314E-7D65-3770-6061-18E05DF9D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FF2BD-D720-FBF2-E6D4-65A1B91F6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A3396-B379-2639-854C-DA64BA0EB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36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A03A09-E3C0-4F0A-3C50-CF75BB9594A1}"/>
              </a:ext>
            </a:extLst>
          </p:cNvPr>
          <p:cNvSpPr txBox="1"/>
          <p:nvPr/>
        </p:nvSpPr>
        <p:spPr>
          <a:xfrm>
            <a:off x="573504" y="857193"/>
            <a:ext cx="10912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75/1761 (4.3%) of pareto-approximate solutions fully dominate the baseline FFMP performance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61BBEF-02A5-EC58-CF49-EFC8BE4638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86"/>
          <a:stretch>
            <a:fillRect/>
          </a:stretch>
        </p:blipFill>
        <p:spPr>
          <a:xfrm>
            <a:off x="236620" y="1644316"/>
            <a:ext cx="11718759" cy="4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2886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58808-11F9-EC89-830C-9C58205E1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91F8-26A4-5A77-6886-74DFB2AEA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MOEA Problem Formulation: Objective Definitions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991C7-30E0-90C8-CEDB-74D012756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C6269-317D-F930-ACDB-6ED895FBF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DC75C-E75A-89FB-DDB5-A7B735ADB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37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A2AB0E-90CA-8DF4-DD5F-968893257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41" y="1451908"/>
            <a:ext cx="11739917" cy="437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8322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66C0D-E4A8-ABEF-C137-1FD7EC56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4C260-733A-4EBC-BB7D-9271ABFA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C02D5-B6A4-53F1-CFBF-B1916260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F75A0-64A3-04DA-FCB4-24A4F760C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38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6BC8E8-5636-990C-7622-242622FFE845}"/>
              </a:ext>
            </a:extLst>
          </p:cNvPr>
          <p:cNvSpPr/>
          <p:nvPr/>
        </p:nvSpPr>
        <p:spPr>
          <a:xfrm>
            <a:off x="0" y="1491916"/>
            <a:ext cx="12191999" cy="3481137"/>
          </a:xfrm>
          <a:prstGeom prst="rect">
            <a:avLst/>
          </a:prstGeom>
          <a:solidFill>
            <a:srgbClr val="152C47"/>
          </a:solidFill>
          <a:ln>
            <a:solidFill>
              <a:srgbClr val="152C4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chemeClr val="bg1"/>
                </a:solidFill>
              </a:rPr>
              <a:t>Experimental Design</a:t>
            </a:r>
          </a:p>
        </p:txBody>
      </p:sp>
    </p:spTree>
    <p:extLst>
      <p:ext uri="{BB962C8B-B14F-4D97-AF65-F5344CB8AC3E}">
        <p14:creationId xmlns:p14="http://schemas.microsoft.com/office/powerpoint/2010/main" val="7117072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2B1BE-EB1E-4544-5A45-B69CF4FD5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5DFC9-3CB0-E955-A134-2BFD21A3B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Design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FB3FA-C5FD-344C-B5B3-58910602E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6881E-1146-E618-75E3-9B64C7D5B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3ADD6-6398-E2AC-A0AE-A16F54056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39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FAA741D-600B-43EE-F3C4-5754B057B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979" y="575286"/>
            <a:ext cx="7812040" cy="5881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8374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0417E-4A86-DD2C-85FA-5F851FF07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43DDB-D7C5-A0CB-B8B1-43F9DE3B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52ACD-7C0C-1D98-5C51-549EF281D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B58A7-49A6-1E64-BEAB-B12D8EE7F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40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5CDE65-2FB8-1416-BE90-8B02A86B4FE5}"/>
              </a:ext>
            </a:extLst>
          </p:cNvPr>
          <p:cNvSpPr/>
          <p:nvPr/>
        </p:nvSpPr>
        <p:spPr>
          <a:xfrm>
            <a:off x="0" y="1491916"/>
            <a:ext cx="12191999" cy="3481137"/>
          </a:xfrm>
          <a:prstGeom prst="rect">
            <a:avLst/>
          </a:prstGeom>
          <a:solidFill>
            <a:srgbClr val="152C47"/>
          </a:solidFill>
          <a:ln>
            <a:solidFill>
              <a:srgbClr val="152C4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chemeClr val="bg1"/>
                </a:solidFill>
              </a:rPr>
              <a:t>Experimental Design:</a:t>
            </a:r>
          </a:p>
          <a:p>
            <a:pPr algn="ctr"/>
            <a:r>
              <a:rPr lang="en-US" sz="3200" i="1" dirty="0">
                <a:solidFill>
                  <a:schemeClr val="bg1"/>
                </a:solidFill>
              </a:rPr>
              <a:t>Alternative Scenario Designs</a:t>
            </a:r>
          </a:p>
        </p:txBody>
      </p:sp>
    </p:spTree>
    <p:extLst>
      <p:ext uri="{BB962C8B-B14F-4D97-AF65-F5344CB8AC3E}">
        <p14:creationId xmlns:p14="http://schemas.microsoft.com/office/powerpoint/2010/main" val="21781654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192EB-4FD8-E110-DF9A-752540D13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Design: Optimization Evaluation Scenarios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BB9A4-37C4-0131-14FB-E3DC63B41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8E0BE-58AA-8514-9585-CE3211499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9C332-7C9F-261A-4DD5-1CDC5235F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41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9E293C5-D21A-78F7-3467-824D9DECFB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674251"/>
              </p:ext>
            </p:extLst>
          </p:nvPr>
        </p:nvGraphicFramePr>
        <p:xfrm>
          <a:off x="312820" y="2414337"/>
          <a:ext cx="11454063" cy="371739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415750">
                  <a:extLst>
                    <a:ext uri="{9D8B030D-6E8A-4147-A177-3AD203B41FA5}">
                      <a16:colId xmlns:a16="http://schemas.microsoft.com/office/drawing/2014/main" val="2607400749"/>
                    </a:ext>
                  </a:extLst>
                </a:gridCol>
                <a:gridCol w="5220292">
                  <a:extLst>
                    <a:ext uri="{9D8B030D-6E8A-4147-A177-3AD203B41FA5}">
                      <a16:colId xmlns:a16="http://schemas.microsoft.com/office/drawing/2014/main" val="146530802"/>
                    </a:ext>
                  </a:extLst>
                </a:gridCol>
                <a:gridCol w="3818021">
                  <a:extLst>
                    <a:ext uri="{9D8B030D-6E8A-4147-A177-3AD203B41FA5}">
                      <a16:colId xmlns:a16="http://schemas.microsoft.com/office/drawing/2014/main" val="4067024054"/>
                    </a:ext>
                  </a:extLst>
                </a:gridCol>
              </a:tblGrid>
              <a:tr h="625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Design</a:t>
                      </a:r>
                      <a:endParaRPr lang="en-US" sz="1800" b="1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Generation Method</a:t>
                      </a:r>
                      <a:endParaRPr lang="en-US" sz="1800" b="1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Ensemble size </a:t>
                      </a:r>
                    </a:p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(per optimization evaluation)</a:t>
                      </a:r>
                      <a:endParaRPr lang="en-US" sz="1800" b="1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529508"/>
                  </a:ext>
                </a:extLst>
              </a:tr>
              <a:tr h="625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Historical (HIST)</a:t>
                      </a:r>
                      <a:endParaRPr lang="en-US" sz="18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Observed record simulated as one continuous realization; reference for prevailing practice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 realization × 77 yr (77 scenario-years)</a:t>
                      </a:r>
                      <a:endParaRPr lang="en-US" sz="18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extLst>
                  <a:ext uri="{0D108BD9-81ED-4DB2-BD59-A6C34878D82A}">
                    <a16:rowId xmlns:a16="http://schemas.microsoft.com/office/drawing/2014/main" val="1447410585"/>
                  </a:ext>
                </a:extLst>
              </a:tr>
              <a:tr h="625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Probabilistic Sample (PS)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dirty="0" err="1">
                          <a:solidFill>
                            <a:schemeClr val="tx1"/>
                          </a:solidFill>
                          <a:effectLst/>
                        </a:rPr>
                        <a:t>i.i.d.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 samples from the stationary Kirsch–Nowak stochastic generator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100 realizations × 10 yr (1,000 scenario-years)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extLst>
                  <a:ext uri="{0D108BD9-81ED-4DB2-BD59-A6C34878D82A}">
                    <a16:rowId xmlns:a16="http://schemas.microsoft.com/office/drawing/2014/main" val="1178473423"/>
                  </a:ext>
                </a:extLst>
              </a:tr>
              <a:tr h="9211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Hazard Filling (HF)</a:t>
                      </a:r>
                      <a:endParaRPr lang="en-US" sz="18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1" dirty="0">
                          <a:solidFill>
                            <a:schemeClr val="tx1"/>
                          </a:solidFill>
                          <a:effectLst/>
                        </a:rPr>
                        <a:t>Proposed design: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 space-filling selection from a 10⁶-member candidate ensemble for coverage of the hydrologic hazard space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100 realizations × 10 yr, selected from 10⁶ candidates</a:t>
                      </a:r>
                      <a:endParaRPr lang="en-US" sz="1800" b="0" i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/>
                </a:tc>
                <a:extLst>
                  <a:ext uri="{0D108BD9-81ED-4DB2-BD59-A6C34878D82A}">
                    <a16:rowId xmlns:a16="http://schemas.microsoft.com/office/drawing/2014/main" val="1420986158"/>
                  </a:ext>
                </a:extLst>
              </a:tr>
              <a:tr h="9211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Re-evaluation ensemble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Latin hypercube sample of deeply uncertain climate forcings (CMIP6-informed) crossed with stochastic realizations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1,000 SOWs × 25 realizations × 50 yr (25,000 realizations)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5240" marR="15240" marT="15240" marB="1524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16073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33F87E9-D2A7-EABC-B905-21200F80D765}"/>
              </a:ext>
            </a:extLst>
          </p:cNvPr>
          <p:cNvSpPr txBox="1"/>
          <p:nvPr/>
        </p:nvSpPr>
        <p:spPr>
          <a:xfrm>
            <a:off x="838200" y="875455"/>
            <a:ext cx="1092868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sz="2000" b="1" i="0" dirty="0">
                <a:effectLst/>
                <a:latin typeface="-apple-system"/>
              </a:rPr>
              <a:t>Table 3. Scenario Designs and Ensemble Sizes</a:t>
            </a:r>
          </a:p>
          <a:p>
            <a:pPr indent="0" algn="l">
              <a:buNone/>
            </a:pPr>
            <a:endParaRPr lang="en-US" sz="2000" b="0" i="1" dirty="0">
              <a:effectLst/>
              <a:latin typeface="-apple-system"/>
            </a:endParaRPr>
          </a:p>
          <a:p>
            <a:pPr indent="0" algn="l">
              <a:buNone/>
            </a:pPr>
            <a:r>
              <a:rPr lang="en-US" sz="2000" b="0" i="1" dirty="0">
                <a:effectLst/>
                <a:latin typeface="-apple-system"/>
              </a:rPr>
              <a:t>PS and HF share the generator, ensemble size, record length, and 500,000-NFE search budget; K = 3 construction replicates × 2 seeds per design.</a:t>
            </a:r>
            <a:endParaRPr lang="en-US" sz="2000" b="0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9564764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424CA-DB6B-4991-ABDC-2ED2957F7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1242D-3DB5-033F-ED54-64294254E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Design: Optimization Evaluation Scenarios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0C4EA-378E-8F79-D6FB-F46F24AC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B0C40-9228-8400-14DB-FB011EB27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9CC8-49E8-A9DA-9F5F-911B0039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42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00BD7F77-6FEA-294A-4486-1F90159597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960611"/>
                  </p:ext>
                </p:extLst>
              </p:nvPr>
            </p:nvGraphicFramePr>
            <p:xfrm>
              <a:off x="246645" y="2472875"/>
              <a:ext cx="11698707" cy="3690613"/>
            </p:xfrm>
            <a:graphic>
              <a:graphicData uri="http://schemas.openxmlformats.org/drawingml/2006/table">
                <a:tbl>
                  <a:tblPr>
                    <a:tableStyleId>{9D7B26C5-4107-4FEC-AEDC-1716B250A1EF}</a:tableStyleId>
                  </a:tblPr>
                  <a:tblGrid>
                    <a:gridCol w="2337271">
                      <a:extLst>
                        <a:ext uri="{9D8B030D-6E8A-4147-A177-3AD203B41FA5}">
                          <a16:colId xmlns:a16="http://schemas.microsoft.com/office/drawing/2014/main" val="2053290584"/>
                        </a:ext>
                      </a:extLst>
                    </a:gridCol>
                    <a:gridCol w="3489448">
                      <a:extLst>
                        <a:ext uri="{9D8B030D-6E8A-4147-A177-3AD203B41FA5}">
                          <a16:colId xmlns:a16="http://schemas.microsoft.com/office/drawing/2014/main" val="1355363879"/>
                        </a:ext>
                      </a:extLst>
                    </a:gridCol>
                    <a:gridCol w="5871988">
                      <a:extLst>
                        <a:ext uri="{9D8B030D-6E8A-4147-A177-3AD203B41FA5}">
                          <a16:colId xmlns:a16="http://schemas.microsoft.com/office/drawing/2014/main" val="3628565899"/>
                        </a:ext>
                      </a:extLst>
                    </a:gridCol>
                  </a:tblGrid>
                  <a:tr h="23988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Hazard metric</a:t>
                          </a:r>
                          <a:endParaRPr lang="en-US" sz="2000" b="1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Mathematical Definition</a:t>
                          </a:r>
                          <a:endParaRPr lang="en-US" sz="2000" b="1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Description</a:t>
                          </a:r>
                          <a:endParaRPr lang="en-US" sz="2000" b="1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427525"/>
                      </a:ext>
                    </a:extLst>
                  </a:tr>
                  <a:tr h="4389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 b="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Drought deficit volume</a:t>
                          </a:r>
                          <a:endParaRPr lang="en-US" sz="18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000" b="0" i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000" b="0" i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supHide m:val="on"/>
                                    <m:ctrlPr>
                                      <a:rPr lang="en-US" sz="2000" b="0" i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000" b="0" i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2000" b="0" i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sz="2000" b="0" i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  <m:sup/>
                                  <m:e>
                                    <m:func>
                                      <m:funcPr>
                                        <m:ctrlPr>
                                          <a:rPr lang="en-US" sz="2000" b="0" i="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b="0" i="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min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2000" b="0" i="0">
                                                <a:solidFill>
                                                  <a:sysClr val="windowText" lastClr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000" b="0" i="0">
                                                <a:solidFill>
                                                  <a:sysClr val="windowText" lastClr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2000" b="0" i="0">
                                                    <a:solidFill>
                                                      <a:sysClr val="windowText" lastClr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000" b="0" i="0">
                                                    <a:solidFill>
                                                      <a:sysClr val="windowText" lastClr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𝜏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sz="2000" b="0" i="0">
                                                <a:solidFill>
                                                  <a:sysClr val="windowText" lastClr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,0)</m:t>
                                            </m:r>
                                          </m:e>
                                        </m:d>
                                      </m:e>
                                    </m:func>
                                  </m:e>
                                </m:nary>
                              </m:oMath>
                            </m:oMathPara>
                          </a14:m>
                          <a:endParaRPr lang="en-US" sz="20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2000" b="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Cumulative SSI-6 deficit of the controlling drought event (SSI-months)</a:t>
                          </a:r>
                          <a:endParaRPr lang="en-US" sz="20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extLst>
                      <a:ext uri="{0D108BD9-81ED-4DB2-BD59-A6C34878D82A}">
                        <a16:rowId xmlns:a16="http://schemas.microsoft.com/office/drawing/2014/main" val="2090996091"/>
                      </a:ext>
                    </a:extLst>
                  </a:tr>
                  <a:tr h="239886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 b="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Drought peak depth</a:t>
                          </a:r>
                          <a:endParaRPr lang="en-US" sz="18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000" b="0" i="0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0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func>
                                  <m:funcPr>
                                    <m:ctrlPr>
                                      <a:rPr lang="en-US" sz="2000" b="0" i="1" dirty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sz="2000" b="0" i="0" dirty="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b="0" i="0" dirty="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min</m:t>
                                        </m:r>
                                      </m:e>
                                      <m:lim>
                                        <m:r>
                                          <a:rPr lang="en-US" sz="2000" b="0" i="0" dirty="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  <m:r>
                                          <a:rPr lang="en-US" sz="2000" b="0" i="0" dirty="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lang="en-US" sz="2000" b="0" i="0" dirty="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a:rPr lang="en-US" sz="2000" b="0" i="0" dirty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d>
                                      <m:dPr>
                                        <m:ctrlPr>
                                          <a:rPr lang="en-US" sz="2000" b="0" i="0" dirty="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0" dirty="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en-US" sz="20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2000" b="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Most negative SSI-6 value reached (std. deviations)</a:t>
                          </a:r>
                          <a:endParaRPr lang="en-US" sz="20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extLst>
                      <a:ext uri="{0D108BD9-81ED-4DB2-BD59-A6C34878D82A}">
                        <a16:rowId xmlns:a16="http://schemas.microsoft.com/office/drawing/2014/main" val="2072648882"/>
                      </a:ext>
                    </a:extLst>
                  </a:tr>
                  <a:tr h="4389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 b="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Drought onset rate</a:t>
                          </a:r>
                          <a:endParaRPr lang="en-US" sz="18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000" b="0" i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on</m:t>
                                    </m:r>
                                  </m:sub>
                                </m:sSub>
                                <m:r>
                                  <a:rPr lang="en-US" sz="2000" b="0" i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d>
                                  <m:dPr>
                                    <m:ctrlPr>
                                      <a:rPr lang="en-US" sz="2000" b="0" i="1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0" i="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b="0" i="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pk</m:t>
                                        </m:r>
                                      </m:sub>
                                    </m:sSub>
                                    <m:r>
                                      <a:rPr lang="en-US" sz="2000" b="0" i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000" b="0" i="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b="0" i="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on</m:t>
                                        </m:r>
                                      </m:sub>
                                    </m:sSub>
                                    <m:r>
                                      <a:rPr lang="en-US" sz="2000" b="0" i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2000" b="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Peak depth per month of drought intensification</a:t>
                          </a:r>
                          <a:endParaRPr lang="en-US" sz="20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extLst>
                      <a:ext uri="{0D108BD9-81ED-4DB2-BD59-A6C34878D82A}">
                        <a16:rowId xmlns:a16="http://schemas.microsoft.com/office/drawing/2014/main" val="2268556149"/>
                      </a:ext>
                    </a:extLst>
                  </a:tr>
                  <a:tr h="4389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 b="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Drought recovery rate</a:t>
                          </a:r>
                          <a:endParaRPr lang="en-US" sz="18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000" b="0" i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rec</m:t>
                                    </m:r>
                                  </m:sub>
                                </m:sSub>
                                <m:r>
                                  <a:rPr lang="en-US" sz="2000" b="0" i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d>
                                  <m:dPr>
                                    <m:ctrlPr>
                                      <a:rPr lang="en-US" sz="2000" b="0" i="1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0" i="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b="0" i="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end</m:t>
                                        </m:r>
                                      </m:sub>
                                    </m:sSub>
                                    <m:r>
                                      <a:rPr lang="en-US" sz="2000" b="0" i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000" b="0" i="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b="0" i="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pk</m:t>
                                        </m:r>
                                      </m:sub>
                                    </m:sSub>
                                    <m:r>
                                      <a:rPr lang="en-US" sz="2000" b="0" i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2000" b="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Peak depth per month of drought recovery</a:t>
                          </a:r>
                          <a:endParaRPr lang="en-US" sz="20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extLst>
                      <a:ext uri="{0D108BD9-81ED-4DB2-BD59-A6C34878D82A}">
                        <a16:rowId xmlns:a16="http://schemas.microsoft.com/office/drawing/2014/main" val="1089452862"/>
                      </a:ext>
                    </a:extLst>
                  </a:tr>
                  <a:tr h="239886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 b="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Flood peak magnitude</a:t>
                          </a:r>
                          <a:endParaRPr lang="en-US" sz="18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000" b="0" i="0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sz="2000" b="0" i="0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0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d>
                                  <m:dPr>
                                    <m:ctrlPr>
                                      <a:rPr lang="en-US" sz="2000" b="0" i="1" dirty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0" i="0" dirty="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0" dirty="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b="0" i="0" dirty="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000" b="0" i="0" dirty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b="0" i="0" dirty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0" dirty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2000" b="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Maximum daily flow, normalized by the historical mean flow</a:t>
                          </a:r>
                          <a:endParaRPr lang="en-US" sz="20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extLst>
                      <a:ext uri="{0D108BD9-81ED-4DB2-BD59-A6C34878D82A}">
                        <a16:rowId xmlns:a16="http://schemas.microsoft.com/office/drawing/2014/main" val="4135116701"/>
                      </a:ext>
                    </a:extLst>
                  </a:tr>
                  <a:tr h="239886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 b="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Flood pulse duration</a:t>
                          </a:r>
                          <a:endParaRPr lang="en-US" sz="18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000" b="0" i="0" dirty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0" dirty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000" b="0" i="0" dirty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sz="2000" b="0" i="0" dirty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0" dirty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0" dirty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2000" b="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Consecutive days above the historical 95th-percentile flow around the peak</a:t>
                          </a:r>
                          <a:endParaRPr lang="en-US" sz="20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extLst>
                      <a:ext uri="{0D108BD9-81ED-4DB2-BD59-A6C34878D82A}">
                        <a16:rowId xmlns:a16="http://schemas.microsoft.com/office/drawing/2014/main" val="42631345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00BD7F77-6FEA-294A-4486-1F90159597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960611"/>
                  </p:ext>
                </p:extLst>
              </p:nvPr>
            </p:nvGraphicFramePr>
            <p:xfrm>
              <a:off x="246645" y="2472875"/>
              <a:ext cx="11698707" cy="3690613"/>
            </p:xfrm>
            <a:graphic>
              <a:graphicData uri="http://schemas.openxmlformats.org/drawingml/2006/table">
                <a:tbl>
                  <a:tblPr>
                    <a:tableStyleId>{9D7B26C5-4107-4FEC-AEDC-1716B250A1EF}</a:tableStyleId>
                  </a:tblPr>
                  <a:tblGrid>
                    <a:gridCol w="2337271">
                      <a:extLst>
                        <a:ext uri="{9D8B030D-6E8A-4147-A177-3AD203B41FA5}">
                          <a16:colId xmlns:a16="http://schemas.microsoft.com/office/drawing/2014/main" val="2053290584"/>
                        </a:ext>
                      </a:extLst>
                    </a:gridCol>
                    <a:gridCol w="3489448">
                      <a:extLst>
                        <a:ext uri="{9D8B030D-6E8A-4147-A177-3AD203B41FA5}">
                          <a16:colId xmlns:a16="http://schemas.microsoft.com/office/drawing/2014/main" val="1355363879"/>
                        </a:ext>
                      </a:extLst>
                    </a:gridCol>
                    <a:gridCol w="5871988">
                      <a:extLst>
                        <a:ext uri="{9D8B030D-6E8A-4147-A177-3AD203B41FA5}">
                          <a16:colId xmlns:a16="http://schemas.microsoft.com/office/drawing/2014/main" val="3628565899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Hazard metric</a:t>
                          </a:r>
                          <a:endParaRPr lang="en-US" sz="2000" b="1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Mathematical Definition</a:t>
                          </a:r>
                          <a:endParaRPr lang="en-US" sz="2000" b="1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Description</a:t>
                          </a:r>
                          <a:endParaRPr lang="en-US" sz="2000" b="1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427525"/>
                      </a:ext>
                    </a:extLst>
                  </a:tr>
                  <a:tr h="770128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 b="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Drought deficit volume</a:t>
                          </a:r>
                          <a:endParaRPr lang="en-US" sz="18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5240" marR="15240" marT="15240" marB="15240" anchor="ctr">
                        <a:blipFill>
                          <a:blip r:embed="rId2"/>
                          <a:stretch>
                            <a:fillRect l="-67133" t="-51181" r="-168706" b="-3519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2000" b="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Cumulative SSI-6 deficit of the controlling drought event (SSI-months)</a:t>
                          </a:r>
                          <a:endParaRPr lang="en-US" sz="20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extLst>
                      <a:ext uri="{0D108BD9-81ED-4DB2-BD59-A6C34878D82A}">
                        <a16:rowId xmlns:a16="http://schemas.microsoft.com/office/drawing/2014/main" val="2090996091"/>
                      </a:ext>
                    </a:extLst>
                  </a:tr>
                  <a:tr h="42716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 b="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Drought peak depth</a:t>
                          </a:r>
                          <a:endParaRPr lang="en-US" sz="18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5240" marR="15240" marT="15240" marB="15240" anchor="ctr">
                        <a:blipFill>
                          <a:blip r:embed="rId2"/>
                          <a:stretch>
                            <a:fillRect l="-67133" t="-274286" r="-168706" b="-53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2000" b="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Most negative SSI-6 value reached (std. deviations)</a:t>
                          </a:r>
                          <a:endParaRPr lang="en-US" sz="20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extLst>
                      <a:ext uri="{0D108BD9-81ED-4DB2-BD59-A6C34878D82A}">
                        <a16:rowId xmlns:a16="http://schemas.microsoft.com/office/drawing/2014/main" val="2072648882"/>
                      </a:ext>
                    </a:extLst>
                  </a:tr>
                  <a:tr h="4389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 b="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Drought onset rate</a:t>
                          </a:r>
                          <a:endParaRPr lang="en-US" sz="18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5240" marR="15240" marT="15240" marB="15240" anchor="ctr">
                        <a:blipFill>
                          <a:blip r:embed="rId2"/>
                          <a:stretch>
                            <a:fillRect l="-67133" t="-363889" r="-168706" b="-4236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2000" b="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Peak depth per month of drought intensification</a:t>
                          </a:r>
                          <a:endParaRPr lang="en-US" sz="20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extLst>
                      <a:ext uri="{0D108BD9-81ED-4DB2-BD59-A6C34878D82A}">
                        <a16:rowId xmlns:a16="http://schemas.microsoft.com/office/drawing/2014/main" val="2268556149"/>
                      </a:ext>
                    </a:extLst>
                  </a:tr>
                  <a:tr h="4389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 b="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Drought recovery rate</a:t>
                          </a:r>
                          <a:endParaRPr lang="en-US" sz="18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5240" marR="15240" marT="15240" marB="15240" anchor="ctr">
                        <a:blipFill>
                          <a:blip r:embed="rId2"/>
                          <a:stretch>
                            <a:fillRect l="-67133" t="-463889" r="-168706" b="-3236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2000" b="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Peak depth per month of drought recovery</a:t>
                          </a:r>
                          <a:endParaRPr lang="en-US" sz="20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extLst>
                      <a:ext uri="{0D108BD9-81ED-4DB2-BD59-A6C34878D82A}">
                        <a16:rowId xmlns:a16="http://schemas.microsoft.com/office/drawing/2014/main" val="108945286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 b="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Flood peak magnitude</a:t>
                          </a:r>
                          <a:endParaRPr lang="en-US" sz="18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5240" marR="15240" marT="15240" marB="15240" anchor="ctr">
                        <a:blipFill>
                          <a:blip r:embed="rId2"/>
                          <a:stretch>
                            <a:fillRect l="-67133" t="-383019" r="-168706" b="-1198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2000" b="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Maximum daily flow, normalized by the historical mean flow</a:t>
                          </a:r>
                          <a:endParaRPr lang="en-US" sz="20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extLst>
                      <a:ext uri="{0D108BD9-81ED-4DB2-BD59-A6C34878D82A}">
                        <a16:rowId xmlns:a16="http://schemas.microsoft.com/office/drawing/2014/main" val="41351167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 b="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Flood pulse duration</a:t>
                          </a:r>
                          <a:endParaRPr lang="en-US" sz="18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5240" marR="15240" marT="15240" marB="15240" anchor="ctr">
                        <a:blipFill>
                          <a:blip r:embed="rId2"/>
                          <a:stretch>
                            <a:fillRect l="-67133" t="-487619" r="-168706" b="-2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2000" b="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Consecutive days above the historical 95th-percentile flow around the peak</a:t>
                          </a:r>
                          <a:endParaRPr lang="en-US" sz="2000" b="0" i="0" dirty="0">
                            <a:solidFill>
                              <a:sysClr val="windowText" lastClr="000000"/>
                            </a:solidFill>
                            <a:effectLst/>
                            <a:latin typeface="-apple-system"/>
                          </a:endParaRPr>
                        </a:p>
                      </a:txBody>
                      <a:tcPr marL="15240" marR="15240" marT="15240" marB="15240" anchor="ctr"/>
                    </a:tc>
                    <a:extLst>
                      <a:ext uri="{0D108BD9-81ED-4DB2-BD59-A6C34878D82A}">
                        <a16:rowId xmlns:a16="http://schemas.microsoft.com/office/drawing/2014/main" val="426313454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0AB3EB2-4D51-4D47-AE7E-CF142A45486B}"/>
              </a:ext>
            </a:extLst>
          </p:cNvPr>
          <p:cNvSpPr txBox="1"/>
          <p:nvPr/>
        </p:nvSpPr>
        <p:spPr>
          <a:xfrm>
            <a:off x="617622" y="933977"/>
            <a:ext cx="98979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sz="2000" b="1" i="0" dirty="0">
                <a:effectLst/>
                <a:latin typeface="-apple-system"/>
              </a:rPr>
              <a:t>Table 4. Hydrologic Hazard Metrics for the Hazard-Filling Design</a:t>
            </a:r>
            <a:endParaRPr lang="en-US" sz="2000" b="0" i="0" dirty="0">
              <a:effectLst/>
              <a:latin typeface="-apple-system"/>
            </a:endParaRPr>
          </a:p>
          <a:p>
            <a:pPr indent="0" algn="l">
              <a:buNone/>
            </a:pPr>
            <a:endParaRPr lang="en-US" sz="2000" b="0" i="1" dirty="0">
              <a:effectLst/>
              <a:latin typeface="-apple-system"/>
            </a:endParaRPr>
          </a:p>
          <a:p>
            <a:pPr indent="0" algn="l">
              <a:buNone/>
            </a:pPr>
            <a:r>
              <a:rPr lang="en-US" sz="2000" b="0" i="1" dirty="0">
                <a:effectLst/>
                <a:latin typeface="-apple-system"/>
              </a:rPr>
              <a:t>Computed on aggregate NYC reservoir inflow before any simulation; drought events identified by SSI-6 (controlling event = largest deficit volume). </a:t>
            </a:r>
            <a:endParaRPr lang="en-US" sz="2000" b="0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4032070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CAEA5-6C64-21C2-359C-88DE9A622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D2BED-C9BF-5C5D-FC85-472E4A168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E4F97-35AD-F905-C29C-542216BB2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84C53-0925-ED53-DAD3-13B32936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43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0A3CA7-0B86-BEC9-1C47-4BD801B1A904}"/>
              </a:ext>
            </a:extLst>
          </p:cNvPr>
          <p:cNvSpPr/>
          <p:nvPr/>
        </p:nvSpPr>
        <p:spPr>
          <a:xfrm>
            <a:off x="0" y="1491916"/>
            <a:ext cx="12191999" cy="3481137"/>
          </a:xfrm>
          <a:prstGeom prst="rect">
            <a:avLst/>
          </a:prstGeom>
          <a:solidFill>
            <a:srgbClr val="152C47"/>
          </a:solidFill>
          <a:ln>
            <a:solidFill>
              <a:srgbClr val="152C4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chemeClr val="bg1"/>
                </a:solidFill>
              </a:rPr>
              <a:t>Experimental Design:</a:t>
            </a:r>
          </a:p>
          <a:p>
            <a:pPr algn="ctr"/>
            <a:r>
              <a:rPr lang="en-US" sz="3200" i="1" dirty="0">
                <a:solidFill>
                  <a:schemeClr val="bg1"/>
                </a:solidFill>
              </a:rPr>
              <a:t>Re-evaluation under future hydrologic uncertainty</a:t>
            </a:r>
          </a:p>
        </p:txBody>
      </p:sp>
    </p:spTree>
    <p:extLst>
      <p:ext uri="{BB962C8B-B14F-4D97-AF65-F5344CB8AC3E}">
        <p14:creationId xmlns:p14="http://schemas.microsoft.com/office/powerpoint/2010/main" val="15607214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E03B1-78BB-4393-14E2-4D277668A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47A3A-F4DE-841B-9E75-4B9CE39FC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Planned Methods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DE044-6CFC-87BA-3AF9-73615F509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13E87-7703-F6A4-4C4A-8D283027B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1ACD6-6EA3-7016-7B6B-0242EE5FA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9087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99D7C-BDBA-E90F-0B14-55BFC0FC9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B9944-C98E-CF84-7863-ABF23EB08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Experimental Design: Re-evaluation under climate change uncertainty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9D362-029F-BCBE-D137-5CC630165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40969-331C-544A-D1B5-78812D642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043FE-E403-7D6B-FCF0-CF2FC3115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45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F0ECD6-76DD-54FD-1AC3-0B69AE491835}"/>
              </a:ext>
            </a:extLst>
          </p:cNvPr>
          <p:cNvSpPr/>
          <p:nvPr/>
        </p:nvSpPr>
        <p:spPr>
          <a:xfrm>
            <a:off x="9357360" y="1717040"/>
            <a:ext cx="2415540" cy="2336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64280B-2E2A-2BAD-B8C0-EB2D63C99078}"/>
              </a:ext>
            </a:extLst>
          </p:cNvPr>
          <p:cNvSpPr/>
          <p:nvPr/>
        </p:nvSpPr>
        <p:spPr>
          <a:xfrm>
            <a:off x="9982200" y="1986280"/>
            <a:ext cx="1976120" cy="3911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8460E61-BCFC-1D03-005B-E56178423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105" y="1265376"/>
            <a:ext cx="6484989" cy="18329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7B112C4-5E91-E5FC-63A2-6821EA9CC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104" y="3681058"/>
            <a:ext cx="6595009" cy="22117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2554392-FA67-3E57-3DD8-A01089128B78}"/>
              </a:ext>
            </a:extLst>
          </p:cNvPr>
          <p:cNvSpPr txBox="1"/>
          <p:nvPr/>
        </p:nvSpPr>
        <p:spPr>
          <a:xfrm>
            <a:off x="528320" y="2062044"/>
            <a:ext cx="418592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Inspired by parametric harmonic formulation from Quinn et al. (2018).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Instead of parameterizing the </a:t>
            </a:r>
            <a:r>
              <a:rPr lang="en-US" sz="2000" b="1" dirty="0"/>
              <a:t>log-space streamflow</a:t>
            </a:r>
            <a:r>
              <a:rPr lang="en-US" sz="2000" dirty="0"/>
              <a:t>, parameterize the </a:t>
            </a:r>
            <a:r>
              <a:rPr lang="en-US" sz="2000" b="1" dirty="0"/>
              <a:t>relative change in streamflow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789898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8FFF4-3684-EBBE-9531-74270DED7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7E8E0-A1AC-1435-F370-604E1B43D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Experimental Design: Re-evaluation under climate change uncertainty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BEA6E-13CC-6BB5-FC2A-D34ACFCFC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3D3FF-1876-9E45-B7D5-33A72A2EB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14CED-AE00-931F-3ECD-7DC6A2185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46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4E12E1-2E36-AD46-4D57-8D44FF7134F1}"/>
              </a:ext>
            </a:extLst>
          </p:cNvPr>
          <p:cNvSpPr/>
          <p:nvPr/>
        </p:nvSpPr>
        <p:spPr>
          <a:xfrm>
            <a:off x="9357360" y="1717040"/>
            <a:ext cx="2415540" cy="2336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4B4699-44B3-D492-8371-4DCF88D8A1E0}"/>
              </a:ext>
            </a:extLst>
          </p:cNvPr>
          <p:cNvSpPr/>
          <p:nvPr/>
        </p:nvSpPr>
        <p:spPr>
          <a:xfrm>
            <a:off x="9982200" y="1986280"/>
            <a:ext cx="1976120" cy="3911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784DAD-8F61-0E3E-E95E-40FBC9F2A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77" y="3568728"/>
            <a:ext cx="11890844" cy="23076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48D096-4527-52C7-A9A2-8E0B30145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795" y="2413000"/>
            <a:ext cx="8830408" cy="5392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BE2520-E1AD-FE73-4B48-CC43C27174B8}"/>
              </a:ext>
            </a:extLst>
          </p:cNvPr>
          <p:cNvSpPr txBox="1"/>
          <p:nvPr/>
        </p:nvSpPr>
        <p:spPr>
          <a:xfrm>
            <a:off x="1418492" y="1308194"/>
            <a:ext cx="9935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Can a 3 parameter harmonic capture CMIP6 informed monthly flow changes?</a:t>
            </a:r>
          </a:p>
        </p:txBody>
      </p:sp>
    </p:spTree>
    <p:extLst>
      <p:ext uri="{BB962C8B-B14F-4D97-AF65-F5344CB8AC3E}">
        <p14:creationId xmlns:p14="http://schemas.microsoft.com/office/powerpoint/2010/main" val="24284110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65CCA-4E37-ED6A-E76B-FF9EFA237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A20C4-E72A-CE72-0F97-1ABF311F5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Experimental Design: Re-evaluation under climate change uncertainty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BF356-46DD-A55D-5192-602DBC148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862EF-845D-C630-7A5F-A127FB0A5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97AB5-1599-F47B-7464-A2F420B5C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47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748517-B1A3-DE40-C846-BE8F80075B83}"/>
              </a:ext>
            </a:extLst>
          </p:cNvPr>
          <p:cNvSpPr/>
          <p:nvPr/>
        </p:nvSpPr>
        <p:spPr>
          <a:xfrm>
            <a:off x="9357360" y="1717040"/>
            <a:ext cx="2415540" cy="2336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B451E0-7144-4FB2-7AF7-DD38337FD275}"/>
              </a:ext>
            </a:extLst>
          </p:cNvPr>
          <p:cNvSpPr/>
          <p:nvPr/>
        </p:nvSpPr>
        <p:spPr>
          <a:xfrm>
            <a:off x="9982200" y="1986280"/>
            <a:ext cx="1976120" cy="3911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348353-8AA7-9750-6CED-F55121AA7F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63"/>
          <a:stretch>
            <a:fillRect/>
          </a:stretch>
        </p:blipFill>
        <p:spPr>
          <a:xfrm>
            <a:off x="838200" y="839883"/>
            <a:ext cx="6572250" cy="540534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F37D79C-4B7F-04CE-869A-7281528A5D26}"/>
              </a:ext>
            </a:extLst>
          </p:cNvPr>
          <p:cNvSpPr/>
          <p:nvPr/>
        </p:nvSpPr>
        <p:spPr>
          <a:xfrm>
            <a:off x="4638675" y="839883"/>
            <a:ext cx="3448050" cy="25891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AF84FA-328B-1D28-BC65-E6CEF984543D}"/>
              </a:ext>
            </a:extLst>
          </p:cNvPr>
          <p:cNvSpPr txBox="1"/>
          <p:nvPr/>
        </p:nvSpPr>
        <p:spPr>
          <a:xfrm>
            <a:off x="8020050" y="1207745"/>
            <a:ext cx="39382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Range &amp; spread of harmonic parameters for all of the CMIP6 streamflow traces (same data as paper 2) 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Fit the 3-parameter harmonic to each trace using OLS.</a:t>
            </a:r>
          </a:p>
        </p:txBody>
      </p:sp>
    </p:spTree>
    <p:extLst>
      <p:ext uri="{BB962C8B-B14F-4D97-AF65-F5344CB8AC3E}">
        <p14:creationId xmlns:p14="http://schemas.microsoft.com/office/powerpoint/2010/main" val="34138755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F9C34-04F8-3D66-8D70-F36F54564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4A793-B7D2-47F5-4A1D-300F265A6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Experimental Design: Re-evaluation under climate change uncertainty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3EE2C-D632-C100-E499-D7D3D014D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E095E-4010-78B3-0CF6-6F8E42B46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EB26F-B9A5-AA2A-8ED7-A04A49FB1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48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036BCC-27F8-27F3-CB25-D07B65C0E401}"/>
              </a:ext>
            </a:extLst>
          </p:cNvPr>
          <p:cNvSpPr/>
          <p:nvPr/>
        </p:nvSpPr>
        <p:spPr>
          <a:xfrm>
            <a:off x="9357360" y="1717040"/>
            <a:ext cx="2415540" cy="2336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DD2091-44DD-B66D-9BF8-E9B32D55585F}"/>
              </a:ext>
            </a:extLst>
          </p:cNvPr>
          <p:cNvSpPr/>
          <p:nvPr/>
        </p:nvSpPr>
        <p:spPr>
          <a:xfrm>
            <a:off x="9982200" y="1986280"/>
            <a:ext cx="1976120" cy="3911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09F6A3A-B56C-717A-D4D4-5C5299F6E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859" y="1594796"/>
            <a:ext cx="9606280" cy="407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7592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45952-2B17-2C42-524F-4A813A5D8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0DC1C-362B-1674-9F74-D83E8C292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Experimental Design: Re-evaluation under climate change uncertainty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19B17-E2E8-BB70-D5E0-0C4F8562B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42DDA-CA34-AF87-9542-3361C721F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86FA4-7463-1A02-1EE8-7780C27CD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49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239A1D-0173-0B31-E766-09BA7200616C}"/>
              </a:ext>
            </a:extLst>
          </p:cNvPr>
          <p:cNvSpPr/>
          <p:nvPr/>
        </p:nvSpPr>
        <p:spPr>
          <a:xfrm>
            <a:off x="9357360" y="1717040"/>
            <a:ext cx="2415540" cy="2336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965F3E-21DA-AD64-67AC-7147E1360237}"/>
              </a:ext>
            </a:extLst>
          </p:cNvPr>
          <p:cNvSpPr/>
          <p:nvPr/>
        </p:nvSpPr>
        <p:spPr>
          <a:xfrm>
            <a:off x="9982200" y="1986280"/>
            <a:ext cx="1976120" cy="3911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D6A40B-9161-9E64-091A-489B81D12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99" y="1494630"/>
            <a:ext cx="11353800" cy="4042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3174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41BE9-AF55-50D3-4A56-D12C9374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85B7A-D9C2-BEFD-B03C-F1CDDE359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Experimental Design: Re-evaluation under climate change uncertainty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46678-2A29-AD6A-4B2E-3F2B6B0B2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498EB-D4E2-628C-BB88-5E2E5F88C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9E94A-00B2-A060-D468-70EB04D6D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50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1DBF50-E2A8-A3CC-0579-7D69F07B6F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-2126"/>
          <a:stretch>
            <a:fillRect/>
          </a:stretch>
        </p:blipFill>
        <p:spPr>
          <a:xfrm>
            <a:off x="444500" y="1251215"/>
            <a:ext cx="11595100" cy="395680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687BC9E-3433-CB18-D116-8C16666CE837}"/>
              </a:ext>
            </a:extLst>
          </p:cNvPr>
          <p:cNvSpPr/>
          <p:nvPr/>
        </p:nvSpPr>
        <p:spPr>
          <a:xfrm>
            <a:off x="9357360" y="1717040"/>
            <a:ext cx="2415540" cy="2336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75EB-EC0C-0EE6-3255-EDE7037C4508}"/>
              </a:ext>
            </a:extLst>
          </p:cNvPr>
          <p:cNvSpPr/>
          <p:nvPr/>
        </p:nvSpPr>
        <p:spPr>
          <a:xfrm>
            <a:off x="9982200" y="1986280"/>
            <a:ext cx="1976120" cy="3911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8B7A6D-C546-48B9-5DAA-E9F5CE04AD99}"/>
              </a:ext>
            </a:extLst>
          </p:cNvPr>
          <p:cNvSpPr/>
          <p:nvPr/>
        </p:nvSpPr>
        <p:spPr>
          <a:xfrm>
            <a:off x="4216400" y="1412240"/>
            <a:ext cx="7467600" cy="352552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CBC960-FCFB-66A6-3B0A-EEC45FF2BBB6}"/>
              </a:ext>
            </a:extLst>
          </p:cNvPr>
          <p:cNvSpPr/>
          <p:nvPr/>
        </p:nvSpPr>
        <p:spPr>
          <a:xfrm>
            <a:off x="3502660" y="1233425"/>
            <a:ext cx="7467600" cy="30073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EE4B5D-F645-2150-4FC6-02B2228115EA}"/>
              </a:ext>
            </a:extLst>
          </p:cNvPr>
          <p:cNvSpPr txBox="1"/>
          <p:nvPr/>
        </p:nvSpPr>
        <p:spPr>
          <a:xfrm>
            <a:off x="4870539" y="2072064"/>
            <a:ext cx="72409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Grey = LHS samples inside the hypercube containing 90% of CMIP6 scenarios</a:t>
            </a:r>
          </a:p>
          <a:p>
            <a:endParaRPr lang="en-US" dirty="0"/>
          </a:p>
          <a:p>
            <a:r>
              <a:rPr lang="en-US" dirty="0"/>
              <a:t>Color markers = fitted parameters from LHS ensemble</a:t>
            </a:r>
          </a:p>
        </p:txBody>
      </p:sp>
    </p:spTree>
    <p:extLst>
      <p:ext uri="{BB962C8B-B14F-4D97-AF65-F5344CB8AC3E}">
        <p14:creationId xmlns:p14="http://schemas.microsoft.com/office/powerpoint/2010/main" val="2732496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8F093-075B-8FA9-C241-DC58D2920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1E561-B2B4-CFCD-8062-A8A7A84FA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Experimental Design: Re-evaluation under climate change uncertainty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A90B1-B266-4DC7-CA54-8452410CE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D6B4D-AD19-A8B2-8AEC-EF0A8DD6C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E16F3-95F5-409E-2513-8724CED5C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51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24C08E-C5A5-A270-7655-AE4BC5B87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1251215"/>
            <a:ext cx="11353800" cy="395680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D3AE170-48D1-6345-BE9E-6838AAC3002F}"/>
              </a:ext>
            </a:extLst>
          </p:cNvPr>
          <p:cNvSpPr/>
          <p:nvPr/>
        </p:nvSpPr>
        <p:spPr>
          <a:xfrm>
            <a:off x="9357360" y="1717040"/>
            <a:ext cx="2415540" cy="2336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255C3C-9EAC-B9AD-33E9-8456BDD0B750}"/>
              </a:ext>
            </a:extLst>
          </p:cNvPr>
          <p:cNvSpPr/>
          <p:nvPr/>
        </p:nvSpPr>
        <p:spPr>
          <a:xfrm>
            <a:off x="9982200" y="1986280"/>
            <a:ext cx="1976120" cy="3911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682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56EFA-07C7-BD47-2D0E-CF3BD59EC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70964-940B-D4D0-D549-830C90E6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Experimental Design: Re-evaluation under climate change uncertainty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23D69-C35A-F7C1-769E-2F6F357BF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45C73-19B7-3E82-70A2-5EADFB114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87C99-7E82-1E93-9947-BFB2BAC20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52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A6B0F1-BB78-2418-275B-05B2802A2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0" y="1341474"/>
            <a:ext cx="11663680" cy="454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7240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75F86-B142-EC8E-1EB2-FF9F493D1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62F3C-D16F-62CF-8B05-2D6431D31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Experimental Design: Re-evaluation under climate change uncertainty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2F4B4-5037-9292-81C5-F6D90DD41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3B103-0D9D-BE47-9A8E-344D024D3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91093-B21B-5D33-4AF5-9C075FE35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53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C4FC1DE-783D-8155-65AA-31B4CDEF5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241" y="1086871"/>
            <a:ext cx="6332238" cy="507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7427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F10D3-8789-FA0B-56F0-A953E6E54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50415-35BF-C45C-CFBE-67641FBD3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06E39-B13C-3784-D33B-0D58EC129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4B744-9ECA-D23E-B82F-9BB14B64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54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5990F6-06F5-ADA1-1AD5-AB7A93506070}"/>
              </a:ext>
            </a:extLst>
          </p:cNvPr>
          <p:cNvSpPr/>
          <p:nvPr/>
        </p:nvSpPr>
        <p:spPr>
          <a:xfrm>
            <a:off x="0" y="1491916"/>
            <a:ext cx="12191999" cy="3481137"/>
          </a:xfrm>
          <a:prstGeom prst="rect">
            <a:avLst/>
          </a:prstGeom>
          <a:solidFill>
            <a:srgbClr val="152C47"/>
          </a:solidFill>
          <a:ln>
            <a:solidFill>
              <a:srgbClr val="152C4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chemeClr val="bg1"/>
                </a:solidFill>
              </a:rPr>
              <a:t>Supplemental</a:t>
            </a:r>
          </a:p>
        </p:txBody>
      </p:sp>
    </p:spTree>
    <p:extLst>
      <p:ext uri="{BB962C8B-B14F-4D97-AF65-F5344CB8AC3E}">
        <p14:creationId xmlns:p14="http://schemas.microsoft.com/office/powerpoint/2010/main" val="10623107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2E244-DABE-A64C-38EB-98BCA7C09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08B06-F533-364B-CC6A-73BE1E9BD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E9374-6D41-4CCE-6308-46863DD1F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02429-E1B9-5A37-1198-840000823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55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CF2D04-1D72-4EFD-B8C8-C0CC9752E831}"/>
              </a:ext>
            </a:extLst>
          </p:cNvPr>
          <p:cNvSpPr/>
          <p:nvPr/>
        </p:nvSpPr>
        <p:spPr>
          <a:xfrm>
            <a:off x="0" y="1491916"/>
            <a:ext cx="12191999" cy="3481137"/>
          </a:xfrm>
          <a:prstGeom prst="rect">
            <a:avLst/>
          </a:prstGeom>
          <a:solidFill>
            <a:srgbClr val="152C47"/>
          </a:solidFill>
          <a:ln>
            <a:solidFill>
              <a:srgbClr val="152C4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chemeClr val="bg1"/>
                </a:solidFill>
              </a:rPr>
              <a:t>Supplemental: 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Parametric Sampling of Uncertain 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Monthly Streamflow Change Factors</a:t>
            </a:r>
          </a:p>
        </p:txBody>
      </p:sp>
    </p:spTree>
    <p:extLst>
      <p:ext uri="{BB962C8B-B14F-4D97-AF65-F5344CB8AC3E}">
        <p14:creationId xmlns:p14="http://schemas.microsoft.com/office/powerpoint/2010/main" val="5211355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6F978-9DCD-BC46-E3B9-2C652D651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C0603-6362-4A76-D7A3-401D5D07A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1BD1E-A7AF-3DDE-5932-C1FC6094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A6066-420A-C7AA-A7DD-8DAE736F9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56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E91253-71DD-FB14-E91F-D9CE9251C9AB}"/>
              </a:ext>
            </a:extLst>
          </p:cNvPr>
          <p:cNvSpPr/>
          <p:nvPr/>
        </p:nvSpPr>
        <p:spPr>
          <a:xfrm>
            <a:off x="0" y="1491916"/>
            <a:ext cx="12191999" cy="3481137"/>
          </a:xfrm>
          <a:prstGeom prst="rect">
            <a:avLst/>
          </a:prstGeom>
          <a:solidFill>
            <a:srgbClr val="152C47"/>
          </a:solidFill>
          <a:ln>
            <a:solidFill>
              <a:srgbClr val="152C4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chemeClr val="bg1"/>
                </a:solidFill>
              </a:rPr>
              <a:t>Supplemental: 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Anvil Scaling Experiments</a:t>
            </a:r>
          </a:p>
        </p:txBody>
      </p:sp>
    </p:spTree>
    <p:extLst>
      <p:ext uri="{BB962C8B-B14F-4D97-AF65-F5344CB8AC3E}">
        <p14:creationId xmlns:p14="http://schemas.microsoft.com/office/powerpoint/2010/main" val="2915958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0CB99-675D-1823-2B8B-84A51C86C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3495C-1464-C48D-4B2E-3C80D079F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44540-2FFC-E3A1-10CF-10E26769A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2BDD8-8AC8-2798-EFAC-633DE4F66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88996-7963-EDCC-2525-9DB8C06F9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57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FC8C1B-C957-C412-8823-D1988A232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3367"/>
            <a:ext cx="10515600" cy="4893595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Parallelism &amp; Efficiency Levers: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Number of nodes</a:t>
            </a:r>
          </a:p>
          <a:p>
            <a:r>
              <a:rPr lang="en-US" dirty="0"/>
              <a:t>Number of core per node</a:t>
            </a:r>
          </a:p>
          <a:p>
            <a:r>
              <a:rPr lang="en-US" dirty="0"/>
              <a:t>Number of MM-Borg islands &amp; workers </a:t>
            </a:r>
          </a:p>
          <a:p>
            <a:r>
              <a:rPr lang="en-US" dirty="0"/>
              <a:t>Number of realizations per Pywr-DRB simulation (</a:t>
            </a:r>
            <a:r>
              <a:rPr lang="en-US" dirty="0" err="1"/>
              <a:t>pywr</a:t>
            </a:r>
            <a:r>
              <a:rPr lang="en-US" dirty="0"/>
              <a:t> internal parallel)</a:t>
            </a:r>
          </a:p>
        </p:txBody>
      </p:sp>
    </p:spTree>
    <p:extLst>
      <p:ext uri="{BB962C8B-B14F-4D97-AF65-F5344CB8AC3E}">
        <p14:creationId xmlns:p14="http://schemas.microsoft.com/office/powerpoint/2010/main" val="9345817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0A4F8-5506-6FC8-7598-7CC2CE757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90837-3659-E985-B388-576BA6624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C556F-66F5-4061-43E8-0BA9B0E91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5143C-EB81-6115-272F-32AC964B8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AFEDE-E0A0-E375-16B8-E5F1AB3A1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58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0EF781-047C-5987-572F-F649E9C6E3FF}"/>
              </a:ext>
            </a:extLst>
          </p:cNvPr>
          <p:cNvSpPr txBox="1"/>
          <p:nvPr/>
        </p:nvSpPr>
        <p:spPr>
          <a:xfrm>
            <a:off x="780394" y="935283"/>
            <a:ext cx="1057340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Goal:</a:t>
            </a:r>
            <a:r>
              <a:rPr lang="en-US" dirty="0"/>
              <a:t> Before committing to large scale MM-Borg optimization, measure (a) how densely we can pack model evaluations on a node and (b) how well MM-Borg's parallelism scales.</a:t>
            </a:r>
          </a:p>
          <a:p>
            <a:endParaRPr lang="en-US" dirty="0"/>
          </a:p>
          <a:p>
            <a:r>
              <a:rPr lang="en-US" i="1" dirty="0"/>
              <a:t>Anvil node: 128 cores, 256 GB</a:t>
            </a:r>
            <a:endParaRPr lang="en-US" b="1" i="1" dirty="0"/>
          </a:p>
          <a:p>
            <a:endParaRPr lang="en-US" b="1" dirty="0"/>
          </a:p>
          <a:p>
            <a:r>
              <a:rPr lang="en-US" b="1" dirty="0"/>
              <a:t>Test 1: Efficiency of running K workers on a single node with.</a:t>
            </a:r>
            <a:r>
              <a:rPr lang="en-US" dirty="0"/>
              <a:t> </a:t>
            </a:r>
          </a:p>
          <a:p>
            <a:r>
              <a:rPr lang="en-US" dirty="0"/>
              <a:t>On one node, run K independent copies of the MM-Borg worker evaluation (a 20-realization, 20-year synthetic streamflow ensemble through Pywr-DRB). Each rank times one ‘cold’ + several warm evaluations and records peak memory. Sweeping K reveals when contention or memory becomes the limit.</a:t>
            </a:r>
          </a:p>
          <a:p>
            <a:endParaRPr lang="en-US" dirty="0"/>
          </a:p>
          <a:p>
            <a:r>
              <a:rPr lang="en-US" b="1" dirty="0"/>
              <a:t>Test 2: MM-Borg strong scaling.</a:t>
            </a:r>
            <a:r>
              <a:rPr lang="en-US" dirty="0"/>
              <a:t> </a:t>
            </a:r>
          </a:p>
          <a:p>
            <a:r>
              <a:rPr lang="en-US" dirty="0"/>
              <a:t>MM-Borg runs at a fixed budget of 1,280 evaluations, using a short simulation window (~6 s/eval) so runs are cheap.  Geometries: 8, 16, 32, 64 workers on one island, plus 2×32 and 4×16 island splits at 64 slots. Two random seeds each. Wall time to finish the fixed budget gives speedup and parallel efficiency.</a:t>
            </a:r>
          </a:p>
        </p:txBody>
      </p:sp>
    </p:spTree>
    <p:extLst>
      <p:ext uri="{BB962C8B-B14F-4D97-AF65-F5344CB8AC3E}">
        <p14:creationId xmlns:p14="http://schemas.microsoft.com/office/powerpoint/2010/main" val="15196442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491B8-0383-D292-8094-3DE51CE9E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F8428-8163-2DDB-6D91-62C3095AF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DDD24-B690-53C8-C3DE-6E135BDD1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39A41-9863-3FCE-928F-17A699400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43795-9FD6-F8FF-15D7-B50AA0DA2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59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CA3855-D477-A773-77D5-095BDEA19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409" y="1223837"/>
            <a:ext cx="6522448" cy="50090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57C7AF-E340-9E23-1D85-5F0270D037C5}"/>
              </a:ext>
            </a:extLst>
          </p:cNvPr>
          <p:cNvSpPr txBox="1"/>
          <p:nvPr/>
        </p:nvSpPr>
        <p:spPr>
          <a:xfrm>
            <a:off x="289249" y="1203649"/>
            <a:ext cx="3749351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Run K copies of the evaluation at the same time, K = 1, 8, 16, 32, 48, 64, 96, 128 core.</a:t>
            </a:r>
          </a:p>
          <a:p>
            <a:endParaRPr lang="en-US" sz="2000" dirty="0"/>
          </a:p>
          <a:p>
            <a:r>
              <a:rPr lang="en-US" sz="2000" dirty="0"/>
              <a:t>Every rank times one "cold" evaluation (first one, caches empty) then several "warm" ones, using the exact code path a Borg worker uses.</a:t>
            </a:r>
          </a:p>
          <a:p>
            <a:endParaRPr lang="en-US" sz="2000" dirty="0"/>
          </a:p>
          <a:p>
            <a:r>
              <a:rPr lang="en-US" sz="2000" dirty="0"/>
              <a:t>Question: does crowding more evaluations onto one node make each one slower?</a:t>
            </a:r>
          </a:p>
          <a:p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3319F3-DBA0-6B97-5F9B-D016F5463E91}"/>
              </a:ext>
            </a:extLst>
          </p:cNvPr>
          <p:cNvSpPr txBox="1"/>
          <p:nvPr/>
        </p:nvSpPr>
        <p:spPr>
          <a:xfrm>
            <a:off x="6634066" y="723929"/>
            <a:ext cx="352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 = 20 realizations x 20 years</a:t>
            </a:r>
          </a:p>
        </p:txBody>
      </p:sp>
    </p:spTree>
    <p:extLst>
      <p:ext uri="{BB962C8B-B14F-4D97-AF65-F5344CB8AC3E}">
        <p14:creationId xmlns:p14="http://schemas.microsoft.com/office/powerpoint/2010/main" val="19820163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BF713-EB5B-971C-ED53-B91A2F5D2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CBF1B-D693-BB89-CCA4-C490F2222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68AFB-5034-D5FC-0F52-3B8FE862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7E88A-F013-A100-3476-D468A803C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13F95-61A1-3B5D-8DC1-8AC67F44C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60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879964-63F4-D714-9300-4287AB0D8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409" y="1223837"/>
            <a:ext cx="6522448" cy="50090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CB85C1-77DF-B8F7-02A0-5B475345FB27}"/>
              </a:ext>
            </a:extLst>
          </p:cNvPr>
          <p:cNvSpPr txBox="1"/>
          <p:nvPr/>
        </p:nvSpPr>
        <p:spPr>
          <a:xfrm>
            <a:off x="289249" y="1203649"/>
            <a:ext cx="374935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Packing is nearly free up to K=32 (only 1% slower than running alone), then costs 17% at full density K=128 (64.0 s -&gt; 74.7 s).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However, a 17% per-evaluation penalty is worth it for 128× the parallelism.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8D8B19-2D70-C42E-9D3F-D699E4D65E1F}"/>
              </a:ext>
            </a:extLst>
          </p:cNvPr>
          <p:cNvSpPr txBox="1"/>
          <p:nvPr/>
        </p:nvSpPr>
        <p:spPr>
          <a:xfrm>
            <a:off x="6634066" y="723929"/>
            <a:ext cx="352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 = 20 realizations x 20 years</a:t>
            </a:r>
          </a:p>
        </p:txBody>
      </p:sp>
    </p:spTree>
    <p:extLst>
      <p:ext uri="{BB962C8B-B14F-4D97-AF65-F5344CB8AC3E}">
        <p14:creationId xmlns:p14="http://schemas.microsoft.com/office/powerpoint/2010/main" val="5482381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BCC59-AC33-583B-B62F-05CADFE4A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9CC0E-952E-39E0-91A5-58885D660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431E0-07C0-74C9-0E2A-31050339C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79305-9909-9870-C7FE-E908D14E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95D0B-0364-4BBA-45C4-F9D37492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61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CA1905-B13F-7C61-A9C3-24E930A12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836" y="759321"/>
            <a:ext cx="6007522" cy="56324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A3A905-CC31-2E57-D6B5-AA3AFBB5C7B3}"/>
              </a:ext>
            </a:extLst>
          </p:cNvPr>
          <p:cNvSpPr txBox="1"/>
          <p:nvPr/>
        </p:nvSpPr>
        <p:spPr>
          <a:xfrm>
            <a:off x="503853" y="1231641"/>
            <a:ext cx="449735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Top panel:</a:t>
            </a:r>
            <a:r>
              <a:rPr lang="en-US" dirty="0"/>
              <a:t> Evaluations completed per node-hour, rising almost linearly with K to a maximum at K=128.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Bottom panel:</a:t>
            </a:r>
            <a:r>
              <a:rPr lang="en-US" dirty="0"/>
              <a:t> SUs burned per 1,000 evaluations, decreasing as K rises and flattening out well before K=128 (open squares show the unbatched B=1 case for contrast).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89D055-F70D-3053-E558-82DCBD3C3D5D}"/>
              </a:ext>
            </a:extLst>
          </p:cNvPr>
          <p:cNvSpPr txBox="1"/>
          <p:nvPr/>
        </p:nvSpPr>
        <p:spPr>
          <a:xfrm>
            <a:off x="6997960" y="524093"/>
            <a:ext cx="352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 = 20 realizations x 20 years</a:t>
            </a:r>
          </a:p>
        </p:txBody>
      </p:sp>
    </p:spTree>
    <p:extLst>
      <p:ext uri="{BB962C8B-B14F-4D97-AF65-F5344CB8AC3E}">
        <p14:creationId xmlns:p14="http://schemas.microsoft.com/office/powerpoint/2010/main" val="1772727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03587-C886-3159-CB20-00C9037C4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6ACB4-A79C-79EA-1909-675E3E096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9A45F-EF21-1BC7-46E0-2F2AEA7EC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57F70-0808-AE30-E335-A596D9920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44709-345A-AF8B-8900-CAD483881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62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958DFC-EDEF-AA12-D32F-67FB5013A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836" y="759321"/>
            <a:ext cx="6007522" cy="56324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EB62DB-5EA4-4D09-3465-6EB45EA7BCC9}"/>
              </a:ext>
            </a:extLst>
          </p:cNvPr>
          <p:cNvSpPr txBox="1"/>
          <p:nvPr/>
        </p:nvSpPr>
        <p:spPr>
          <a:xfrm>
            <a:off x="503853" y="1231641"/>
            <a:ext cx="449735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Take-aways</a:t>
            </a:r>
          </a:p>
          <a:p>
            <a:endParaRPr lang="en-US" i="1" dirty="0"/>
          </a:p>
          <a:p>
            <a:r>
              <a:rPr lang="en-US" i="1" dirty="0"/>
              <a:t>Top:</a:t>
            </a:r>
            <a:r>
              <a:rPr lang="en-US" dirty="0"/>
              <a:t> Throughput scales nearly linearly (56 evals/node-</a:t>
            </a:r>
            <a:r>
              <a:rPr lang="en-US" dirty="0" err="1"/>
              <a:t>hr</a:t>
            </a:r>
            <a:r>
              <a:rPr lang="en-US" dirty="0"/>
              <a:t> at K=1 to 6,166 at K=128), about 110x. </a:t>
            </a:r>
          </a:p>
          <a:p>
            <a:endParaRPr lang="en-US" dirty="0"/>
          </a:p>
          <a:p>
            <a:r>
              <a:rPr lang="en-US" dirty="0"/>
              <a:t>The 17% per-evaluation slowdown never overtakes the parallelism benefit.</a:t>
            </a:r>
          </a:p>
          <a:p>
            <a:endParaRPr lang="en-US" i="1" dirty="0"/>
          </a:p>
          <a:p>
            <a:endParaRPr lang="en-US" i="1" dirty="0"/>
          </a:p>
          <a:p>
            <a:r>
              <a:rPr lang="en-US" i="1" dirty="0"/>
              <a:t>Bottom:</a:t>
            </a:r>
            <a:r>
              <a:rPr lang="en-US" dirty="0"/>
              <a:t> Cost per 1,000 evaluations drops from 2,275 SU to 21 SU. </a:t>
            </a:r>
          </a:p>
          <a:p>
            <a:endParaRPr lang="en-US" dirty="0"/>
          </a:p>
          <a:p>
            <a:r>
              <a:rPr lang="en-US" dirty="0"/>
              <a:t>Most of the savings arrive by K~=40; beyond that the curve is flat, so K=128 is good but also okay if we need to use less (due to memory)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EC480C-59DF-740A-A7C0-35F6A4D3C3AC}"/>
              </a:ext>
            </a:extLst>
          </p:cNvPr>
          <p:cNvSpPr txBox="1"/>
          <p:nvPr/>
        </p:nvSpPr>
        <p:spPr>
          <a:xfrm>
            <a:off x="7109928" y="473531"/>
            <a:ext cx="352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 = 20 realizations x 20 years</a:t>
            </a:r>
          </a:p>
        </p:txBody>
      </p:sp>
    </p:spTree>
    <p:extLst>
      <p:ext uri="{BB962C8B-B14F-4D97-AF65-F5344CB8AC3E}">
        <p14:creationId xmlns:p14="http://schemas.microsoft.com/office/powerpoint/2010/main" val="24553839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996F8-F34C-9B0E-CC07-8A0B8DB29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398C5-829C-B9FB-73D1-71A94BDA6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555FE-8063-4784-E655-2439E52EA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B9688-E9FC-C204-0821-4DDE28F14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04033-228E-24B6-5EAF-D07FF373F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63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57EC18-7E24-880E-CF9F-633CEA63F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595" y="978971"/>
            <a:ext cx="9162661" cy="39421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801BA97-7C8E-6C68-7D09-651C176DC764}"/>
              </a:ext>
            </a:extLst>
          </p:cNvPr>
          <p:cNvSpPr txBox="1"/>
          <p:nvPr/>
        </p:nvSpPr>
        <p:spPr>
          <a:xfrm>
            <a:off x="802431" y="4921111"/>
            <a:ext cx="103289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Left panel:</a:t>
            </a:r>
            <a:r>
              <a:rPr lang="en-US" dirty="0"/>
              <a:t> Peak memory used by a single rank across packing densities, for the typical (median) and worst (max) rank memory usage.</a:t>
            </a:r>
          </a:p>
          <a:p>
            <a:endParaRPr lang="en-US" dirty="0"/>
          </a:p>
          <a:p>
            <a:r>
              <a:rPr lang="en-US" b="1" dirty="0"/>
              <a:t>Right panel:</a:t>
            </a:r>
            <a:r>
              <a:rPr lang="en-US" dirty="0"/>
              <a:t> Total node memory implied by K ranks at the worst-case per-rank footprint, against the 256 GB node limit (red dashed line).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6151CC-1012-73B2-7026-202BE9FD6895}"/>
              </a:ext>
            </a:extLst>
          </p:cNvPr>
          <p:cNvSpPr txBox="1"/>
          <p:nvPr/>
        </p:nvSpPr>
        <p:spPr>
          <a:xfrm>
            <a:off x="4506687" y="611742"/>
            <a:ext cx="352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 = 20 realizations x 20 years</a:t>
            </a:r>
          </a:p>
        </p:txBody>
      </p:sp>
    </p:spTree>
    <p:extLst>
      <p:ext uri="{BB962C8B-B14F-4D97-AF65-F5344CB8AC3E}">
        <p14:creationId xmlns:p14="http://schemas.microsoft.com/office/powerpoint/2010/main" val="3377063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0EAE8-25BA-F984-81D2-173384CFA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5515F-71E8-A5E4-25EE-49B89AAC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94A13-5436-A967-2B18-01B7BA040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E5D81-B087-034E-CB34-2C3D9B7C2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31AE0-8948-DA52-64F4-9E2CB3885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64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92AB13-3E40-EBA1-907C-5D0200BCC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162" y="1115781"/>
            <a:ext cx="8749005" cy="38297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A45252-D14C-CD01-2F91-2E6A5BE4F656}"/>
              </a:ext>
            </a:extLst>
          </p:cNvPr>
          <p:cNvSpPr txBox="1"/>
          <p:nvPr/>
        </p:nvSpPr>
        <p:spPr>
          <a:xfrm>
            <a:off x="2659224" y="746449"/>
            <a:ext cx="7175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Short 4 year simulation, 1,280 NFE, 2 random seeds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1D33CD-F65B-B753-9D0F-2AAD3E1567D6}"/>
              </a:ext>
            </a:extLst>
          </p:cNvPr>
          <p:cNvSpPr txBox="1"/>
          <p:nvPr/>
        </p:nvSpPr>
        <p:spPr>
          <a:xfrm>
            <a:off x="1558213" y="5034333"/>
            <a:ext cx="920931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sz="1600" b="1" i="0" dirty="0">
                <a:effectLst/>
              </a:rPr>
              <a:t>Left panel:</a:t>
            </a:r>
            <a:r>
              <a:rPr lang="en-US" sz="1600" b="0" i="0" dirty="0">
                <a:effectLst/>
              </a:rPr>
              <a:t> Wall time to finish the fixed evaluation budget as evaluation slots increase from 8 to 64 (log-log).</a:t>
            </a:r>
          </a:p>
          <a:p>
            <a:pPr indent="0" algn="l">
              <a:buNone/>
            </a:pPr>
            <a:r>
              <a:rPr lang="en-US" sz="1600" b="1" i="0" dirty="0">
                <a:effectLst/>
              </a:rPr>
              <a:t>Middle panel:</a:t>
            </a:r>
            <a:r>
              <a:rPr lang="en-US" sz="1600" b="0" i="0" dirty="0">
                <a:effectLst/>
              </a:rPr>
              <a:t> Speedup relative to the smallest 8-slot run, against the ideal linear line, with the two multi-island geometries overlaid.</a:t>
            </a:r>
          </a:p>
          <a:p>
            <a:pPr indent="0" algn="l">
              <a:buNone/>
            </a:pPr>
            <a:r>
              <a:rPr lang="en-US" sz="1600" b="1" i="0" dirty="0">
                <a:effectLst/>
              </a:rPr>
              <a:t>Right panel:</a:t>
            </a:r>
            <a:r>
              <a:rPr lang="en-US" sz="1600" b="0" i="0" dirty="0">
                <a:effectLst/>
              </a:rPr>
              <a:t> Parallel efficiency (fraction of ideal speedup retained) as slots increase.</a:t>
            </a:r>
          </a:p>
        </p:txBody>
      </p:sp>
    </p:spTree>
    <p:extLst>
      <p:ext uri="{BB962C8B-B14F-4D97-AF65-F5344CB8AC3E}">
        <p14:creationId xmlns:p14="http://schemas.microsoft.com/office/powerpoint/2010/main" val="25447368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551FC-D2EB-D51F-D192-577A167E0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F12BF-1CE7-2BCE-D793-FD22DCAEB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EC038-4880-3350-C8BF-5FAEBCE66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A9C0E-2C37-3E5C-4935-253C504F4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2760D-BCD3-81FA-D94B-246A014B2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65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291B1B-80F3-D98F-B0E6-5C64B6C7E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83" y="970850"/>
            <a:ext cx="7369833" cy="53086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A2FC43-6A1D-CB1E-CDE6-84352C77CF82}"/>
              </a:ext>
            </a:extLst>
          </p:cNvPr>
          <p:cNvSpPr txBox="1"/>
          <p:nvPr/>
        </p:nvSpPr>
        <p:spPr>
          <a:xfrm>
            <a:off x="7531768" y="1307432"/>
            <a:ext cx="39944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Projected runtime combines the two measured pieces: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Evalutation</a:t>
            </a:r>
            <a:r>
              <a:rPr lang="en-US" dirty="0"/>
              <a:t> runtime pack at K*=128 ranks/node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Borg scaling efficiency (assume 73% parallel efficiency)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For 750k NFE, 16 nodes and 4 islands:</a:t>
            </a:r>
          </a:p>
          <a:p>
            <a:r>
              <a:rPr lang="en-US" dirty="0"/>
              <a:t> = ~23k SU</a:t>
            </a:r>
          </a:p>
          <a:p>
            <a:r>
              <a:rPr lang="en-US" dirty="0"/>
              <a:t> = 10.5 </a:t>
            </a:r>
            <a:r>
              <a:rPr lang="en-US" dirty="0" err="1"/>
              <a:t>hr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41871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54A4F-0C13-D143-22F5-8BA9F4A63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82ACD-25FD-41F1-52CB-65D316731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6301E-572D-99FB-803D-5B0B7CB9A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AB81F-7AD1-0548-AD66-8946CCBDD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E0664-465D-2535-8ABD-4E150E1C2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66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D44059-A060-0E2F-FB52-5334408B9002}"/>
              </a:ext>
            </a:extLst>
          </p:cNvPr>
          <p:cNvSpPr txBox="1"/>
          <p:nvPr/>
        </p:nvSpPr>
        <p:spPr>
          <a:xfrm>
            <a:off x="838200" y="898447"/>
            <a:ext cx="656082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Setup Anvil allocation calculator (based on Lillian’s advice)</a:t>
            </a:r>
          </a:p>
          <a:p>
            <a:endParaRPr lang="en-US" sz="2000" i="1" dirty="0"/>
          </a:p>
          <a:p>
            <a:r>
              <a:rPr lang="en-US" sz="2000" dirty="0"/>
              <a:t>Based on results of runtime &amp; scaling experiments and experimental settings, estimate the total SUs needed for optimizations.</a:t>
            </a:r>
          </a:p>
          <a:p>
            <a:endParaRPr lang="en-US" sz="2000" dirty="0"/>
          </a:p>
          <a:p>
            <a:r>
              <a:rPr lang="en-US" sz="2000" b="1" dirty="0"/>
              <a:t>Current scale assumptions:</a:t>
            </a:r>
          </a:p>
          <a:p>
            <a:endParaRPr lang="en-US" sz="2000" dirty="0"/>
          </a:p>
          <a:p>
            <a:r>
              <a:rPr lang="en-US" sz="2000" i="1" dirty="0"/>
              <a:t>Optimization</a:t>
            </a:r>
          </a:p>
          <a:p>
            <a:r>
              <a:rPr lang="en-US" sz="2000" dirty="0"/>
              <a:t>500k NFE</a:t>
            </a:r>
          </a:p>
          <a:p>
            <a:r>
              <a:rPr lang="en-US" dirty="0"/>
              <a:t>1,000 years per evaluation </a:t>
            </a:r>
          </a:p>
          <a:p>
            <a:r>
              <a:rPr lang="en-US" dirty="0"/>
              <a:t>3x formulation designs</a:t>
            </a:r>
          </a:p>
          <a:p>
            <a:r>
              <a:rPr lang="en-US" dirty="0"/>
              <a:t>5x seeds per design</a:t>
            </a:r>
          </a:p>
          <a:p>
            <a:endParaRPr lang="en-US" dirty="0"/>
          </a:p>
          <a:p>
            <a:r>
              <a:rPr lang="en-US" i="1" dirty="0"/>
              <a:t>Re-evaluation</a:t>
            </a:r>
          </a:p>
          <a:p>
            <a:r>
              <a:rPr lang="en-US" dirty="0"/>
              <a:t>1,500 solutions re-evaluated </a:t>
            </a:r>
          </a:p>
          <a:p>
            <a:r>
              <a:rPr lang="en-US" dirty="0"/>
              <a:t>10,000 realizations x 100 years (1M years) per solution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BDBCEF-7F1E-A1A5-F5E7-4B5E486E2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570" y="1007849"/>
            <a:ext cx="4747671" cy="522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8305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F47F2-51AF-F9A0-2910-6A5F243B0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442F3-A5D7-FFDE-4EF9-8A80DC677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C7FD2-D18D-0058-761A-EE26FB481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697AC-3D05-BB8D-DE9D-8DCDFB005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443A4-1AF9-2549-AE47-0977CD17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67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DB42A4-B8CB-A5FC-608E-9B2A429BA64E}"/>
              </a:ext>
            </a:extLst>
          </p:cNvPr>
          <p:cNvSpPr txBox="1"/>
          <p:nvPr/>
        </p:nvSpPr>
        <p:spPr>
          <a:xfrm>
            <a:off x="838200" y="898447"/>
            <a:ext cx="65608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Setup Anvil allocation calculator (based on Lillian’s advice)</a:t>
            </a:r>
          </a:p>
          <a:p>
            <a:endParaRPr lang="en-US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DD07201-295A-EED6-86CE-20F042A9D607}"/>
              </a:ext>
            </a:extLst>
          </p:cNvPr>
          <p:cNvGraphicFramePr>
            <a:graphicFrameLocks/>
          </p:cNvGraphicFramePr>
          <p:nvPr/>
        </p:nvGraphicFramePr>
        <p:xfrm>
          <a:off x="762873" y="2021747"/>
          <a:ext cx="5101973" cy="35954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E0A91B0-F827-6184-C2D5-3B312F10ECDC}"/>
              </a:ext>
            </a:extLst>
          </p:cNvPr>
          <p:cNvSpPr/>
          <p:nvPr/>
        </p:nvSpPr>
        <p:spPr>
          <a:xfrm>
            <a:off x="7033470" y="3932653"/>
            <a:ext cx="2927758" cy="14009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15 optimizations total:</a:t>
            </a:r>
          </a:p>
          <a:p>
            <a:pPr algn="ctr"/>
            <a:r>
              <a:rPr lang="en-US" dirty="0"/>
              <a:t>3 formulations x 5 seeds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Uses ~500 SU of allocation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7E4313-0598-9FEB-1A73-A639573B516C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5243119" y="4555222"/>
            <a:ext cx="1790351" cy="77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A5A9E2D-7035-7391-E8C5-D79C2881AE22}"/>
              </a:ext>
            </a:extLst>
          </p:cNvPr>
          <p:cNvSpPr/>
          <p:nvPr/>
        </p:nvSpPr>
        <p:spPr>
          <a:xfrm>
            <a:off x="7033470" y="1804945"/>
            <a:ext cx="2927758" cy="14009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Saving some budget for re-runs if needed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D94F609-BF73-1D13-4200-BDC9A5BAF3CC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2516697" y="2505426"/>
            <a:ext cx="4516773" cy="267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9616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D76A4-89A5-43F9-5E9B-054727212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E41D4-97C4-A494-43EA-4CF588736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793E0-6E72-9BE1-EE8F-648C2CE0E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E591D-8C6A-DB52-7D7B-AD0C17E6C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405E0-E86B-91B8-BCC2-6BF9EAF4A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68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EFA79F-004A-E3BC-D7C9-64C1C2CA8060}"/>
              </a:ext>
            </a:extLst>
          </p:cNvPr>
          <p:cNvSpPr txBox="1"/>
          <p:nvPr/>
        </p:nvSpPr>
        <p:spPr>
          <a:xfrm>
            <a:off x="838200" y="898447"/>
            <a:ext cx="65608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Setup Anvil allocation calculator (based on Lillian’s advice)</a:t>
            </a:r>
          </a:p>
          <a:p>
            <a:endParaRPr lang="en-US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E7CB8FC-5F64-22D2-15B2-134DB085586A}"/>
              </a:ext>
            </a:extLst>
          </p:cNvPr>
          <p:cNvGraphicFramePr>
            <a:graphicFrameLocks/>
          </p:cNvGraphicFramePr>
          <p:nvPr/>
        </p:nvGraphicFramePr>
        <p:xfrm>
          <a:off x="1044106" y="2002028"/>
          <a:ext cx="5473065" cy="36928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EE11798-DF3B-EF85-0B37-8CEBE19F1308}"/>
              </a:ext>
            </a:extLst>
          </p:cNvPr>
          <p:cNvSpPr txBox="1"/>
          <p:nvPr/>
        </p:nvSpPr>
        <p:spPr>
          <a:xfrm>
            <a:off x="7033094" y="1722857"/>
            <a:ext cx="4114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Wallclock</a:t>
            </a:r>
            <a:r>
              <a:rPr lang="en-US" sz="2000" dirty="0"/>
              <a:t> time assuming use of 32 full nodes for each run.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870D37-6EE2-5824-B44A-F6F87CB8CBF7}"/>
              </a:ext>
            </a:extLst>
          </p:cNvPr>
          <p:cNvSpPr/>
          <p:nvPr/>
        </p:nvSpPr>
        <p:spPr>
          <a:xfrm>
            <a:off x="7033470" y="3932653"/>
            <a:ext cx="4114424" cy="14009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8hr per optimization run/seed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Total = (8x15hr) if all of them are run in serial.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AFE77C-AC51-AF18-BB81-FAB3C30AFE06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5158531" y="2925347"/>
            <a:ext cx="1874939" cy="1707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13591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DAE2D-0AD1-32C4-3B79-B6C6C74C9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00E49-56DE-A883-DAC8-E5B7C6947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77EA2-3639-42AF-B965-BFFDEAA77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25AEE-70BC-7606-7CEE-361BDAF1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DC38B-7046-B3EF-2CFD-FA28D13B0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69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146DEA-6733-244D-6653-D8B5F689A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115" y="1053540"/>
            <a:ext cx="8289837" cy="35798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CF6D1A-A96D-2507-F4D6-A322D3D25EC6}"/>
              </a:ext>
            </a:extLst>
          </p:cNvPr>
          <p:cNvSpPr txBox="1"/>
          <p:nvPr/>
        </p:nvSpPr>
        <p:spPr>
          <a:xfrm>
            <a:off x="838199" y="5055285"/>
            <a:ext cx="106158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sz="2000" b="1" i="0" dirty="0">
                <a:effectLst/>
                <a:latin typeface="-apple-system"/>
              </a:rPr>
              <a:t>Left panel:</a:t>
            </a:r>
            <a:r>
              <a:rPr lang="en-US" sz="2000" b="0" i="0" dirty="0">
                <a:effectLst/>
                <a:latin typeface="-apple-system"/>
              </a:rPr>
              <a:t> Wall time per evaluation as B increases, for an isolated rank and a fully-packed node.</a:t>
            </a:r>
          </a:p>
          <a:p>
            <a:pPr indent="0" algn="l">
              <a:buNone/>
            </a:pPr>
            <a:r>
              <a:rPr lang="en-US" sz="2000" b="1" i="0" dirty="0">
                <a:effectLst/>
                <a:latin typeface="-apple-system"/>
              </a:rPr>
              <a:t>Middle panel:</a:t>
            </a:r>
            <a:r>
              <a:rPr lang="en-US" sz="2000" b="0" i="0" dirty="0">
                <a:effectLst/>
                <a:latin typeface="-apple-system"/>
              </a:rPr>
              <a:t> Peak per-rank memory as B increases.</a:t>
            </a:r>
          </a:p>
          <a:p>
            <a:pPr indent="0" algn="l">
              <a:buNone/>
            </a:pPr>
            <a:r>
              <a:rPr lang="en-US" sz="2000" b="1" i="0" dirty="0">
                <a:effectLst/>
                <a:latin typeface="-apple-system"/>
              </a:rPr>
              <a:t>Right panel:</a:t>
            </a:r>
            <a:r>
              <a:rPr lang="en-US" sz="2000" b="0" i="0" dirty="0">
                <a:effectLst/>
                <a:latin typeface="-apple-system"/>
              </a:rPr>
              <a:t> SU cost per 1,000 evaluations as B increases.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9D4BE6-892B-FE0B-0B6E-3D5749CEFB07}"/>
              </a:ext>
            </a:extLst>
          </p:cNvPr>
          <p:cNvSpPr txBox="1"/>
          <p:nvPr/>
        </p:nvSpPr>
        <p:spPr>
          <a:xfrm>
            <a:off x="4174549" y="547420"/>
            <a:ext cx="352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 = 20 realizations x 20 years</a:t>
            </a:r>
          </a:p>
        </p:txBody>
      </p:sp>
    </p:spTree>
    <p:extLst>
      <p:ext uri="{BB962C8B-B14F-4D97-AF65-F5344CB8AC3E}">
        <p14:creationId xmlns:p14="http://schemas.microsoft.com/office/powerpoint/2010/main" val="427035906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2B92D-EB9A-161B-C933-E5495B11F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1AFE9-A3D0-5450-A56D-133A88249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55397-D9E8-D999-2C6F-D0E9138A9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07BB0-E546-A28D-90F3-21B13F1FF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6C873-3D3E-9B2B-6519-4DA68923E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70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E3F7A1-6054-738B-DA55-44A7A4C3A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446" y="1769472"/>
            <a:ext cx="9565105" cy="372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27586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ECBE8-2950-2AD4-260D-D35E5B129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D9AF3-09C0-8C30-72E5-9DAE40085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Anvil Scaling Experiments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2FCD1-183C-68FF-23D0-A5634B01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17BD4-A8BE-F354-886D-591221CD9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E0DF4-CCCD-8981-6EB0-186596196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71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07B171-0651-CB93-F656-2660FD29F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337" y="1577273"/>
            <a:ext cx="10551695" cy="411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360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2D86A-1E17-1C0A-470B-CB44F3DAB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E40B1-0211-A274-C758-255C3D3B2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9DF1C-99AB-E791-C020-231DCE0B8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7E0E9-AB26-D7C7-0B12-DFE9043DC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72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02CA99-7254-06B8-1E05-61323270620C}"/>
              </a:ext>
            </a:extLst>
          </p:cNvPr>
          <p:cNvSpPr/>
          <p:nvPr/>
        </p:nvSpPr>
        <p:spPr>
          <a:xfrm>
            <a:off x="0" y="1491916"/>
            <a:ext cx="12191999" cy="3481137"/>
          </a:xfrm>
          <a:prstGeom prst="rect">
            <a:avLst/>
          </a:prstGeom>
          <a:solidFill>
            <a:srgbClr val="152C47"/>
          </a:solidFill>
          <a:ln>
            <a:solidFill>
              <a:srgbClr val="152C4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chemeClr val="bg1"/>
                </a:solidFill>
              </a:rPr>
              <a:t>Archive (possibly delete)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68304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CAB3C-45B6-128E-DF01-7C8A79894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DCB9C-0931-949F-B60B-6BC036E1C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Design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62734-F3FB-92A3-47A5-CEA0CE569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5134D-F7E5-6CC3-2C8A-5CAB550DB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70502-04F9-E5F7-6D2F-D38481DB0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73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338F18-4189-8694-382F-E3AA315F5F16}"/>
              </a:ext>
            </a:extLst>
          </p:cNvPr>
          <p:cNvSpPr/>
          <p:nvPr/>
        </p:nvSpPr>
        <p:spPr>
          <a:xfrm>
            <a:off x="593557" y="1178763"/>
            <a:ext cx="3312696" cy="33384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EDC918-C336-11B3-95B5-FE747F554028}"/>
              </a:ext>
            </a:extLst>
          </p:cNvPr>
          <p:cNvSpPr txBox="1"/>
          <p:nvPr/>
        </p:nvSpPr>
        <p:spPr>
          <a:xfrm>
            <a:off x="593557" y="797290"/>
            <a:ext cx="3312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Scenario Design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A20D58-4A57-AA51-B240-B35DC3F5A8A6}"/>
              </a:ext>
            </a:extLst>
          </p:cNvPr>
          <p:cNvSpPr txBox="1"/>
          <p:nvPr/>
        </p:nvSpPr>
        <p:spPr>
          <a:xfrm>
            <a:off x="3710741" y="1075241"/>
            <a:ext cx="3144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Optimization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AF03CB-FDE7-5B10-B405-BF53F29E2A1D}"/>
              </a:ext>
            </a:extLst>
          </p:cNvPr>
          <p:cNvSpPr/>
          <p:nvPr/>
        </p:nvSpPr>
        <p:spPr>
          <a:xfrm>
            <a:off x="739942" y="1290332"/>
            <a:ext cx="2991853" cy="7682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Historical trace (baseline)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BE372C-0CBA-6090-256E-3D1C84FEF182}"/>
              </a:ext>
            </a:extLst>
          </p:cNvPr>
          <p:cNvSpPr/>
          <p:nvPr/>
        </p:nvSpPr>
        <p:spPr>
          <a:xfrm>
            <a:off x="739942" y="2273649"/>
            <a:ext cx="2991853" cy="9441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Well characterized (probabilistic) ensemble generated from Kirsch-Nowak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FD477BF-4C5B-0165-B2D7-4A7F69AEF6A8}"/>
              </a:ext>
            </a:extLst>
          </p:cNvPr>
          <p:cNvSpPr/>
          <p:nvPr/>
        </p:nvSpPr>
        <p:spPr>
          <a:xfrm>
            <a:off x="4602825" y="1878902"/>
            <a:ext cx="1403184" cy="13445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MM-</a:t>
            </a:r>
            <a:r>
              <a:rPr lang="en-US" sz="1400" dirty="0" err="1"/>
              <a:t>BorgMOEA</a:t>
            </a:r>
            <a:endParaRPr lang="en-US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6694EF-C641-28D1-34F6-9DB61613268B}"/>
              </a:ext>
            </a:extLst>
          </p:cNvPr>
          <p:cNvSpPr/>
          <p:nvPr/>
        </p:nvSpPr>
        <p:spPr>
          <a:xfrm>
            <a:off x="6659476" y="2136949"/>
            <a:ext cx="1014661" cy="8221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Approximate Pareto Front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BBD8A6-CF70-EB7C-27B7-276874E0C261}"/>
              </a:ext>
            </a:extLst>
          </p:cNvPr>
          <p:cNvSpPr txBox="1"/>
          <p:nvPr/>
        </p:nvSpPr>
        <p:spPr>
          <a:xfrm>
            <a:off x="4395535" y="3334367"/>
            <a:ext cx="17746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Fixed (N-year, NFE) per optimization</a:t>
            </a:r>
          </a:p>
          <a:p>
            <a:r>
              <a:rPr lang="en-US" sz="1400" dirty="0"/>
              <a:t>5 seeds per run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DDBC32-8686-24DA-58DD-2FAC8C222FA6}"/>
              </a:ext>
            </a:extLst>
          </p:cNvPr>
          <p:cNvSpPr/>
          <p:nvPr/>
        </p:nvSpPr>
        <p:spPr>
          <a:xfrm>
            <a:off x="8700834" y="1290888"/>
            <a:ext cx="3312696" cy="33384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150C08-8435-99BB-38BB-A6E34EB56330}"/>
              </a:ext>
            </a:extLst>
          </p:cNvPr>
          <p:cNvSpPr txBox="1"/>
          <p:nvPr/>
        </p:nvSpPr>
        <p:spPr>
          <a:xfrm>
            <a:off x="8700834" y="825629"/>
            <a:ext cx="3312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Re-evaluation &amp; Robustness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D5BF976-BDF4-AB7A-B0B3-8CDBD239BE71}"/>
              </a:ext>
            </a:extLst>
          </p:cNvPr>
          <p:cNvSpPr/>
          <p:nvPr/>
        </p:nvSpPr>
        <p:spPr>
          <a:xfrm>
            <a:off x="9099882" y="1590153"/>
            <a:ext cx="2514600" cy="14037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Re-evaluation of pareto-approximate solutions across large ensemble of climate change uncertainties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6BA623-54FA-D216-B1E6-18B6F71B59A5}"/>
              </a:ext>
            </a:extLst>
          </p:cNvPr>
          <p:cNvSpPr/>
          <p:nvPr/>
        </p:nvSpPr>
        <p:spPr>
          <a:xfrm>
            <a:off x="4395535" y="1519203"/>
            <a:ext cx="1774659" cy="264082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BD15E7-2CE2-D934-F8F9-B9672A54824D}"/>
              </a:ext>
            </a:extLst>
          </p:cNvPr>
          <p:cNvSpPr/>
          <p:nvPr/>
        </p:nvSpPr>
        <p:spPr>
          <a:xfrm>
            <a:off x="737939" y="3426723"/>
            <a:ext cx="2991853" cy="9774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Multi-metric hazard space filling ensemble, sampled from very large stochastic ensemble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A3EB5D5-78F0-C337-E764-580BE16D92BA}"/>
              </a:ext>
            </a:extLst>
          </p:cNvPr>
          <p:cNvSpPr/>
          <p:nvPr/>
        </p:nvSpPr>
        <p:spPr>
          <a:xfrm>
            <a:off x="9099882" y="3259061"/>
            <a:ext cx="1138992" cy="10181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Multi-criteria satisficing robustness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C12205F-7B9D-4DC8-1BDD-9EACE2ECF4CF}"/>
              </a:ext>
            </a:extLst>
          </p:cNvPr>
          <p:cNvSpPr/>
          <p:nvPr/>
        </p:nvSpPr>
        <p:spPr>
          <a:xfrm>
            <a:off x="10481506" y="3259060"/>
            <a:ext cx="1138992" cy="10181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Regret relative to default FFMP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D5A0D33-8C53-B489-5B78-695B1E355492}"/>
              </a:ext>
            </a:extLst>
          </p:cNvPr>
          <p:cNvCxnSpPr>
            <a:cxnSpLocks/>
            <a:stCxn id="7" idx="3"/>
            <a:endCxn id="21" idx="1"/>
          </p:cNvCxnSpPr>
          <p:nvPr/>
        </p:nvCxnSpPr>
        <p:spPr>
          <a:xfrm flipV="1">
            <a:off x="3906253" y="2839614"/>
            <a:ext cx="489282" cy="8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8E37428-CE4B-58E9-E32F-8A5A40269E07}"/>
              </a:ext>
            </a:extLst>
          </p:cNvPr>
          <p:cNvCxnSpPr>
            <a:cxnSpLocks/>
            <a:stCxn id="15" idx="6"/>
            <a:endCxn id="16" idx="1"/>
          </p:cNvCxnSpPr>
          <p:nvPr/>
        </p:nvCxnSpPr>
        <p:spPr>
          <a:xfrm flipV="1">
            <a:off x="6006009" y="2548028"/>
            <a:ext cx="653467" cy="3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6A33F47-F9B5-C2D9-0041-5235A131945A}"/>
              </a:ext>
            </a:extLst>
          </p:cNvPr>
          <p:cNvCxnSpPr>
            <a:cxnSpLocks/>
            <a:stCxn id="16" idx="3"/>
            <a:endCxn id="20" idx="1"/>
          </p:cNvCxnSpPr>
          <p:nvPr/>
        </p:nvCxnSpPr>
        <p:spPr>
          <a:xfrm flipV="1">
            <a:off x="7674137" y="2292005"/>
            <a:ext cx="1425745" cy="256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BD3154D-775A-5D3D-8E9B-C2E9ACA3BFFE}"/>
              </a:ext>
            </a:extLst>
          </p:cNvPr>
          <p:cNvCxnSpPr>
            <a:cxnSpLocks/>
            <a:stCxn id="20" idx="2"/>
            <a:endCxn id="22" idx="0"/>
          </p:cNvCxnSpPr>
          <p:nvPr/>
        </p:nvCxnSpPr>
        <p:spPr>
          <a:xfrm>
            <a:off x="10357182" y="2993857"/>
            <a:ext cx="693820" cy="265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94D88C5-8879-3BDA-E43D-2882CD043354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9669378" y="2993857"/>
            <a:ext cx="687804" cy="265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78C03255-630F-6BA5-AE28-27C9327C89BE}"/>
              </a:ext>
            </a:extLst>
          </p:cNvPr>
          <p:cNvSpPr/>
          <p:nvPr/>
        </p:nvSpPr>
        <p:spPr>
          <a:xfrm>
            <a:off x="5670880" y="4943205"/>
            <a:ext cx="2991853" cy="9774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Deeply uncertain hydrologic future ensemble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7478BE3-C95E-76FB-3C16-37216A0A1EBB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7166806" y="3259060"/>
            <a:ext cx="1" cy="1684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38D9149D-B4E8-E1D9-667E-62ECAA83E512}"/>
              </a:ext>
            </a:extLst>
          </p:cNvPr>
          <p:cNvSpPr/>
          <p:nvPr/>
        </p:nvSpPr>
        <p:spPr>
          <a:xfrm>
            <a:off x="6811876" y="2289349"/>
            <a:ext cx="1014661" cy="8221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Approximate Pareto Front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6546213-E56B-5B1F-A0CF-C9CF8BAA8E17}"/>
              </a:ext>
            </a:extLst>
          </p:cNvPr>
          <p:cNvSpPr/>
          <p:nvPr/>
        </p:nvSpPr>
        <p:spPr>
          <a:xfrm>
            <a:off x="6964276" y="2441749"/>
            <a:ext cx="1014661" cy="8221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Approximate Pareto Front</a:t>
            </a:r>
          </a:p>
        </p:txBody>
      </p:sp>
    </p:spTree>
    <p:extLst>
      <p:ext uri="{BB962C8B-B14F-4D97-AF65-F5344CB8AC3E}">
        <p14:creationId xmlns:p14="http://schemas.microsoft.com/office/powerpoint/2010/main" val="374275642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84CF8-D66A-A834-93A0-CF2AB4E0A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2D668-AF4E-97A9-FD2C-4EB136FCB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Proposal: Hypothesis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F46A6-4BB7-D4B6-E2B2-5347D7551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87B42-500B-A67C-421E-834131155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9F595-86A3-FCB4-9DB6-F008895B5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74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8A7B01-BDFB-0C0C-5785-AFAD4EC3BC6D}"/>
              </a:ext>
            </a:extLst>
          </p:cNvPr>
          <p:cNvSpPr txBox="1"/>
          <p:nvPr/>
        </p:nvSpPr>
        <p:spPr>
          <a:xfrm>
            <a:off x="838199" y="778013"/>
            <a:ext cx="87569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Idea:</a:t>
            </a:r>
          </a:p>
          <a:p>
            <a:endParaRPr lang="en-US" sz="2000" dirty="0"/>
          </a:p>
          <a:p>
            <a:r>
              <a:rPr lang="en-US" sz="2000" dirty="0"/>
              <a:t>Create a space-filling sample of the hazard space, evaluate candidate policies using this deeply uncertain </a:t>
            </a:r>
            <a:r>
              <a:rPr lang="en-US" sz="2000" i="1" dirty="0"/>
              <a:t>hazard </a:t>
            </a:r>
            <a:r>
              <a:rPr lang="en-US" sz="2000" dirty="0"/>
              <a:t>space.</a:t>
            </a:r>
          </a:p>
          <a:p>
            <a:endParaRPr lang="en-US" sz="2000" dirty="0"/>
          </a:p>
          <a:p>
            <a:r>
              <a:rPr lang="en-US" sz="2000" dirty="0"/>
              <a:t>We can then combine this with factorial samples of other deeply uncertain factors.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754FD7C-2D00-7E8D-A84E-C7CA41D43697}"/>
              </a:ext>
            </a:extLst>
          </p:cNvPr>
          <p:cNvCxnSpPr>
            <a:cxnSpLocks/>
          </p:cNvCxnSpPr>
          <p:nvPr/>
        </p:nvCxnSpPr>
        <p:spPr>
          <a:xfrm flipV="1">
            <a:off x="2284609" y="3195585"/>
            <a:ext cx="0" cy="213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BBB351E-B358-6D61-A55F-DFEE46D975D3}"/>
              </a:ext>
            </a:extLst>
          </p:cNvPr>
          <p:cNvCxnSpPr>
            <a:cxnSpLocks/>
          </p:cNvCxnSpPr>
          <p:nvPr/>
        </p:nvCxnSpPr>
        <p:spPr>
          <a:xfrm>
            <a:off x="2284609" y="5333195"/>
            <a:ext cx="21817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2159FB8-83C5-9A0F-71F0-556977EEDA1A}"/>
              </a:ext>
            </a:extLst>
          </p:cNvPr>
          <p:cNvSpPr txBox="1"/>
          <p:nvPr/>
        </p:nvSpPr>
        <p:spPr>
          <a:xfrm>
            <a:off x="2361611" y="5425437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Hazard Measure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2E75B4-4B69-789B-0844-1B78AD10F942}"/>
              </a:ext>
            </a:extLst>
          </p:cNvPr>
          <p:cNvSpPr txBox="1"/>
          <p:nvPr/>
        </p:nvSpPr>
        <p:spPr>
          <a:xfrm rot="16200000">
            <a:off x="726559" y="3959809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Hazard Measure 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D2F37C5-9AA9-8CB2-36B0-A5BA344FFA71}"/>
              </a:ext>
            </a:extLst>
          </p:cNvPr>
          <p:cNvSpPr/>
          <p:nvPr/>
        </p:nvSpPr>
        <p:spPr>
          <a:xfrm rot="19703276">
            <a:off x="2868399" y="4002964"/>
            <a:ext cx="1519955" cy="982021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75EE864-9F98-B7E7-AB9C-5FFEBC133D92}"/>
              </a:ext>
            </a:extLst>
          </p:cNvPr>
          <p:cNvSpPr/>
          <p:nvPr/>
        </p:nvSpPr>
        <p:spPr>
          <a:xfrm rot="19703276">
            <a:off x="2513424" y="3840107"/>
            <a:ext cx="1519955" cy="807250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82A393C-981D-6B15-4F02-CC7651A19B66}"/>
              </a:ext>
            </a:extLst>
          </p:cNvPr>
          <p:cNvSpPr/>
          <p:nvPr/>
        </p:nvSpPr>
        <p:spPr>
          <a:xfrm rot="19703276">
            <a:off x="3012772" y="3693798"/>
            <a:ext cx="1519955" cy="807250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53E4201-9EF0-BA91-37EF-50A0A35B5B80}"/>
              </a:ext>
            </a:extLst>
          </p:cNvPr>
          <p:cNvSpPr/>
          <p:nvPr/>
        </p:nvSpPr>
        <p:spPr>
          <a:xfrm>
            <a:off x="2723796" y="429633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553C4BB-BB53-9F07-5E5A-4A1A0791DBC3}"/>
              </a:ext>
            </a:extLst>
          </p:cNvPr>
          <p:cNvSpPr/>
          <p:nvPr/>
        </p:nvSpPr>
        <p:spPr>
          <a:xfrm>
            <a:off x="2742048" y="450375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36C3C85-6F10-5223-6C32-372D0AF2BE50}"/>
              </a:ext>
            </a:extLst>
          </p:cNvPr>
          <p:cNvSpPr/>
          <p:nvPr/>
        </p:nvSpPr>
        <p:spPr>
          <a:xfrm>
            <a:off x="2769879" y="464986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1920947-F10C-BECB-DABC-22EAD5650B99}"/>
              </a:ext>
            </a:extLst>
          </p:cNvPr>
          <p:cNvSpPr/>
          <p:nvPr/>
        </p:nvSpPr>
        <p:spPr>
          <a:xfrm>
            <a:off x="2962459" y="398376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238AA69-FABB-C561-AF26-6DE78E1251E9}"/>
              </a:ext>
            </a:extLst>
          </p:cNvPr>
          <p:cNvSpPr/>
          <p:nvPr/>
        </p:nvSpPr>
        <p:spPr>
          <a:xfrm>
            <a:off x="3296066" y="4039637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F3C696D-37AE-D1BF-0784-E2D51D00D787}"/>
              </a:ext>
            </a:extLst>
          </p:cNvPr>
          <p:cNvSpPr/>
          <p:nvPr/>
        </p:nvSpPr>
        <p:spPr>
          <a:xfrm>
            <a:off x="2932830" y="435588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3D8885D-651C-8E6F-1674-8503FE86EC85}"/>
              </a:ext>
            </a:extLst>
          </p:cNvPr>
          <p:cNvSpPr/>
          <p:nvPr/>
        </p:nvSpPr>
        <p:spPr>
          <a:xfrm>
            <a:off x="3095884" y="4169467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110E77C-9989-0C58-99A5-7A02EDD87A9A}"/>
              </a:ext>
            </a:extLst>
          </p:cNvPr>
          <p:cNvSpPr/>
          <p:nvPr/>
        </p:nvSpPr>
        <p:spPr>
          <a:xfrm>
            <a:off x="3095883" y="392823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66E9515-E60F-3B65-E3F0-330084A15326}"/>
              </a:ext>
            </a:extLst>
          </p:cNvPr>
          <p:cNvSpPr/>
          <p:nvPr/>
        </p:nvSpPr>
        <p:spPr>
          <a:xfrm>
            <a:off x="3302023" y="3793016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0D12F70-36DB-B251-3EA5-D4CEBDC5CB91}"/>
              </a:ext>
            </a:extLst>
          </p:cNvPr>
          <p:cNvSpPr/>
          <p:nvPr/>
        </p:nvSpPr>
        <p:spPr>
          <a:xfrm>
            <a:off x="3526961" y="3771006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83CB85C-9063-C5C8-1536-3DF11FE1E988}"/>
              </a:ext>
            </a:extLst>
          </p:cNvPr>
          <p:cNvSpPr/>
          <p:nvPr/>
        </p:nvSpPr>
        <p:spPr>
          <a:xfrm>
            <a:off x="3694025" y="3687186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FF8408D-70A5-F5E3-81BA-F327656FF43F}"/>
              </a:ext>
            </a:extLst>
          </p:cNvPr>
          <p:cNvSpPr/>
          <p:nvPr/>
        </p:nvSpPr>
        <p:spPr>
          <a:xfrm>
            <a:off x="3884037" y="3607292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C9AA046-2D88-3AC0-E888-C37EB22D3296}"/>
              </a:ext>
            </a:extLst>
          </p:cNvPr>
          <p:cNvSpPr/>
          <p:nvPr/>
        </p:nvSpPr>
        <p:spPr>
          <a:xfrm>
            <a:off x="3846425" y="3839586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B5F0D19-BC2C-D7DE-AD0A-0308DA32218B}"/>
              </a:ext>
            </a:extLst>
          </p:cNvPr>
          <p:cNvSpPr/>
          <p:nvPr/>
        </p:nvSpPr>
        <p:spPr>
          <a:xfrm>
            <a:off x="3998825" y="3991986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84DA4B0-A30D-E1C0-A8E1-8766CAE16AB7}"/>
              </a:ext>
            </a:extLst>
          </p:cNvPr>
          <p:cNvSpPr/>
          <p:nvPr/>
        </p:nvSpPr>
        <p:spPr>
          <a:xfrm>
            <a:off x="4046286" y="372354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78DF12C-87DA-CFCB-C16A-A05DACFE3C00}"/>
              </a:ext>
            </a:extLst>
          </p:cNvPr>
          <p:cNvSpPr/>
          <p:nvPr/>
        </p:nvSpPr>
        <p:spPr>
          <a:xfrm>
            <a:off x="4121675" y="356438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B225F3F-7FC3-BAD1-EA65-E2686B51C7F1}"/>
              </a:ext>
            </a:extLst>
          </p:cNvPr>
          <p:cNvSpPr/>
          <p:nvPr/>
        </p:nvSpPr>
        <p:spPr>
          <a:xfrm>
            <a:off x="3442097" y="396942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A94C2DE-AD28-5184-D0EA-2E923F0AAE36}"/>
              </a:ext>
            </a:extLst>
          </p:cNvPr>
          <p:cNvSpPr/>
          <p:nvPr/>
        </p:nvSpPr>
        <p:spPr>
          <a:xfrm>
            <a:off x="3253011" y="4275121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6D87844-8A0B-032F-5C2F-78A606015820}"/>
              </a:ext>
            </a:extLst>
          </p:cNvPr>
          <p:cNvSpPr/>
          <p:nvPr/>
        </p:nvSpPr>
        <p:spPr>
          <a:xfrm>
            <a:off x="3209956" y="451060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86C0F8E-FC8D-E99B-66FD-D16ADEF6D7BE}"/>
              </a:ext>
            </a:extLst>
          </p:cNvPr>
          <p:cNvSpPr/>
          <p:nvPr/>
        </p:nvSpPr>
        <p:spPr>
          <a:xfrm>
            <a:off x="3166901" y="4746089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662D009-9426-0BF4-9F48-9A8FBBDC1182}"/>
              </a:ext>
            </a:extLst>
          </p:cNvPr>
          <p:cNvSpPr/>
          <p:nvPr/>
        </p:nvSpPr>
        <p:spPr>
          <a:xfrm>
            <a:off x="3014503" y="451558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170FE09-15CB-A264-232E-7B6E9F715B2D}"/>
              </a:ext>
            </a:extLst>
          </p:cNvPr>
          <p:cNvSpPr/>
          <p:nvPr/>
        </p:nvSpPr>
        <p:spPr>
          <a:xfrm>
            <a:off x="2917392" y="468857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F87875D-7A6D-2817-A120-E73E933BE015}"/>
              </a:ext>
            </a:extLst>
          </p:cNvPr>
          <p:cNvSpPr/>
          <p:nvPr/>
        </p:nvSpPr>
        <p:spPr>
          <a:xfrm>
            <a:off x="3003006" y="487081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9310F0A-35FA-2C5D-349F-65533798C7BF}"/>
              </a:ext>
            </a:extLst>
          </p:cNvPr>
          <p:cNvSpPr/>
          <p:nvPr/>
        </p:nvSpPr>
        <p:spPr>
          <a:xfrm>
            <a:off x="3225939" y="4990089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E0CB60C-F4AE-760C-A043-25EE1BBF0470}"/>
              </a:ext>
            </a:extLst>
          </p:cNvPr>
          <p:cNvSpPr/>
          <p:nvPr/>
        </p:nvSpPr>
        <p:spPr>
          <a:xfrm>
            <a:off x="3479499" y="496787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A056260-804D-C33F-7053-ADF336690005}"/>
              </a:ext>
            </a:extLst>
          </p:cNvPr>
          <p:cNvSpPr/>
          <p:nvPr/>
        </p:nvSpPr>
        <p:spPr>
          <a:xfrm>
            <a:off x="3715384" y="488192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83259DB-7F4D-A826-81FE-19A7512FFD92}"/>
              </a:ext>
            </a:extLst>
          </p:cNvPr>
          <p:cNvSpPr/>
          <p:nvPr/>
        </p:nvSpPr>
        <p:spPr>
          <a:xfrm>
            <a:off x="3903902" y="476579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5D95F82-443E-BFA0-B77A-7098C6FE9214}"/>
              </a:ext>
            </a:extLst>
          </p:cNvPr>
          <p:cNvSpPr/>
          <p:nvPr/>
        </p:nvSpPr>
        <p:spPr>
          <a:xfrm>
            <a:off x="4093747" y="4609828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CAB71C0-D8DD-21B6-EE7A-46EBD739086F}"/>
              </a:ext>
            </a:extLst>
          </p:cNvPr>
          <p:cNvSpPr/>
          <p:nvPr/>
        </p:nvSpPr>
        <p:spPr>
          <a:xfrm>
            <a:off x="3449839" y="476048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5F82C2A-C86F-1572-221F-43A6B8589006}"/>
              </a:ext>
            </a:extLst>
          </p:cNvPr>
          <p:cNvSpPr/>
          <p:nvPr/>
        </p:nvSpPr>
        <p:spPr>
          <a:xfrm>
            <a:off x="3487991" y="450375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E2C9BE9-F5EF-1BC8-0A30-582C4F0FC1C8}"/>
              </a:ext>
            </a:extLst>
          </p:cNvPr>
          <p:cNvSpPr/>
          <p:nvPr/>
        </p:nvSpPr>
        <p:spPr>
          <a:xfrm>
            <a:off x="3526143" y="424702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62E8F75-2C83-A4D5-EF34-748BD3C67859}"/>
              </a:ext>
            </a:extLst>
          </p:cNvPr>
          <p:cNvSpPr/>
          <p:nvPr/>
        </p:nvSpPr>
        <p:spPr>
          <a:xfrm>
            <a:off x="3622910" y="404175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D0FFF17-A1DB-9232-534C-6F139C1975C8}"/>
              </a:ext>
            </a:extLst>
          </p:cNvPr>
          <p:cNvSpPr/>
          <p:nvPr/>
        </p:nvSpPr>
        <p:spPr>
          <a:xfrm>
            <a:off x="3815243" y="414956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7215CADF-B94D-E0A1-2852-A9E1A4F1C358}"/>
              </a:ext>
            </a:extLst>
          </p:cNvPr>
          <p:cNvSpPr/>
          <p:nvPr/>
        </p:nvSpPr>
        <p:spPr>
          <a:xfrm>
            <a:off x="3967643" y="430196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165AC93-FA14-CD26-AD2E-0B5B920AA043}"/>
              </a:ext>
            </a:extLst>
          </p:cNvPr>
          <p:cNvSpPr/>
          <p:nvPr/>
        </p:nvSpPr>
        <p:spPr>
          <a:xfrm>
            <a:off x="4155719" y="4156597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82A484D-07A4-B1F4-551B-25CAC18097AD}"/>
              </a:ext>
            </a:extLst>
          </p:cNvPr>
          <p:cNvSpPr/>
          <p:nvPr/>
        </p:nvSpPr>
        <p:spPr>
          <a:xfrm>
            <a:off x="4261796" y="388799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26187365-D07E-1F04-FF55-168367E7D809}"/>
              </a:ext>
            </a:extLst>
          </p:cNvPr>
          <p:cNvSpPr/>
          <p:nvPr/>
        </p:nvSpPr>
        <p:spPr>
          <a:xfrm>
            <a:off x="4329138" y="366471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9FD87CE-2E7C-610A-241E-2C25948CC6DF}"/>
              </a:ext>
            </a:extLst>
          </p:cNvPr>
          <p:cNvSpPr/>
          <p:nvPr/>
        </p:nvSpPr>
        <p:spPr>
          <a:xfrm>
            <a:off x="4203180" y="438738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177C71E-A2DC-51A4-07E6-37C996ECC601}"/>
              </a:ext>
            </a:extLst>
          </p:cNvPr>
          <p:cNvSpPr/>
          <p:nvPr/>
        </p:nvSpPr>
        <p:spPr>
          <a:xfrm>
            <a:off x="3925866" y="4517017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DB6C123-F975-9320-2D59-04C37BCF1B29}"/>
              </a:ext>
            </a:extLst>
          </p:cNvPr>
          <p:cNvSpPr/>
          <p:nvPr/>
        </p:nvSpPr>
        <p:spPr>
          <a:xfrm>
            <a:off x="3648552" y="464665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F37A9A1-6E6E-4E55-9893-AA79A9F82A75}"/>
              </a:ext>
            </a:extLst>
          </p:cNvPr>
          <p:cNvSpPr/>
          <p:nvPr/>
        </p:nvSpPr>
        <p:spPr>
          <a:xfrm>
            <a:off x="3715384" y="436275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74E0AAB-D2C8-9DF0-F055-2CF1ABED7789}"/>
              </a:ext>
            </a:extLst>
          </p:cNvPr>
          <p:cNvSpPr/>
          <p:nvPr/>
        </p:nvSpPr>
        <p:spPr>
          <a:xfrm>
            <a:off x="2590633" y="443484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66F82C2-C8D6-32CE-C5F5-08E4DAEFB502}"/>
              </a:ext>
            </a:extLst>
          </p:cNvPr>
          <p:cNvSpPr/>
          <p:nvPr/>
        </p:nvSpPr>
        <p:spPr>
          <a:xfrm>
            <a:off x="2873872" y="418119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E9F4FD3-C467-F81D-A8E1-4DFDEE478044}"/>
              </a:ext>
            </a:extLst>
          </p:cNvPr>
          <p:cNvCxnSpPr/>
          <p:nvPr/>
        </p:nvCxnSpPr>
        <p:spPr>
          <a:xfrm>
            <a:off x="6788831" y="3339400"/>
            <a:ext cx="0" cy="21374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DAAD7C7D-C384-FF53-4D4C-E89C4645ECCE}"/>
              </a:ext>
            </a:extLst>
          </p:cNvPr>
          <p:cNvSpPr/>
          <p:nvPr/>
        </p:nvSpPr>
        <p:spPr>
          <a:xfrm>
            <a:off x="6748988" y="375963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6207C8F-2E50-32D8-098B-5466BE369BBF}"/>
              </a:ext>
            </a:extLst>
          </p:cNvPr>
          <p:cNvSpPr/>
          <p:nvPr/>
        </p:nvSpPr>
        <p:spPr>
          <a:xfrm>
            <a:off x="6748987" y="420704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C4D740E-EC42-62BD-7BED-A99C37C5D9C6}"/>
              </a:ext>
            </a:extLst>
          </p:cNvPr>
          <p:cNvSpPr/>
          <p:nvPr/>
        </p:nvSpPr>
        <p:spPr>
          <a:xfrm>
            <a:off x="6748986" y="4654447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249993C2-9F52-80B3-75B7-E9A9C8442362}"/>
              </a:ext>
            </a:extLst>
          </p:cNvPr>
          <p:cNvSpPr/>
          <p:nvPr/>
        </p:nvSpPr>
        <p:spPr>
          <a:xfrm>
            <a:off x="6748985" y="510185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80C8710-8EC2-B891-ADA6-DC986E041938}"/>
              </a:ext>
            </a:extLst>
          </p:cNvPr>
          <p:cNvCxnSpPr/>
          <p:nvPr/>
        </p:nvCxnSpPr>
        <p:spPr>
          <a:xfrm>
            <a:off x="8125678" y="3355335"/>
            <a:ext cx="0" cy="21374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C3D253EE-604C-C5E9-475C-F81386D9AB46}"/>
              </a:ext>
            </a:extLst>
          </p:cNvPr>
          <p:cNvSpPr/>
          <p:nvPr/>
        </p:nvSpPr>
        <p:spPr>
          <a:xfrm>
            <a:off x="8085835" y="3775568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E19945D1-66C3-8439-3F58-40AB6463B7FB}"/>
              </a:ext>
            </a:extLst>
          </p:cNvPr>
          <p:cNvSpPr/>
          <p:nvPr/>
        </p:nvSpPr>
        <p:spPr>
          <a:xfrm>
            <a:off x="8085834" y="4222975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9DA8675-D88B-F883-7317-D1C9CCF57928}"/>
              </a:ext>
            </a:extLst>
          </p:cNvPr>
          <p:cNvSpPr/>
          <p:nvPr/>
        </p:nvSpPr>
        <p:spPr>
          <a:xfrm>
            <a:off x="8085833" y="4670382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85C5C5B1-8B36-B616-4444-35CAC88D2268}"/>
              </a:ext>
            </a:extLst>
          </p:cNvPr>
          <p:cNvSpPr/>
          <p:nvPr/>
        </p:nvSpPr>
        <p:spPr>
          <a:xfrm>
            <a:off x="8085832" y="5117789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6EE41291-0DEF-03BF-5A0C-F2BD90FA7411}"/>
              </a:ext>
            </a:extLst>
          </p:cNvPr>
          <p:cNvCxnSpPr/>
          <p:nvPr/>
        </p:nvCxnSpPr>
        <p:spPr>
          <a:xfrm>
            <a:off x="9462525" y="3371270"/>
            <a:ext cx="0" cy="21374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Oval 94">
            <a:extLst>
              <a:ext uri="{FF2B5EF4-FFF2-40B4-BE49-F238E27FC236}">
                <a16:creationId xmlns:a16="http://schemas.microsoft.com/office/drawing/2014/main" id="{E7873869-31B4-AF89-F61C-E5B1255F65AA}"/>
              </a:ext>
            </a:extLst>
          </p:cNvPr>
          <p:cNvSpPr/>
          <p:nvPr/>
        </p:nvSpPr>
        <p:spPr>
          <a:xfrm>
            <a:off x="9422682" y="3791503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94240CE6-D3A2-FF25-8CEA-BB18844C2467}"/>
              </a:ext>
            </a:extLst>
          </p:cNvPr>
          <p:cNvSpPr/>
          <p:nvPr/>
        </p:nvSpPr>
        <p:spPr>
          <a:xfrm>
            <a:off x="9422681" y="4238910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AF895932-FC6F-F5AE-19AF-3A76BF7DEC7E}"/>
              </a:ext>
            </a:extLst>
          </p:cNvPr>
          <p:cNvSpPr/>
          <p:nvPr/>
        </p:nvSpPr>
        <p:spPr>
          <a:xfrm>
            <a:off x="9422680" y="4686317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9755DA87-04F0-DAAA-567C-1B6031D9AA7A}"/>
              </a:ext>
            </a:extLst>
          </p:cNvPr>
          <p:cNvSpPr/>
          <p:nvPr/>
        </p:nvSpPr>
        <p:spPr>
          <a:xfrm>
            <a:off x="9422679" y="5133724"/>
            <a:ext cx="94923" cy="949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3D8BB28-EEB2-B1F6-40A9-76176D00D77B}"/>
              </a:ext>
            </a:extLst>
          </p:cNvPr>
          <p:cNvSpPr txBox="1"/>
          <p:nvPr/>
        </p:nvSpPr>
        <p:spPr>
          <a:xfrm>
            <a:off x="5531988" y="4064348"/>
            <a:ext cx="655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3822047-334D-C74E-F839-3248B9F56557}"/>
              </a:ext>
            </a:extLst>
          </p:cNvPr>
          <p:cNvSpPr txBox="1"/>
          <p:nvPr/>
        </p:nvSpPr>
        <p:spPr>
          <a:xfrm>
            <a:off x="7259225" y="4062430"/>
            <a:ext cx="655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9E64440-62C6-8B7B-C68F-FB665203B61F}"/>
              </a:ext>
            </a:extLst>
          </p:cNvPr>
          <p:cNvSpPr txBox="1"/>
          <p:nvPr/>
        </p:nvSpPr>
        <p:spPr>
          <a:xfrm>
            <a:off x="8584616" y="4084575"/>
            <a:ext cx="655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X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1F95284-0572-445B-9553-EBB6EEE447C9}"/>
              </a:ext>
            </a:extLst>
          </p:cNvPr>
          <p:cNvSpPr txBox="1"/>
          <p:nvPr/>
        </p:nvSpPr>
        <p:spPr>
          <a:xfrm>
            <a:off x="6551291" y="5691137"/>
            <a:ext cx="3283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Deeply uncertain with socioeconomic factors</a:t>
            </a:r>
          </a:p>
        </p:txBody>
      </p:sp>
      <p:sp>
        <p:nvSpPr>
          <p:cNvPr id="103" name="Right Brace 102">
            <a:extLst>
              <a:ext uri="{FF2B5EF4-FFF2-40B4-BE49-F238E27FC236}">
                <a16:creationId xmlns:a16="http://schemas.microsoft.com/office/drawing/2014/main" id="{0AABB125-5ABB-4732-A32B-89B815A94FB3}"/>
              </a:ext>
            </a:extLst>
          </p:cNvPr>
          <p:cNvSpPr/>
          <p:nvPr/>
        </p:nvSpPr>
        <p:spPr>
          <a:xfrm rot="5400000">
            <a:off x="8013032" y="4168538"/>
            <a:ext cx="280736" cy="2982608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681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178729</TotalTime>
  <Words>4152</Words>
  <Application>Microsoft Office PowerPoint</Application>
  <PresentationFormat>Widescreen</PresentationFormat>
  <Paragraphs>839</Paragraphs>
  <Slides>74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0" baseType="lpstr">
      <vt:lpstr>-apple-system</vt:lpstr>
      <vt:lpstr>Arial</vt:lpstr>
      <vt:lpstr>Calibri</vt:lpstr>
      <vt:lpstr>Calibri Light</vt:lpstr>
      <vt:lpstr>Cambria Math</vt:lpstr>
      <vt:lpstr>Office Theme</vt:lpstr>
      <vt:lpstr>PowerPoint Presentation</vt:lpstr>
      <vt:lpstr>Content</vt:lpstr>
      <vt:lpstr>PowerPoint Presentation</vt:lpstr>
      <vt:lpstr>Motivation &amp; Literature Review</vt:lpstr>
      <vt:lpstr>Motivation &amp; Literature Review</vt:lpstr>
      <vt:lpstr>Motivation &amp; Literature Review</vt:lpstr>
      <vt:lpstr>Motivation &amp; Literature Review</vt:lpstr>
      <vt:lpstr>Motivation &amp; Literature Review</vt:lpstr>
      <vt:lpstr>Motivation &amp; Literature Review</vt:lpstr>
      <vt:lpstr>Motivation &amp; Literature Review</vt:lpstr>
      <vt:lpstr>Motivation &amp; Literature Review</vt:lpstr>
      <vt:lpstr>Proposal: Hypothesis</vt:lpstr>
      <vt:lpstr>Proposal: Hypothesis</vt:lpstr>
      <vt:lpstr>Proposal: Hypothesis</vt:lpstr>
      <vt:lpstr>Proposal: Hypothesis</vt:lpstr>
      <vt:lpstr>PowerPoint Presentation</vt:lpstr>
      <vt:lpstr>MOEA Problem Formulation: Decision Variables</vt:lpstr>
      <vt:lpstr>MOEA Problem Formulation: Decision Variables</vt:lpstr>
      <vt:lpstr>MOEA Problem Formulation: Decision Variables</vt:lpstr>
      <vt:lpstr>MOEA Problem Formulation: Decision Variables</vt:lpstr>
      <vt:lpstr>MOEA Problem Formulation: Decision Variables</vt:lpstr>
      <vt:lpstr>MOEA Problem Formulation: Decision Variables</vt:lpstr>
      <vt:lpstr>MOEA Problem Formulation: Decision Variables</vt:lpstr>
      <vt:lpstr>MOEA Problem Formulation: Decision Variables</vt:lpstr>
      <vt:lpstr>MOEA Problem Formulation: Decision Variables</vt:lpstr>
      <vt:lpstr>MOEA Problem Formulation: Decision Variables</vt:lpstr>
      <vt:lpstr>PowerPoint Presentation</vt:lpstr>
      <vt:lpstr>MOEA Problem Formulation: Objective Definitions</vt:lpstr>
      <vt:lpstr>MOEA Problem Formulation: Objective Definitions</vt:lpstr>
      <vt:lpstr>MOEA Problem Formulation: Objective Definitions</vt:lpstr>
      <vt:lpstr>MOEA Problem Formulation: Objective Definitions</vt:lpstr>
      <vt:lpstr>MOEA Problem Formulation: Objective Definitions</vt:lpstr>
      <vt:lpstr>PowerPoint Presentation</vt:lpstr>
      <vt:lpstr>MOEA Problem Formulation: Objective Definitions</vt:lpstr>
      <vt:lpstr>MOEA Problem Formulation: Objective Definitions</vt:lpstr>
      <vt:lpstr>MOEA Problem Formulation: Objective Definitions</vt:lpstr>
      <vt:lpstr>MOEA Problem Formulation: Objective Definitions</vt:lpstr>
      <vt:lpstr>PowerPoint Presentation</vt:lpstr>
      <vt:lpstr>Experimental Design</vt:lpstr>
      <vt:lpstr>PowerPoint Presentation</vt:lpstr>
      <vt:lpstr>Experimental Design: Optimization Evaluation Scenarios</vt:lpstr>
      <vt:lpstr>Experimental Design: Optimization Evaluation Scenarios</vt:lpstr>
      <vt:lpstr>PowerPoint Presentation</vt:lpstr>
      <vt:lpstr>Planned Methods</vt:lpstr>
      <vt:lpstr>Experimental Design: Re-evaluation under climate change uncertainty</vt:lpstr>
      <vt:lpstr>Experimental Design: Re-evaluation under climate change uncertainty</vt:lpstr>
      <vt:lpstr>Experimental Design: Re-evaluation under climate change uncertainty</vt:lpstr>
      <vt:lpstr>Experimental Design: Re-evaluation under climate change uncertainty</vt:lpstr>
      <vt:lpstr>Experimental Design: Re-evaluation under climate change uncertainty</vt:lpstr>
      <vt:lpstr>Experimental Design: Re-evaluation under climate change uncertainty</vt:lpstr>
      <vt:lpstr>Experimental Design: Re-evaluation under climate change uncertainty</vt:lpstr>
      <vt:lpstr>Experimental Design: Re-evaluation under climate change uncertainty</vt:lpstr>
      <vt:lpstr>Experimental Design: Re-evaluation under climate change uncertainty</vt:lpstr>
      <vt:lpstr>PowerPoint Presentation</vt:lpstr>
      <vt:lpstr>PowerPoint Presentation</vt:lpstr>
      <vt:lpstr>PowerPoint Presentation</vt:lpstr>
      <vt:lpstr>Anvil Scaling Experiment</vt:lpstr>
      <vt:lpstr>Anvil Scaling Experiment</vt:lpstr>
      <vt:lpstr>Anvil Scaling Experiments</vt:lpstr>
      <vt:lpstr>Anvil Scaling Experiments</vt:lpstr>
      <vt:lpstr>Anvil Scaling Experiments</vt:lpstr>
      <vt:lpstr>Anvil Scaling Experiments</vt:lpstr>
      <vt:lpstr>Anvil Scaling Experiments</vt:lpstr>
      <vt:lpstr>Anvil Scaling Experiments</vt:lpstr>
      <vt:lpstr>Anvil Scaling Experiments</vt:lpstr>
      <vt:lpstr>Anvil Scaling Experiment</vt:lpstr>
      <vt:lpstr>Anvil Scaling Experiment</vt:lpstr>
      <vt:lpstr>Anvil Scaling Experiment</vt:lpstr>
      <vt:lpstr>Anvil Scaling Experiments</vt:lpstr>
      <vt:lpstr>Anvil Scaling Experiments</vt:lpstr>
      <vt:lpstr>Anvil Scaling Experiments</vt:lpstr>
      <vt:lpstr>PowerPoint Presentation</vt:lpstr>
      <vt:lpstr>Experimental Design</vt:lpstr>
      <vt:lpstr>Proposal: Hypothesis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Trevor James Amestoy</dc:creator>
  <cp:lastModifiedBy>Trevor Amestoy</cp:lastModifiedBy>
  <cp:revision>6156</cp:revision>
  <dcterms:created xsi:type="dcterms:W3CDTF">2023-01-16T16:31:12Z</dcterms:created>
  <dcterms:modified xsi:type="dcterms:W3CDTF">2026-08-30T17:56:23Z</dcterms:modified>
</cp:coreProperties>
</file>